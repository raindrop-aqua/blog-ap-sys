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最初に、簡単に自己紹介をさせてください。渥美政廣、あつみまさひろといいます。ソフトウエアエンジニアをしています。プログラムやシステムをつくる仕事です。そして、みんなの悩み事について、助っ人をしています。今日の話に出てくる、AIという助っ人の話も、この仕事の延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私は、会社の仲間に向けた情報共有として、ブログをやっています。理由はこうです。私の会社はSES事業といって、社員がお客さんの会社に常駐して、システムの開発や運用をする仕事をしています。ただ、常駐先ごとに、生成AIをどこまで使えるかはバラバラです。そこで、社員が生成AIを使いこなせるように、後押しとして、ブログという形で情報を共有しています。コンセプトは、明日の現場で、そのまま使える生成AIの実践知を届けることです。そんなブログを、私は運営しています。今日は、このブログの裏側のひみつを、順番に種明か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本題です。今日は、私が運営している『明日使える生成AI』というブログの、ひみつを紹介します。このブログには、ふつうのブログにある『投稿ボタン』がありません。それなのに、文章を書くとWebサイトになって公開されます。なぜそんなことができるのか。そして、裏でAIがどう手伝っているのか。中学生でもわかる言葉で、順番に種明か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ひみつは全部で14個。4つの部屋に分けて紹介します。1つ目の部屋は、ブログそのものの仕組み。2つ目は、このブログを運営するための3冊のルールブック。3つ目と4つ目が、AIの助っ人の話で、手順書にあたるスキルと、専門担当にあたるエージェントです。持ち時間が短いので、テンポよく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1、ブログのしくみです。ふつうのブログにある投稿ボタンがないのに、どうやって記事が公開されるのか。ひみつ1から4まで、4つ紹介します。一番下の4つの丸は、今どこにいるかの目印で、黄色が今の場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。このブログには、投稿ボタンがありません。かわりに、ロボットがいます。流れはこうです。まず自分のパソコンで文章を書く。次に、GitHubという、ファイルを預かってくれるネット上の倉庫に送る。すると、倉庫に荷物が届いたことをきっかけに、GitHub Actionsというロボットが目を覚まして、サイトを組み立てます。できあがったサイトはGitHub Pagesが世界に公開して、読む人のブラウザに表示されます。人がやるのは書いて送るところだけ。黄色いところは全部ロボットです。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2。記事1本の正体は、ただのテキストファイルです。ファイル名は、公開する日付と英語のタイトル。中身は2つの部分でできています。上は名札で、タイトルや日付、分類を書きます。下は本文で、シャープ記号をつけると見出し、ハイフンをつけると箇条書きになります。この書き方をマークダウンといいます。そしてルールが1つ。ファイル名の日付が未来だと、その記事は公開されません。これは、あとで出てくる予約投稿に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3。Webページの正体はHTMLというファイルですが、記事ごとに手で書くのは大変です。そこで、Jekyllという組み立て機械に任せています。材料は3つ。自分で書いた記事、借りてきたデザイン、設定のメモ。この3つを入れると、記事の数だけHTMLのページができあがります。デザインはChirpyという、公開されている着せ替えセットを使っているので、どの記事も同じ見た目になります。ロボットの中で動いているのが、このJekyll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4。このプロジェクトには、記事のほかに、企画のメモやAI向けの説明書も入っています。これがうっかりネットに出たら困ります。そこで、出さないもののリストを作るのではなく、siteというフォルダの中だけを材料にする、と許可する範囲を1つだけ決めています。これなら書き忘れが起きません。もう1つのひみつが予約投稿。未来の日付の記事は公開されず、ロボットが毎日夜中の0時5分に見に来て、日付が来ていたら公開してくれます。書きかけの記事を入れるdraftsフォルダも、公開さ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ここからパート2、ルールブックです。このブログを運営するために、決まりごとを3冊の本にまとめてあります。ひみつ5から8まで、4つ紹介します。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2つ目の部屋、ルールブックです。docs/planningというフォルダに、3冊入っています。1冊目は設計書。このブログは何のために、誰に向けて書くのかが書いてあります。2冊目はネタ帳。次に何を書くかと、公開する順番です。3冊目は文体ガイド。どんな言葉遣いで書くか。ポイントは、AIは毎回まっさらな状態で始まるということ。前回何を決めたか覚えていません。だから、決まりごとは頭の中ではなく、ぜんぶ文章にして置いてあります。人もAIも、迷ったらここ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6。設計書のいちばん大事なルールは、知識だけの記事は書かない、です。生成AIの一般的な知識は、AIに聞けば出てきます。だから、解説だけの記事には価値がありません。そこで、どの記事にも、この3つのうち最低1つを入れます。1つ目は一次体験。実際にやってみた結果で、失敗も書きます。2つ目は立ち位置。読む人と同じ現場にいる人が書いていること。3つ目は選別と順序。何を先に知るべきかの地図です。そして公開前に、必ず1つ質問をします。読者がChatGPTに同じことを聞いたら、同じ答えが返ってこないか。返ってくるなら、書き直しです。ほかにも、カテゴリは8つに決めてあり、勝手に増やさないというルールも、この設計書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7。ネタ帳には、記事のタネが54本たまっています。週に1本、月曜日に出すペースで、約12か月分です。もう1つのルールが、公開の順番。たとえば、プロンプトの基礎体力という入門編を先に出して、その次に型、最後に応用編、と決めています。算数で、九九を覚える前に文章題をやらないのと同じです。前の記事が前提になっているので、順番を逆にすると、読む人が置いていかれてしま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8。文体ガイドには、口調のほかに、大事なルールがあります。書き手は、お客さんの会社に常駐して働くエンジニアで、その現場の情報は外に出せません。でも体験談は、このブログの一番の武器です。そこで、どこで、誰と、は書かずに、どんな状況で、何に困り、どうなったか、だけを書く。会社の名前は、ある現場に。実際の議事録は、同じ形のダミーに。個人名は、役割に。こう言い換えれば、体験の説得力はほとんど落ちません。数字は、どこの現場か分からないので、そのまま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ここからパート3、スキルです。ここからがAIの助っ人の話です。まずは、AIに渡す手順書のスキルから。ひみつ9から11まで、3つ紹介します。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3つ目の部屋、スキルです。スキルは、AIに渡す手順書のことです。使い方は簡単で、人が、スラッシュ、write-post、と打つだけ。するとAIが、SKILL.mdという名前の手順書を開いて、その順番どおりに、人と会話しながら記事を仕上げます。料理でいうレシピカードです。AIは毎回まっさらな状態で始まるので、手順を書いておかないと、毎回違う進め方になってしまいます。手順書があれば、いつでも同じ進め方が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ブログでは、スキルを3つ使っています。1つ目、write-post。記事を1本書くときに使います。2つ目、add-idea。ネタを思いついたときに、10分以内でネタ帳に足すためのものです。3つ目、add-infographic。記事に付ける、図入りのヘッダー画像を作ります。どれも、名前の前にスラッシュをつけて呼ぶだけ。手順書の中身は、ただのテキストファイルなので、いつでも直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11。write-postの手順を、8つに分けて見てみます。ここで大事なのは、AIが文章を代わりに書いてしまうのではない、という点です。このブログの価値は、書き手が実際にやってみた体験にあります。それはAIの持っていない情報です。だから、3番目の体験ヒアリングが、この手順書の本体です。AIが質問して、やってみたこと、失敗したこと、数字を聞き出して、それをもとに下書きを作ります。6番目の校閲は、次の部屋で出てくる専門担当のAIに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ここから最後のパート4、エージェントです。手順書のスキルに続いて、専門担当のAIを紹介します。ひみつ12から14まで。最後の14番目で、今日の部品を全部つなげます。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4つ目の部屋、エージェントです。エージェントは、別の部屋で働く専門担当のAIです。メインのAIが、この下書きを点検して、とお願いすると、専門担当が自分の部屋で作業して、ここを直すといいですよ、と報告だけ返してきます。良いところが3つあります。会話が散らからないこと。持っている道具が決まっていて、このブログの専門担当は、読む、探すだけで、ファイルは書き換えないこと。そして、指示書がファイル1つで済むこと。違いをまとめると、スキルは自分が読む手順書、エージェントはお願いする専門担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ブログの専門担当は3人です。1人目、idea-generator。思いつきから、記事ネタの切り口を複数並べてくれます。どれにするかを選ぶのは人です。2人目、idea-reviewer。ネタ帳に足してよいかを審査する門番で、重複や、書けないネタを見つけます。落とすときも、代わりの置き場所を示します。3人目、post-reviewer。書き上がった下書きを、ルールブックと照らして点検する校閲担当です。3人とも、点検して指摘するだけで、ファイルは書き換えません。直すのは、人とメインのAI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14、最後のひみつです。ここまでの部品を、全部つなげてみます。上の段は、ネタをためる流れ。人が思いつきを話すと、add-ideaという手順書が話を聞き、ネタ出し担当が切り口を並べます。ここで、どれで書くかを選ぶのは人です。次に門番が審査して、OKならネタ帳に追加されます。下の段は、記事にする流れ。write-postを始めて、人が体験を話し、AIが下書きを書き、校閲担当が点検し、人が直して送ります。送ったあとは、最初に見たロボットが公開してくれます。どの担当も、動く前にルールブックを読みます。そして、最後に決めるのは、いつも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です。1つ目、このブログは、書いて送るだけで、あとはロボットが公開します。2つ目、ルールブック3冊が、方針と順番と書き方を決めています。AIは毎回まっさらなので、全部ことばにしてあります。3つ目、スキルは、AIに渡す手順書です。4つ目、エージェントは、点検する専門担当で、指摘するだけ。最後に決めるのは、いつも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最後まで聞いてくださって、ありがとうございました。右のQRコードを読みとると、このブログが開きます。記事は、実際にAIを使ってみた体験がもとになっています。よかったら、読みにきてください。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SELF 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自己紹介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5194300" cy="3934520"/>
          </a:xfrm>
          <a:prstGeom prst="roundRect">
            <a:avLst>
              <a:gd name="adj" fmla="val 4358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81040"/>
            <a:ext cx="460451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発表する人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1100" y="3441700"/>
            <a:ext cx="4604512" cy="756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6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渥美 政廣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81100" y="4249341"/>
            <a:ext cx="460451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あつみ　まさひろ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29350" y="1901130"/>
            <a:ext cx="5143500" cy="1884660"/>
          </a:xfrm>
          <a:prstGeom prst="roundRect">
            <a:avLst>
              <a:gd name="adj" fmla="val 909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89700" y="253861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E1EAFF"/>
          </a:solidFill>
          <a:ln/>
        </p:spPr>
      </p:sp>
      <p:pic>
        <p:nvPicPr>
          <p:cNvPr id="10" name="Image 0" descr="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6700" y="2665611"/>
            <a:ext cx="355600" cy="355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277100" y="2532261"/>
            <a:ext cx="395046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ソフトウエアエンジニア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77100" y="2887861"/>
            <a:ext cx="39504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プログラムやシステムをつくる仕事をしています。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9350" y="3950891"/>
            <a:ext cx="5143500" cy="1884759"/>
          </a:xfrm>
          <a:prstGeom prst="roundRect">
            <a:avLst>
              <a:gd name="adj" fmla="val 909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89700" y="458847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16700" y="4715470"/>
            <a:ext cx="355600" cy="355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77100" y="4582120"/>
            <a:ext cx="395046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みんなの助っ人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7277100" y="4937720"/>
            <a:ext cx="39504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みんなの悩み事について、助っ人をしています。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01 / 24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私がやっていること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私は、情報共有のためにブログをやっています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170734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Hom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55700" y="2237680"/>
            <a:ext cx="355600" cy="355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700" y="2809180"/>
            <a:ext cx="283418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自社はSES事業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8700" y="3211711"/>
            <a:ext cx="283418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社員は、お客さんの会社に常駐して、システムの開発や運用をしている。</a:t>
            </a:r>
            <a:endParaRPr lang="en-US" sz="1400" dirty="0"/>
          </a:p>
        </p:txBody>
      </p:sp>
      <p:pic>
        <p:nvPicPr>
          <p:cNvPr id="9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97834" y="3299420"/>
            <a:ext cx="304800" cy="203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10584" y="1901130"/>
            <a:ext cx="3170833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20134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2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47134" y="2237680"/>
            <a:ext cx="355600" cy="355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20134" y="2809180"/>
            <a:ext cx="2834285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現場ごとにバラバラ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720134" y="3211711"/>
            <a:ext cx="2834285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常駐先ごとに、生成AIを使える度合いが違う。</a:t>
            </a:r>
            <a:endParaRPr lang="en-US" sz="1400" dirty="0"/>
          </a:p>
        </p:txBody>
      </p:sp>
      <p:pic>
        <p:nvPicPr>
          <p:cNvPr id="15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89366" y="3299420"/>
            <a:ext cx="304800" cy="203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202116" y="1901130"/>
            <a:ext cx="3170734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411666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8" name="Image 4" descr="Boo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538666" y="2237680"/>
            <a:ext cx="355600" cy="355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411666" y="2809180"/>
            <a:ext cx="283418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ブログで情報共有</a:t>
            </a:r>
            <a:endParaRPr lang="en-US" sz="1900" dirty="0"/>
          </a:p>
        </p:txBody>
      </p:sp>
      <p:sp>
        <p:nvSpPr>
          <p:cNvPr id="20" name="Text 13"/>
          <p:cNvSpPr/>
          <p:nvPr/>
        </p:nvSpPr>
        <p:spPr>
          <a:xfrm>
            <a:off x="8411666" y="3211711"/>
            <a:ext cx="2834183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社員が生成AIを使いこなせるように、後押ししている。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19150" y="5193109"/>
            <a:ext cx="10553700" cy="642541"/>
          </a:xfrm>
          <a:prstGeom prst="roundRect">
            <a:avLst>
              <a:gd name="adj" fmla="val 2668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1054100" y="5351859"/>
            <a:ext cx="10386314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ブログのコンセプト</a:t>
            </a:r>
            <a:r>
              <a:rPr lang="en-US" sz="16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「明日の現場で、そのまま使える」生成AIの実践知を届ける。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02 / 24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23200" y="1270000"/>
            <a:ext cx="3556000" cy="3556000"/>
          </a:xfrm>
          <a:prstGeom prst="rect">
            <a:avLst/>
          </a:prstGeom>
        </p:spPr>
      </p:pic>
      <p:pic>
        <p:nvPicPr>
          <p:cNvPr id="3" name="Image 1" descr="ellip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55200" y="4064000"/>
            <a:ext cx="1270000" cy="1270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1971080"/>
            <a:ext cx="7848600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1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「明日使える生成AI」ブログ　運営の裏側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812800" y="2448520"/>
            <a:ext cx="78486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このブログの</a:t>
            </a:r>
            <a:endParaRPr lang="en-US" sz="48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ひみつ</a:t>
            </a:r>
            <a:r>
              <a:rPr lang="en-US" sz="48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、ぜんぶ見せます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812800" y="4277320"/>
            <a:ext cx="7848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文章がWebサイトになるしくみと、それを支えるAIの助っ人たち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ひみつは全部で14個。4つの部屋で紹介します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0217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20217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90700" y="20942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ブログのしくみ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660900" y="2142430"/>
            <a:ext cx="51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書いた文章が、Webサイトになって公開されるまで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862741" y="2122091"/>
            <a:ext cx="1249759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15141" y="2160191"/>
            <a:ext cx="99575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1〜4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9150" y="27774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9500" y="28980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3" name="Text 11"/>
          <p:cNvSpPr/>
          <p:nvPr/>
        </p:nvSpPr>
        <p:spPr>
          <a:xfrm>
            <a:off x="1054100" y="28980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90700" y="29705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0900" y="3018730"/>
            <a:ext cx="512652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docs/planning にある、3冊の決まりごと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841309" y="2998391"/>
            <a:ext cx="1271191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93709" y="3036491"/>
            <a:ext cx="1017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5〜8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9150" y="36537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9500" y="37743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0" name="Text 18"/>
          <p:cNvSpPr/>
          <p:nvPr/>
        </p:nvSpPr>
        <p:spPr>
          <a:xfrm>
            <a:off x="1054100" y="37743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790700" y="38468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60900" y="3895030"/>
            <a:ext cx="50414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AIに渡す「手順書」。3つある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758759" y="3874691"/>
            <a:ext cx="1353741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24" name="Text 22"/>
          <p:cNvSpPr/>
          <p:nvPr/>
        </p:nvSpPr>
        <p:spPr>
          <a:xfrm>
            <a:off x="9911159" y="3912791"/>
            <a:ext cx="109974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9〜11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9150" y="45300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79500" y="46506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7" name="Text 25"/>
          <p:cNvSpPr/>
          <p:nvPr/>
        </p:nvSpPr>
        <p:spPr>
          <a:xfrm>
            <a:off x="1054100" y="46506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790700" y="47231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660900" y="4771330"/>
            <a:ext cx="49123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AIの「専門担当」。3人いる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633347" y="4750991"/>
            <a:ext cx="1479153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5747" y="4789091"/>
            <a:ext cx="122515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12〜14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04 / 24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4　ひみつ 1〜4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まずは、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ブログのしくみ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書いた文章が、Webサイトになって公開されるまで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投稿ボタンのかわりに、ロボットがいる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7900" y="2085280"/>
            <a:ext cx="833735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130300" y="2123380"/>
            <a:ext cx="57973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書く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7790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8" name="Image 0" descr="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621161"/>
            <a:ext cx="355600" cy="355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790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自分の</a:t>
            </a:r>
            <a:endParaRPr lang="en-US" sz="16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パソコン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77900" y="3835202"/>
            <a:ext cx="14071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文章を、決まった書き方のファイルにする</a:t>
            </a:r>
            <a:endParaRPr lang="en-US" sz="1300" dirty="0"/>
          </a:p>
        </p:txBody>
      </p:sp>
      <p:pic>
        <p:nvPicPr>
          <p:cNvPr id="11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88220" y="3464520"/>
            <a:ext cx="355600" cy="2032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039070" y="1901130"/>
            <a:ext cx="1673920" cy="3330079"/>
          </a:xfrm>
          <a:prstGeom prst="roundRect">
            <a:avLst>
              <a:gd name="adj" fmla="val 102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197820" y="2085280"/>
            <a:ext cx="851892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4" name="Text 10"/>
          <p:cNvSpPr/>
          <p:nvPr/>
        </p:nvSpPr>
        <p:spPr>
          <a:xfrm>
            <a:off x="3350220" y="2123380"/>
            <a:ext cx="5978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送る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19782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6" name="Image 2" descr="Databa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324820" y="2621161"/>
            <a:ext cx="355600" cy="355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197820" y="3205361"/>
            <a:ext cx="14072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197820" y="3571081"/>
            <a:ext cx="14072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ファイルを預かってくれる、ネット上の倉庫</a:t>
            </a:r>
            <a:endParaRPr lang="en-US" sz="1300" dirty="0"/>
          </a:p>
        </p:txBody>
      </p:sp>
      <p:pic>
        <p:nvPicPr>
          <p:cNvPr id="19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8240" y="3464520"/>
            <a:ext cx="355600" cy="203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25909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417840" y="2085280"/>
            <a:ext cx="1183779" cy="30728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22" name="Text 16"/>
          <p:cNvSpPr/>
          <p:nvPr/>
        </p:nvSpPr>
        <p:spPr>
          <a:xfrm>
            <a:off x="5570240" y="2123380"/>
            <a:ext cx="92977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組み立て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1784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4" name="Image 4" descr="Settings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544840" y="2621161"/>
            <a:ext cx="355600" cy="355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41784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17840" y="3835202"/>
            <a:ext cx="14071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荷物が届くと目を覚ます、サイトを作るロボット</a:t>
            </a:r>
            <a:endParaRPr lang="en-US" sz="1300" dirty="0"/>
          </a:p>
        </p:txBody>
      </p:sp>
      <p:pic>
        <p:nvPicPr>
          <p:cNvPr id="27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28160" y="3464520"/>
            <a:ext cx="355600" cy="203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7479010" y="1901130"/>
            <a:ext cx="1673920" cy="3330079"/>
          </a:xfrm>
          <a:prstGeom prst="roundRect">
            <a:avLst>
              <a:gd name="adj" fmla="val 102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37760" y="2085280"/>
            <a:ext cx="855166" cy="30728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30" name="Text 22"/>
          <p:cNvSpPr/>
          <p:nvPr/>
        </p:nvSpPr>
        <p:spPr>
          <a:xfrm>
            <a:off x="7790160" y="2123380"/>
            <a:ext cx="60116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公開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763776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32" name="Image 6" descr="Cloud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764760" y="2621161"/>
            <a:ext cx="355600" cy="35560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637760" y="3205361"/>
            <a:ext cx="14072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 Pages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7637760" y="3571081"/>
            <a:ext cx="14072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できあがったサイトを世界に並べる店先</a:t>
            </a:r>
            <a:endParaRPr lang="en-US" sz="1300" dirty="0"/>
          </a:p>
        </p:txBody>
      </p:sp>
      <p:pic>
        <p:nvPicPr>
          <p:cNvPr id="35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48180" y="3464520"/>
            <a:ext cx="355600" cy="203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69903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9857780" y="2085280"/>
            <a:ext cx="855166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38" name="Text 28"/>
          <p:cNvSpPr/>
          <p:nvPr/>
        </p:nvSpPr>
        <p:spPr>
          <a:xfrm>
            <a:off x="10010180" y="2123380"/>
            <a:ext cx="60116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読む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985778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40" name="Image 8" descr="Glob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984780" y="2621161"/>
            <a:ext cx="355600" cy="355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5778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読む人の</a:t>
            </a:r>
            <a:endParaRPr lang="en-US" sz="16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ブラウザ</a:t>
            </a:r>
            <a:endParaRPr lang="en-US" sz="1600" dirty="0"/>
          </a:p>
        </p:txBody>
      </p:sp>
      <p:sp>
        <p:nvSpPr>
          <p:cNvPr id="42" name="Text 31"/>
          <p:cNvSpPr/>
          <p:nvPr/>
        </p:nvSpPr>
        <p:spPr>
          <a:xfrm>
            <a:off x="9857780" y="3835202"/>
            <a:ext cx="1407120" cy="537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URLを開くと、記事が表示される</a:t>
            </a:r>
            <a:endParaRPr lang="en-US" sz="1300" dirty="0"/>
          </a:p>
        </p:txBody>
      </p:sp>
      <p:sp>
        <p:nvSpPr>
          <p:cNvPr id="43" name="Shape 32"/>
          <p:cNvSpPr/>
          <p:nvPr/>
        </p:nvSpPr>
        <p:spPr>
          <a:xfrm>
            <a:off x="812800" y="5516959"/>
            <a:ext cx="1277441" cy="325041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44" name="Text 33"/>
          <p:cNvSpPr/>
          <p:nvPr/>
        </p:nvSpPr>
        <p:spPr>
          <a:xfrm>
            <a:off x="965200" y="5555059"/>
            <a:ext cx="10234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青：人がやる</a:t>
            </a:r>
            <a:endParaRPr lang="en-US" sz="1400" dirty="0"/>
          </a:p>
        </p:txBody>
      </p:sp>
      <p:sp>
        <p:nvSpPr>
          <p:cNvPr id="45" name="Shape 34"/>
          <p:cNvSpPr/>
          <p:nvPr/>
        </p:nvSpPr>
        <p:spPr>
          <a:xfrm>
            <a:off x="2217241" y="5516959"/>
            <a:ext cx="2447429" cy="325041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46" name="Text 35"/>
          <p:cNvSpPr/>
          <p:nvPr/>
        </p:nvSpPr>
        <p:spPr>
          <a:xfrm>
            <a:off x="2369641" y="5555059"/>
            <a:ext cx="220690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黄色：ロボットが自動でやる</a:t>
            </a:r>
            <a:endParaRPr lang="en-US" sz="1400" dirty="0"/>
          </a:p>
        </p:txBody>
      </p:sp>
      <p:sp>
        <p:nvSpPr>
          <p:cNvPr id="47" name="Text 3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8" name="Text 3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06 / 24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2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98550"/>
            <a:ext cx="10883392" cy="514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63"/>
              </a:lnSpc>
              <a:buNone/>
            </a:pPr>
            <a:r>
              <a:rPr lang="en-US" sz="309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記事の正体は、1つのテキストファイル</a:t>
            </a:r>
            <a:endParaRPr lang="en-US" sz="3090" dirty="0"/>
          </a:p>
        </p:txBody>
      </p:sp>
      <p:sp>
        <p:nvSpPr>
          <p:cNvPr id="4" name="Shape 2"/>
          <p:cNvSpPr/>
          <p:nvPr/>
        </p:nvSpPr>
        <p:spPr>
          <a:xfrm>
            <a:off x="812800" y="1866602"/>
            <a:ext cx="5969000" cy="450850"/>
          </a:xfrm>
          <a:prstGeom prst="roundRect">
            <a:avLst>
              <a:gd name="adj" fmla="val 28169"/>
            </a:avLst>
          </a:prstGeom>
          <a:solidFill>
            <a:srgbClr val="2F62E6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55502"/>
            <a:ext cx="572947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356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2026-09-28-sample-post.md</a:t>
            </a:r>
            <a:endParaRPr lang="en-US" sz="1356" dirty="0"/>
          </a:p>
        </p:txBody>
      </p:sp>
      <p:sp>
        <p:nvSpPr>
          <p:cNvPr id="6" name="Shape 4"/>
          <p:cNvSpPr/>
          <p:nvPr/>
        </p:nvSpPr>
        <p:spPr>
          <a:xfrm>
            <a:off x="812800" y="2317452"/>
            <a:ext cx="5969000" cy="3524548"/>
          </a:xfrm>
          <a:prstGeom prst="roundRect">
            <a:avLst>
              <a:gd name="adj" fmla="val 3603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/>
          <p:nvPr/>
        </p:nvSpPr>
        <p:spPr>
          <a:xfrm>
            <a:off x="1041400" y="2495252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A97B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---</a:t>
            </a:r>
            <a:endParaRPr lang="en-US" sz="1365" dirty="0"/>
          </a:p>
        </p:txBody>
      </p:sp>
      <p:sp>
        <p:nvSpPr>
          <p:cNvPr id="8" name="Text 6"/>
          <p:cNvSpPr/>
          <p:nvPr/>
        </p:nvSpPr>
        <p:spPr>
          <a:xfrm>
            <a:off x="1041400" y="2784277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layout: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post</a:t>
            </a:r>
            <a:endParaRPr lang="en-US" sz="1365" dirty="0"/>
          </a:p>
        </p:txBody>
      </p:sp>
      <p:sp>
        <p:nvSpPr>
          <p:cNvPr id="9" name="Text 7"/>
          <p:cNvSpPr/>
          <p:nvPr/>
        </p:nvSpPr>
        <p:spPr>
          <a:xfrm>
            <a:off x="1041400" y="3073202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title: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"記事のタイトル"</a:t>
            </a:r>
            <a:endParaRPr lang="en-US" sz="1365" dirty="0"/>
          </a:p>
        </p:txBody>
      </p:sp>
      <p:sp>
        <p:nvSpPr>
          <p:cNvPr id="10" name="Text 8"/>
          <p:cNvSpPr/>
          <p:nvPr/>
        </p:nvSpPr>
        <p:spPr>
          <a:xfrm>
            <a:off x="1041400" y="3362226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date: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2026-09-28</a:t>
            </a:r>
            <a:endParaRPr lang="en-US" sz="1365" dirty="0"/>
          </a:p>
        </p:txBody>
      </p:sp>
      <p:sp>
        <p:nvSpPr>
          <p:cNvPr id="11" name="Text 9"/>
          <p:cNvSpPr/>
          <p:nvPr/>
        </p:nvSpPr>
        <p:spPr>
          <a:xfrm>
            <a:off x="1041400" y="3651151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categories: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[生成AIのきほん]</a:t>
            </a:r>
            <a:endParaRPr lang="en-US" sz="1365" dirty="0"/>
          </a:p>
        </p:txBody>
      </p:sp>
      <p:sp>
        <p:nvSpPr>
          <p:cNvPr id="12" name="Text 10"/>
          <p:cNvSpPr/>
          <p:nvPr/>
        </p:nvSpPr>
        <p:spPr>
          <a:xfrm>
            <a:off x="1041400" y="3940076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tags: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[ChatGPT, 入口]</a:t>
            </a:r>
            <a:endParaRPr lang="en-US" sz="1365" dirty="0"/>
          </a:p>
        </p:txBody>
      </p:sp>
      <p:sp>
        <p:nvSpPr>
          <p:cNvPr id="13" name="Text 11"/>
          <p:cNvSpPr/>
          <p:nvPr/>
        </p:nvSpPr>
        <p:spPr>
          <a:xfrm>
            <a:off x="1041400" y="4229001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A97B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---</a:t>
            </a:r>
            <a:endParaRPr lang="en-US" sz="1365" dirty="0"/>
          </a:p>
        </p:txBody>
      </p:sp>
      <p:pic>
        <p:nvPicPr>
          <p:cNvPr id="14" name="Image 0" descr="lin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1400" y="4644926"/>
            <a:ext cx="5511800" cy="254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41400" y="4797326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結論から書きます。この記事では…</a:t>
            </a:r>
            <a:endParaRPr lang="en-US" sz="1365" dirty="0"/>
          </a:p>
        </p:txBody>
      </p:sp>
      <p:sp>
        <p:nvSpPr>
          <p:cNvPr id="16" name="Text 13"/>
          <p:cNvSpPr/>
          <p:nvPr/>
        </p:nvSpPr>
        <p:spPr>
          <a:xfrm>
            <a:off x="1041400" y="5086350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##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見出しは # で作る</a:t>
            </a:r>
            <a:endParaRPr lang="en-US" sz="1365" dirty="0"/>
          </a:p>
        </p:txBody>
      </p:sp>
      <p:sp>
        <p:nvSpPr>
          <p:cNvPr id="17" name="Text 14"/>
          <p:cNvSpPr/>
          <p:nvPr/>
        </p:nvSpPr>
        <p:spPr>
          <a:xfrm>
            <a:off x="1041400" y="5375275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箇条書きは - をつける</a:t>
            </a:r>
            <a:endParaRPr lang="en-US" sz="1365" dirty="0"/>
          </a:p>
        </p:txBody>
      </p:sp>
      <p:sp>
        <p:nvSpPr>
          <p:cNvPr id="18" name="Shape 15"/>
          <p:cNvSpPr/>
          <p:nvPr/>
        </p:nvSpPr>
        <p:spPr>
          <a:xfrm>
            <a:off x="7092950" y="1872952"/>
            <a:ext cx="4279900" cy="906264"/>
          </a:xfrm>
          <a:prstGeom prst="roundRect">
            <a:avLst>
              <a:gd name="adj" fmla="val 1891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02500" y="2031702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ファイル名</a:t>
            </a:r>
            <a:endParaRPr lang="en-US" sz="1263" dirty="0"/>
          </a:p>
        </p:txBody>
      </p:sp>
      <p:sp>
        <p:nvSpPr>
          <p:cNvPr id="20" name="Text 17"/>
          <p:cNvSpPr/>
          <p:nvPr/>
        </p:nvSpPr>
        <p:spPr>
          <a:xfrm>
            <a:off x="7302500" y="2309614"/>
            <a:ext cx="3976624" cy="336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2"/>
              </a:lnSpc>
              <a:buNone/>
            </a:pPr>
            <a:r>
              <a:rPr lang="en-US" sz="1545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公開する日</a:t>
            </a:r>
            <a:r>
              <a:rPr lang="en-US" sz="1545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＋ </a:t>
            </a:r>
            <a:r>
              <a:rPr lang="en-US" sz="1545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英語のタイトル</a:t>
            </a:r>
            <a:endParaRPr lang="en-US" sz="1545" dirty="0"/>
          </a:p>
        </p:txBody>
      </p:sp>
      <p:sp>
        <p:nvSpPr>
          <p:cNvPr id="21" name="Shape 18"/>
          <p:cNvSpPr/>
          <p:nvPr/>
        </p:nvSpPr>
        <p:spPr>
          <a:xfrm>
            <a:off x="7092950" y="2906216"/>
            <a:ext cx="4279900" cy="886916"/>
          </a:xfrm>
          <a:prstGeom prst="roundRect">
            <a:avLst>
              <a:gd name="adj" fmla="val 193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02500" y="3064966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上の部分：名札</a:t>
            </a:r>
            <a:endParaRPr lang="en-US" sz="1263" dirty="0"/>
          </a:p>
        </p:txBody>
      </p:sp>
      <p:sp>
        <p:nvSpPr>
          <p:cNvPr id="23" name="Text 20"/>
          <p:cNvSpPr/>
          <p:nvPr/>
        </p:nvSpPr>
        <p:spPr>
          <a:xfrm>
            <a:off x="7302500" y="3342878"/>
            <a:ext cx="3976624" cy="3169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8"/>
              </a:lnSpc>
              <a:buNone/>
            </a:pPr>
            <a:r>
              <a:rPr lang="en-US" sz="144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タイトル・日付・分類を書く</a:t>
            </a:r>
            <a:endParaRPr lang="en-US" sz="1448" dirty="0"/>
          </a:p>
        </p:txBody>
      </p:sp>
      <p:sp>
        <p:nvSpPr>
          <p:cNvPr id="24" name="Shape 21"/>
          <p:cNvSpPr/>
          <p:nvPr/>
        </p:nvSpPr>
        <p:spPr>
          <a:xfrm>
            <a:off x="7092950" y="3920133"/>
            <a:ext cx="4279900" cy="886916"/>
          </a:xfrm>
          <a:prstGeom prst="roundRect">
            <a:avLst>
              <a:gd name="adj" fmla="val 193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02500" y="4078883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下の部分：本文</a:t>
            </a:r>
            <a:endParaRPr lang="en-US" sz="1263" dirty="0"/>
          </a:p>
        </p:txBody>
      </p:sp>
      <p:sp>
        <p:nvSpPr>
          <p:cNvPr id="26" name="Text 23"/>
          <p:cNvSpPr/>
          <p:nvPr/>
        </p:nvSpPr>
        <p:spPr>
          <a:xfrm>
            <a:off x="7302500" y="4356795"/>
            <a:ext cx="3976624" cy="3169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8"/>
              </a:lnSpc>
              <a:buNone/>
            </a:pPr>
            <a:r>
              <a:rPr lang="en-US" sz="144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ふつうの文章。記号で見出しや箇条書きを作る</a:t>
            </a:r>
            <a:endParaRPr lang="en-US" sz="1448" dirty="0"/>
          </a:p>
        </p:txBody>
      </p:sp>
      <p:sp>
        <p:nvSpPr>
          <p:cNvPr id="27" name="Shape 24"/>
          <p:cNvSpPr/>
          <p:nvPr/>
        </p:nvSpPr>
        <p:spPr>
          <a:xfrm>
            <a:off x="7092950" y="4934049"/>
            <a:ext cx="4279900" cy="901601"/>
          </a:xfrm>
          <a:prstGeom prst="roundRect">
            <a:avLst>
              <a:gd name="adj" fmla="val 19016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02500" y="5092799"/>
            <a:ext cx="3976624" cy="6095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444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ルール</a:t>
            </a:r>
            <a:r>
              <a:rPr lang="en-US" sz="144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：ファイル名の日付が未来だと、その記事はまだ公開されない</a:t>
            </a:r>
            <a:endParaRPr lang="en-US" sz="1444" dirty="0"/>
          </a:p>
        </p:txBody>
      </p:sp>
      <p:sp>
        <p:nvSpPr>
          <p:cNvPr id="29" name="Text 2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07 / 24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0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3</a:t>
            </a:r>
            <a:endParaRPr lang="en-US" sz="1231" dirty="0"/>
          </a:p>
        </p:txBody>
      </p:sp>
      <p:sp>
        <p:nvSpPr>
          <p:cNvPr id="3" name="Text 1"/>
          <p:cNvSpPr/>
          <p:nvPr/>
        </p:nvSpPr>
        <p:spPr>
          <a:xfrm>
            <a:off x="812800" y="1091803"/>
            <a:ext cx="10883392" cy="499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63"/>
              </a:lnSpc>
              <a:buNone/>
            </a:pPr>
            <a:r>
              <a:rPr lang="en-US" sz="301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Jekyllが、ページを組み立ててくれる</a:t>
            </a:r>
            <a:endParaRPr lang="en-US" sz="3010" dirty="0"/>
          </a:p>
        </p:txBody>
      </p:sp>
      <p:sp>
        <p:nvSpPr>
          <p:cNvPr id="4" name="Shape 2"/>
          <p:cNvSpPr/>
          <p:nvPr/>
        </p:nvSpPr>
        <p:spPr>
          <a:xfrm>
            <a:off x="819150" y="1851521"/>
            <a:ext cx="1807567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8934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70534" y="211187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9514" y="2581771"/>
            <a:ext cx="42674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</a:t>
            </a:r>
            <a:endParaRPr lang="en-US" sz="1480" dirty="0"/>
          </a:p>
        </p:txBody>
      </p:sp>
      <p:sp>
        <p:nvSpPr>
          <p:cNvPr id="8" name="Text 5"/>
          <p:cNvSpPr/>
          <p:nvPr/>
        </p:nvSpPr>
        <p:spPr>
          <a:xfrm>
            <a:off x="1355824" y="2885480"/>
            <a:ext cx="734219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Markdown</a:t>
            </a:r>
            <a:endParaRPr lang="en-US" sz="1121" dirty="0"/>
          </a:p>
        </p:txBody>
      </p:sp>
      <p:sp>
        <p:nvSpPr>
          <p:cNvPr id="9" name="Shape 6"/>
          <p:cNvSpPr/>
          <p:nvPr/>
        </p:nvSpPr>
        <p:spPr>
          <a:xfrm>
            <a:off x="2766417" y="1851521"/>
            <a:ext cx="1807666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6201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17801" y="2111871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68861" y="2581771"/>
            <a:ext cx="80268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デザイン</a:t>
            </a:r>
            <a:endParaRPr lang="en-US" sz="1480" dirty="0"/>
          </a:p>
        </p:txBody>
      </p:sp>
      <p:sp>
        <p:nvSpPr>
          <p:cNvPr id="13" name="Text 9"/>
          <p:cNvSpPr/>
          <p:nvPr/>
        </p:nvSpPr>
        <p:spPr>
          <a:xfrm>
            <a:off x="3388519" y="2885480"/>
            <a:ext cx="563364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Chirpy</a:t>
            </a:r>
            <a:endParaRPr lang="en-US" sz="1121" dirty="0"/>
          </a:p>
        </p:txBody>
      </p:sp>
      <p:sp>
        <p:nvSpPr>
          <p:cNvPr id="14" name="Shape 10"/>
          <p:cNvSpPr/>
          <p:nvPr/>
        </p:nvSpPr>
        <p:spPr>
          <a:xfrm>
            <a:off x="4713784" y="1851521"/>
            <a:ext cx="1807666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363567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16" name="Image 2" descr="Setting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65167" y="2111871"/>
            <a:ext cx="304800" cy="304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04247" y="2581771"/>
            <a:ext cx="42674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設定</a:t>
            </a:r>
            <a:endParaRPr lang="en-US" sz="1480" dirty="0"/>
          </a:p>
        </p:txBody>
      </p:sp>
      <p:sp>
        <p:nvSpPr>
          <p:cNvPr id="18" name="Text 13"/>
          <p:cNvSpPr/>
          <p:nvPr/>
        </p:nvSpPr>
        <p:spPr>
          <a:xfrm>
            <a:off x="5122366" y="2885480"/>
            <a:ext cx="990501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_config.yml</a:t>
            </a:r>
            <a:endParaRPr lang="en-US" sz="1121" dirty="0"/>
          </a:p>
        </p:txBody>
      </p:sp>
      <p:pic>
        <p:nvPicPr>
          <p:cNvPr id="19" name="Image 3" descr="arrow-dow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68700" y="3358852"/>
            <a:ext cx="203200" cy="304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12800" y="3752552"/>
            <a:ext cx="5715000" cy="991592"/>
          </a:xfrm>
          <a:prstGeom prst="roundRect">
            <a:avLst>
              <a:gd name="adj" fmla="val 17931"/>
            </a:avLst>
          </a:prstGeom>
          <a:solidFill>
            <a:srgbClr val="2F62E6"/>
          </a:solidFill>
          <a:ln/>
        </p:spPr>
      </p:sp>
      <p:sp>
        <p:nvSpPr>
          <p:cNvPr id="21" name="Text 15"/>
          <p:cNvSpPr/>
          <p:nvPr/>
        </p:nvSpPr>
        <p:spPr>
          <a:xfrm>
            <a:off x="2647652" y="3930352"/>
            <a:ext cx="2106654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1"/>
              </a:lnSpc>
              <a:buNone/>
            </a:pPr>
            <a:r>
              <a:rPr lang="en-US" sz="2131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Jekyll（ジキル）</a:t>
            </a:r>
            <a:endParaRPr lang="en-US" sz="2131" dirty="0"/>
          </a:p>
        </p:txBody>
      </p:sp>
      <p:sp>
        <p:nvSpPr>
          <p:cNvPr id="22" name="Text 16"/>
          <p:cNvSpPr/>
          <p:nvPr/>
        </p:nvSpPr>
        <p:spPr>
          <a:xfrm>
            <a:off x="2414885" y="4307780"/>
            <a:ext cx="2586155" cy="28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4"/>
              </a:lnSpc>
              <a:buNone/>
            </a:pPr>
            <a:r>
              <a:rPr lang="en-US" sz="1383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材料を全部まぜて、ページを作る</a:t>
            </a:r>
            <a:endParaRPr lang="en-US" sz="1383" dirty="0"/>
          </a:p>
        </p:txBody>
      </p:sp>
      <p:pic>
        <p:nvPicPr>
          <p:cNvPr id="23" name="Image 4" descr="arrow-down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568700" y="4833045"/>
            <a:ext cx="203200" cy="3048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2800" y="5226745"/>
            <a:ext cx="5715000" cy="615255"/>
          </a:xfrm>
          <a:prstGeom prst="roundRect">
            <a:avLst>
              <a:gd name="adj" fmla="val 28899"/>
            </a:avLst>
          </a:prstGeom>
          <a:solidFill>
            <a:srgbClr val="FFC83D"/>
          </a:solidFill>
          <a:ln/>
        </p:spPr>
      </p:sp>
      <p:sp>
        <p:nvSpPr>
          <p:cNvPr id="25" name="Text 18"/>
          <p:cNvSpPr/>
          <p:nvPr/>
        </p:nvSpPr>
        <p:spPr>
          <a:xfrm>
            <a:off x="2191246" y="5379145"/>
            <a:ext cx="3046851" cy="3358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3"/>
              </a:lnSpc>
              <a:buNone/>
            </a:pPr>
            <a:r>
              <a:rPr lang="en-US" sz="1766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記事の数だけ HTML のページ</a:t>
            </a:r>
            <a:endParaRPr lang="en-US" sz="1766" dirty="0"/>
          </a:p>
        </p:txBody>
      </p:sp>
      <p:sp>
        <p:nvSpPr>
          <p:cNvPr id="26" name="Shape 19"/>
          <p:cNvSpPr/>
          <p:nvPr/>
        </p:nvSpPr>
        <p:spPr>
          <a:xfrm>
            <a:off x="6889750" y="1851521"/>
            <a:ext cx="4483100" cy="834430"/>
          </a:xfrm>
          <a:prstGeom prst="roundRect">
            <a:avLst>
              <a:gd name="adj" fmla="val 2054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7099300" y="1997571"/>
            <a:ext cx="418592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</a:t>
            </a:r>
            <a:endParaRPr lang="en-US" sz="1480" dirty="0"/>
          </a:p>
        </p:txBody>
      </p:sp>
      <p:sp>
        <p:nvSpPr>
          <p:cNvPr id="28" name="Text 21"/>
          <p:cNvSpPr/>
          <p:nvPr/>
        </p:nvSpPr>
        <p:spPr>
          <a:xfrm>
            <a:off x="7099300" y="2262981"/>
            <a:ext cx="4185920" cy="302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38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自分で書いた文章。中身だけに集中できる。</a:t>
            </a:r>
            <a:endParaRPr lang="en-US" sz="1388" dirty="0"/>
          </a:p>
        </p:txBody>
      </p:sp>
      <p:sp>
        <p:nvSpPr>
          <p:cNvPr id="29" name="Shape 22"/>
          <p:cNvSpPr/>
          <p:nvPr/>
        </p:nvSpPr>
        <p:spPr>
          <a:xfrm>
            <a:off x="6889750" y="2800251"/>
            <a:ext cx="4483100" cy="1112540"/>
          </a:xfrm>
          <a:prstGeom prst="roundRect">
            <a:avLst>
              <a:gd name="adj" fmla="val 1541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7099300" y="2946301"/>
            <a:ext cx="4185920" cy="265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デザイン</a:t>
            </a:r>
            <a:endParaRPr lang="en-US" sz="1480" dirty="0"/>
          </a:p>
        </p:txBody>
      </p:sp>
      <p:sp>
        <p:nvSpPr>
          <p:cNvPr id="31" name="Text 24"/>
          <p:cNvSpPr/>
          <p:nvPr/>
        </p:nvSpPr>
        <p:spPr>
          <a:xfrm>
            <a:off x="7099300" y="3212009"/>
            <a:ext cx="4185920" cy="580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3"/>
              </a:lnSpc>
              <a:buNone/>
            </a:pPr>
            <a:r>
              <a:rPr lang="en-US" sz="136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Chirpy（チャーピー）という、公開されている着せ替えセットを借りている。</a:t>
            </a:r>
            <a:endParaRPr lang="en-US" sz="1364" dirty="0"/>
          </a:p>
        </p:txBody>
      </p:sp>
      <p:sp>
        <p:nvSpPr>
          <p:cNvPr id="32" name="Shape 25"/>
          <p:cNvSpPr/>
          <p:nvPr/>
        </p:nvSpPr>
        <p:spPr>
          <a:xfrm>
            <a:off x="6889750" y="4027091"/>
            <a:ext cx="4483100" cy="1112540"/>
          </a:xfrm>
          <a:prstGeom prst="roundRect">
            <a:avLst>
              <a:gd name="adj" fmla="val 1541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099300" y="4173141"/>
            <a:ext cx="4185920" cy="265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設定</a:t>
            </a:r>
            <a:endParaRPr lang="en-US" sz="1480" dirty="0"/>
          </a:p>
        </p:txBody>
      </p:sp>
      <p:sp>
        <p:nvSpPr>
          <p:cNvPr id="34" name="Text 27"/>
          <p:cNvSpPr/>
          <p:nvPr/>
        </p:nvSpPr>
        <p:spPr>
          <a:xfrm>
            <a:off x="7099300" y="4438848"/>
            <a:ext cx="4185920" cy="580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3"/>
              </a:lnSpc>
              <a:buNone/>
            </a:pPr>
            <a:r>
              <a:rPr lang="en-US" sz="136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サイトの名前やURL、どのフォルダを材料にするかのメモ。</a:t>
            </a:r>
            <a:endParaRPr lang="en-US" sz="1364" dirty="0"/>
          </a:p>
        </p:txBody>
      </p:sp>
      <p:sp>
        <p:nvSpPr>
          <p:cNvPr id="35" name="Text 28"/>
          <p:cNvSpPr/>
          <p:nvPr/>
        </p:nvSpPr>
        <p:spPr>
          <a:xfrm>
            <a:off x="6883400" y="5285680"/>
            <a:ext cx="4630674" cy="58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378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同じ機械が、同じ手順で全ページを作る。だから見た目がそろう。</a:t>
            </a:r>
            <a:endParaRPr lang="en-US" sz="1378" dirty="0"/>
          </a:p>
        </p:txBody>
      </p:sp>
      <p:sp>
        <p:nvSpPr>
          <p:cNvPr id="36" name="Text 2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08 / 24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公開されるのは、siteフォルダの中だけ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" y="2025551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site/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870200" y="2034480"/>
            <a:ext cx="279402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サイトの材料の置き場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35241" y="1996380"/>
            <a:ext cx="1427559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8" name="Text 6"/>
          <p:cNvSpPr/>
          <p:nvPr/>
        </p:nvSpPr>
        <p:spPr>
          <a:xfrm>
            <a:off x="5887641" y="2034480"/>
            <a:ext cx="117355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ここだけが材料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9150" y="2475111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8100" y="2599531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_posts/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70200" y="2608461"/>
            <a:ext cx="31035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完成した記事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774" y="2570361"/>
            <a:ext cx="1127026" cy="307280"/>
          </a:xfrm>
          <a:prstGeom prst="roundRect">
            <a:avLst>
              <a:gd name="adj" fmla="val 50000"/>
            </a:avLst>
          </a:prstGeom>
          <a:solidFill>
            <a:srgbClr val="DBF4E7"/>
          </a:solidFill>
          <a:ln/>
        </p:spPr>
      </p:sp>
      <p:sp>
        <p:nvSpPr>
          <p:cNvPr id="13" name="Text 11"/>
          <p:cNvSpPr/>
          <p:nvPr/>
        </p:nvSpPr>
        <p:spPr>
          <a:xfrm>
            <a:off x="6188174" y="2608461"/>
            <a:ext cx="87302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公開される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150" y="3049091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8100" y="3173512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_drafts/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70200" y="3182441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書きかけの記事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62700" y="3144341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18" name="Text 16"/>
          <p:cNvSpPr/>
          <p:nvPr/>
        </p:nvSpPr>
        <p:spPr>
          <a:xfrm>
            <a:off x="6515100" y="3182441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9150" y="3623072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08100" y="3747492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assets/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70200" y="3756422"/>
            <a:ext cx="31035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記事の画像など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774" y="3718322"/>
            <a:ext cx="1127026" cy="307280"/>
          </a:xfrm>
          <a:prstGeom prst="roundRect">
            <a:avLst>
              <a:gd name="adj" fmla="val 50000"/>
            </a:avLst>
          </a:prstGeom>
          <a:solidFill>
            <a:srgbClr val="DBF4E7"/>
          </a:solidFill>
          <a:ln/>
        </p:spPr>
      </p:sp>
      <p:sp>
        <p:nvSpPr>
          <p:cNvPr id="23" name="Text 21"/>
          <p:cNvSpPr/>
          <p:nvPr/>
        </p:nvSpPr>
        <p:spPr>
          <a:xfrm>
            <a:off x="6188174" y="3756422"/>
            <a:ext cx="87302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公開される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9150" y="4197052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4321473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docs/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870200" y="4330402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ルールブックなど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62700" y="4292302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28" name="Text 26"/>
          <p:cNvSpPr/>
          <p:nvPr/>
        </p:nvSpPr>
        <p:spPr>
          <a:xfrm>
            <a:off x="6515100" y="4330402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9150" y="4771033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3300" y="4895453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infographics/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870200" y="4904383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画像の元データ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62700" y="4866283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33" name="Text 31"/>
          <p:cNvSpPr/>
          <p:nvPr/>
        </p:nvSpPr>
        <p:spPr>
          <a:xfrm>
            <a:off x="6515100" y="4904383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39050" y="1901130"/>
            <a:ext cx="3733800" cy="1910060"/>
          </a:xfrm>
          <a:prstGeom prst="roundRect">
            <a:avLst>
              <a:gd name="adj" fmla="val 8976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74000" y="2110680"/>
            <a:ext cx="3361817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許可する範囲を、1つだけ決める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874000" y="2467471"/>
            <a:ext cx="3361817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「これは出さない」のリストは作らない。「siteの中だけ」と決めておけば、書き忘れの事故が起きない。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9050" y="3925491"/>
            <a:ext cx="3733800" cy="1910159"/>
          </a:xfrm>
          <a:prstGeom prst="roundRect">
            <a:avLst>
              <a:gd name="adj" fmla="val 8976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74000" y="4135041"/>
            <a:ext cx="3361817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予約投稿もできる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874000" y="4491831"/>
            <a:ext cx="3361817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未来の日付の記事は、その日まで出ない。ロボットが毎日 0:05 に見に来て、日付が来たら公開する。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09 / 24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4　ひみつ 5〜8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docs/planning にある、3冊の決まりごと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ルールブック（docs/planning）　ひみつ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ルールブックが、3冊ある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06500" y="2288480"/>
            <a:ext cx="355600" cy="355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9500" y="2885380"/>
            <a:ext cx="297367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content-strategy.md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79500" y="3230761"/>
            <a:ext cx="2973679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設計書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079500" y="3741241"/>
            <a:ext cx="180220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10" name="Text 7"/>
          <p:cNvSpPr/>
          <p:nvPr/>
        </p:nvSpPr>
        <p:spPr>
          <a:xfrm>
            <a:off x="1231900" y="3779341"/>
            <a:ext cx="154820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何のために書く？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79500" y="4198441"/>
            <a:ext cx="2973679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ブログのコンセプト、読者、8つのカテゴリ、記事の型。方針は全部ここ。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92017" y="1901130"/>
            <a:ext cx="3407866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52367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4" name="Image 1" descr="Lightbul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79367" y="2288480"/>
            <a:ext cx="355600" cy="355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52367" y="2885380"/>
            <a:ext cx="29737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article-backlog.md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652367" y="3230761"/>
            <a:ext cx="2973781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ネタ帳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4652367" y="3741241"/>
            <a:ext cx="161170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18" name="Text 14"/>
          <p:cNvSpPr/>
          <p:nvPr/>
        </p:nvSpPr>
        <p:spPr>
          <a:xfrm>
            <a:off x="4804767" y="3779341"/>
            <a:ext cx="135770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次に何を書く？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652367" y="4198441"/>
            <a:ext cx="2973781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記事のタネのストックと、公開する順番。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964984" y="1901130"/>
            <a:ext cx="3407866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25334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2" name="Image 2" descr="Cha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52334" y="2288480"/>
            <a:ext cx="355600" cy="3556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25334" y="2885380"/>
            <a:ext cx="29737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writing-style.md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225334" y="3230761"/>
            <a:ext cx="2973781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文体ガイド</a:t>
            </a:r>
            <a:endParaRPr lang="en-US" sz="2400" dirty="0"/>
          </a:p>
        </p:txBody>
      </p:sp>
      <p:sp>
        <p:nvSpPr>
          <p:cNvPr id="25" name="Shape 20"/>
          <p:cNvSpPr/>
          <p:nvPr/>
        </p:nvSpPr>
        <p:spPr>
          <a:xfrm>
            <a:off x="8225334" y="3741241"/>
            <a:ext cx="121929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26" name="Text 21"/>
          <p:cNvSpPr/>
          <p:nvPr/>
        </p:nvSpPr>
        <p:spPr>
          <a:xfrm>
            <a:off x="8377734" y="3779341"/>
            <a:ext cx="9652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どう書く？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8225334" y="4198441"/>
            <a:ext cx="2973781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口調、言い換えのルール、書き終えたあとのチェック表。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12800" y="5537200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AIは毎回まっさらな状態で始まる。だから、決まりごとは全部ことばにして書いてある。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11 / 24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ルールブック（設計書）　ひみつ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知識だけの記事は、書かない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93180"/>
            <a:ext cx="1088339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AIに聞けば分かることを書いても、読む意味がない。だから、どの記事にも次の3つのうち1つは入れる。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9150" y="2302371"/>
            <a:ext cx="3407767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4100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7" name="Text 5"/>
          <p:cNvSpPr/>
          <p:nvPr/>
        </p:nvSpPr>
        <p:spPr>
          <a:xfrm>
            <a:off x="1028700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87500" y="2532856"/>
            <a:ext cx="2476601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一次体験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54100" y="2981821"/>
            <a:ext cx="302600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実際にやってみた結果。うまくいかなかったことも書く。AIには体験できない。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92017" y="2302371"/>
            <a:ext cx="3407866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967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2" name="Text 10"/>
          <p:cNvSpPr/>
          <p:nvPr/>
        </p:nvSpPr>
        <p:spPr>
          <a:xfrm>
            <a:off x="4601567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60367" y="2532856"/>
            <a:ext cx="247670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立ち位置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26967" y="2981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読む人と同じ立場の人が書く。同じ現場で働くエンジニアだから、伝わることがある。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64984" y="2302371"/>
            <a:ext cx="3407866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9934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7" name="Text 15"/>
          <p:cNvSpPr/>
          <p:nvPr/>
        </p:nvSpPr>
        <p:spPr>
          <a:xfrm>
            <a:off x="8174534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33334" y="2532856"/>
            <a:ext cx="247670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選別と順序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199934" y="2981821"/>
            <a:ext cx="3026105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何から先に知るべきか。今は無視していいのは何か。地図をつくる。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9150" y="4208463"/>
            <a:ext cx="10553700" cy="927100"/>
          </a:xfrm>
          <a:prstGeom prst="roundRect">
            <a:avLst>
              <a:gd name="adj" fmla="val 1849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4100" y="4443413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FFC83D"/>
          </a:solidFill>
          <a:ln/>
        </p:spPr>
      </p:sp>
      <p:pic>
        <p:nvPicPr>
          <p:cNvPr id="22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4532313"/>
            <a:ext cx="279400" cy="2794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689100" y="4367213"/>
            <a:ext cx="973226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公開前の一問</a:t>
            </a:r>
            <a:r>
              <a:rPr lang="en-US" sz="15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この記事、読者がChatGPTに同じ質問をしたら、同じ答えが返ってこないか。返ってくるなら、書き直す。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 / 24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ルールブック（ネタ帳）　ひみつ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ネタは54本。公開の順番にもルールがある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4813300" cy="2421830"/>
          </a:xfrm>
          <a:prstGeom prst="roundRect">
            <a:avLst>
              <a:gd name="adj" fmla="val 707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110680"/>
            <a:ext cx="442137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記事のタネのストック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9500" y="2445941"/>
            <a:ext cx="4421378" cy="1073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54本</a:t>
            </a:r>
            <a:endParaRPr lang="en-US" sz="7500" dirty="0"/>
          </a:p>
        </p:txBody>
      </p:sp>
      <p:sp>
        <p:nvSpPr>
          <p:cNvPr id="7" name="Text 5"/>
          <p:cNvSpPr/>
          <p:nvPr/>
        </p:nvSpPr>
        <p:spPr>
          <a:xfrm>
            <a:off x="1079500" y="3544491"/>
            <a:ext cx="442137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2026年9月20日時点。週1本のペースで、約12か月分。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9150" y="4462661"/>
            <a:ext cx="4813300" cy="927100"/>
          </a:xfrm>
          <a:prstGeom prst="roundRect">
            <a:avLst>
              <a:gd name="adj" fmla="val 1849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4100" y="4621411"/>
            <a:ext cx="447370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毎週月曜に1本</a:t>
            </a:r>
            <a:r>
              <a:rPr lang="en-US" sz="15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。続けることを最優先にして、増やしすぎない。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94400" y="1894780"/>
            <a:ext cx="5546344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先に読んでほしい記事を、先に出す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750" y="2289671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0300" y="2397621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プロンプトの基礎体力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10300" y="2690912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入門編・全3回</a:t>
            </a:r>
            <a:endParaRPr lang="en-US" sz="1300" dirty="0"/>
          </a:p>
        </p:txBody>
      </p:sp>
      <p:pic>
        <p:nvPicPr>
          <p:cNvPr id="14" name="Image 0" descr="arrow-dow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97900" y="3099792"/>
            <a:ext cx="177800" cy="2286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000750" y="3398242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0300" y="3506192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プロンプト設計の型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10300" y="3799483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全5回</a:t>
            </a:r>
            <a:endParaRPr lang="en-US" sz="1300" dirty="0"/>
          </a:p>
        </p:txBody>
      </p:sp>
      <p:pic>
        <p:nvPicPr>
          <p:cNvPr id="18" name="Image 1" descr="arrow-dow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97900" y="4208363"/>
            <a:ext cx="177800" cy="2286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000750" y="4506813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10300" y="4614763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ステップアップ編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210300" y="4908054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応用編・全4回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994400" y="5342334"/>
            <a:ext cx="55463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前の記事が前提になっているので、順番を逆にしない。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 / 24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ルールブック（文体ガイド）　ひみつ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現場のひみつは、書き方で守る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4051300" cy="1268611"/>
          </a:xfrm>
          <a:prstGeom prst="roundRect">
            <a:avLst>
              <a:gd name="adj" fmla="val 135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8700" y="2085280"/>
            <a:ext cx="374116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口調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8700" y="2416671"/>
            <a:ext cx="37411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同じ現場の先輩が、休憩中に「これ便利だよ」と教えてくれる感じ。です・ます調でそろえる。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9150" y="3296741"/>
            <a:ext cx="4051300" cy="1268611"/>
          </a:xfrm>
          <a:prstGeom prst="roundRect">
            <a:avLst>
              <a:gd name="adj" fmla="val 135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" y="3480891"/>
            <a:ext cx="374116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決まり文句は使わない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8700" y="3812282"/>
            <a:ext cx="37411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「ぜひ試してみてください」で終わらない。何から試すかまで書く。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81600" y="1894780"/>
            <a:ext cx="6383528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会社や人が分かる書き方は、言い換える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87950" y="2315071"/>
            <a:ext cx="2832100" cy="738981"/>
          </a:xfrm>
          <a:prstGeom prst="roundRect">
            <a:avLst>
              <a:gd name="adj" fmla="val 23201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72100" y="2560141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企業名・プロジェクト名</a:t>
            </a:r>
            <a:endParaRPr lang="en-US" sz="1400" dirty="0"/>
          </a:p>
        </p:txBody>
      </p:sp>
      <p:pic>
        <p:nvPicPr>
          <p:cNvPr id="13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0" y="2582962"/>
            <a:ext cx="304800" cy="2032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540750" y="2315071"/>
            <a:ext cx="2832100" cy="738981"/>
          </a:xfrm>
          <a:prstGeom prst="roundRect">
            <a:avLst>
              <a:gd name="adj" fmla="val 23201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24900" y="2435721"/>
            <a:ext cx="253771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「ある現場」「10名規模のチーム」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187950" y="3155652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2100" y="3276302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実際の議事録やログ</a:t>
            </a:r>
            <a:endParaRPr lang="en-US" sz="1400" dirty="0"/>
          </a:p>
        </p:txBody>
      </p:sp>
      <p:pic>
        <p:nvPicPr>
          <p:cNvPr id="18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28000" y="3299123"/>
            <a:ext cx="304800" cy="2032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540750" y="3155652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724900" y="3276302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同じ形のダミーを作って載せる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5187950" y="3747393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372100" y="3868043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「PMの〇〇さん」</a:t>
            </a:r>
            <a:endParaRPr lang="en-US" sz="1400" dirty="0"/>
          </a:p>
        </p:txBody>
      </p:sp>
      <p:pic>
        <p:nvPicPr>
          <p:cNvPr id="23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0" y="3890863"/>
            <a:ext cx="304800" cy="20320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540750" y="3747393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724900" y="3868043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「PM」「レビュー担当者」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5181600" y="4358184"/>
            <a:ext cx="63835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数字（「30分が5分になった」）は残す。数字だけでは、どこの現場か分からない。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 / 24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4　ひみつ 9〜11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そして、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AIに渡す「手順書」。このブログでは3つ使っている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スキルは、AIに渡す手順書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2F62E6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 人が呼ぶ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「/write-post」と打つ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160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呼ぶだけでいい</a:t>
            </a:r>
            <a:endParaRPr lang="en-US" sz="140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64000" y="2372221"/>
            <a:ext cx="3556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212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16233B"/>
          </a:solidFill>
          <a:ln/>
        </p:spPr>
      </p:sp>
      <p:sp>
        <p:nvSpPr>
          <p:cNvPr id="10" name="Text 7"/>
          <p:cNvSpPr/>
          <p:nvPr/>
        </p:nvSpPr>
        <p:spPr>
          <a:xfrm>
            <a:off x="47244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 AIが読む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7244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手順書を開く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7244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名前はいつも SKILL.md</a:t>
            </a:r>
            <a:endParaRPr lang="en-US" sz="1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2372221"/>
            <a:ext cx="3556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2296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FFC83D"/>
          </a:solidFill>
          <a:ln/>
        </p:spPr>
      </p:sp>
      <p:sp>
        <p:nvSpPr>
          <p:cNvPr id="15" name="Text 11"/>
          <p:cNvSpPr/>
          <p:nvPr/>
        </p:nvSpPr>
        <p:spPr>
          <a:xfrm>
            <a:off x="84328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 AIが進める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84328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手順どおりに動く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84328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人と会話しながら、記事を仕上げる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9150" y="3338711"/>
            <a:ext cx="5194300" cy="1603871"/>
          </a:xfrm>
          <a:prstGeom prst="roundRect">
            <a:avLst>
              <a:gd name="adj" fmla="val 10690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28700" y="3522861"/>
            <a:ext cx="491845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手順書には、何が書いてある？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1028700" y="3854252"/>
            <a:ext cx="491845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どの順番で聞くか。どのルールブックを読むか。どこで専門担当に頼むか。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28700" y="4473972"/>
            <a:ext cx="491845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.claude/skills/write-post/SKILL.md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78550" y="3338711"/>
            <a:ext cx="5194300" cy="1603871"/>
          </a:xfrm>
          <a:prstGeom prst="roundRect">
            <a:avLst>
              <a:gd name="adj" fmla="val 10690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88100" y="3522861"/>
            <a:ext cx="491845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なぜ必要？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6388100" y="3854252"/>
            <a:ext cx="491845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AIは毎回まっさらで始まる。手順を書いておけば、いつでも同じ進め方になる。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388100" y="4473972"/>
            <a:ext cx="491845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たとえると、料理のレシピカード。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16 / 24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このブログのスキルは、3つ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100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1100" y="2263080"/>
            <a:ext cx="355600" cy="355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54100" y="2847280"/>
            <a:ext cx="1645940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8" name="Text 5"/>
          <p:cNvSpPr/>
          <p:nvPr/>
        </p:nvSpPr>
        <p:spPr>
          <a:xfrm>
            <a:off x="1206500" y="2898080"/>
            <a:ext cx="139194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/write-post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54100" y="3334941"/>
            <a:ext cx="3026003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記事を書く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54100" y="3799681"/>
            <a:ext cx="302600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テーマ決めから、体験のヒアリング、下書き、校閲、保存まで、順番に付き合ってくれる。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4100" y="4727873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使うとき：1本書くとき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92017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26967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4" name="Image 1" descr="Lightbul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3967" y="2263080"/>
            <a:ext cx="355600" cy="3556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626967" y="2847280"/>
            <a:ext cx="1402159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16" name="Text 12"/>
          <p:cNvSpPr/>
          <p:nvPr/>
        </p:nvSpPr>
        <p:spPr>
          <a:xfrm>
            <a:off x="4779367" y="2898080"/>
            <a:ext cx="114815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/add-idea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26967" y="3334941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ネタをためる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626967" y="379968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思いつきや、その日の出来事を聞いて、ネタ帳に足してよいか審査する。10分で終わらせる。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626967" y="472787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使うとき：ネタを思いついたとき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964984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199934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2" name="Image 2" descr="Char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6934" y="2263080"/>
            <a:ext cx="355600" cy="3556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199934" y="2847280"/>
            <a:ext cx="2255540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24" name="Text 19"/>
          <p:cNvSpPr/>
          <p:nvPr/>
        </p:nvSpPr>
        <p:spPr>
          <a:xfrm>
            <a:off x="8352334" y="2898080"/>
            <a:ext cx="200926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/add-infographic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199934" y="3334941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画像をつくる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199934" y="379968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記事から載せる内容を拾って、図入りのヘッダー画像を作り、記事に付ける。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199934" y="472787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使うとき：記事に絵を付けたいとき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17 / 24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AIは代筆せず、体験を引き出す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33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97790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97000" y="1970385"/>
            <a:ext cx="9144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状況確認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330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書きかけがないか見る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250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665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1" name="Text 9"/>
          <p:cNvSpPr/>
          <p:nvPr/>
        </p:nvSpPr>
        <p:spPr>
          <a:xfrm>
            <a:off x="365125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70350" y="1970385"/>
            <a:ext cx="11303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テーマ決め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7665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ネタ帳から今日の1本を選ぶ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6585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2460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43700" y="1970385"/>
            <a:ext cx="15621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体験ヒアリング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50000" y="2326580"/>
            <a:ext cx="2230311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やってみたことと、失敗を聞き出す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3920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335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1" name="Text 19"/>
          <p:cNvSpPr/>
          <p:nvPr/>
        </p:nvSpPr>
        <p:spPr>
          <a:xfrm>
            <a:off x="899795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17050" y="19703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構成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2335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型に合わせて見出しを決める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915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330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6" name="Text 24"/>
          <p:cNvSpPr/>
          <p:nvPr/>
        </p:nvSpPr>
        <p:spPr>
          <a:xfrm>
            <a:off x="97790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97000" y="3291185"/>
            <a:ext cx="6985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下書き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0330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聞いた体験をもとに書く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250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7665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125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070350" y="32911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校閲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76650" y="3647380"/>
            <a:ext cx="2230311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専門担当のAIに点検してもらう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6585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5000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36" name="Text 34"/>
          <p:cNvSpPr/>
          <p:nvPr/>
        </p:nvSpPr>
        <p:spPr>
          <a:xfrm>
            <a:off x="632460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43700" y="32911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保存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35000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site/_posts/ に置く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83920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2335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41" name="Text 39"/>
          <p:cNvSpPr/>
          <p:nvPr/>
        </p:nvSpPr>
        <p:spPr>
          <a:xfrm>
            <a:off x="899795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417050" y="3291185"/>
            <a:ext cx="9144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後片付け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02335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ネタ帳を更新して、次につなぐ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12800" y="4510980"/>
            <a:ext cx="1088339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青は、この手順書の本体。黄色は、専門担当に頼むところ。AIが持っていないのは、書き手の体験だけ。だから、体験を聞き出すことに時間をかける。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18 / 24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4　ひみつ 12〜14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最後は、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別の部屋で働く「専門担当」。このブログでは3人いる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エージェントは、別の部屋の専門担当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799530"/>
            <a:ext cx="4102100" cy="1643360"/>
          </a:xfrm>
          <a:prstGeom prst="roundRect">
            <a:avLst>
              <a:gd name="adj" fmla="val 1043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" y="1983680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2F62E6"/>
          </a:solidFill>
          <a:ln/>
        </p:spPr>
      </p:sp>
      <p:pic>
        <p:nvPicPr>
          <p:cNvPr id="6" name="Image 0" descr="Cha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0300" y="2085280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700" y="2567880"/>
            <a:ext cx="379349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メインのAI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28700" y="2974280"/>
            <a:ext cx="37934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いつも会話している相手。全体の進行役。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49520" y="2091630"/>
            <a:ext cx="209296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「この下書きを点検して」</a:t>
            </a:r>
            <a:endParaRPr lang="en-US" sz="13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15000" y="2386211"/>
            <a:ext cx="762000" cy="203200"/>
          </a:xfrm>
          <a:prstGeom prst="rect">
            <a:avLst/>
          </a:prstGeom>
        </p:spPr>
      </p:pic>
      <p:pic>
        <p:nvPicPr>
          <p:cNvPr id="11" name="Image 2" descr="arrow-lef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15000" y="2652911"/>
            <a:ext cx="7620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49520" y="2919611"/>
            <a:ext cx="209296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「ここを直すと良い」と報告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270750" y="1799530"/>
            <a:ext cx="4102100" cy="1643360"/>
          </a:xfrm>
          <a:prstGeom prst="roundRect">
            <a:avLst>
              <a:gd name="adj" fmla="val 1043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480300" y="1983680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FFC83D"/>
          </a:solidFill>
          <a:ln/>
        </p:spPr>
      </p:sp>
      <p:pic>
        <p:nvPicPr>
          <p:cNvPr id="15" name="Image 3" descr="Search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581900" y="2085280"/>
            <a:ext cx="304800" cy="3048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480300" y="2567880"/>
            <a:ext cx="379349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専門担当のAI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7480300" y="2974280"/>
            <a:ext cx="37934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別の部屋で、1つの仕事だけをやる。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19150" y="3633391"/>
            <a:ext cx="3424734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1003300" y="379214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会話が散らからない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003300" y="409436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調べものは別の部屋。結果だけ戻る。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383584" y="3633391"/>
            <a:ext cx="3424833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567734" y="3792141"/>
            <a:ext cx="314822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持つ道具が決まっている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4567734" y="4094361"/>
            <a:ext cx="314822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読む・探すだけ。ファイルは書き換えない。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948116" y="3633391"/>
            <a:ext cx="3424734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132266" y="379214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指示書はファイル1つ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8132266" y="409436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.claude/agents/名前.md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2800" y="4701381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スキルは、自分が読む手順書。エージェントは、お願いする専門担当。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 / 24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専門担当は3人。全員、点検するだけ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100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6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1100" y="2263080"/>
            <a:ext cx="355600" cy="355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54100" y="2834580"/>
            <a:ext cx="19050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8" name="Text 5"/>
          <p:cNvSpPr/>
          <p:nvPr/>
        </p:nvSpPr>
        <p:spPr>
          <a:xfrm>
            <a:off x="1206500" y="288538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idea-generator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4100" y="3291780"/>
            <a:ext cx="3026003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ネタ出し担当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54100" y="3743821"/>
            <a:ext cx="3026003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思いつきから、記事ネタの切り口を複数ならべる。選ぶのは人。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4100" y="4383782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道具：読む・探す・ネットで調べる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" y="4720332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呼ぶ場面：/add-idea の中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92017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26967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5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3967" y="2263080"/>
            <a:ext cx="355600" cy="355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626967" y="2834580"/>
            <a:ext cx="17907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17" name="Text 13"/>
          <p:cNvSpPr/>
          <p:nvPr/>
        </p:nvSpPr>
        <p:spPr>
          <a:xfrm>
            <a:off x="4779367" y="2885380"/>
            <a:ext cx="153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idea-reviewer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26967" y="3291780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ネタ帳の門番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4626967" y="3743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重複していないか、書けるネタか、価値があるかを審査する。落とすときは代わりの置き場所も示す。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626967" y="465931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626967" y="499586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呼ぶ場面：/add-idea の中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964984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199934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24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6934" y="2263080"/>
            <a:ext cx="355600" cy="3556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199934" y="2834580"/>
            <a:ext cx="17907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26" name="Text 21"/>
          <p:cNvSpPr/>
          <p:nvPr/>
        </p:nvSpPr>
        <p:spPr>
          <a:xfrm>
            <a:off x="8352334" y="2885380"/>
            <a:ext cx="153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post-reviewer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8199934" y="3291780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校閲担当</a:t>
            </a:r>
            <a:endParaRPr lang="en-US" sz="2200" dirty="0"/>
          </a:p>
        </p:txBody>
      </p:sp>
      <p:sp>
        <p:nvSpPr>
          <p:cNvPr id="28" name="Text 23"/>
          <p:cNvSpPr/>
          <p:nvPr/>
        </p:nvSpPr>
        <p:spPr>
          <a:xfrm>
            <a:off x="8199934" y="3743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下書きをルールブックと照らして点検する。直す価値のある指摘だけを、直し方つきで返す。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199934" y="465931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8199934" y="499586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呼ぶ場面：/write-post の校閲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 / 24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ぜんぶつなげると、こう動く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8048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ネタをためる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92710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710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思いつき</a:t>
            </a:r>
            <a:endParaRPr lang="en-US" sz="160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84760" y="2463602"/>
            <a:ext cx="2540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02260" y="2080121"/>
            <a:ext cx="1808559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10" name="Text 7"/>
          <p:cNvSpPr/>
          <p:nvPr/>
        </p:nvSpPr>
        <p:spPr>
          <a:xfrm>
            <a:off x="3116560" y="2181721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116560" y="2420441"/>
            <a:ext cx="163075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話を聞く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116560" y="2709962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/add-idea</a:t>
            </a:r>
            <a:endParaRPr lang="en-US" sz="12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74320" y="2463602"/>
            <a:ext cx="2540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19182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15" name="Text 11"/>
          <p:cNvSpPr/>
          <p:nvPr/>
        </p:nvSpPr>
        <p:spPr>
          <a:xfrm>
            <a:off x="530612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30612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切り口を出す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06120" y="2709962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idea-generator</a:t>
            </a:r>
            <a:endParaRPr lang="en-US" sz="1200" dirty="0"/>
          </a:p>
        </p:txBody>
      </p:sp>
      <p:pic>
        <p:nvPicPr>
          <p:cNvPr id="18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3780" y="2463602"/>
            <a:ext cx="254000" cy="2032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38128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20" name="Text 15"/>
          <p:cNvSpPr/>
          <p:nvPr/>
        </p:nvSpPr>
        <p:spPr>
          <a:xfrm>
            <a:off x="749558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749558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ネタを審査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7495580" y="2709962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idea-reviewer</a:t>
            </a:r>
            <a:endParaRPr lang="en-US" sz="1200" dirty="0"/>
          </a:p>
        </p:txBody>
      </p:sp>
      <p:pic>
        <p:nvPicPr>
          <p:cNvPr id="23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53240" y="2463602"/>
            <a:ext cx="254000" cy="2032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57074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25" name="Text 19"/>
          <p:cNvSpPr/>
          <p:nvPr/>
        </p:nvSpPr>
        <p:spPr>
          <a:xfrm>
            <a:off x="968504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968504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ネタ帳に追加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12800" y="3215382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記事にする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1280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29" name="Text 23"/>
          <p:cNvSpPr/>
          <p:nvPr/>
        </p:nvSpPr>
        <p:spPr>
          <a:xfrm>
            <a:off x="92710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92710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手順を始める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927100" y="414486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/write-post</a:t>
            </a:r>
            <a:endParaRPr lang="en-US" sz="1200" dirty="0"/>
          </a:p>
        </p:txBody>
      </p:sp>
      <p:pic>
        <p:nvPicPr>
          <p:cNvPr id="32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84760" y="3898503"/>
            <a:ext cx="254000" cy="20320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3002260" y="3515023"/>
            <a:ext cx="1808559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34" name="Text 27"/>
          <p:cNvSpPr/>
          <p:nvPr/>
        </p:nvSpPr>
        <p:spPr>
          <a:xfrm>
            <a:off x="3116560" y="3616623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3116560" y="3855343"/>
            <a:ext cx="163075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体験を話す</a:t>
            </a:r>
            <a:endParaRPr lang="en-US" sz="1600" dirty="0"/>
          </a:p>
        </p:txBody>
      </p:sp>
      <p:pic>
        <p:nvPicPr>
          <p:cNvPr id="36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74320" y="3898503"/>
            <a:ext cx="254000" cy="20320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19182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38" name="Text 30"/>
          <p:cNvSpPr/>
          <p:nvPr/>
        </p:nvSpPr>
        <p:spPr>
          <a:xfrm>
            <a:off x="530612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30612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下書きを書く</a:t>
            </a:r>
            <a:endParaRPr lang="en-US" sz="1600" dirty="0"/>
          </a:p>
        </p:txBody>
      </p:sp>
      <p:pic>
        <p:nvPicPr>
          <p:cNvPr id="40" name="Image 6" descr="arrow-right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063780" y="3898503"/>
            <a:ext cx="254000" cy="2032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738128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42" name="Text 33"/>
          <p:cNvSpPr/>
          <p:nvPr/>
        </p:nvSpPr>
        <p:spPr>
          <a:xfrm>
            <a:off x="749558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43" name="Text 34"/>
          <p:cNvSpPr/>
          <p:nvPr/>
        </p:nvSpPr>
        <p:spPr>
          <a:xfrm>
            <a:off x="749558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校閲</a:t>
            </a:r>
            <a:endParaRPr lang="en-US" sz="1600" dirty="0"/>
          </a:p>
        </p:txBody>
      </p:sp>
      <p:sp>
        <p:nvSpPr>
          <p:cNvPr id="44" name="Text 35"/>
          <p:cNvSpPr/>
          <p:nvPr/>
        </p:nvSpPr>
        <p:spPr>
          <a:xfrm>
            <a:off x="7495580" y="414486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post-reviewer</a:t>
            </a:r>
            <a:endParaRPr lang="en-US" sz="1200" dirty="0"/>
          </a:p>
        </p:txBody>
      </p:sp>
      <p:pic>
        <p:nvPicPr>
          <p:cNvPr id="45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53240" y="3898503"/>
            <a:ext cx="254000" cy="203200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957074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47" name="Text 37"/>
          <p:cNvSpPr/>
          <p:nvPr/>
        </p:nvSpPr>
        <p:spPr>
          <a:xfrm>
            <a:off x="968504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48" name="Text 38"/>
          <p:cNvSpPr/>
          <p:nvPr/>
        </p:nvSpPr>
        <p:spPr>
          <a:xfrm>
            <a:off x="968504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直して送る</a:t>
            </a:r>
            <a:endParaRPr lang="en-US" sz="1600" dirty="0"/>
          </a:p>
        </p:txBody>
      </p:sp>
      <p:sp>
        <p:nvSpPr>
          <p:cNvPr id="49" name="Text 39"/>
          <p:cNvSpPr/>
          <p:nvPr/>
        </p:nvSpPr>
        <p:spPr>
          <a:xfrm>
            <a:off x="812800" y="4650284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どの担当も、動く前にルールブック（docs/planning）を読む。最後に決めるのは、いつも人。</a:t>
            </a:r>
            <a:endParaRPr lang="en-US" sz="1400" dirty="0"/>
          </a:p>
        </p:txBody>
      </p:sp>
      <p:sp>
        <p:nvSpPr>
          <p:cNvPr id="50" name="Text 4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22 / 24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14個のひみつ、ぎゅっとまとめ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070001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2070001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90700" y="2021780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書いて送るだけ。あとはロボットが公開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90700" y="2377380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組み立ても公開も、GitHub のロボットが自動でやる。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150" y="2861171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9500" y="3030041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1" name="Text 9"/>
          <p:cNvSpPr/>
          <p:nvPr/>
        </p:nvSpPr>
        <p:spPr>
          <a:xfrm>
            <a:off x="1054100" y="3030041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790700" y="2981821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ルールブックが、方針・順番・書き方を決める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90700" y="3337421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AIは毎回まっさらだから、決まりごとは全部ことばにしておく。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150" y="3821212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9500" y="3990082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4100" y="3990082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90700" y="3941862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スキルは、AIに渡す手順書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90700" y="4297462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/write-post など、名前を呼ぶだけで同じ進め方になる。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150" y="4781252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500" y="4950123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1" name="Text 19"/>
          <p:cNvSpPr/>
          <p:nvPr/>
        </p:nvSpPr>
        <p:spPr>
          <a:xfrm>
            <a:off x="1054100" y="4950123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790700" y="4901902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エージェントは、点検する専門担当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790700" y="5257502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指摘するだけ。最後に決めるのは、いつも人。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23 / 24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52439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1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ぜひ、読みにきてください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12800" y="2453680"/>
            <a:ext cx="7050659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明日使える</a:t>
            </a:r>
            <a:endParaRPr lang="en-US" sz="4400" dirty="0"/>
          </a:p>
          <a:p>
            <a:pPr algn="l" indent="0" marL="0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生成AI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800" y="4028480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スマホでQRコードを読みとると、ブログが開きます。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4480520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86A8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raindrop-aqua.github.io/blog-ap-sys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67700" y="1873250"/>
            <a:ext cx="3111500" cy="311150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</p:sp>
      <p:pic>
        <p:nvPicPr>
          <p:cNvPr id="7" name="Image 0" descr="ブログ https://raindrop-aqua.github.io/blog-ap-sys/ を開くQRコー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21700" y="2127250"/>
            <a:ext cx="2603500" cy="260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ブログのひみつ（仕組みと運営）</dc:title>
  <dc:subject>PptxGenJS Presentation</dc:subject>
  <dc:creator>PptxGenJS</dc:creator>
  <cp:lastModifiedBy>PptxGenJS</cp:lastModifiedBy>
  <cp:revision>1</cp:revision>
  <dcterms:created xsi:type="dcterms:W3CDTF">2026-09-20T14:40:18Z</dcterms:created>
  <dcterms:modified xsi:type="dcterms:W3CDTF">2026-09-20T14:40:18Z</dcterms:modified>
</cp:coreProperties>
</file>