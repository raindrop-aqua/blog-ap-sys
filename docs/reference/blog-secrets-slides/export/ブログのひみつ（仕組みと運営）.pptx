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んにちは。最初に、簡単に自己紹介をさせてください。渥美政廣、あつみまさひろといいます。ソフトウエアエンジニアをしています。プログラムやシステムをつくる仕事です。そして、みんなの悩み事について、助っ人をしています。今日の話に出てくる、AIという助っ人の話も、この仕事の延長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私は、会社の仲間に向けた情報共有として、ブログをやっています。理由はこうです。私の会社はSES事業といって、社員がお客さんの会社に常駐して、システムの開発や運用をする仕事をしています。ただ、常駐先ごとに、生成AIをどこまで使えるかはバラバラです。そこで、社員が生成AIを使いこなせるように、後押しとして、ブログという形で情報を共有しています。コンセプトは、明日の現場で、そのまま使える生成AIの実践知を届けることです。そんなブログを、私は運営しています。今日は、このブログの裏側のひみつを、順番に種明か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本題です。今日は、私が運営している『明日使える生成AI』というブログの、ひみつを紹介します。このブログには、ふつうのブログにある『投稿ボタン』がありません。それなのに、文章を書くとWebサイトになって公開されます。なぜそんなことができるのか。そして、裏でAIがどう手伝っているのか。中学生でもわかる言葉で、順番に種明か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のひみつは全部で14個。4つの部屋に分けて紹介します。1つ目の部屋は、ブログそのものの仕組み。2つ目は、このブログを運営するための3冊のルールブック。3つ目と4つ目が、AIの助っ人の話で、手順書にあたるスキルと、専門担当にあたるエージェントです。持ち時間が短いので、テンポよく進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パート1、ブログのしくみです。ふつうのブログにある投稿ボタンがないのに、どうやって記事が公開されるのか。ひみつ1から4まで、4つ紹介します。一番下の4つの丸は、今どこにいるかの目印で、黄色が今の場所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ひみつ1。このブログには、投稿ボタンがありません。かわりに、ロボットがいます。流れはこうです。まず自分のパソコンで文章を書く。次に、GitHubという、ファイルを預かってくれるネット上の倉庫に送る。倉庫に送っても、すぐには公開されません。GitHub Actionsというロボットが、毎日夜中の0時5分に目を覚まして、倉庫の中身からサイトを組み立てます。できあがったサイトはGitHub Pagesが世界に公開して、読む人のブラウザに表示されます。人がやるのは書いて送るところだけ。黄色いところは全部ロボットです。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ひみつ2。記事1本の正体は、ただのテキストファイルです。ファイル名は、公開する日付と英語のタイトル。中身は2つの部分でできています。上は名札で、タイトルや日付、分類を書きます。下は本文で、シャープ記号をつけると見出し、ハイフンをつけると箇条書きになります。この書き方をマークダウンといいます。そしてルールが1つ。ファイル名の日付が未来だと、その記事は公開されません。これは、あとで出てくる予約投稿につなが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ひみつ3。Webページの正体はHTMLというファイルですが、記事ごとに手で書くのは大変です。そこで、Jekyllという組み立て機械に任せています。材料は3つ。自分で書いた記事、借りてきたデザイン、設定のメモ。この3つを入れると、記事の数だけHTMLのページができあがります。デザインはChirpyという、公開されている着せ替えセットを使っているので、どの記事も同じ見た目になります。ロボットの中で動いているのが、このJekyll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ひみつ4。このプロジェクトには、記事のほかに、企画のメモやAI向けの説明書も入っています。これがうっかりネットに出たら困ります。そこで、出さないもののリストを作るのではなく、siteというフォルダの中だけを材料にする、と許可する範囲を1つだけ決めています。これなら書き忘れが起きません。もう1つのひみつが予約投稿。未来の日付の記事は公開されず、ロボットが毎日夜中の0時5分に見に来て、日付が来ていたら公開してくれます。書きかけの記事を入れるdraftsフォルダも、公開され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ここからパート2、ルールブックです。このブログを運営するために、決まりごとを3冊の本にまとめてあります。ひみつ5から8まで、4つ紹介します。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2つ目の部屋、ルールブックです。docs/planningというフォルダに、3冊入っています。1冊目は設計書。このブログは何のために、誰に向けて書くのかが書いてあります。2冊目はネタ帳。次に何を書くかと、公開する順番です。3冊目は文体ガイド。どんな言葉遣いで書くか。ポイントは、AIは毎回まっさらな状態で始まるということ。前回何を決めたか覚えていません。だから、決まりごとは頭の中ではなく、ぜんぶ文章にして置いてあります。人もAIも、迷ったらここに戻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ひみつ6。設計書のいちばん大事なルールは、知識だけの記事は書かない、です。生成AIの一般的な知識は、AIに聞けば出てきます。だから、解説だけの記事には価値がありません。そこで、どの記事にも、この3つのうち最低1つを入れます。1つ目は一次体験。実際にやってみた結果で、失敗も書きます。2つ目は立ち位置。読む人と同じ現場にいる人が書いていること。3つ目は選別と順序。何を先に知るべきかの地図です。そして公開前に、必ず1つ質問をします。読者がChatGPTに同じことを聞いたら、同じ答えが返ってこないか。返ってくるなら、書き直しです。ほかにも、カテゴリは8つに決めてあり、勝手に増やさないというルールも、この設計書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ひみつ7。ネタ帳には、記事のタネが62本たまっています。週に1本、月曜日に出すペースで、1年以上分です。もう1つのルールが、公開の順番。たとえば、プロンプトの基礎体力という入門編を先に出して、その次に型、最後に応用編、と決めています。算数で、九九を覚える前に文章題をやらないのと同じです。前の記事が前提になっているので、順番を逆にすると、読む人が置いていかれてしま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ひみつ8。文体ガイドには、口調のほかに、大事なルールがあります。書き手は、お客さんの会社に常駐して働くエンジニアで、その現場の情報は外に出せません。でも体験談は、このブログの一番の武器です。そこで、どこで、誰と、は書かずに、どんな状況で、何に困り、どうなったか、だけを書く。会社の名前は、ある現場に。実際の議事録は、同じ形のダミーに。個人名は、役割に。こう言い換えれば、体験の説得力はほとんど落ちません。数字は、どこの現場か分からないので、そのまま残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ここからパート3、スキルです。ここからがAIの助っ人の話です。まずは、AIに渡す手順書のスキルから。ひみつ9から11まで、3つ紹介します。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3つ目の部屋、スキルです。スキルは、AIに渡す手順書のことです。使い方は簡単で、人が、スラッシュ、write-post、と打つだけ。するとAIが、SKILL.mdという名前の手順書を開いて、その順番どおりに、人と会話しながら記事を仕上げます。料理でいうレシピカードです。AIは毎回まっさらな状態で始まるので、手順を書いておかないと、毎回違う進め方になってしまいます。手順書があれば、いつでも同じ進め方が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ブログでは、スキルを3つ使っています。スキルにも、あとで出てくる専門担当と同じように名前を付けています。1つ目、write-post、名前はツヅル。書き手の言葉を1本の記事に綴るからツヅルです。記事を1本書くときに使います。2つ目、add-idea、名前はタネ。ネタを逆さに読むとタネ、です。ネタを思いついたときに、10分以内でネタ帳に足すためのものです。3つ目、add-infographic、名前はエガク。記事に付ける、図入りのヘッダー画像を描きます。どれも、名前の前にスラッシュをつけて呼ぶだけ。手順書の中身は、ただのテキストファイルなので、いつでも直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ひみつ11。write-postの手順を、8つに分けて見てみます。ここで大事なのは、AIが文章を代わりに書いてしまうのではない、という点です。このブログの価値は、書き手が実際にやってみた体験にあります。それはAIの持っていない情報です。だから、3番目の体験ヒアリングが、この手順書の本体です。AIが質問して、やってみたこと、失敗したこと、数字を聞き出して、それをもとに下書きを作ります。6番目の校閲は、次の部屋で出てくる専門担当のAIに任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ここから最後のパート4、エージェントです。手順書のスキルに続いて、専門担当のAIを紹介します。ひみつ12から14まで。最後の14番目で、今日の部品を全部つなげます。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からは4つ目の部屋、エージェントです。エージェントは、別の部屋で働く専門担当のAIです。メインのAIが、この下書きを点検して、とお願いすると、専門担当が自分の部屋で作業して、ここを直すといいですよ、と報告だけ返してきます。良いところが3つあります。会話が散らからないこと。持っている道具が決まっていて、このブログの専門担当は、読む、探すだけで、ファイルは書き換えないこと。そして、指示書がファイル1つで済むこと。違いをまとめると、スキルは自分が読む手順書、エージェントはお願いする専門担当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ブログの専門担当は3人で、それぞれ名前があります。1人目、ネタ出し担当のヒラク。切り口を拓くからヒラクです。思いつきから、記事ネタの切り口を複数並べてくれます。どれにするかを選ぶのは人です。2人目、クラ。ネタ帳という蔵の番人で、足してよいかを審査します。、重複や、書けないネタを見つけます。落とすときも、代わりの置き場所を示します。3人目、アカネ。原稿に赤を入れる校閲担当で、書き上がった下書きをルールブックと照らして点検します。3人とも、点検して指摘するだけで、ファイルは書き換えません。直すのは、人とメインのAIの仕事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ひみつ14、最後のひみつです。ここまでの部品を、全部つなげてみます。上の段は、ネタをためる流れ。人が思いつきを話すと、add-ideaという手順書、タネが話を聞き、ネタ出し担当のヒラクが切り口を並べます。ここで、どれで書くかを選ぶのは人です。次に門番のクラが審査して、OKならネタ帳に追加されます。下の段は、記事にする流れ。write-postの手順書、ツヅルを始めて、人が体験を話し、AIが下書きを書き、校閲担当のアカネが点検し、人が直して送ります。送ったあとは、最初に見たロボットが、夜中に公開してくれます。どの担当も、動く前にルールブックを読みます。そして、最後に決めるのは、いつも人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です。1つ目、このブログは、書いて送るだけで、あとはロボットが公開します。2つ目、ルールブック3冊が、方針と順番と書き方を決めています。AIは毎回まっさらなので、全部ことばにしてあります。3つ目、スキルは、AIに渡す手順書です。4つ目、エージェントは、点検する専門担当で、指摘するだけ。最後に決めるのは、いつも人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最後まで聞いてくださって、ありがとうございました。右のQRコードを読みとると、このブログが開きます。記事は、実際にAIを使ってみた体験がもとになっています。よかったら、読みにきてください。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7380"/>
            <a:ext cx="1056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20180"/>
            <a:ext cx="10566400" cy="412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7380"/>
            <a:ext cx="10566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20180"/>
            <a:ext cx="10566400" cy="412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自己紹介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1130"/>
            <a:ext cx="5194300" cy="3934520"/>
          </a:xfrm>
          <a:prstGeom prst="roundRect">
            <a:avLst>
              <a:gd name="adj" fmla="val 4358"/>
            </a:avLst>
          </a:prstGeom>
          <a:solidFill>
            <a:srgbClr val="2F62E6"/>
          </a:solidFill>
          <a:ln w="12700">
            <a:solidFill>
              <a:srgbClr val="2F62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3081040"/>
            <a:ext cx="46045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E8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発表する人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1100" y="3441700"/>
            <a:ext cx="4604512" cy="75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渥美 政廣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81100" y="4249341"/>
            <a:ext cx="4604512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E8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あつみ　まさひろ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29350" y="1901130"/>
            <a:ext cx="5143500" cy="1884660"/>
          </a:xfrm>
          <a:prstGeom prst="roundRect">
            <a:avLst>
              <a:gd name="adj" fmla="val 9097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89700" y="2538611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1EAFF"/>
          </a:solidFill>
          <a:ln/>
        </p:spPr>
      </p:sp>
      <p:pic>
        <p:nvPicPr>
          <p:cNvPr id="10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6700" y="2665611"/>
            <a:ext cx="355600" cy="355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77100" y="2398911"/>
            <a:ext cx="39504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ソフトウエアエンジニア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77100" y="2754511"/>
            <a:ext cx="395046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プログラムやシステムをつくる仕事をしています。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29350" y="3950891"/>
            <a:ext cx="5143500" cy="1884759"/>
          </a:xfrm>
          <a:prstGeom prst="roundRect">
            <a:avLst>
              <a:gd name="adj" fmla="val 9097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9700" y="458847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C83D"/>
          </a:solidFill>
          <a:ln/>
        </p:spPr>
      </p:sp>
      <p:pic>
        <p:nvPicPr>
          <p:cNvPr id="15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16700" y="4715470"/>
            <a:ext cx="355600" cy="355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77100" y="4448770"/>
            <a:ext cx="395046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みんなの助っ人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277100" y="4804370"/>
            <a:ext cx="395046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みんなの悩み事について、助っ人をしています。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私がやっていること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私は、情報共有のためにブログをやっています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1130"/>
            <a:ext cx="3170734" cy="2999879"/>
          </a:xfrm>
          <a:prstGeom prst="roundRect">
            <a:avLst>
              <a:gd name="adj" fmla="val 5715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" y="21106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6" name="Image 0" descr="Hom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55700" y="2237680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700" y="2809180"/>
            <a:ext cx="2834183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自社はSES事業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28700" y="3211711"/>
            <a:ext cx="2834183" cy="8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社員は、お客さんの会社に常駐して、システムの開発や運用をしている。</a:t>
            </a:r>
            <a:endParaRPr lang="en-US" sz="14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97834" y="3299420"/>
            <a:ext cx="304800" cy="20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10584" y="1901130"/>
            <a:ext cx="3170833" cy="2999879"/>
          </a:xfrm>
          <a:prstGeom prst="roundRect">
            <a:avLst>
              <a:gd name="adj" fmla="val 5715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20134" y="21106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12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47134" y="2237680"/>
            <a:ext cx="355600" cy="355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20134" y="2809180"/>
            <a:ext cx="2834285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現場ごとにバラバラ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720134" y="3211711"/>
            <a:ext cx="2834285" cy="57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常駐先ごとに、生成AIを使える度合いが違う。</a:t>
            </a:r>
            <a:endParaRPr lang="en-US" sz="14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89366" y="3299420"/>
            <a:ext cx="304800" cy="203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202116" y="1901130"/>
            <a:ext cx="3170734" cy="2999879"/>
          </a:xfrm>
          <a:prstGeom prst="roundRect">
            <a:avLst>
              <a:gd name="adj" fmla="val 5715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411666" y="21106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C83D"/>
          </a:solidFill>
          <a:ln/>
        </p:spPr>
      </p:sp>
      <p:pic>
        <p:nvPicPr>
          <p:cNvPr id="18" name="Image 4" descr="Boo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538666" y="2237680"/>
            <a:ext cx="355600" cy="355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411666" y="2809180"/>
            <a:ext cx="2834183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ブログで情報共有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8411666" y="3211711"/>
            <a:ext cx="2834183" cy="57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社員が生成AIを使いこなせるように、後押ししている。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19150" y="5193109"/>
            <a:ext cx="10553700" cy="642541"/>
          </a:xfrm>
          <a:prstGeom prst="roundRect">
            <a:avLst>
              <a:gd name="adj" fmla="val 26683"/>
            </a:avLst>
          </a:prstGeom>
          <a:solidFill>
            <a:srgbClr val="FFF0BD"/>
          </a:solidFill>
          <a:ln w="12700">
            <a:solidFill>
              <a:srgbClr val="FFC83D"/>
            </a:solidFill>
            <a:prstDash val="solid"/>
          </a:ln>
        </p:spPr>
        <p:txBody>
          <a:bodyPr wrap="square" lIns="184734" tIns="108534" rIns="0" bIns="83134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ブログのコンセプト</a:t>
            </a:r>
            <a:r>
              <a:rPr lang="en-US" sz="16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「明日の現場で、そのまま使える」生成AIの実践知を届ける。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23200" y="1270000"/>
            <a:ext cx="3556000" cy="3556000"/>
          </a:xfrm>
          <a:prstGeom prst="rect">
            <a:avLst/>
          </a:prstGeom>
        </p:spPr>
      </p:pic>
      <p:pic>
        <p:nvPicPr>
          <p:cNvPr id="3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55200" y="4064000"/>
            <a:ext cx="1270000" cy="1270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1971080"/>
            <a:ext cx="7848600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spc="100" kern="0" dirty="0">
                <a:solidFill>
                  <a:srgbClr val="8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「明日使える生成AI」ブログ　運営の裏側</a:t>
            </a:r>
            <a:endParaRPr lang="en-US" sz="16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2448520"/>
            <a:ext cx="78486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4800" b="1" i="0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このブログの</a:t>
            </a:r>
            <a:endParaRPr lang="en-US" sz="4800" dirty="0"/>
          </a:p>
          <a:p>
            <a:pPr algn="l" indent="0" marL="0">
              <a:lnSpc>
                <a:spcPts val="6000"/>
              </a:lnSpc>
              <a:buNone/>
            </a:pPr>
            <a:r>
              <a:rPr lang="en-US" sz="4800" b="1" i="0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ひみつ</a:t>
            </a:r>
            <a:r>
              <a:rPr lang="en-US" sz="4800" b="1" i="0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、ぜんぶ見せます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812800" y="4277320"/>
            <a:ext cx="7848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文章がWebサイトになるしくみと、それを支えるAIの助っ人たち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ひみつは全部で14個。4つの部屋で紹介します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1130"/>
            <a:ext cx="10553700" cy="749300"/>
          </a:xfrm>
          <a:prstGeom prst="roundRect">
            <a:avLst>
              <a:gd name="adj" fmla="val 2288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0217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hR="254000" wR="254000" stAng="16200000" swAng="5400000"/>
                <a:lnTo>
                  <a:pt x="508000" y="254000"/>
                </a:lnTo>
                <a:arcTo hR="254000" wR="254000" stAng="0" swAng="5400000"/>
                <a:lnTo>
                  <a:pt x="254000" y="508000"/>
                </a:lnTo>
                <a:arcTo hR="254000" wR="254000" stAng="5400000" swAng="5400000"/>
                <a:lnTo>
                  <a:pt x="0" y="254000"/>
                </a:lnTo>
                <a:arcTo hR="254000" wR="2540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0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90700" y="2094210"/>
            <a:ext cx="274701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ブログのしくみ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660900" y="2142430"/>
            <a:ext cx="52052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書いた文章が、Webサイトになって公開されるまで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17708" y="2122091"/>
            <a:ext cx="1194792" cy="307280"/>
          </a:xfrm>
          <a:custGeom>
            <a:avLst/>
            <a:gdLst/>
            <a:ahLst/>
            <a:cxnLst/>
            <a:rect l="l" t="t" r="r" b="b"/>
            <a:pathLst>
              <a:path w="1194792" h="307280">
                <a:moveTo>
                  <a:pt x="153640" y="0"/>
                </a:moveTo>
                <a:lnTo>
                  <a:pt x="1041152" y="0"/>
                </a:lnTo>
                <a:arcTo hR="153640" wR="153640" stAng="16200000" swAng="5400000"/>
                <a:lnTo>
                  <a:pt x="1194792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E1EA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ひみつ 1〜4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9150" y="2777430"/>
            <a:ext cx="10553700" cy="749300"/>
          </a:xfrm>
          <a:prstGeom prst="roundRect">
            <a:avLst>
              <a:gd name="adj" fmla="val 2288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9500" y="28980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hR="254000" wR="254000" stAng="16200000" swAng="5400000"/>
                <a:lnTo>
                  <a:pt x="508000" y="254000"/>
                </a:lnTo>
                <a:arcTo hR="254000" wR="254000" stAng="0" swAng="5400000"/>
                <a:lnTo>
                  <a:pt x="254000" y="508000"/>
                </a:lnTo>
                <a:arcTo hR="254000" wR="254000" stAng="5400000" swAng="5400000"/>
                <a:lnTo>
                  <a:pt x="0" y="254000"/>
                </a:lnTo>
                <a:arcTo hR="254000" wR="2540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0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90700" y="2970510"/>
            <a:ext cx="274701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ルールブック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0900" y="3018730"/>
            <a:ext cx="52052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docs/planning にある、3冊の決まりごと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17708" y="2998391"/>
            <a:ext cx="1194792" cy="307280"/>
          </a:xfrm>
          <a:custGeom>
            <a:avLst/>
            <a:gdLst/>
            <a:ahLst/>
            <a:cxnLst/>
            <a:rect l="l" t="t" r="r" b="b"/>
            <a:pathLst>
              <a:path w="1194792" h="307280">
                <a:moveTo>
                  <a:pt x="153640" y="0"/>
                </a:moveTo>
                <a:lnTo>
                  <a:pt x="1041152" y="0"/>
                </a:lnTo>
                <a:arcTo hR="153640" wR="153640" stAng="16200000" swAng="5400000"/>
                <a:lnTo>
                  <a:pt x="1194792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E1EA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ひみつ 5〜8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150" y="3653730"/>
            <a:ext cx="10553700" cy="749300"/>
          </a:xfrm>
          <a:prstGeom prst="roundRect">
            <a:avLst>
              <a:gd name="adj" fmla="val 2288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9500" y="37743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hR="254000" wR="254000" stAng="16200000" swAng="5400000"/>
                <a:lnTo>
                  <a:pt x="508000" y="254000"/>
                </a:lnTo>
                <a:arcTo hR="254000" wR="254000" stAng="0" swAng="5400000"/>
                <a:lnTo>
                  <a:pt x="254000" y="508000"/>
                </a:lnTo>
                <a:arcTo hR="254000" wR="254000" stAng="5400000" swAng="5400000"/>
                <a:lnTo>
                  <a:pt x="0" y="254000"/>
                </a:lnTo>
                <a:arcTo hR="254000" wR="2540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0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90700" y="3846810"/>
            <a:ext cx="274701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0900" y="3895030"/>
            <a:ext cx="5120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AIに渡す「手順書」。3つある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35059" y="3874691"/>
            <a:ext cx="1277441" cy="307280"/>
          </a:xfrm>
          <a:custGeom>
            <a:avLst/>
            <a:gdLst/>
            <a:ahLst/>
            <a:cxnLst/>
            <a:rect l="l" t="t" r="r" b="b"/>
            <a:pathLst>
              <a:path w="1277441" h="307280">
                <a:moveTo>
                  <a:pt x="153640" y="0"/>
                </a:moveTo>
                <a:lnTo>
                  <a:pt x="1123801" y="0"/>
                </a:lnTo>
                <a:arcTo hR="153640" wR="153640" stAng="16200000" swAng="5400000"/>
                <a:lnTo>
                  <a:pt x="1277441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E1EA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ひみつ 9〜11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9150" y="4530030"/>
            <a:ext cx="10553700" cy="749300"/>
          </a:xfrm>
          <a:prstGeom prst="roundRect">
            <a:avLst>
              <a:gd name="adj" fmla="val 2288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9500" y="465068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hR="254000" wR="254000" stAng="16200000" swAng="5400000"/>
                <a:lnTo>
                  <a:pt x="508000" y="254000"/>
                </a:lnTo>
                <a:arcTo hR="254000" wR="254000" stAng="0" swAng="5400000"/>
                <a:lnTo>
                  <a:pt x="254000" y="508000"/>
                </a:lnTo>
                <a:arcTo hR="254000" wR="254000" stAng="5400000" swAng="5400000"/>
                <a:lnTo>
                  <a:pt x="0" y="254000"/>
                </a:lnTo>
                <a:arcTo hR="254000" wR="2540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0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90700" y="4723110"/>
            <a:ext cx="2747010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エージェント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60900" y="4771330"/>
            <a:ext cx="50160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AIの「専門担当」。3人いる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34054" y="4750991"/>
            <a:ext cx="1378446" cy="307280"/>
          </a:xfrm>
          <a:custGeom>
            <a:avLst/>
            <a:gdLst/>
            <a:ahLst/>
            <a:cxnLst/>
            <a:rect l="l" t="t" r="r" b="b"/>
            <a:pathLst>
              <a:path w="1378446" h="307280">
                <a:moveTo>
                  <a:pt x="153640" y="0"/>
                </a:moveTo>
                <a:lnTo>
                  <a:pt x="1224806" y="0"/>
                </a:lnTo>
                <a:arcTo hR="153640" wR="153640" stAng="16200000" swAng="5400000"/>
                <a:lnTo>
                  <a:pt x="1378446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E1EA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ひみつ 12〜14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280" y="711200"/>
            <a:ext cx="418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23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6000" y="3810000"/>
            <a:ext cx="76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7521575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spc="200" kern="0" dirty="0">
                <a:solidFill>
                  <a:srgbClr val="8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／ 4　ひみつ 1〜4</a:t>
            </a:r>
            <a:endParaRPr lang="en-US" sz="16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1264841"/>
            <a:ext cx="7521575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5200" b="1" i="0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まずは、</a:t>
            </a:r>
            <a:endParaRPr lang="en-US" sz="5200" dirty="0"/>
          </a:p>
          <a:p>
            <a:pPr algn="l" indent="0" marL="0">
              <a:lnSpc>
                <a:spcPts val="6500"/>
              </a:lnSpc>
              <a:buNone/>
            </a:pPr>
            <a:r>
              <a:rPr lang="en-US" sz="5200" b="1" i="0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ブログのしくみ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12800" y="3144441"/>
            <a:ext cx="752157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40"/>
              </a:lnSpc>
              <a:buNone/>
            </a:pPr>
            <a:r>
              <a:rPr lang="en-US" sz="1900" dirty="0">
                <a:solidFill>
                  <a:srgbClr val="A9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書いた文章が、Webサイトになって公開されるまで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19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　ブログのしくみ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86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noFill/>
          <a:ln w="12700">
            <a:solidFill>
              <a:srgbClr val="34466B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　ルールブック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noFill/>
          <a:ln w="12700">
            <a:solidFill>
              <a:srgbClr val="34466B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　スキル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20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noFill/>
          <a:ln w="12700">
            <a:solidFill>
              <a:srgbClr val="34466B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　エージェント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／ ブログのしくみ　ひみつ 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投稿ボタンのかわりに、ロボットがいる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1130"/>
            <a:ext cx="1673820" cy="3330079"/>
          </a:xfrm>
          <a:prstGeom prst="roundRect">
            <a:avLst>
              <a:gd name="adj" fmla="val 10243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900" y="2085280"/>
            <a:ext cx="839291" cy="307280"/>
          </a:xfrm>
          <a:custGeom>
            <a:avLst/>
            <a:gdLst/>
            <a:ahLst/>
            <a:cxnLst/>
            <a:rect l="l" t="t" r="r" b="b"/>
            <a:pathLst>
              <a:path w="839291" h="307280">
                <a:moveTo>
                  <a:pt x="153640" y="0"/>
                </a:moveTo>
                <a:lnTo>
                  <a:pt x="685651" y="0"/>
                </a:lnTo>
                <a:arcTo hR="153640" wR="153640" stAng="16200000" swAng="5400000"/>
                <a:lnTo>
                  <a:pt x="839291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書く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77900" y="2494161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7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621161"/>
            <a:ext cx="355600" cy="355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7900" y="3205361"/>
            <a:ext cx="140712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自分の</a:t>
            </a: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パソコン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77900" y="3835202"/>
            <a:ext cx="1407120" cy="79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文章を、決まった書き方のファイルにする</a:t>
            </a:r>
            <a:endParaRPr lang="en-US" sz="13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88220" y="3464520"/>
            <a:ext cx="355600" cy="203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039070" y="1901130"/>
            <a:ext cx="1673920" cy="3330079"/>
          </a:xfrm>
          <a:prstGeom prst="roundRect">
            <a:avLst>
              <a:gd name="adj" fmla="val 10242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97820" y="2085280"/>
            <a:ext cx="839291" cy="307280"/>
          </a:xfrm>
          <a:custGeom>
            <a:avLst/>
            <a:gdLst/>
            <a:ahLst/>
            <a:cxnLst/>
            <a:rect l="l" t="t" r="r" b="b"/>
            <a:pathLst>
              <a:path w="839291" h="307280">
                <a:moveTo>
                  <a:pt x="153640" y="0"/>
                </a:moveTo>
                <a:lnTo>
                  <a:pt x="685651" y="0"/>
                </a:lnTo>
                <a:arcTo hR="153640" wR="153640" stAng="16200000" swAng="5400000"/>
                <a:lnTo>
                  <a:pt x="839291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送る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197820" y="2494161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14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24820" y="2621161"/>
            <a:ext cx="355600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97820" y="3205361"/>
            <a:ext cx="140722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197820" y="3571081"/>
            <a:ext cx="1407220" cy="79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ファイルを預かってくれる、ネット上の倉庫</a:t>
            </a:r>
            <a:endParaRPr lang="en-US" sz="1300" dirty="0"/>
          </a:p>
        </p:txBody>
      </p:sp>
      <p:pic>
        <p:nvPicPr>
          <p:cNvPr id="17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08240" y="3464520"/>
            <a:ext cx="355600" cy="203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259090" y="1901130"/>
            <a:ext cx="1673820" cy="3330079"/>
          </a:xfrm>
          <a:prstGeom prst="roundRect">
            <a:avLst>
              <a:gd name="adj" fmla="val 10243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17840" y="2085280"/>
            <a:ext cx="1169491" cy="307280"/>
          </a:xfrm>
          <a:custGeom>
            <a:avLst/>
            <a:gdLst/>
            <a:ahLst/>
            <a:cxnLst/>
            <a:rect l="l" t="t" r="r" b="b"/>
            <a:pathLst>
              <a:path w="1169491" h="307280">
                <a:moveTo>
                  <a:pt x="153640" y="0"/>
                </a:moveTo>
                <a:lnTo>
                  <a:pt x="1015851" y="0"/>
                </a:lnTo>
                <a:arcTo hR="153640" wR="153640" stAng="16200000" swAng="5400000"/>
                <a:lnTo>
                  <a:pt x="1169491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FFC8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組み立て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17840" y="2494161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21" name="Image 4" descr="Setting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44840" y="2621161"/>
            <a:ext cx="355600" cy="355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17840" y="3205361"/>
            <a:ext cx="140712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417840" y="3835202"/>
            <a:ext cx="1407120" cy="79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毎日 夜中の0:05に起きて、サイトを作るロボット</a:t>
            </a:r>
            <a:endParaRPr lang="en-US" sz="1300" dirty="0"/>
          </a:p>
        </p:txBody>
      </p:sp>
      <p:pic>
        <p:nvPicPr>
          <p:cNvPr id="24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028160" y="3464520"/>
            <a:ext cx="355600" cy="2032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479010" y="1901130"/>
            <a:ext cx="1673920" cy="3330079"/>
          </a:xfrm>
          <a:prstGeom prst="roundRect">
            <a:avLst>
              <a:gd name="adj" fmla="val 10242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637760" y="2085280"/>
            <a:ext cx="839291" cy="307280"/>
          </a:xfrm>
          <a:custGeom>
            <a:avLst/>
            <a:gdLst/>
            <a:ahLst/>
            <a:cxnLst/>
            <a:rect l="l" t="t" r="r" b="b"/>
            <a:pathLst>
              <a:path w="839291" h="307280">
                <a:moveTo>
                  <a:pt x="153640" y="0"/>
                </a:moveTo>
                <a:lnTo>
                  <a:pt x="685651" y="0"/>
                </a:lnTo>
                <a:arcTo hR="153640" wR="153640" stAng="16200000" swAng="5400000"/>
                <a:lnTo>
                  <a:pt x="839291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FFC8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公開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7637760" y="2494161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28" name="Image 6" descr="Cloud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764760" y="2621161"/>
            <a:ext cx="355600" cy="355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637760" y="3205361"/>
            <a:ext cx="150882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637760" y="3571081"/>
            <a:ext cx="1407220" cy="79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できあがったサイトを世界に並べる店先</a:t>
            </a:r>
            <a:endParaRPr lang="en-US" sz="1300" dirty="0"/>
          </a:p>
        </p:txBody>
      </p:sp>
      <p:pic>
        <p:nvPicPr>
          <p:cNvPr id="31" name="Image 7" descr="arrow-righ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248180" y="3464520"/>
            <a:ext cx="355600" cy="20320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699030" y="1901130"/>
            <a:ext cx="1673820" cy="3330079"/>
          </a:xfrm>
          <a:prstGeom prst="roundRect">
            <a:avLst>
              <a:gd name="adj" fmla="val 10243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9857780" y="2085280"/>
            <a:ext cx="839291" cy="307280"/>
          </a:xfrm>
          <a:custGeom>
            <a:avLst/>
            <a:gdLst/>
            <a:ahLst/>
            <a:cxnLst/>
            <a:rect l="l" t="t" r="r" b="b"/>
            <a:pathLst>
              <a:path w="839291" h="307280">
                <a:moveTo>
                  <a:pt x="153640" y="0"/>
                </a:moveTo>
                <a:lnTo>
                  <a:pt x="685651" y="0"/>
                </a:lnTo>
                <a:arcTo hR="153640" wR="153640" stAng="16200000" swAng="5400000"/>
                <a:lnTo>
                  <a:pt x="839291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読む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9857780" y="2494161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35" name="Image 8" descr="Globe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984780" y="2621161"/>
            <a:ext cx="355600" cy="3556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57780" y="3205361"/>
            <a:ext cx="140712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読む人の</a:t>
            </a:r>
            <a:endParaRPr lang="en-US" sz="16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ブラウザ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9857780" y="3835202"/>
            <a:ext cx="1407120" cy="53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URLを開くと、記事が表示される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812800" y="5516959"/>
            <a:ext cx="1371600" cy="325041"/>
          </a:xfrm>
          <a:custGeom>
            <a:avLst/>
            <a:gdLst/>
            <a:ahLst/>
            <a:cxnLst/>
            <a:rect l="l" t="t" r="r" b="b"/>
            <a:pathLst>
              <a:path w="1371600" h="325041">
                <a:moveTo>
                  <a:pt x="162520" y="0"/>
                </a:moveTo>
                <a:lnTo>
                  <a:pt x="1209080" y="0"/>
                </a:lnTo>
                <a:arcTo hR="162520" wR="162520" stAng="16200000" swAng="5400000"/>
                <a:lnTo>
                  <a:pt x="1371600" y="162520"/>
                </a:lnTo>
                <a:arcTo hR="162520" wR="162520" stAng="0" swAng="5400000"/>
                <a:lnTo>
                  <a:pt x="162520" y="325041"/>
                </a:lnTo>
                <a:arcTo hR="162520" wR="162520" stAng="5400000" swAng="5400000"/>
                <a:lnTo>
                  <a:pt x="0" y="162520"/>
                </a:lnTo>
                <a:arcTo hR="162520" wR="16252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青：人がやる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2311400" y="5516959"/>
            <a:ext cx="2616200" cy="325041"/>
          </a:xfrm>
          <a:custGeom>
            <a:avLst/>
            <a:gdLst/>
            <a:ahLst/>
            <a:cxnLst/>
            <a:rect l="l" t="t" r="r" b="b"/>
            <a:pathLst>
              <a:path w="2616200" h="325041">
                <a:moveTo>
                  <a:pt x="162520" y="0"/>
                </a:moveTo>
                <a:lnTo>
                  <a:pt x="2453680" y="0"/>
                </a:lnTo>
                <a:arcTo hR="162520" wR="162520" stAng="16200000" swAng="5400000"/>
                <a:lnTo>
                  <a:pt x="2616200" y="162520"/>
                </a:lnTo>
                <a:arcTo hR="162520" wR="162520" stAng="0" swAng="5400000"/>
                <a:lnTo>
                  <a:pt x="162520" y="325041"/>
                </a:lnTo>
                <a:arcTo hR="162520" wR="162520" stAng="5400000" swAng="5400000"/>
                <a:lnTo>
                  <a:pt x="0" y="162520"/>
                </a:lnTo>
                <a:arcTo hR="162520" wR="162520" stAng="10800000" swAng="5400000"/>
                <a:close/>
              </a:path>
            </a:pathLst>
          </a:custGeom>
          <a:solidFill>
            <a:srgbClr val="FFC8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黄色：ロボットが自動でやる</a:t>
            </a:r>
            <a:endParaRPr lang="en-US" sz="1400" dirty="0"/>
          </a:p>
        </p:txBody>
      </p:sp>
      <p:sp>
        <p:nvSpPr>
          <p:cNvPr id="40" name="Text 2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5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2"/>
              </a:lnSpc>
              <a:buNone/>
            </a:pPr>
            <a:r>
              <a:rPr lang="en-US" sz="1194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／ ブログのしくみ　ひみつ 2</a:t>
            </a:r>
            <a:endParaRPr lang="en-US" sz="1194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6247"/>
            <a:ext cx="10883392" cy="48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75"/>
              </a:lnSpc>
              <a:buNone/>
            </a:pPr>
            <a:r>
              <a:rPr lang="en-US" sz="294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記事の正体は、1つのテキストファイル</a:t>
            </a:r>
            <a:endParaRPr lang="en-US" sz="2940" dirty="0"/>
          </a:p>
        </p:txBody>
      </p:sp>
      <p:sp>
        <p:nvSpPr>
          <p:cNvPr id="4" name="Text 2"/>
          <p:cNvSpPr/>
          <p:nvPr/>
        </p:nvSpPr>
        <p:spPr>
          <a:xfrm>
            <a:off x="812800" y="1827510"/>
            <a:ext cx="5969000" cy="453926"/>
          </a:xfrm>
          <a:custGeom>
            <a:avLst/>
            <a:gdLst/>
            <a:ahLst/>
            <a:cxnLst/>
            <a:rect l="l" t="t" r="r" b="b"/>
            <a:pathLst>
              <a:path w="5969000" h="453926">
                <a:moveTo>
                  <a:pt x="127000" y="0"/>
                </a:moveTo>
                <a:lnTo>
                  <a:pt x="5842000" y="0"/>
                </a:lnTo>
                <a:arcTo hR="127000" wR="127000" stAng="16200000" swAng="5400000"/>
                <a:lnTo>
                  <a:pt x="5969000" y="453926"/>
                </a:lnTo>
                <a:lnTo>
                  <a:pt x="0" y="453926"/>
                </a:lnTo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203200" tIns="88900" rIns="36322" bIns="635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356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2026-09-28-sample-post.md</a:t>
            </a:r>
            <a:endParaRPr lang="en-US" sz="1356" dirty="0"/>
          </a:p>
        </p:txBody>
      </p:sp>
      <p:sp>
        <p:nvSpPr>
          <p:cNvPr id="5" name="Shape 3"/>
          <p:cNvSpPr/>
          <p:nvPr/>
        </p:nvSpPr>
        <p:spPr>
          <a:xfrm>
            <a:off x="812800" y="2281436"/>
            <a:ext cx="5969000" cy="3560564"/>
          </a:xfrm>
          <a:custGeom>
            <a:avLst/>
            <a:gdLst/>
            <a:ahLst/>
            <a:cxnLst/>
            <a:rect l="l" t="t" r="r" b="b"/>
            <a:pathLst>
              <a:path w="5969000" h="3560564">
                <a:moveTo>
                  <a:pt x="0" y="0"/>
                </a:moveTo>
                <a:lnTo>
                  <a:pt x="5969000" y="0"/>
                </a:lnTo>
                <a:lnTo>
                  <a:pt x="5969000" y="3433564"/>
                </a:lnTo>
                <a:arcTo hR="127000" wR="127000" stAng="0" swAng="5400000"/>
                <a:lnTo>
                  <a:pt x="127000" y="3560564"/>
                </a:lnTo>
                <a:arcTo hR="127000" wR="127000" stAng="5400000" swAng="5400000"/>
                <a:lnTo>
                  <a:pt x="0" y="0"/>
                </a:lnTo>
                <a:close/>
              </a:path>
            </a:pathLst>
          </a:custGeom>
          <a:solidFill>
            <a:srgbClr val="0F1B33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459236"/>
            <a:ext cx="5677154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21"/>
              </a:lnSpc>
              <a:buNone/>
            </a:pPr>
            <a:r>
              <a:rPr lang="en-US" sz="1365" dirty="0">
                <a:solidFill>
                  <a:srgbClr val="8A97B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---</a:t>
            </a:r>
            <a:endParaRPr lang="en-US" sz="1365" dirty="0"/>
          </a:p>
        </p:txBody>
      </p:sp>
      <p:sp>
        <p:nvSpPr>
          <p:cNvPr id="7" name="Text 5"/>
          <p:cNvSpPr/>
          <p:nvPr/>
        </p:nvSpPr>
        <p:spPr>
          <a:xfrm>
            <a:off x="1041400" y="2751832"/>
            <a:ext cx="567715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21"/>
              </a:lnSpc>
              <a:buNone/>
            </a:pPr>
            <a:r>
              <a:rPr lang="en-US" sz="1365" dirty="0">
                <a:solidFill>
                  <a:srgbClr val="8FB4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layout:</a:t>
            </a:r>
            <a:r>
              <a:rPr lang="en-US" sz="1365" dirty="0">
                <a:solidFill>
                  <a:srgbClr val="E6EDF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post</a:t>
            </a:r>
            <a:endParaRPr lang="en-US" sz="1365" dirty="0"/>
          </a:p>
        </p:txBody>
      </p:sp>
      <p:sp>
        <p:nvSpPr>
          <p:cNvPr id="8" name="Text 6"/>
          <p:cNvSpPr/>
          <p:nvPr/>
        </p:nvSpPr>
        <p:spPr>
          <a:xfrm>
            <a:off x="1041400" y="3044329"/>
            <a:ext cx="5677154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21"/>
              </a:lnSpc>
              <a:buNone/>
            </a:pPr>
            <a:r>
              <a:rPr lang="en-US" sz="1365" dirty="0">
                <a:solidFill>
                  <a:srgbClr val="8FB4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title:</a:t>
            </a:r>
            <a:r>
              <a:rPr lang="en-US" sz="1365" dirty="0">
                <a:solidFill>
                  <a:srgbClr val="E6EDF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"記事のタイトル"</a:t>
            </a:r>
            <a:endParaRPr lang="en-US" sz="1365" dirty="0"/>
          </a:p>
        </p:txBody>
      </p:sp>
      <p:sp>
        <p:nvSpPr>
          <p:cNvPr id="9" name="Text 7"/>
          <p:cNvSpPr/>
          <p:nvPr/>
        </p:nvSpPr>
        <p:spPr>
          <a:xfrm>
            <a:off x="1041400" y="3336925"/>
            <a:ext cx="567715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21"/>
              </a:lnSpc>
              <a:buNone/>
            </a:pPr>
            <a:r>
              <a:rPr lang="en-US" sz="1365" dirty="0">
                <a:solidFill>
                  <a:srgbClr val="8FB4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date:</a:t>
            </a:r>
            <a:r>
              <a:rPr lang="en-US" sz="1365" dirty="0">
                <a:solidFill>
                  <a:srgbClr val="E6EDF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2026-09-28</a:t>
            </a:r>
            <a:endParaRPr lang="en-US" sz="1365" dirty="0"/>
          </a:p>
        </p:txBody>
      </p:sp>
      <p:sp>
        <p:nvSpPr>
          <p:cNvPr id="10" name="Text 8"/>
          <p:cNvSpPr/>
          <p:nvPr/>
        </p:nvSpPr>
        <p:spPr>
          <a:xfrm>
            <a:off x="1041400" y="3629422"/>
            <a:ext cx="5677154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21"/>
              </a:lnSpc>
              <a:buNone/>
            </a:pPr>
            <a:r>
              <a:rPr lang="en-US" sz="1365" dirty="0">
                <a:solidFill>
                  <a:srgbClr val="8FB4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categories:</a:t>
            </a:r>
            <a:r>
              <a:rPr lang="en-US" sz="1365" dirty="0">
                <a:solidFill>
                  <a:srgbClr val="E6EDF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[生成AIのきほん]</a:t>
            </a:r>
            <a:endParaRPr lang="en-US" sz="1365" dirty="0"/>
          </a:p>
        </p:txBody>
      </p:sp>
      <p:sp>
        <p:nvSpPr>
          <p:cNvPr id="11" name="Text 9"/>
          <p:cNvSpPr/>
          <p:nvPr/>
        </p:nvSpPr>
        <p:spPr>
          <a:xfrm>
            <a:off x="1041400" y="3922018"/>
            <a:ext cx="567715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21"/>
              </a:lnSpc>
              <a:buNone/>
            </a:pPr>
            <a:r>
              <a:rPr lang="en-US" sz="1365" dirty="0">
                <a:solidFill>
                  <a:srgbClr val="8FB4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tags:</a:t>
            </a:r>
            <a:r>
              <a:rPr lang="en-US" sz="1365" dirty="0">
                <a:solidFill>
                  <a:srgbClr val="E6EDF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[ChatGPT, 入口]</a:t>
            </a:r>
            <a:endParaRPr lang="en-US" sz="1365" dirty="0"/>
          </a:p>
        </p:txBody>
      </p:sp>
      <p:sp>
        <p:nvSpPr>
          <p:cNvPr id="12" name="Text 10"/>
          <p:cNvSpPr/>
          <p:nvPr/>
        </p:nvSpPr>
        <p:spPr>
          <a:xfrm>
            <a:off x="1041400" y="4214515"/>
            <a:ext cx="5677154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21"/>
              </a:lnSpc>
              <a:buNone/>
            </a:pPr>
            <a:r>
              <a:rPr lang="en-US" sz="1365" dirty="0">
                <a:solidFill>
                  <a:srgbClr val="8A97B5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---</a:t>
            </a:r>
            <a:endParaRPr lang="en-US" sz="1365" dirty="0"/>
          </a:p>
        </p:txBody>
      </p:sp>
      <p:pic>
        <p:nvPicPr>
          <p:cNvPr id="13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1400" y="4634111"/>
            <a:ext cx="5511800" cy="25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41400" y="4786511"/>
            <a:ext cx="5677154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21"/>
              </a:lnSpc>
              <a:buNone/>
            </a:pPr>
            <a:r>
              <a:rPr lang="en-US" sz="1365" dirty="0">
                <a:solidFill>
                  <a:srgbClr val="E6EDF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結論から書きます。この記事では…</a:t>
            </a:r>
            <a:endParaRPr lang="en-US" sz="1365" dirty="0"/>
          </a:p>
        </p:txBody>
      </p:sp>
      <p:sp>
        <p:nvSpPr>
          <p:cNvPr id="15" name="Text 12"/>
          <p:cNvSpPr/>
          <p:nvPr/>
        </p:nvSpPr>
        <p:spPr>
          <a:xfrm>
            <a:off x="1041400" y="5079107"/>
            <a:ext cx="567715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21"/>
              </a:lnSpc>
              <a:buNone/>
            </a:pPr>
            <a:r>
              <a:rPr lang="en-US" sz="1365" dirty="0">
                <a:solidFill>
                  <a:srgbClr val="8FB4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</a:t>
            </a:r>
            <a:r>
              <a:rPr lang="en-US" sz="1365" dirty="0">
                <a:solidFill>
                  <a:srgbClr val="E6EDF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見出しは # で作る</a:t>
            </a:r>
            <a:endParaRPr lang="en-US" sz="1365" dirty="0"/>
          </a:p>
        </p:txBody>
      </p:sp>
      <p:sp>
        <p:nvSpPr>
          <p:cNvPr id="16" name="Text 13"/>
          <p:cNvSpPr/>
          <p:nvPr/>
        </p:nvSpPr>
        <p:spPr>
          <a:xfrm>
            <a:off x="1041400" y="5371604"/>
            <a:ext cx="5677154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21"/>
              </a:lnSpc>
              <a:buNone/>
            </a:pPr>
            <a:r>
              <a:rPr lang="en-US" sz="1365" dirty="0">
                <a:solidFill>
                  <a:srgbClr val="8FB4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</a:t>
            </a:r>
            <a:r>
              <a:rPr lang="en-US" sz="1365" dirty="0">
                <a:solidFill>
                  <a:srgbClr val="E6EDF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箇条書きは - をつける</a:t>
            </a:r>
            <a:endParaRPr lang="en-US" sz="1365" dirty="0"/>
          </a:p>
        </p:txBody>
      </p:sp>
      <p:sp>
        <p:nvSpPr>
          <p:cNvPr id="17" name="Shape 14"/>
          <p:cNvSpPr/>
          <p:nvPr/>
        </p:nvSpPr>
        <p:spPr>
          <a:xfrm>
            <a:off x="7092950" y="1833860"/>
            <a:ext cx="4279900" cy="849114"/>
          </a:xfrm>
          <a:prstGeom prst="roundRect">
            <a:avLst>
              <a:gd name="adj" fmla="val 20192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02500" y="1992610"/>
            <a:ext cx="3976624" cy="252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138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ファイル名</a:t>
            </a:r>
            <a:endParaRPr lang="en-US" sz="1138" dirty="0"/>
          </a:p>
        </p:txBody>
      </p:sp>
      <p:sp>
        <p:nvSpPr>
          <p:cNvPr id="19" name="Text 16"/>
          <p:cNvSpPr/>
          <p:nvPr/>
        </p:nvSpPr>
        <p:spPr>
          <a:xfrm>
            <a:off x="7302500" y="2244923"/>
            <a:ext cx="3976624" cy="304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4"/>
              </a:lnSpc>
              <a:buNone/>
            </a:pPr>
            <a:r>
              <a:rPr lang="en-US" sz="139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公開する日</a:t>
            </a:r>
            <a:r>
              <a:rPr lang="en-US" sz="139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＋ </a:t>
            </a:r>
            <a:r>
              <a:rPr lang="en-US" sz="139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英語のタイトル</a:t>
            </a:r>
            <a:endParaRPr lang="en-US" sz="1390" dirty="0"/>
          </a:p>
        </p:txBody>
      </p:sp>
      <p:sp>
        <p:nvSpPr>
          <p:cNvPr id="20" name="Shape 17"/>
          <p:cNvSpPr/>
          <p:nvPr/>
        </p:nvSpPr>
        <p:spPr>
          <a:xfrm>
            <a:off x="7092950" y="2809974"/>
            <a:ext cx="4279900" cy="831552"/>
          </a:xfrm>
          <a:prstGeom prst="roundRect">
            <a:avLst>
              <a:gd name="adj" fmla="val 20618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02500" y="2968724"/>
            <a:ext cx="3976624" cy="252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138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上の部分：名札</a:t>
            </a:r>
            <a:endParaRPr lang="en-US" sz="1138" dirty="0"/>
          </a:p>
        </p:txBody>
      </p:sp>
      <p:sp>
        <p:nvSpPr>
          <p:cNvPr id="22" name="Text 19"/>
          <p:cNvSpPr/>
          <p:nvPr/>
        </p:nvSpPr>
        <p:spPr>
          <a:xfrm>
            <a:off x="7302500" y="3220938"/>
            <a:ext cx="3976624" cy="28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294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タイトル・日付・分類を書く</a:t>
            </a:r>
            <a:endParaRPr lang="en-US" sz="1294" dirty="0"/>
          </a:p>
        </p:txBody>
      </p:sp>
      <p:sp>
        <p:nvSpPr>
          <p:cNvPr id="23" name="Shape 20"/>
          <p:cNvSpPr/>
          <p:nvPr/>
        </p:nvSpPr>
        <p:spPr>
          <a:xfrm>
            <a:off x="7092950" y="3768527"/>
            <a:ext cx="4279900" cy="1095276"/>
          </a:xfrm>
          <a:prstGeom prst="roundRect">
            <a:avLst>
              <a:gd name="adj" fmla="val 15654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02500" y="3927277"/>
            <a:ext cx="3976624" cy="252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138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下の部分：本文</a:t>
            </a:r>
            <a:endParaRPr lang="en-US" sz="1138" dirty="0"/>
          </a:p>
        </p:txBody>
      </p:sp>
      <p:sp>
        <p:nvSpPr>
          <p:cNvPr id="25" name="Text 22"/>
          <p:cNvSpPr/>
          <p:nvPr/>
        </p:nvSpPr>
        <p:spPr>
          <a:xfrm>
            <a:off x="7302500" y="4180086"/>
            <a:ext cx="4064000" cy="550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448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ふつうの文章。記号で見出しや箇条書きを作る</a:t>
            </a:r>
            <a:endParaRPr lang="en-US" sz="1448" dirty="0"/>
          </a:p>
        </p:txBody>
      </p:sp>
      <p:sp>
        <p:nvSpPr>
          <p:cNvPr id="26" name="Text 23"/>
          <p:cNvSpPr/>
          <p:nvPr/>
        </p:nvSpPr>
        <p:spPr>
          <a:xfrm>
            <a:off x="7092950" y="4990802"/>
            <a:ext cx="4279900" cy="844848"/>
          </a:xfrm>
          <a:prstGeom prst="roundRect">
            <a:avLst>
              <a:gd name="adj" fmla="val 20294"/>
            </a:avLst>
          </a:prstGeom>
          <a:solidFill>
            <a:srgbClr val="FFF0BD"/>
          </a:solidFill>
          <a:ln w="12700">
            <a:solidFill>
              <a:srgbClr val="FFC83D"/>
            </a:solidFill>
            <a:prstDash val="solid"/>
          </a:ln>
        </p:spPr>
        <p:txBody>
          <a:bodyPr wrap="square" lIns="159334" tIns="108534" rIns="43510" bIns="83134" rtlCol="0" anchor="t">
            <a:normAutofit/>
          </a:bodyPr>
          <a:lstStyle/>
          <a:p>
            <a:pPr algn="l" indent="0" marL="0">
              <a:lnSpc>
                <a:spcPts val="2085"/>
              </a:lnSpc>
              <a:buNone/>
            </a:pPr>
            <a:r>
              <a:rPr lang="en-US" sz="1303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</a:t>
            </a:r>
            <a:r>
              <a:rPr lang="en-US" sz="1303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：ファイル名の日付が未来だと、その記事はまだ公開されない</a:t>
            </a:r>
            <a:endParaRPr lang="en-US" sz="1303" dirty="0"/>
          </a:p>
        </p:txBody>
      </p:sp>
      <p:sp>
        <p:nvSpPr>
          <p:cNvPr id="27" name="Text 24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0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／ ブログのしくみ　ひみつ 3</a:t>
            </a:r>
            <a:endParaRPr lang="en-US" sz="1231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1803"/>
            <a:ext cx="10883392" cy="499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63"/>
              </a:lnSpc>
              <a:buNone/>
            </a:pPr>
            <a:r>
              <a:rPr lang="en-US" sz="301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Jekyllが、ページを組み立ててくれる</a:t>
            </a:r>
            <a:endParaRPr lang="en-US" sz="3010" dirty="0"/>
          </a:p>
        </p:txBody>
      </p:sp>
      <p:sp>
        <p:nvSpPr>
          <p:cNvPr id="4" name="Shape 2"/>
          <p:cNvSpPr/>
          <p:nvPr/>
        </p:nvSpPr>
        <p:spPr>
          <a:xfrm>
            <a:off x="819150" y="1851521"/>
            <a:ext cx="1807567" cy="1412081"/>
          </a:xfrm>
          <a:prstGeom prst="roundRect">
            <a:avLst>
              <a:gd name="adj" fmla="val 12142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8934" y="2010271"/>
            <a:ext cx="508000" cy="508000"/>
          </a:xfrm>
          <a:prstGeom prst="roundRect">
            <a:avLst>
              <a:gd name="adj" fmla="val 30000"/>
            </a:avLst>
          </a:prstGeom>
          <a:solidFill>
            <a:srgbClr val="E1EAFF"/>
          </a:solidFill>
          <a:ln/>
        </p:spPr>
      </p:sp>
      <p:pic>
        <p:nvPicPr>
          <p:cNvPr id="6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70534" y="2111871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7320" y="2581771"/>
            <a:ext cx="451128" cy="265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48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記事</a:t>
            </a:r>
            <a:endParaRPr lang="en-US" sz="1480" dirty="0"/>
          </a:p>
        </p:txBody>
      </p:sp>
      <p:sp>
        <p:nvSpPr>
          <p:cNvPr id="8" name="Text 5"/>
          <p:cNvSpPr/>
          <p:nvPr/>
        </p:nvSpPr>
        <p:spPr>
          <a:xfrm>
            <a:off x="1312773" y="2885480"/>
            <a:ext cx="820222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56647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Markdown</a:t>
            </a:r>
            <a:endParaRPr lang="en-US" sz="1121" dirty="0"/>
          </a:p>
        </p:txBody>
      </p:sp>
      <p:sp>
        <p:nvSpPr>
          <p:cNvPr id="9" name="Shape 6"/>
          <p:cNvSpPr/>
          <p:nvPr/>
        </p:nvSpPr>
        <p:spPr>
          <a:xfrm>
            <a:off x="2766417" y="1851521"/>
            <a:ext cx="1807666" cy="1412081"/>
          </a:xfrm>
          <a:prstGeom prst="roundRect">
            <a:avLst>
              <a:gd name="adj" fmla="val 12142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16201" y="2010271"/>
            <a:ext cx="508000" cy="508000"/>
          </a:xfrm>
          <a:prstGeom prst="roundRect">
            <a:avLst>
              <a:gd name="adj" fmla="val 30000"/>
            </a:avLst>
          </a:prstGeom>
          <a:solidFill>
            <a:srgbClr val="E1EAFF"/>
          </a:solidFill>
          <a:ln/>
        </p:spPr>
      </p:sp>
      <p:pic>
        <p:nvPicPr>
          <p:cNvPr id="11" name="Image 1" descr="Sta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17801" y="2111871"/>
            <a:ext cx="304800" cy="30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23597" y="2581771"/>
            <a:ext cx="893207" cy="265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48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デザイン</a:t>
            </a:r>
            <a:endParaRPr lang="en-US" sz="1480" dirty="0"/>
          </a:p>
        </p:txBody>
      </p:sp>
      <p:sp>
        <p:nvSpPr>
          <p:cNvPr id="13" name="Text 9"/>
          <p:cNvSpPr/>
          <p:nvPr/>
        </p:nvSpPr>
        <p:spPr>
          <a:xfrm>
            <a:off x="3362652" y="2885480"/>
            <a:ext cx="615196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56647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Chirpy</a:t>
            </a:r>
            <a:endParaRPr lang="en-US" sz="1121" dirty="0"/>
          </a:p>
        </p:txBody>
      </p:sp>
      <p:sp>
        <p:nvSpPr>
          <p:cNvPr id="14" name="Shape 10"/>
          <p:cNvSpPr/>
          <p:nvPr/>
        </p:nvSpPr>
        <p:spPr>
          <a:xfrm>
            <a:off x="4713784" y="1851521"/>
            <a:ext cx="1807666" cy="1412081"/>
          </a:xfrm>
          <a:prstGeom prst="roundRect">
            <a:avLst>
              <a:gd name="adj" fmla="val 12142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63567" y="2010271"/>
            <a:ext cx="508000" cy="508000"/>
          </a:xfrm>
          <a:prstGeom prst="roundRect">
            <a:avLst>
              <a:gd name="adj" fmla="val 30000"/>
            </a:avLst>
          </a:prstGeom>
          <a:solidFill>
            <a:srgbClr val="E1EAFF"/>
          </a:solidFill>
          <a:ln/>
        </p:spPr>
      </p:sp>
      <p:pic>
        <p:nvPicPr>
          <p:cNvPr id="16" name="Image 2" descr="Setting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65167" y="2111871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2053" y="2581771"/>
            <a:ext cx="451128" cy="265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24"/>
              </a:lnSpc>
              <a:buNone/>
            </a:pPr>
            <a:r>
              <a:rPr lang="en-US" sz="148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</a:t>
            </a:r>
            <a:endParaRPr lang="en-US" sz="1480" dirty="0"/>
          </a:p>
        </p:txBody>
      </p:sp>
      <p:sp>
        <p:nvSpPr>
          <p:cNvPr id="18" name="Text 13"/>
          <p:cNvSpPr/>
          <p:nvPr/>
        </p:nvSpPr>
        <p:spPr>
          <a:xfrm>
            <a:off x="5053687" y="2885480"/>
            <a:ext cx="1127760" cy="2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56647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_config.yml</a:t>
            </a:r>
            <a:endParaRPr lang="en-US" sz="1121" dirty="0"/>
          </a:p>
        </p:txBody>
      </p:sp>
      <p:pic>
        <p:nvPicPr>
          <p:cNvPr id="19" name="Image 3" descr="arrow-down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68700" y="3358852"/>
            <a:ext cx="203200" cy="3048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12800" y="3752552"/>
            <a:ext cx="5715000" cy="991592"/>
          </a:xfrm>
          <a:prstGeom prst="roundRect">
            <a:avLst>
              <a:gd name="adj" fmla="val 17931"/>
            </a:avLst>
          </a:prstGeom>
          <a:solidFill>
            <a:srgbClr val="2F62E6"/>
          </a:solidFill>
          <a:ln/>
        </p:spPr>
      </p:sp>
      <p:sp>
        <p:nvSpPr>
          <p:cNvPr id="21" name="Text 15"/>
          <p:cNvSpPr/>
          <p:nvPr/>
        </p:nvSpPr>
        <p:spPr>
          <a:xfrm>
            <a:off x="2411700" y="3930352"/>
            <a:ext cx="2517100" cy="377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71"/>
              </a:lnSpc>
              <a:buNone/>
            </a:pPr>
            <a:r>
              <a:rPr lang="en-US" sz="213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Jekyll（ジキル）</a:t>
            </a:r>
            <a:endParaRPr lang="en-US" sz="2131" dirty="0"/>
          </a:p>
        </p:txBody>
      </p:sp>
      <p:sp>
        <p:nvSpPr>
          <p:cNvPr id="22" name="Text 16"/>
          <p:cNvSpPr/>
          <p:nvPr/>
        </p:nvSpPr>
        <p:spPr>
          <a:xfrm>
            <a:off x="2097375" y="4307780"/>
            <a:ext cx="3145750" cy="28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74"/>
              </a:lnSpc>
              <a:buNone/>
            </a:pPr>
            <a:r>
              <a:rPr lang="en-US" sz="1383" dirty="0">
                <a:solidFill>
                  <a:srgbClr val="E8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材料を全部まぜて、ページを作る</a:t>
            </a:r>
            <a:endParaRPr lang="en-US" sz="1383" dirty="0"/>
          </a:p>
        </p:txBody>
      </p:sp>
      <p:pic>
        <p:nvPicPr>
          <p:cNvPr id="23" name="Image 4" descr="arrow-down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568700" y="4833045"/>
            <a:ext cx="203200" cy="3048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12800" y="5226745"/>
            <a:ext cx="5715000" cy="615255"/>
          </a:xfrm>
          <a:prstGeom prst="roundRect">
            <a:avLst>
              <a:gd name="adj" fmla="val 28899"/>
            </a:avLst>
          </a:prstGeom>
          <a:solidFill>
            <a:srgbClr val="FFC83D"/>
          </a:solidFill>
          <a:ln/>
        </p:spPr>
      </p:sp>
      <p:sp>
        <p:nvSpPr>
          <p:cNvPr id="25" name="Text 18"/>
          <p:cNvSpPr/>
          <p:nvPr/>
        </p:nvSpPr>
        <p:spPr>
          <a:xfrm>
            <a:off x="2180530" y="5379145"/>
            <a:ext cx="3068925" cy="335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3"/>
              </a:lnSpc>
              <a:buNone/>
            </a:pPr>
            <a:r>
              <a:rPr lang="en-US" sz="1766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記事の数だけ HTML のページ</a:t>
            </a:r>
            <a:endParaRPr lang="en-US" sz="1766" dirty="0"/>
          </a:p>
        </p:txBody>
      </p:sp>
      <p:sp>
        <p:nvSpPr>
          <p:cNvPr id="26" name="Shape 19"/>
          <p:cNvSpPr/>
          <p:nvPr/>
        </p:nvSpPr>
        <p:spPr>
          <a:xfrm>
            <a:off x="6889750" y="1851521"/>
            <a:ext cx="4483100" cy="834430"/>
          </a:xfrm>
          <a:prstGeom prst="roundRect">
            <a:avLst>
              <a:gd name="adj" fmla="val 20547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099300" y="1997571"/>
            <a:ext cx="418592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8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記事</a:t>
            </a:r>
            <a:endParaRPr lang="en-US" sz="1480" dirty="0"/>
          </a:p>
        </p:txBody>
      </p:sp>
      <p:sp>
        <p:nvSpPr>
          <p:cNvPr id="28" name="Text 21"/>
          <p:cNvSpPr/>
          <p:nvPr/>
        </p:nvSpPr>
        <p:spPr>
          <a:xfrm>
            <a:off x="7099300" y="2262981"/>
            <a:ext cx="4185920" cy="302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388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自分で書いた文章。中身だけに集中できる。</a:t>
            </a:r>
            <a:endParaRPr lang="en-US" sz="1388" dirty="0"/>
          </a:p>
        </p:txBody>
      </p:sp>
      <p:sp>
        <p:nvSpPr>
          <p:cNvPr id="29" name="Shape 22"/>
          <p:cNvSpPr/>
          <p:nvPr/>
        </p:nvSpPr>
        <p:spPr>
          <a:xfrm>
            <a:off x="6889750" y="2800251"/>
            <a:ext cx="4483100" cy="1112540"/>
          </a:xfrm>
          <a:prstGeom prst="roundRect">
            <a:avLst>
              <a:gd name="adj" fmla="val 1541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099300" y="2946301"/>
            <a:ext cx="4185920" cy="265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8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デザイン</a:t>
            </a:r>
            <a:endParaRPr lang="en-US" sz="1480" dirty="0"/>
          </a:p>
        </p:txBody>
      </p:sp>
      <p:sp>
        <p:nvSpPr>
          <p:cNvPr id="31" name="Text 24"/>
          <p:cNvSpPr/>
          <p:nvPr/>
        </p:nvSpPr>
        <p:spPr>
          <a:xfrm>
            <a:off x="7099300" y="3212009"/>
            <a:ext cx="4185920" cy="580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83"/>
              </a:lnSpc>
              <a:buNone/>
            </a:pPr>
            <a:r>
              <a:rPr lang="en-US" sz="1364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Chirpy（チャーピー）という、公開されている着せ替えセットを借りている。</a:t>
            </a:r>
            <a:endParaRPr lang="en-US" sz="1364" dirty="0"/>
          </a:p>
        </p:txBody>
      </p:sp>
      <p:sp>
        <p:nvSpPr>
          <p:cNvPr id="32" name="Shape 25"/>
          <p:cNvSpPr/>
          <p:nvPr/>
        </p:nvSpPr>
        <p:spPr>
          <a:xfrm>
            <a:off x="6889750" y="4027091"/>
            <a:ext cx="4483100" cy="1112540"/>
          </a:xfrm>
          <a:prstGeom prst="roundRect">
            <a:avLst>
              <a:gd name="adj" fmla="val 1541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099300" y="4173141"/>
            <a:ext cx="4185920" cy="265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8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</a:t>
            </a:r>
            <a:endParaRPr lang="en-US" sz="1480" dirty="0"/>
          </a:p>
        </p:txBody>
      </p:sp>
      <p:sp>
        <p:nvSpPr>
          <p:cNvPr id="34" name="Text 27"/>
          <p:cNvSpPr/>
          <p:nvPr/>
        </p:nvSpPr>
        <p:spPr>
          <a:xfrm>
            <a:off x="7099300" y="4438848"/>
            <a:ext cx="4185920" cy="580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83"/>
              </a:lnSpc>
              <a:buNone/>
            </a:pPr>
            <a:r>
              <a:rPr lang="en-US" sz="1364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サイトの名前やURL、どのフォルダを材料にするかのメモ。</a:t>
            </a:r>
            <a:endParaRPr lang="en-US" sz="1364" dirty="0"/>
          </a:p>
        </p:txBody>
      </p:sp>
      <p:sp>
        <p:nvSpPr>
          <p:cNvPr id="35" name="Text 28"/>
          <p:cNvSpPr/>
          <p:nvPr/>
        </p:nvSpPr>
        <p:spPr>
          <a:xfrm>
            <a:off x="6883400" y="5285680"/>
            <a:ext cx="4630674" cy="58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378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同じ機械が、同じ手順で全ページを作る。だから見た目がそろう。</a:t>
            </a:r>
            <a:endParaRPr lang="en-US" sz="1378" dirty="0"/>
          </a:p>
        </p:txBody>
      </p:sp>
      <p:sp>
        <p:nvSpPr>
          <p:cNvPr id="36" name="Text 29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／ ブログのしくみ　ひみつ 4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公開されるのは、siteフォルダの中だけ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1130"/>
            <a:ext cx="6527800" cy="497780"/>
          </a:xfrm>
          <a:prstGeom prst="roundRect">
            <a:avLst>
              <a:gd name="adj" fmla="val 24238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2025551"/>
            <a:ext cx="176593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site/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70200" y="2034480"/>
            <a:ext cx="276009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サイトの材料の置き場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02300" y="1996380"/>
            <a:ext cx="1460500" cy="307280"/>
          </a:xfrm>
          <a:custGeom>
            <a:avLst/>
            <a:gdLst/>
            <a:ahLst/>
            <a:cxnLst/>
            <a:rect l="l" t="t" r="r" b="b"/>
            <a:pathLst>
              <a:path w="1460500" h="307280">
                <a:moveTo>
                  <a:pt x="153640" y="0"/>
                </a:moveTo>
                <a:lnTo>
                  <a:pt x="1306860" y="0"/>
                </a:lnTo>
                <a:arcTo hR="153640" wR="153640" stAng="16200000" swAng="5400000"/>
                <a:lnTo>
                  <a:pt x="1460500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ここだけが材料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9150" y="2475111"/>
            <a:ext cx="6527800" cy="497780"/>
          </a:xfrm>
          <a:prstGeom prst="roundRect">
            <a:avLst>
              <a:gd name="adj" fmla="val 24238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08100" y="2599531"/>
            <a:ext cx="146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_posts/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70200" y="2608461"/>
            <a:ext cx="310019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完成した記事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2500" y="2570361"/>
            <a:ext cx="1130300" cy="307280"/>
          </a:xfrm>
          <a:custGeom>
            <a:avLst/>
            <a:gdLst/>
            <a:ahLst/>
            <a:cxnLst/>
            <a:rect l="l" t="t" r="r" b="b"/>
            <a:pathLst>
              <a:path w="1130300" h="307280">
                <a:moveTo>
                  <a:pt x="153640" y="0"/>
                </a:moveTo>
                <a:lnTo>
                  <a:pt x="976660" y="0"/>
                </a:lnTo>
                <a:arcTo hR="153640" wR="153640" stAng="16200000" swAng="5400000"/>
                <a:lnTo>
                  <a:pt x="1130300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DBF4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公開される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150" y="3049091"/>
            <a:ext cx="6527800" cy="497780"/>
          </a:xfrm>
          <a:prstGeom prst="roundRect">
            <a:avLst>
              <a:gd name="adj" fmla="val 24238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8100" y="3173512"/>
            <a:ext cx="146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_drafts/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70200" y="3182441"/>
            <a:ext cx="34403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書きかけの記事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2700" y="3144341"/>
            <a:ext cx="800100" cy="307280"/>
          </a:xfrm>
          <a:custGeom>
            <a:avLst/>
            <a:gdLst/>
            <a:ahLst/>
            <a:cxnLst/>
            <a:rect l="l" t="t" r="r" b="b"/>
            <a:pathLst>
              <a:path w="800100" h="307280">
                <a:moveTo>
                  <a:pt x="153640" y="0"/>
                </a:moveTo>
                <a:lnTo>
                  <a:pt x="646460" y="0"/>
                </a:lnTo>
                <a:arcTo hR="153640" wR="153640" stAng="16200000" swAng="5400000"/>
                <a:lnTo>
                  <a:pt x="800100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FCE3E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3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出ない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9150" y="3623072"/>
            <a:ext cx="6527800" cy="497780"/>
          </a:xfrm>
          <a:prstGeom prst="roundRect">
            <a:avLst>
              <a:gd name="adj" fmla="val 24238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8100" y="3747492"/>
            <a:ext cx="146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assets/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70200" y="3756422"/>
            <a:ext cx="310019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記事の画像など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2500" y="3718322"/>
            <a:ext cx="1130300" cy="307280"/>
          </a:xfrm>
          <a:custGeom>
            <a:avLst/>
            <a:gdLst/>
            <a:ahLst/>
            <a:cxnLst/>
            <a:rect l="l" t="t" r="r" b="b"/>
            <a:pathLst>
              <a:path w="1130300" h="307280">
                <a:moveTo>
                  <a:pt x="153640" y="0"/>
                </a:moveTo>
                <a:lnTo>
                  <a:pt x="976660" y="0"/>
                </a:lnTo>
                <a:arcTo hR="153640" wR="153640" stAng="16200000" swAng="5400000"/>
                <a:lnTo>
                  <a:pt x="1130300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DBF4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公開される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9150" y="4197052"/>
            <a:ext cx="6527800" cy="497780"/>
          </a:xfrm>
          <a:prstGeom prst="roundRect">
            <a:avLst>
              <a:gd name="adj" fmla="val 24238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3300" y="4321473"/>
            <a:ext cx="176593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docs/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70200" y="4330402"/>
            <a:ext cx="34403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ルールブックなど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62700" y="4292302"/>
            <a:ext cx="800100" cy="307280"/>
          </a:xfrm>
          <a:custGeom>
            <a:avLst/>
            <a:gdLst/>
            <a:ahLst/>
            <a:cxnLst/>
            <a:rect l="l" t="t" r="r" b="b"/>
            <a:pathLst>
              <a:path w="800100" h="307280">
                <a:moveTo>
                  <a:pt x="153640" y="0"/>
                </a:moveTo>
                <a:lnTo>
                  <a:pt x="646460" y="0"/>
                </a:lnTo>
                <a:arcTo hR="153640" wR="153640" stAng="16200000" swAng="5400000"/>
                <a:lnTo>
                  <a:pt x="800100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FCE3E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3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出ない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9150" y="4771033"/>
            <a:ext cx="6527800" cy="497780"/>
          </a:xfrm>
          <a:prstGeom prst="roundRect">
            <a:avLst>
              <a:gd name="adj" fmla="val 24238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3300" y="4895453"/>
            <a:ext cx="176593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infographics/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70200" y="4904383"/>
            <a:ext cx="34403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画像の元データ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62700" y="4866283"/>
            <a:ext cx="800100" cy="307280"/>
          </a:xfrm>
          <a:custGeom>
            <a:avLst/>
            <a:gdLst/>
            <a:ahLst/>
            <a:cxnLst/>
            <a:rect l="l" t="t" r="r" b="b"/>
            <a:pathLst>
              <a:path w="800100" h="307280">
                <a:moveTo>
                  <a:pt x="153640" y="0"/>
                </a:moveTo>
                <a:lnTo>
                  <a:pt x="646460" y="0"/>
                </a:lnTo>
                <a:arcTo hR="153640" wR="153640" stAng="16200000" swAng="5400000"/>
                <a:lnTo>
                  <a:pt x="800100" y="153640"/>
                </a:lnTo>
                <a:arcTo hR="153640" wR="153640" stAng="0" swAng="5400000"/>
                <a:lnTo>
                  <a:pt x="153640" y="307280"/>
                </a:lnTo>
                <a:arcTo hR="153640" wR="153640" stAng="5400000" swAng="5400000"/>
                <a:lnTo>
                  <a:pt x="0" y="153640"/>
                </a:lnTo>
                <a:arcTo hR="153640" wR="153640" stAng="10800000" swAng="5400000"/>
                <a:close/>
              </a:path>
            </a:pathLst>
          </a:custGeom>
          <a:solidFill>
            <a:srgbClr val="FCE3E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83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出ない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39050" y="1901130"/>
            <a:ext cx="3733800" cy="1910060"/>
          </a:xfrm>
          <a:prstGeom prst="roundRect">
            <a:avLst>
              <a:gd name="adj" fmla="val 8976"/>
            </a:avLst>
          </a:prstGeom>
          <a:solidFill>
            <a:srgbClr val="2F62E6"/>
          </a:solidFill>
          <a:ln w="12700">
            <a:solidFill>
              <a:srgbClr val="2F6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74000" y="2110680"/>
            <a:ext cx="3361817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許可する範囲を、1つだけ決める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874000" y="2467471"/>
            <a:ext cx="3361817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8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「これは出さない」のリストは作らない。「siteの中だけ」と決めておけば、書き忘れの事故が起きない。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39050" y="3925491"/>
            <a:ext cx="3733800" cy="1910159"/>
          </a:xfrm>
          <a:prstGeom prst="roundRect">
            <a:avLst>
              <a:gd name="adj" fmla="val 8976"/>
            </a:avLst>
          </a:prstGeom>
          <a:solidFill>
            <a:srgbClr val="FFF0B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74000" y="4135041"/>
            <a:ext cx="3361817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予約投稿もできる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874000" y="4491831"/>
            <a:ext cx="3361817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未来の日付の記事は、その日まで出ない。ロボットが毎日 0:05 に見に来て、日付が来たら公開する。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280" y="711200"/>
            <a:ext cx="418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23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6000" y="3810000"/>
            <a:ext cx="76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7521575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spc="200" kern="0" dirty="0">
                <a:solidFill>
                  <a:srgbClr val="8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／ 4　ひみつ 5〜8</a:t>
            </a:r>
            <a:endParaRPr lang="en-US" sz="16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1264841"/>
            <a:ext cx="7521575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5200" b="1" i="0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つぎは、</a:t>
            </a:r>
            <a:endParaRPr lang="en-US" sz="5200" dirty="0"/>
          </a:p>
          <a:p>
            <a:pPr algn="l" indent="0" marL="0">
              <a:lnSpc>
                <a:spcPts val="6500"/>
              </a:lnSpc>
              <a:buNone/>
            </a:pPr>
            <a:r>
              <a:rPr lang="en-US" sz="5200" b="1" i="0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ルールブック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12800" y="3144441"/>
            <a:ext cx="752157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40"/>
              </a:lnSpc>
              <a:buNone/>
            </a:pPr>
            <a:r>
              <a:rPr lang="en-US" sz="1900" dirty="0">
                <a:solidFill>
                  <a:srgbClr val="A9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docs/planning にある、3冊の決まりごと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19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　ブログのしくみ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86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　ルールブック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noFill/>
          <a:ln w="12700">
            <a:solidFill>
              <a:srgbClr val="34466B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　スキル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20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noFill/>
          <a:ln w="12700">
            <a:solidFill>
              <a:srgbClr val="34466B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　エージェント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／ ルールブック（docs/planning）　ひみつ 5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ルールブックが、3冊ある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1130"/>
            <a:ext cx="3407767" cy="3350320"/>
          </a:xfrm>
          <a:prstGeom prst="roundRect">
            <a:avLst>
              <a:gd name="adj" fmla="val 5117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500" y="21614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6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06500" y="2288480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9500" y="2885380"/>
            <a:ext cx="2973679" cy="24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2350C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content-strategy.md</a:t>
            </a:r>
            <a:endParaRPr lang="en-US" sz="1268" dirty="0"/>
          </a:p>
        </p:txBody>
      </p:sp>
      <p:sp>
        <p:nvSpPr>
          <p:cNvPr id="8" name="Text 5"/>
          <p:cNvSpPr/>
          <p:nvPr/>
        </p:nvSpPr>
        <p:spPr>
          <a:xfrm>
            <a:off x="1079500" y="3222724"/>
            <a:ext cx="2973679" cy="407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設計書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1079500" y="3719512"/>
            <a:ext cx="1809552" cy="333673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/>
        </p:spPr>
      </p:sp>
      <p:sp>
        <p:nvSpPr>
          <p:cNvPr id="10" name="Text 7"/>
          <p:cNvSpPr/>
          <p:nvPr/>
        </p:nvSpPr>
        <p:spPr>
          <a:xfrm>
            <a:off x="1231900" y="3757613"/>
            <a:ext cx="1555552" cy="2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4"/>
              </a:lnSpc>
              <a:buNone/>
            </a:pPr>
            <a:r>
              <a:rPr lang="en-US" sz="1481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何のために書く？</a:t>
            </a:r>
            <a:endParaRPr lang="en-US" sz="1481" dirty="0"/>
          </a:p>
        </p:txBody>
      </p:sp>
      <p:sp>
        <p:nvSpPr>
          <p:cNvPr id="11" name="Text 8"/>
          <p:cNvSpPr/>
          <p:nvPr/>
        </p:nvSpPr>
        <p:spPr>
          <a:xfrm>
            <a:off x="1079500" y="4167485"/>
            <a:ext cx="2973679" cy="823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2"/>
              </a:lnSpc>
              <a:buNone/>
            </a:pPr>
            <a:r>
              <a:rPr lang="en-US" sz="1356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ブログのコンセプト、読者、8つのカテゴリ、記事の型。方針は全部ここ。</a:t>
            </a:r>
            <a:endParaRPr lang="en-US" sz="1356" dirty="0"/>
          </a:p>
        </p:txBody>
      </p:sp>
      <p:sp>
        <p:nvSpPr>
          <p:cNvPr id="12" name="Shape 9"/>
          <p:cNvSpPr/>
          <p:nvPr/>
        </p:nvSpPr>
        <p:spPr>
          <a:xfrm>
            <a:off x="4392017" y="1901130"/>
            <a:ext cx="3407866" cy="3350320"/>
          </a:xfrm>
          <a:prstGeom prst="roundRect">
            <a:avLst>
              <a:gd name="adj" fmla="val 5117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52367" y="21614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14" name="Image 1" descr="Lightbulb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79367" y="2288480"/>
            <a:ext cx="355600" cy="355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2367" y="2885380"/>
            <a:ext cx="297378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350C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article-backlog.md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652367" y="3230761"/>
            <a:ext cx="2973781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ネタ帳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652367" y="3741241"/>
            <a:ext cx="1638300" cy="342900"/>
          </a:xfrm>
          <a:custGeom>
            <a:avLst/>
            <a:gdLst/>
            <a:ahLst/>
            <a:cxnLst/>
            <a:rect l="l" t="t" r="r" b="b"/>
            <a:pathLst>
              <a:path w="1638300" h="342900">
                <a:moveTo>
                  <a:pt x="171450" y="0"/>
                </a:moveTo>
                <a:lnTo>
                  <a:pt x="1466850" y="0"/>
                </a:lnTo>
                <a:arcTo hR="171450" wR="171450" stAng="16200000" swAng="5400000"/>
                <a:lnTo>
                  <a:pt x="1638300" y="171450"/>
                </a:lnTo>
                <a:arcTo hR="171450" wR="171450" stAng="0" swAng="5400000"/>
                <a:lnTo>
                  <a:pt x="171450" y="342900"/>
                </a:lnTo>
                <a:arcTo hR="171450" wR="171450" stAng="5400000" swAng="5400000"/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FFC8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次に何を書く？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52367" y="4198441"/>
            <a:ext cx="2973781" cy="57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記事のタネのストックと、公開する順番。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964984" y="1901130"/>
            <a:ext cx="3407866" cy="3350320"/>
          </a:xfrm>
          <a:prstGeom prst="roundRect">
            <a:avLst>
              <a:gd name="adj" fmla="val 5117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225334" y="21614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21" name="Image 2" descr="Cha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52334" y="2288480"/>
            <a:ext cx="355600" cy="355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25334" y="2885380"/>
            <a:ext cx="297378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350C9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writing-style.md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225334" y="3230761"/>
            <a:ext cx="2973781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文体ガイド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225334" y="3741241"/>
            <a:ext cx="1257300" cy="342900"/>
          </a:xfrm>
          <a:custGeom>
            <a:avLst/>
            <a:gdLst/>
            <a:ahLst/>
            <a:cxnLst/>
            <a:rect l="l" t="t" r="r" b="b"/>
            <a:pathLst>
              <a:path w="1257300" h="342900">
                <a:moveTo>
                  <a:pt x="171450" y="0"/>
                </a:moveTo>
                <a:lnTo>
                  <a:pt x="1085850" y="0"/>
                </a:lnTo>
                <a:arcTo hR="171450" wR="171450" stAng="16200000" swAng="5400000"/>
                <a:lnTo>
                  <a:pt x="1257300" y="171450"/>
                </a:lnTo>
                <a:arcTo hR="171450" wR="171450" stAng="0" swAng="5400000"/>
                <a:lnTo>
                  <a:pt x="171450" y="342900"/>
                </a:lnTo>
                <a:arcTo hR="171450" wR="171450" stAng="5400000" swAng="5400000"/>
                <a:lnTo>
                  <a:pt x="0" y="171450"/>
                </a:lnTo>
                <a:arcTo hR="171450" wR="171450" stAng="10800000" swAng="5400000"/>
                <a:close/>
              </a:path>
            </a:pathLst>
          </a:custGeom>
          <a:solidFill>
            <a:srgbClr val="FFC83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どう書く？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225334" y="4198441"/>
            <a:ext cx="2973781" cy="57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口調、言い換えのルール、書き終えたあとのチェック表。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12800" y="55372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AIは毎回まっさらな状態で始まる。だから、決まりごとは全部ことばにして書いてある。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／ ルールブック（設計書）　ひみつ 6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知識だけの記事は、書かない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93180"/>
            <a:ext cx="10883392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AIに聞けば分かることを書いても、読む意味がない。だから、どの記事にも次の3つのうち1つは入れる。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9150" y="2302371"/>
            <a:ext cx="3407767" cy="1715591"/>
          </a:xfrm>
          <a:prstGeom prst="roundRect">
            <a:avLst>
              <a:gd name="adj" fmla="val 9994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100" y="248652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arcTo hR="203200" wR="203200" stAng="16200000" swAng="5400000"/>
                <a:lnTo>
                  <a:pt x="406400" y="203200"/>
                </a:lnTo>
                <a:arcTo hR="203200" wR="203200" stAng="0" swAng="5400000"/>
                <a:lnTo>
                  <a:pt x="203200" y="406400"/>
                </a:lnTo>
                <a:arcTo hR="203200" wR="203200" stAng="5400000" swAng="5400000"/>
                <a:lnTo>
                  <a:pt x="0" y="203200"/>
                </a:lnTo>
                <a:arcTo hR="203200" wR="2032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20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87500" y="2532856"/>
            <a:ext cx="2476601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一次体験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4100" y="2981821"/>
            <a:ext cx="3026003" cy="8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実際にやってみた結果。うまくいかなかったことも書く。AIには体験できない。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2017" y="2302371"/>
            <a:ext cx="3407866" cy="1715591"/>
          </a:xfrm>
          <a:prstGeom prst="roundRect">
            <a:avLst>
              <a:gd name="adj" fmla="val 9994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967" y="248652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arcTo hR="203200" wR="203200" stAng="16200000" swAng="5400000"/>
                <a:lnTo>
                  <a:pt x="406400" y="203200"/>
                </a:lnTo>
                <a:arcTo hR="203200" wR="203200" stAng="0" swAng="5400000"/>
                <a:lnTo>
                  <a:pt x="203200" y="406400"/>
                </a:lnTo>
                <a:arcTo hR="203200" wR="203200" stAng="5400000" swAng="5400000"/>
                <a:lnTo>
                  <a:pt x="0" y="203200"/>
                </a:lnTo>
                <a:arcTo hR="203200" wR="2032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20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60367" y="2532856"/>
            <a:ext cx="2476703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立ち位置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26967" y="2981821"/>
            <a:ext cx="3026105" cy="8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読む人と同じ立場の人が書く。同じ現場で働くエンジニアだから、伝わることがある。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64984" y="2302371"/>
            <a:ext cx="3407866" cy="1715591"/>
          </a:xfrm>
          <a:prstGeom prst="roundRect">
            <a:avLst>
              <a:gd name="adj" fmla="val 9994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9934" y="248652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arcTo hR="203200" wR="203200" stAng="16200000" swAng="5400000"/>
                <a:lnTo>
                  <a:pt x="406400" y="203200"/>
                </a:lnTo>
                <a:arcTo hR="203200" wR="203200" stAng="0" swAng="5400000"/>
                <a:lnTo>
                  <a:pt x="203200" y="406400"/>
                </a:lnTo>
                <a:arcTo hR="203200" wR="203200" stAng="5400000" swAng="5400000"/>
                <a:lnTo>
                  <a:pt x="0" y="203200"/>
                </a:lnTo>
                <a:arcTo hR="203200" wR="2032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204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33334" y="2532856"/>
            <a:ext cx="2476703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選別と順序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199934" y="2981821"/>
            <a:ext cx="3026105" cy="57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何から先に知るべきか。今は無視していいのは何か。地図をつくる。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9150" y="4208463"/>
            <a:ext cx="10553700" cy="927100"/>
          </a:xfrm>
          <a:prstGeom prst="roundRect">
            <a:avLst>
              <a:gd name="adj" fmla="val 18493"/>
            </a:avLst>
          </a:prstGeom>
          <a:solidFill>
            <a:srgbClr val="FFF0B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4100" y="4443413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FC83D"/>
          </a:solidFill>
          <a:ln/>
        </p:spPr>
      </p:sp>
      <p:pic>
        <p:nvPicPr>
          <p:cNvPr id="19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4532313"/>
            <a:ext cx="279400" cy="279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89100" y="4367213"/>
            <a:ext cx="973226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公開前の一問</a:t>
            </a:r>
            <a:r>
              <a:rPr lang="en-US" sz="15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この記事、読者がChatGPTに同じ質問をしたら、同じ答えが返ってこないか。返ってくるなら、書き直す。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／ ルールブック（ネタ帳）　ひみつ 7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ネタは62本。公開の順番にもルールがある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1130"/>
            <a:ext cx="4813300" cy="2421830"/>
          </a:xfrm>
          <a:prstGeom prst="roundRect">
            <a:avLst>
              <a:gd name="adj" fmla="val 7079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10680"/>
            <a:ext cx="442137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記事のタネのストック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9500" y="2445941"/>
            <a:ext cx="4421378" cy="1073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62本</a:t>
            </a:r>
            <a:endParaRPr lang="en-US" sz="7500" dirty="0"/>
          </a:p>
        </p:txBody>
      </p:sp>
      <p:sp>
        <p:nvSpPr>
          <p:cNvPr id="7" name="Text 5"/>
          <p:cNvSpPr/>
          <p:nvPr/>
        </p:nvSpPr>
        <p:spPr>
          <a:xfrm>
            <a:off x="1079500" y="3544491"/>
            <a:ext cx="442137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2026年10月25日時点。週1本のペースで、1年以上分。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9150" y="4462661"/>
            <a:ext cx="4813300" cy="927100"/>
          </a:xfrm>
          <a:prstGeom prst="roundRect">
            <a:avLst>
              <a:gd name="adj" fmla="val 18493"/>
            </a:avLst>
          </a:prstGeom>
          <a:solidFill>
            <a:srgbClr val="FFF0BD"/>
          </a:solidFill>
          <a:ln w="12700">
            <a:solidFill>
              <a:srgbClr val="FFC83D"/>
            </a:solidFill>
            <a:prstDash val="solid"/>
          </a:ln>
        </p:spPr>
        <p:txBody>
          <a:bodyPr wrap="square" lIns="184734" tIns="108534" rIns="54432" bIns="83134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毎週月曜に1本</a:t>
            </a:r>
            <a:r>
              <a:rPr lang="en-US" sz="15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。続けることを最優先にして、増やしすぎない。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94400" y="1894780"/>
            <a:ext cx="5546344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先に読んでほしい記事を、先に出す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0" y="2289671"/>
            <a:ext cx="5372100" cy="740271"/>
          </a:xfrm>
          <a:prstGeom prst="roundRect">
            <a:avLst>
              <a:gd name="adj" fmla="val 19729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0300" y="2397621"/>
            <a:ext cx="510159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プロンプトの基礎体力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10300" y="2690912"/>
            <a:ext cx="510159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入門編・全3回</a:t>
            </a:r>
            <a:endParaRPr lang="en-US" sz="1300" dirty="0"/>
          </a:p>
        </p:txBody>
      </p:sp>
      <p:pic>
        <p:nvPicPr>
          <p:cNvPr id="13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7900" y="3099792"/>
            <a:ext cx="177800" cy="2286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000750" y="3398242"/>
            <a:ext cx="5372100" cy="740271"/>
          </a:xfrm>
          <a:prstGeom prst="roundRect">
            <a:avLst>
              <a:gd name="adj" fmla="val 19729"/>
            </a:avLst>
          </a:prstGeom>
          <a:solidFill>
            <a:srgbClr val="2F62E6"/>
          </a:solidFill>
          <a:ln w="12700">
            <a:solidFill>
              <a:srgbClr val="2F62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0300" y="3506192"/>
            <a:ext cx="510159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プロンプト設計の型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210300" y="3799483"/>
            <a:ext cx="510159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8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全5回</a:t>
            </a:r>
            <a:endParaRPr lang="en-US" sz="1300" dirty="0"/>
          </a:p>
        </p:txBody>
      </p:sp>
      <p:pic>
        <p:nvPicPr>
          <p:cNvPr id="17" name="Image 1" descr="arrow-dow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97900" y="4208363"/>
            <a:ext cx="177800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000750" y="4506813"/>
            <a:ext cx="5372100" cy="740271"/>
          </a:xfrm>
          <a:prstGeom prst="roundRect">
            <a:avLst>
              <a:gd name="adj" fmla="val 19729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0300" y="4614763"/>
            <a:ext cx="510159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ステップアップ編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210300" y="4908054"/>
            <a:ext cx="510159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応用編・全4回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994400" y="5342334"/>
            <a:ext cx="554634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前の記事が前提になっているので、順番を逆にしない。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／ ルールブック（文体ガイド）　ひみつ 8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現場のひみつは、書き方で守る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1130"/>
            <a:ext cx="4051300" cy="1553071"/>
          </a:xfrm>
          <a:prstGeom prst="roundRect">
            <a:avLst>
              <a:gd name="adj" fmla="val 11039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085280"/>
            <a:ext cx="3741166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口調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8700" y="2416671"/>
            <a:ext cx="3741166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同じ現場の先輩が、休憩中に「これ便利だよ」と教えてくれる感じ。です・ます調でそろえる。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9150" y="3581202"/>
            <a:ext cx="4051300" cy="1268611"/>
          </a:xfrm>
          <a:prstGeom prst="roundRect">
            <a:avLst>
              <a:gd name="adj" fmla="val 13515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700" y="3765352"/>
            <a:ext cx="3741166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決まり文句は使わない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28700" y="4096742"/>
            <a:ext cx="374116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「ぜひ試してみてください」で終わらない。何から試すかまで書く。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81600" y="1894780"/>
            <a:ext cx="6383528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会社や人が分かる書き方は、言い換える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87950" y="2315071"/>
            <a:ext cx="2832100" cy="738981"/>
          </a:xfrm>
          <a:prstGeom prst="roundRect">
            <a:avLst>
              <a:gd name="adj" fmla="val 23201"/>
            </a:avLst>
          </a:prstGeom>
          <a:solidFill>
            <a:srgbClr val="FCE3E1"/>
          </a:solidFill>
          <a:ln w="12700">
            <a:solidFill>
              <a:srgbClr val="FCE3E1"/>
            </a:solidFill>
            <a:prstDash val="solid"/>
          </a:ln>
        </p:spPr>
        <p:txBody>
          <a:bodyPr wrap="square" lIns="133934" tIns="70434" rIns="60020" bIns="70434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企業名・プロジェクト名</a:t>
            </a:r>
            <a:endParaRPr lang="en-US" sz="1400" dirty="0"/>
          </a:p>
        </p:txBody>
      </p:sp>
      <p:pic>
        <p:nvPicPr>
          <p:cNvPr id="12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0" y="2582962"/>
            <a:ext cx="304800" cy="203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540750" y="2315071"/>
            <a:ext cx="2832100" cy="738981"/>
          </a:xfrm>
          <a:prstGeom prst="roundRect">
            <a:avLst>
              <a:gd name="adj" fmla="val 23201"/>
            </a:avLst>
          </a:prstGeom>
          <a:solidFill>
            <a:srgbClr val="DBF4E7"/>
          </a:solidFill>
          <a:ln w="12700">
            <a:solidFill>
              <a:srgbClr val="DBF4E7"/>
            </a:solidFill>
            <a:prstDash val="solid"/>
          </a:ln>
        </p:spPr>
        <p:txBody>
          <a:bodyPr wrap="square" lIns="133934" tIns="57734" rIns="60020" bIns="57734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5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「ある現場」「10名規模のチーム」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87950" y="3155652"/>
            <a:ext cx="2832100" cy="738981"/>
          </a:xfrm>
          <a:prstGeom prst="roundRect">
            <a:avLst>
              <a:gd name="adj" fmla="val 23201"/>
            </a:avLst>
          </a:prstGeom>
          <a:solidFill>
            <a:srgbClr val="FCE3E1"/>
          </a:solidFill>
          <a:ln w="12700">
            <a:solidFill>
              <a:srgbClr val="FCE3E1"/>
            </a:solidFill>
            <a:prstDash val="solid"/>
          </a:ln>
        </p:spPr>
        <p:txBody>
          <a:bodyPr wrap="square" lIns="133934" tIns="70434" rIns="60020" bIns="70434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実際の議事録やログ</a:t>
            </a:r>
            <a:endParaRPr lang="en-US" sz="1400" dirty="0"/>
          </a:p>
        </p:txBody>
      </p:sp>
      <p:pic>
        <p:nvPicPr>
          <p:cNvPr id="15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0" y="3423543"/>
            <a:ext cx="304800" cy="203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40750" y="3155652"/>
            <a:ext cx="2832100" cy="738981"/>
          </a:xfrm>
          <a:prstGeom prst="roundRect">
            <a:avLst>
              <a:gd name="adj" fmla="val 23201"/>
            </a:avLst>
          </a:prstGeom>
          <a:solidFill>
            <a:srgbClr val="DBF4E7"/>
          </a:solidFill>
          <a:ln w="12700">
            <a:solidFill>
              <a:srgbClr val="DBF4E7"/>
            </a:solidFill>
            <a:prstDash val="solid"/>
          </a:ln>
        </p:spPr>
        <p:txBody>
          <a:bodyPr wrap="square" lIns="133934" tIns="57734" rIns="60020" bIns="57734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5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同じ形のダミーを作って載せる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187950" y="3996234"/>
            <a:ext cx="2832100" cy="490141"/>
          </a:xfrm>
          <a:prstGeom prst="roundRect">
            <a:avLst>
              <a:gd name="adj" fmla="val 34980"/>
            </a:avLst>
          </a:prstGeom>
          <a:solidFill>
            <a:srgbClr val="FCE3E1"/>
          </a:solidFill>
          <a:ln w="12700">
            <a:solidFill>
              <a:srgbClr val="FCE3E1"/>
            </a:solidFill>
            <a:prstDash val="solid"/>
          </a:ln>
        </p:spPr>
        <p:txBody>
          <a:bodyPr wrap="square" lIns="133934" tIns="57734" rIns="60020" bIns="57734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B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「PMの〇〇さん」</a:t>
            </a:r>
            <a:endParaRPr lang="en-US" sz="14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0" y="4139704"/>
            <a:ext cx="304800" cy="203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0750" y="3996234"/>
            <a:ext cx="2832100" cy="490141"/>
          </a:xfrm>
          <a:prstGeom prst="roundRect">
            <a:avLst>
              <a:gd name="adj" fmla="val 34980"/>
            </a:avLst>
          </a:prstGeom>
          <a:solidFill>
            <a:srgbClr val="DBF4E7"/>
          </a:solidFill>
          <a:ln w="12700">
            <a:solidFill>
              <a:srgbClr val="DBF4E7"/>
            </a:solidFill>
            <a:prstDash val="solid"/>
          </a:ln>
        </p:spPr>
        <p:txBody>
          <a:bodyPr wrap="square" lIns="133934" tIns="57734" rIns="60020" bIns="57734" rtlCol="0" anchor="ctr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5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「PM」「レビュー担当者」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181600" y="4607024"/>
            <a:ext cx="638352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数字（「30分が5分になった」）は残す。数字だけでは、どこの現場か分からない。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280" y="711200"/>
            <a:ext cx="418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23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6000" y="3810000"/>
            <a:ext cx="76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7521575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spc="200" kern="0" dirty="0">
                <a:solidFill>
                  <a:srgbClr val="8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／ 4　ひみつ 9〜11</a:t>
            </a:r>
            <a:endParaRPr lang="en-US" sz="16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1264841"/>
            <a:ext cx="7521575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5200" b="1" i="0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そして、</a:t>
            </a:r>
            <a:endParaRPr lang="en-US" sz="5200" dirty="0"/>
          </a:p>
          <a:p>
            <a:pPr algn="l" indent="0" marL="0">
              <a:lnSpc>
                <a:spcPts val="6500"/>
              </a:lnSpc>
              <a:buNone/>
            </a:pPr>
            <a:r>
              <a:rPr lang="en-US" sz="5200" b="1" i="0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12800" y="3144441"/>
            <a:ext cx="752157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40"/>
              </a:lnSpc>
              <a:buNone/>
            </a:pPr>
            <a:r>
              <a:rPr lang="en-US" sz="1900" dirty="0">
                <a:solidFill>
                  <a:srgbClr val="A9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AIに渡す「手順書」。このブログでは3つ使っている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19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　ブログのしくみ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86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　ルールブック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　スキル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20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noFill/>
          <a:ln w="12700">
            <a:solidFill>
              <a:srgbClr val="34466B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　エージェント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／ スキル　ひみつ 9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スキルは、AIに渡す手順書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8580"/>
            <a:ext cx="3149600" cy="1577280"/>
          </a:xfrm>
          <a:prstGeom prst="roundRect">
            <a:avLst>
              <a:gd name="adj" fmla="val 11273"/>
            </a:avLst>
          </a:prstGeom>
          <a:solidFill>
            <a:srgbClr val="2F62E6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96380"/>
            <a:ext cx="282549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人が呼ぶ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6000" y="2278261"/>
            <a:ext cx="282549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「/write-post」と打つ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2659261"/>
            <a:ext cx="2825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呼ぶだけでいい</a:t>
            </a:r>
            <a:endParaRPr lang="en-US" sz="14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64000" y="2505571"/>
            <a:ext cx="355600" cy="20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1200" y="1818580"/>
            <a:ext cx="3149600" cy="1577280"/>
          </a:xfrm>
          <a:prstGeom prst="roundRect">
            <a:avLst>
              <a:gd name="adj" fmla="val 11273"/>
            </a:avLst>
          </a:prstGeom>
          <a:solidFill>
            <a:srgbClr val="16233B"/>
          </a:solidFill>
          <a:ln/>
        </p:spPr>
      </p:sp>
      <p:sp>
        <p:nvSpPr>
          <p:cNvPr id="10" name="Text 7"/>
          <p:cNvSpPr/>
          <p:nvPr/>
        </p:nvSpPr>
        <p:spPr>
          <a:xfrm>
            <a:off x="4724400" y="1996380"/>
            <a:ext cx="282549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AIが読む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24400" y="2278261"/>
            <a:ext cx="282549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手順書を開く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724400" y="2659261"/>
            <a:ext cx="28254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名前はいつも SKILL.md</a:t>
            </a:r>
            <a:endParaRPr lang="en-US" sz="14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0" y="2505571"/>
            <a:ext cx="355600" cy="20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29600" y="1818580"/>
            <a:ext cx="3149600" cy="1577280"/>
          </a:xfrm>
          <a:prstGeom prst="roundRect">
            <a:avLst>
              <a:gd name="adj" fmla="val 11273"/>
            </a:avLst>
          </a:prstGeom>
          <a:solidFill>
            <a:srgbClr val="FFC83D"/>
          </a:solidFill>
          <a:ln/>
        </p:spPr>
      </p:sp>
      <p:sp>
        <p:nvSpPr>
          <p:cNvPr id="15" name="Text 11"/>
          <p:cNvSpPr/>
          <p:nvPr/>
        </p:nvSpPr>
        <p:spPr>
          <a:xfrm>
            <a:off x="8432800" y="1996380"/>
            <a:ext cx="282549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AIが進める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432800" y="2278261"/>
            <a:ext cx="282549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手順どおりに動く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432800" y="2659261"/>
            <a:ext cx="282549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人と会話しながら、記事を仕上げる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9150" y="3605411"/>
            <a:ext cx="5194300" cy="1603871"/>
          </a:xfrm>
          <a:prstGeom prst="roundRect">
            <a:avLst>
              <a:gd name="adj" fmla="val 10690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28700" y="3789561"/>
            <a:ext cx="4918456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手順書には、何が書いてある？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1028700" y="4120952"/>
            <a:ext cx="491845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どの順番で聞くか。どのルールブックを読むか。どこで専門担当に頼むか。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28700" y="4740672"/>
            <a:ext cx="491845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.claude/skills/write-post/SKILL.md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78550" y="3605411"/>
            <a:ext cx="5194300" cy="1603871"/>
          </a:xfrm>
          <a:prstGeom prst="roundRect">
            <a:avLst>
              <a:gd name="adj" fmla="val 10690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88100" y="3789561"/>
            <a:ext cx="4918456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なぜ必要？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6388100" y="4120952"/>
            <a:ext cx="491845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AIは毎回まっさらで始まる。手順を書いておけば、いつでも同じ進め方になる。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388100" y="4740672"/>
            <a:ext cx="491845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たとえると、料理のレシピカード。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／ スキル　ひみつ 10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このブログのスキルは、3つ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1130"/>
            <a:ext cx="3407767" cy="3934520"/>
          </a:xfrm>
          <a:prstGeom prst="roundRect">
            <a:avLst>
              <a:gd name="adj" fmla="val 503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4100" y="21360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6" name="Image 0" descr="Boo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100" y="2263080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4100" y="2847280"/>
            <a:ext cx="1646138" cy="386060"/>
          </a:xfrm>
          <a:prstGeom prst="roundRect">
            <a:avLst>
              <a:gd name="adj" fmla="val 26317"/>
            </a:avLst>
          </a:prstGeom>
          <a:solidFill>
            <a:srgbClr val="1623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/write-post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4100" y="3334941"/>
            <a:ext cx="1282898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✒️ ツヅル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36998" y="3442891"/>
            <a:ext cx="1066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記事を書く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4100" y="3799681"/>
            <a:ext cx="3026003" cy="8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テーマ決めから、体験のヒアリング、下書き、校閲、保存まで、順番に付き合ってくれる。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4100" y="4727873"/>
            <a:ext cx="302600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使うとき：1本書くとき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92017" y="1901130"/>
            <a:ext cx="3407866" cy="3934520"/>
          </a:xfrm>
          <a:prstGeom prst="roundRect">
            <a:avLst>
              <a:gd name="adj" fmla="val 503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26967" y="21360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14" name="Image 1" descr="Lightbulb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3967" y="2263080"/>
            <a:ext cx="355600" cy="355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26967" y="2847280"/>
            <a:ext cx="1402259" cy="386060"/>
          </a:xfrm>
          <a:prstGeom prst="roundRect">
            <a:avLst>
              <a:gd name="adj" fmla="val 26317"/>
            </a:avLst>
          </a:prstGeom>
          <a:solidFill>
            <a:srgbClr val="1623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/add-idea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26967" y="3334941"/>
            <a:ext cx="1017488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タネ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644455" y="3442891"/>
            <a:ext cx="12738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ネタをためる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26967" y="3799681"/>
            <a:ext cx="3026105" cy="8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思いつきや、その日の出来事を聞いて、ネタ帳に足してよいか審査する。10分で終わらせる。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26967" y="4727873"/>
            <a:ext cx="30261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使うとき：ネタを思いついたとき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964984" y="1901130"/>
            <a:ext cx="3407866" cy="3934520"/>
          </a:xfrm>
          <a:prstGeom prst="roundRect">
            <a:avLst>
              <a:gd name="adj" fmla="val 503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99934" y="21360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2E6"/>
          </a:solidFill>
          <a:ln/>
        </p:spPr>
      </p:sp>
      <p:pic>
        <p:nvPicPr>
          <p:cNvPr id="22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6934" y="2263080"/>
            <a:ext cx="355600" cy="355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99934" y="2847280"/>
            <a:ext cx="2255838" cy="386060"/>
          </a:xfrm>
          <a:prstGeom prst="roundRect">
            <a:avLst>
              <a:gd name="adj" fmla="val 26317"/>
            </a:avLst>
          </a:prstGeom>
          <a:solidFill>
            <a:srgbClr val="1623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/add-infographic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199934" y="3334941"/>
            <a:ext cx="1296888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エガク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9496822" y="3442891"/>
            <a:ext cx="12738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画像をつくる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199934" y="3799681"/>
            <a:ext cx="3026105" cy="8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記事から載せる内容を拾って、図入りのヘッダー画像を作り、記事に付ける。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199934" y="4727873"/>
            <a:ext cx="30261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使うとき：記事に絵を付けたいとき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／ スキル　ひみつ 11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AIは代筆せず、体験を引き出す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12230"/>
            <a:ext cx="2533650" cy="1181100"/>
          </a:xfrm>
          <a:prstGeom prst="roundRect">
            <a:avLst>
              <a:gd name="adj" fmla="val 12366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19582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hR="152400" wR="152400" stAng="16200000" swAng="5400000"/>
                <a:lnTo>
                  <a:pt x="304800" y="152400"/>
                </a:lnTo>
                <a:arcTo hR="152400" wR="152400" stAng="0" swAng="5400000"/>
                <a:lnTo>
                  <a:pt x="152400" y="3048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97000" y="1970385"/>
            <a:ext cx="103632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状況確認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3300" y="2326580"/>
            <a:ext cx="223031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書きかけがないか見る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2500" y="1812230"/>
            <a:ext cx="2533650" cy="1181100"/>
          </a:xfrm>
          <a:prstGeom prst="roundRect">
            <a:avLst>
              <a:gd name="adj" fmla="val 12366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6650" y="19582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hR="152400" wR="152400" stAng="16200000" swAng="5400000"/>
                <a:lnTo>
                  <a:pt x="304800" y="152400"/>
                </a:lnTo>
                <a:arcTo hR="152400" wR="152400" stAng="0" swAng="5400000"/>
                <a:lnTo>
                  <a:pt x="152400" y="3048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70350" y="1970385"/>
            <a:ext cx="129540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テーマ決め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76650" y="2326580"/>
            <a:ext cx="223031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ネタ帳から今日の1本を選ぶ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65850" y="1812230"/>
            <a:ext cx="2533650" cy="1181100"/>
          </a:xfrm>
          <a:prstGeom prst="roundRect">
            <a:avLst>
              <a:gd name="adj" fmla="val 12366"/>
            </a:avLst>
          </a:prstGeom>
          <a:solidFill>
            <a:srgbClr val="2F62E6"/>
          </a:solidFill>
          <a:ln w="12700">
            <a:solidFill>
              <a:srgbClr val="2F6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0000" y="19582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hR="152400" wR="152400" stAng="16200000" swAng="5400000"/>
                <a:lnTo>
                  <a:pt x="304800" y="152400"/>
                </a:lnTo>
                <a:arcTo hR="152400" wR="152400" stAng="0" swAng="5400000"/>
                <a:lnTo>
                  <a:pt x="152400" y="3048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43700" y="1970385"/>
            <a:ext cx="181356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体験ヒアリング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0000" y="2326580"/>
            <a:ext cx="223031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8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やってみたことと、失敗を聞き出す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39200" y="1812230"/>
            <a:ext cx="2533650" cy="1181100"/>
          </a:xfrm>
          <a:prstGeom prst="roundRect">
            <a:avLst>
              <a:gd name="adj" fmla="val 12366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3350" y="19582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hR="152400" wR="152400" stAng="16200000" swAng="5400000"/>
                <a:lnTo>
                  <a:pt x="304800" y="152400"/>
                </a:lnTo>
                <a:arcTo hR="152400" wR="152400" stAng="0" swAng="5400000"/>
                <a:lnTo>
                  <a:pt x="152400" y="3048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7050" y="1970385"/>
            <a:ext cx="51816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23350" y="2326580"/>
            <a:ext cx="23431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型に合わせて見出しを決める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9150" y="3133030"/>
            <a:ext cx="2533650" cy="1181100"/>
          </a:xfrm>
          <a:prstGeom prst="roundRect">
            <a:avLst>
              <a:gd name="adj" fmla="val 12366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3300" y="32790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hR="152400" wR="152400" stAng="16200000" swAng="5400000"/>
                <a:lnTo>
                  <a:pt x="304800" y="152400"/>
                </a:lnTo>
                <a:arcTo hR="152400" wR="152400" stAng="0" swAng="5400000"/>
                <a:lnTo>
                  <a:pt x="152400" y="3048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97000" y="3291185"/>
            <a:ext cx="77724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下書き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3300" y="3647380"/>
            <a:ext cx="223031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聞いた体験をもとに書く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92500" y="3133030"/>
            <a:ext cx="2533650" cy="1181100"/>
          </a:xfrm>
          <a:prstGeom prst="roundRect">
            <a:avLst>
              <a:gd name="adj" fmla="val 12366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6650" y="32790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hR="152400" wR="152400" stAng="16200000" swAng="5400000"/>
                <a:lnTo>
                  <a:pt x="304800" y="152400"/>
                </a:lnTo>
                <a:arcTo hR="152400" wR="152400" stAng="0" swAng="5400000"/>
                <a:lnTo>
                  <a:pt x="152400" y="3048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16233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70350" y="3291185"/>
            <a:ext cx="51816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校閲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676650" y="3647380"/>
            <a:ext cx="223031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専門担当のアカネに点検してもらう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65850" y="3133030"/>
            <a:ext cx="2533650" cy="1181100"/>
          </a:xfrm>
          <a:prstGeom prst="roundRect">
            <a:avLst>
              <a:gd name="adj" fmla="val 12366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0000" y="32790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hR="152400" wR="152400" stAng="16200000" swAng="5400000"/>
                <a:lnTo>
                  <a:pt x="304800" y="152400"/>
                </a:lnTo>
                <a:arcTo hR="152400" wR="152400" stAng="0" swAng="5400000"/>
                <a:lnTo>
                  <a:pt x="152400" y="3048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43700" y="3291185"/>
            <a:ext cx="51816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350000" y="3647380"/>
            <a:ext cx="223031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site/_posts/ に置く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839200" y="3133030"/>
            <a:ext cx="2533650" cy="1181100"/>
          </a:xfrm>
          <a:prstGeom prst="roundRect">
            <a:avLst>
              <a:gd name="adj" fmla="val 12366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23350" y="32790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hR="152400" wR="152400" stAng="16200000" swAng="5400000"/>
                <a:lnTo>
                  <a:pt x="304800" y="152400"/>
                </a:lnTo>
                <a:arcTo hR="152400" wR="152400" stAng="0" swAng="5400000"/>
                <a:lnTo>
                  <a:pt x="152400" y="304800"/>
                </a:lnTo>
                <a:arcTo hR="152400" wR="152400" stAng="5400000" swAng="5400000"/>
                <a:lnTo>
                  <a:pt x="0" y="152400"/>
                </a:lnTo>
                <a:arcTo hR="152400" wR="1524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417050" y="3291185"/>
            <a:ext cx="1036320" cy="3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後片付け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023350" y="3647380"/>
            <a:ext cx="223031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ネタ帳を更新して、次につなぐ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2800" y="4510980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青は、この手順書の本体。黄色は、専門担当に頼むところ。AIが持っていないのは、書き手の体験だけ。だから、体験を聞き出すことに時間をかける。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24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280" y="711200"/>
            <a:ext cx="418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23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pic>
        <p:nvPicPr>
          <p:cNvPr id="3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06000" y="3810000"/>
            <a:ext cx="76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812800"/>
            <a:ext cx="7521575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spc="200" kern="0" dirty="0">
                <a:solidFill>
                  <a:srgbClr val="8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／ 4　ひみつ 12〜14</a:t>
            </a:r>
            <a:endParaRPr lang="en-US" sz="16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1264841"/>
            <a:ext cx="7521575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00"/>
              </a:lnSpc>
              <a:buNone/>
            </a:pPr>
            <a:r>
              <a:rPr lang="en-US" sz="5200" b="1" i="0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最後は、</a:t>
            </a:r>
            <a:endParaRPr lang="en-US" sz="5200" dirty="0"/>
          </a:p>
          <a:p>
            <a:pPr algn="l" indent="0" marL="0">
              <a:lnSpc>
                <a:spcPts val="6500"/>
              </a:lnSpc>
              <a:buNone/>
            </a:pPr>
            <a:r>
              <a:rPr lang="en-US" sz="5200" b="1" i="0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エージェント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12800" y="3144441"/>
            <a:ext cx="752157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40"/>
              </a:lnSpc>
              <a:buNone/>
            </a:pPr>
            <a:r>
              <a:rPr lang="en-US" sz="1900" dirty="0">
                <a:solidFill>
                  <a:srgbClr val="A9B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別の部屋で働く「専門担当」。このブログでは3人いる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19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　ブログのしくみ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486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　ルールブック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1F3050"/>
          </a:solidFill>
          <a:ln w="12700">
            <a:solidFill>
              <a:srgbClr val="1F3050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　スキル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20150" y="5581650"/>
            <a:ext cx="2552700" cy="457200"/>
          </a:xfrm>
          <a:custGeom>
            <a:avLst/>
            <a:gdLst/>
            <a:ahLst/>
            <a:cxnLst/>
            <a:rect l="l" t="t" r="r" b="b"/>
            <a:pathLst>
              <a:path w="2552700" h="457200">
                <a:moveTo>
                  <a:pt x="228600" y="0"/>
                </a:moveTo>
                <a:lnTo>
                  <a:pt x="2324100" y="0"/>
                </a:lnTo>
                <a:arcTo hR="228600" wR="228600" stAng="16200000" swAng="5400000"/>
                <a:lnTo>
                  <a:pt x="25527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  <p:txBody>
          <a:bodyPr wrap="square" lIns="20574" tIns="95250" rIns="20574" bIns="6985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　エージェント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／ エージェント　ひみつ 12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エージェントは、別の部屋の専門担当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799530"/>
            <a:ext cx="4102100" cy="1643360"/>
          </a:xfrm>
          <a:prstGeom prst="roundRect">
            <a:avLst>
              <a:gd name="adj" fmla="val 10433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" y="1983680"/>
            <a:ext cx="508000" cy="508000"/>
          </a:xfrm>
          <a:prstGeom prst="roundRect">
            <a:avLst>
              <a:gd name="adj" fmla="val 30000"/>
            </a:avLst>
          </a:prstGeom>
          <a:solidFill>
            <a:srgbClr val="2F62E6"/>
          </a:solidFill>
          <a:ln/>
        </p:spPr>
      </p:sp>
      <p:pic>
        <p:nvPicPr>
          <p:cNvPr id="6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30300" y="2085280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700" y="2567880"/>
            <a:ext cx="379349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メインのAI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28700" y="2974280"/>
            <a:ext cx="379349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いつも会話している相手。全体の進行役。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27600" y="1976140"/>
            <a:ext cx="2336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「この下書きを点検して」</a:t>
            </a:r>
            <a:endParaRPr lang="en-US" sz="13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0" y="2270720"/>
            <a:ext cx="762000" cy="203200"/>
          </a:xfrm>
          <a:prstGeom prst="rect">
            <a:avLst/>
          </a:prstGeom>
        </p:spPr>
      </p:pic>
      <p:pic>
        <p:nvPicPr>
          <p:cNvPr id="11" name="Image 2" descr="arrow-lef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15000" y="2537420"/>
            <a:ext cx="762000" cy="20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49520" y="2804120"/>
            <a:ext cx="209296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「ここを直すと良い」と報告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270750" y="1799530"/>
            <a:ext cx="4102100" cy="1643360"/>
          </a:xfrm>
          <a:prstGeom prst="roundRect">
            <a:avLst>
              <a:gd name="adj" fmla="val 10433"/>
            </a:avLst>
          </a:prstGeom>
          <a:solidFill>
            <a:srgbClr val="FFF0B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480300" y="1983680"/>
            <a:ext cx="508000" cy="508000"/>
          </a:xfrm>
          <a:prstGeom prst="roundRect">
            <a:avLst>
              <a:gd name="adj" fmla="val 30000"/>
            </a:avLst>
          </a:prstGeom>
          <a:solidFill>
            <a:srgbClr val="FFC83D"/>
          </a:solidFill>
          <a:ln/>
        </p:spPr>
      </p:sp>
      <p:pic>
        <p:nvPicPr>
          <p:cNvPr id="15" name="Image 3" descr="Search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81900" y="2085280"/>
            <a:ext cx="304800" cy="304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80300" y="2567880"/>
            <a:ext cx="379349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専門担当のAI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7480300" y="2974280"/>
            <a:ext cx="379349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別の部屋で、1つの仕事だけをやる。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19150" y="3633391"/>
            <a:ext cx="3424734" cy="1147961"/>
          </a:xfrm>
          <a:prstGeom prst="roundRect">
            <a:avLst>
              <a:gd name="adj" fmla="val 14935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003300" y="3792141"/>
            <a:ext cx="3148127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会話が散らからない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003300" y="4094361"/>
            <a:ext cx="3148127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調べものは別の部屋。結果だけ戻る。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383584" y="3633391"/>
            <a:ext cx="3424833" cy="1147961"/>
          </a:xfrm>
          <a:prstGeom prst="roundRect">
            <a:avLst>
              <a:gd name="adj" fmla="val 14935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567734" y="3792141"/>
            <a:ext cx="3148229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持つ道具が決まっている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567734" y="4094361"/>
            <a:ext cx="3148229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読む・探すだけ。ファイルは書き換えない。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948116" y="3633391"/>
            <a:ext cx="3424734" cy="1147961"/>
          </a:xfrm>
          <a:prstGeom prst="roundRect">
            <a:avLst>
              <a:gd name="adj" fmla="val 14935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132266" y="3792141"/>
            <a:ext cx="3148127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指示書はファイル1つ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132266" y="4094361"/>
            <a:ext cx="3148127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6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.claude/agents/名前.md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12800" y="4965502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スキルは、自分が読む手順書。エージェントは、お願いする専門担当。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24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／ エージェント　ひみつ 13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専門担当は3人。全員、点検するだけ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1130"/>
            <a:ext cx="3407767" cy="3934520"/>
          </a:xfrm>
          <a:prstGeom prst="roundRect">
            <a:avLst>
              <a:gd name="adj" fmla="val 503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4100" y="21360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C83D"/>
          </a:solidFill>
          <a:ln/>
        </p:spPr>
      </p:sp>
      <p:pic>
        <p:nvPicPr>
          <p:cNvPr id="6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1100" y="2263080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4100" y="2834580"/>
            <a:ext cx="1905298" cy="368300"/>
          </a:xfrm>
          <a:prstGeom prst="roundRect">
            <a:avLst>
              <a:gd name="adj" fmla="val 27586"/>
            </a:avLst>
          </a:prstGeom>
          <a:solidFill>
            <a:srgbClr val="1623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idea-generator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4100" y="3291780"/>
            <a:ext cx="1296888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ヒラク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50988" y="3399730"/>
            <a:ext cx="12738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ネタ出し担当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4100" y="3743821"/>
            <a:ext cx="3026003" cy="576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思いつきから、記事ネタの切り口を複数ならべる。選ぶのは人。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4100" y="4383782"/>
            <a:ext cx="302600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道具：読む・探す・ネットで調べる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4100" y="4720332"/>
            <a:ext cx="302600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呼ぶ場面：/add-idea の中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92017" y="1901130"/>
            <a:ext cx="3407866" cy="3934520"/>
          </a:xfrm>
          <a:prstGeom prst="roundRect">
            <a:avLst>
              <a:gd name="adj" fmla="val 503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26967" y="21360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C83D"/>
          </a:solidFill>
          <a:ln/>
        </p:spPr>
      </p:sp>
      <p:pic>
        <p:nvPicPr>
          <p:cNvPr id="15" name="Image 1" descr="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3967" y="2263080"/>
            <a:ext cx="355600" cy="355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26967" y="2834580"/>
            <a:ext cx="1790998" cy="368300"/>
          </a:xfrm>
          <a:prstGeom prst="roundRect">
            <a:avLst>
              <a:gd name="adj" fmla="val 27586"/>
            </a:avLst>
          </a:prstGeom>
          <a:solidFill>
            <a:srgbClr val="1623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idea-reviewer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26967" y="3291780"/>
            <a:ext cx="1017488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🗃️ クラ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644455" y="3399730"/>
            <a:ext cx="12738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ネタ帳の門番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26967" y="3743821"/>
            <a:ext cx="3026105" cy="8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重複していないか、書けるネタか、価値があるかを審査する。落とすときは代わりの置き場所も示す。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626967" y="4659313"/>
            <a:ext cx="30261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道具：読む・探す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626967" y="4995863"/>
            <a:ext cx="30261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呼ぶ場面：/add-idea の中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964984" y="1901130"/>
            <a:ext cx="3407866" cy="3934520"/>
          </a:xfrm>
          <a:prstGeom prst="roundRect">
            <a:avLst>
              <a:gd name="adj" fmla="val 5031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199934" y="213608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FC83D"/>
          </a:solidFill>
          <a:ln/>
        </p:spPr>
      </p:sp>
      <p:pic>
        <p:nvPicPr>
          <p:cNvPr id="24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6934" y="2263080"/>
            <a:ext cx="355600" cy="355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199934" y="2834580"/>
            <a:ext cx="1790998" cy="368300"/>
          </a:xfrm>
          <a:prstGeom prst="roundRect">
            <a:avLst>
              <a:gd name="adj" fmla="val 27586"/>
            </a:avLst>
          </a:prstGeom>
          <a:solidFill>
            <a:srgbClr val="1623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post-reviewer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199934" y="3291780"/>
            <a:ext cx="1296888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🖍️ アカネ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9496822" y="3399730"/>
            <a:ext cx="8534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校閲担当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199934" y="3743821"/>
            <a:ext cx="3026105" cy="8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下書きをルールブックと照らして点検する。直す価値のある指摘だけを、直し方つきで返す。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199934" y="4659313"/>
            <a:ext cx="30261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道具：読む・探す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199934" y="4995863"/>
            <a:ext cx="30261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呼ぶ場面：/write-post の校閲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24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／ エージェント　ひみつ 14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ぜんぶつなげると、こう動く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804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ネタをためる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080121"/>
            <a:ext cx="1808460" cy="970161"/>
          </a:xfrm>
          <a:prstGeom prst="roundRect">
            <a:avLst>
              <a:gd name="adj" fmla="val 14400"/>
            </a:avLst>
          </a:prstGeom>
          <a:solidFill>
            <a:srgbClr val="2F62E6"/>
          </a:solidFill>
          <a:ln/>
        </p:spPr>
      </p:sp>
      <p:sp>
        <p:nvSpPr>
          <p:cNvPr id="6" name="Text 4"/>
          <p:cNvSpPr/>
          <p:nvPr/>
        </p:nvSpPr>
        <p:spPr>
          <a:xfrm>
            <a:off x="927100" y="2181721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7100" y="2420441"/>
            <a:ext cx="16306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思いつき</a:t>
            </a:r>
            <a:endParaRPr lang="en-US" sz="16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84760" y="2463602"/>
            <a:ext cx="254000" cy="20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02260" y="2080121"/>
            <a:ext cx="1808559" cy="970161"/>
          </a:xfrm>
          <a:prstGeom prst="roundRect">
            <a:avLst>
              <a:gd name="adj" fmla="val 14400"/>
            </a:avLst>
          </a:prstGeom>
          <a:solidFill>
            <a:srgbClr val="16233B"/>
          </a:solidFill>
          <a:ln/>
        </p:spPr>
      </p:sp>
      <p:sp>
        <p:nvSpPr>
          <p:cNvPr id="10" name="Text 7"/>
          <p:cNvSpPr/>
          <p:nvPr/>
        </p:nvSpPr>
        <p:spPr>
          <a:xfrm>
            <a:off x="3116560" y="2181721"/>
            <a:ext cx="1630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16560" y="2420441"/>
            <a:ext cx="1630759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話を聞く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16560" y="2709962"/>
            <a:ext cx="1630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🌱 タネ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4320" y="2463602"/>
            <a:ext cx="254000" cy="20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191820" y="2080121"/>
            <a:ext cx="1808460" cy="970161"/>
          </a:xfrm>
          <a:prstGeom prst="roundRect">
            <a:avLst>
              <a:gd name="adj" fmla="val 14400"/>
            </a:avLst>
          </a:prstGeom>
          <a:solidFill>
            <a:srgbClr val="FFC83D"/>
          </a:solidFill>
          <a:ln/>
        </p:spPr>
      </p:sp>
      <p:sp>
        <p:nvSpPr>
          <p:cNvPr id="15" name="Text 11"/>
          <p:cNvSpPr/>
          <p:nvPr/>
        </p:nvSpPr>
        <p:spPr>
          <a:xfrm>
            <a:off x="5306120" y="2181721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専門担当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6120" y="2420441"/>
            <a:ext cx="16306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切り口を出す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306120" y="2709962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💡 ヒラク</a:t>
            </a:r>
            <a:endParaRPr lang="en-US" sz="12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63780" y="2463602"/>
            <a:ext cx="254000" cy="203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381280" y="2080121"/>
            <a:ext cx="1808460" cy="970161"/>
          </a:xfrm>
          <a:prstGeom prst="roundRect">
            <a:avLst>
              <a:gd name="adj" fmla="val 14400"/>
            </a:avLst>
          </a:prstGeom>
          <a:solidFill>
            <a:srgbClr val="FFC83D"/>
          </a:solidFill>
          <a:ln/>
        </p:spPr>
      </p:sp>
      <p:sp>
        <p:nvSpPr>
          <p:cNvPr id="20" name="Text 15"/>
          <p:cNvSpPr/>
          <p:nvPr/>
        </p:nvSpPr>
        <p:spPr>
          <a:xfrm>
            <a:off x="7495580" y="2181721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専門担当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495580" y="2420441"/>
            <a:ext cx="16306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ネタを審査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495580" y="2709962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🗃️ クラ</a:t>
            </a:r>
            <a:endParaRPr lang="en-US" sz="1200" dirty="0"/>
          </a:p>
        </p:txBody>
      </p:sp>
      <p:pic>
        <p:nvPicPr>
          <p:cNvPr id="2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53240" y="2463602"/>
            <a:ext cx="254000" cy="2032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570740" y="2080121"/>
            <a:ext cx="1808460" cy="970161"/>
          </a:xfrm>
          <a:prstGeom prst="roundRect">
            <a:avLst>
              <a:gd name="adj" fmla="val 14400"/>
            </a:avLst>
          </a:prstGeom>
          <a:solidFill>
            <a:srgbClr val="16233B"/>
          </a:solidFill>
          <a:ln/>
        </p:spPr>
      </p:sp>
      <p:sp>
        <p:nvSpPr>
          <p:cNvPr id="25" name="Text 19"/>
          <p:cNvSpPr/>
          <p:nvPr/>
        </p:nvSpPr>
        <p:spPr>
          <a:xfrm>
            <a:off x="9685040" y="2181721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685040" y="2420441"/>
            <a:ext cx="16306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ネタ帳に追加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12800" y="321538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記事にする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12800" y="3515023"/>
            <a:ext cx="1808460" cy="970161"/>
          </a:xfrm>
          <a:prstGeom prst="roundRect">
            <a:avLst>
              <a:gd name="adj" fmla="val 14400"/>
            </a:avLst>
          </a:prstGeom>
          <a:solidFill>
            <a:srgbClr val="16233B"/>
          </a:solidFill>
          <a:ln/>
        </p:spPr>
      </p:sp>
      <p:sp>
        <p:nvSpPr>
          <p:cNvPr id="29" name="Text 23"/>
          <p:cNvSpPr/>
          <p:nvPr/>
        </p:nvSpPr>
        <p:spPr>
          <a:xfrm>
            <a:off x="927100" y="3616623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27100" y="3855343"/>
            <a:ext cx="16306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手順を始める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27100" y="4144863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✒️ ツヅル</a:t>
            </a:r>
            <a:endParaRPr lang="en-US" sz="1200" dirty="0"/>
          </a:p>
        </p:txBody>
      </p:sp>
      <p:pic>
        <p:nvPicPr>
          <p:cNvPr id="32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684760" y="3898503"/>
            <a:ext cx="254000" cy="20320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3002260" y="3515023"/>
            <a:ext cx="1808559" cy="970161"/>
          </a:xfrm>
          <a:prstGeom prst="roundRect">
            <a:avLst>
              <a:gd name="adj" fmla="val 14400"/>
            </a:avLst>
          </a:prstGeom>
          <a:solidFill>
            <a:srgbClr val="2F62E6"/>
          </a:solidFill>
          <a:ln/>
        </p:spPr>
      </p:sp>
      <p:sp>
        <p:nvSpPr>
          <p:cNvPr id="34" name="Text 27"/>
          <p:cNvSpPr/>
          <p:nvPr/>
        </p:nvSpPr>
        <p:spPr>
          <a:xfrm>
            <a:off x="3116560" y="3616623"/>
            <a:ext cx="1630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3116560" y="3855343"/>
            <a:ext cx="1630759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体験を話す</a:t>
            </a:r>
            <a:endParaRPr lang="en-US" sz="1600" dirty="0"/>
          </a:p>
        </p:txBody>
      </p:sp>
      <p:pic>
        <p:nvPicPr>
          <p:cNvPr id="36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74320" y="3898503"/>
            <a:ext cx="254000" cy="20320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191820" y="3515023"/>
            <a:ext cx="1808460" cy="970161"/>
          </a:xfrm>
          <a:prstGeom prst="roundRect">
            <a:avLst>
              <a:gd name="adj" fmla="val 14400"/>
            </a:avLst>
          </a:prstGeom>
          <a:solidFill>
            <a:srgbClr val="16233B"/>
          </a:solidFill>
          <a:ln/>
        </p:spPr>
      </p:sp>
      <p:sp>
        <p:nvSpPr>
          <p:cNvPr id="38" name="Text 30"/>
          <p:cNvSpPr/>
          <p:nvPr/>
        </p:nvSpPr>
        <p:spPr>
          <a:xfrm>
            <a:off x="5306120" y="3616623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306120" y="3855343"/>
            <a:ext cx="16306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下書きを書く</a:t>
            </a:r>
            <a:endParaRPr lang="en-US" sz="1600" dirty="0"/>
          </a:p>
        </p:txBody>
      </p:sp>
      <p:pic>
        <p:nvPicPr>
          <p:cNvPr id="40" name="Image 6" descr="arrow-righ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063780" y="3898503"/>
            <a:ext cx="254000" cy="20320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7381280" y="3515023"/>
            <a:ext cx="1808460" cy="970161"/>
          </a:xfrm>
          <a:prstGeom prst="roundRect">
            <a:avLst>
              <a:gd name="adj" fmla="val 14400"/>
            </a:avLst>
          </a:prstGeom>
          <a:solidFill>
            <a:srgbClr val="FFC83D"/>
          </a:solidFill>
          <a:ln/>
        </p:spPr>
      </p:sp>
      <p:sp>
        <p:nvSpPr>
          <p:cNvPr id="42" name="Text 33"/>
          <p:cNvSpPr/>
          <p:nvPr/>
        </p:nvSpPr>
        <p:spPr>
          <a:xfrm>
            <a:off x="7495580" y="3616623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専門担当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7495580" y="3855343"/>
            <a:ext cx="16306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校閲</a:t>
            </a:r>
            <a:endParaRPr lang="en-US" sz="1600" dirty="0"/>
          </a:p>
        </p:txBody>
      </p:sp>
      <p:sp>
        <p:nvSpPr>
          <p:cNvPr id="44" name="Text 35"/>
          <p:cNvSpPr/>
          <p:nvPr/>
        </p:nvSpPr>
        <p:spPr>
          <a:xfrm>
            <a:off x="7495580" y="4144863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33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🖍️ アカネ</a:t>
            </a:r>
            <a:endParaRPr lang="en-US" sz="1200" dirty="0"/>
          </a:p>
        </p:txBody>
      </p:sp>
      <p:pic>
        <p:nvPicPr>
          <p:cNvPr id="45" name="Image 7" descr="arrow-right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253240" y="3898503"/>
            <a:ext cx="254000" cy="20320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9570740" y="3515023"/>
            <a:ext cx="1808460" cy="970161"/>
          </a:xfrm>
          <a:prstGeom prst="roundRect">
            <a:avLst>
              <a:gd name="adj" fmla="val 14400"/>
            </a:avLst>
          </a:prstGeom>
          <a:solidFill>
            <a:srgbClr val="2F62E6"/>
          </a:solidFill>
          <a:ln/>
        </p:spPr>
      </p:sp>
      <p:sp>
        <p:nvSpPr>
          <p:cNvPr id="47" name="Text 37"/>
          <p:cNvSpPr/>
          <p:nvPr/>
        </p:nvSpPr>
        <p:spPr>
          <a:xfrm>
            <a:off x="9685040" y="3616623"/>
            <a:ext cx="16306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9685040" y="3855343"/>
            <a:ext cx="16306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直して送る</a:t>
            </a:r>
            <a:endParaRPr lang="en-US" sz="1600" dirty="0"/>
          </a:p>
        </p:txBody>
      </p:sp>
      <p:sp>
        <p:nvSpPr>
          <p:cNvPr id="49" name="Text 39"/>
          <p:cNvSpPr/>
          <p:nvPr/>
        </p:nvSpPr>
        <p:spPr>
          <a:xfrm>
            <a:off x="812800" y="4650284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どの担当も、動く前にルールブック（docs/planning）を読む。最後に決めるのは、いつも人。</a:t>
            </a:r>
            <a:endParaRPr lang="en-US" sz="1400" dirty="0"/>
          </a:p>
        </p:txBody>
      </p:sp>
      <p:sp>
        <p:nvSpPr>
          <p:cNvPr id="50" name="Text 40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24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35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738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i="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14個のひみつ、ぎゅっとまとめ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1130"/>
            <a:ext cx="10553700" cy="845741"/>
          </a:xfrm>
          <a:prstGeom prst="roundRect">
            <a:avLst>
              <a:gd name="adj" fmla="val 20272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07000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hR="254000" wR="254000" stAng="16200000" swAng="5400000"/>
                <a:lnTo>
                  <a:pt x="508000" y="254000"/>
                </a:lnTo>
                <a:arcTo hR="254000" wR="254000" stAng="0" swAng="5400000"/>
                <a:lnTo>
                  <a:pt x="254000" y="508000"/>
                </a:lnTo>
                <a:arcTo hR="254000" wR="254000" stAng="5400000" swAng="5400000"/>
                <a:lnTo>
                  <a:pt x="0" y="254000"/>
                </a:lnTo>
                <a:arcTo hR="254000" wR="2540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0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90700" y="2021780"/>
            <a:ext cx="960145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書いて送るだけ。あとはロボットが公開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90700" y="2377380"/>
            <a:ext cx="960145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組み立ても公開も、GitHub のロボットが自動でやる。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9150" y="2861171"/>
            <a:ext cx="10553700" cy="845741"/>
          </a:xfrm>
          <a:prstGeom prst="roundRect">
            <a:avLst>
              <a:gd name="adj" fmla="val 20272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9500" y="303004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hR="254000" wR="254000" stAng="16200000" swAng="5400000"/>
                <a:lnTo>
                  <a:pt x="508000" y="254000"/>
                </a:lnTo>
                <a:arcTo hR="254000" wR="254000" stAng="0" swAng="5400000"/>
                <a:lnTo>
                  <a:pt x="254000" y="508000"/>
                </a:lnTo>
                <a:arcTo hR="254000" wR="254000" stAng="5400000" swAng="5400000"/>
                <a:lnTo>
                  <a:pt x="0" y="254000"/>
                </a:lnTo>
                <a:arcTo hR="254000" wR="2540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0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90700" y="2981821"/>
            <a:ext cx="960145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ルールブックが、方針・順番・書き方を決める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90700" y="3337421"/>
            <a:ext cx="960145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AIは毎回まっさらだから、決まりごとは全部ことばにしておく。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9150" y="3821212"/>
            <a:ext cx="10553700" cy="845741"/>
          </a:xfrm>
          <a:prstGeom prst="roundRect">
            <a:avLst>
              <a:gd name="adj" fmla="val 20272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9500" y="399008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hR="254000" wR="254000" stAng="16200000" swAng="5400000"/>
                <a:lnTo>
                  <a:pt x="508000" y="254000"/>
                </a:lnTo>
                <a:arcTo hR="254000" wR="254000" stAng="0" swAng="5400000"/>
                <a:lnTo>
                  <a:pt x="254000" y="508000"/>
                </a:lnTo>
                <a:arcTo hR="254000" wR="254000" stAng="5400000" swAng="5400000"/>
                <a:lnTo>
                  <a:pt x="0" y="254000"/>
                </a:lnTo>
                <a:arcTo hR="254000" wR="2540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0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90700" y="3941862"/>
            <a:ext cx="960145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スキルは、AIに渡す手順書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90700" y="4297462"/>
            <a:ext cx="960145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/write-post など、名前を呼ぶだけで同じ進め方になる。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9150" y="4781252"/>
            <a:ext cx="10553700" cy="845741"/>
          </a:xfrm>
          <a:prstGeom prst="roundRect">
            <a:avLst>
              <a:gd name="adj" fmla="val 20272"/>
            </a:avLst>
          </a:prstGeom>
          <a:solidFill>
            <a:srgbClr val="FBFCFE"/>
          </a:solidFill>
          <a:ln w="12700">
            <a:solidFill>
              <a:srgbClr val="D3DB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9500" y="495012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arcTo hR="254000" wR="254000" stAng="16200000" swAng="5400000"/>
                <a:lnTo>
                  <a:pt x="508000" y="254000"/>
                </a:lnTo>
                <a:arcTo hR="254000" wR="254000" stAng="0" swAng="5400000"/>
                <a:lnTo>
                  <a:pt x="254000" y="508000"/>
                </a:lnTo>
                <a:arcTo hR="254000" wR="254000" stAng="5400000" swAng="5400000"/>
                <a:lnTo>
                  <a:pt x="0" y="254000"/>
                </a:lnTo>
                <a:arcTo hR="254000" wR="254000" stAng="10800000" swAng="5400000"/>
                <a:close/>
              </a:path>
            </a:pathLst>
          </a:custGeom>
          <a:solidFill>
            <a:srgbClr val="2F62E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0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90700" y="4901902"/>
            <a:ext cx="9601454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エージェントは、点検する専門担当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90700" y="5257502"/>
            <a:ext cx="960145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指摘するだけ。最後に決めるのは、いつも人。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明日使える生成AI ／ ブログのひみつ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24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52439"/>
            <a:ext cx="7050659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spc="100" kern="0" dirty="0">
                <a:solidFill>
                  <a:srgbClr val="86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ぜひ、読みにきてください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53680"/>
            <a:ext cx="7050659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i="0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明日使える</a:t>
            </a:r>
            <a:endParaRPr lang="en-US" sz="4400" dirty="0"/>
          </a:p>
          <a:p>
            <a:pPr algn="l" indent="0" marL="0">
              <a:lnSpc>
                <a:spcPts val="5500"/>
              </a:lnSpc>
              <a:buNone/>
            </a:pPr>
            <a:r>
              <a:rPr lang="en-US" sz="4400" b="1" i="0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028480"/>
            <a:ext cx="7050659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4F7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スマホでQRコードを読みとると、ブログが開きます。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4480520"/>
            <a:ext cx="7050659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86A8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raindrop-aqua.github.io/blog-ap-sys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67700" y="1873250"/>
            <a:ext cx="3111500" cy="31115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</p:spPr>
      </p:sp>
      <p:pic>
        <p:nvPicPr>
          <p:cNvPr id="7" name="Image 0" descr="ブログ https://raindrop-aqua.github.io/blog-ap-sys/ を開くQRコード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21700" y="2127250"/>
            <a:ext cx="2603500" cy="260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ブログのひみつ（仕組みと運営）">
  <a:themeElements>
    <a:clrScheme name="ブログのひみつ（仕組みと運営）">
      <a:dk1>
        <a:srgbClr val="16233B"/>
      </a:dk1>
      <a:lt1>
        <a:srgbClr val="F4F7FC"/>
      </a:lt1>
      <a:dk2>
        <a:srgbClr val="4E586B"/>
      </a:dk2>
      <a:lt2>
        <a:srgbClr val="DEE2E9"/>
      </a:lt2>
      <a:accent1>
        <a:srgbClr val="56647E"/>
      </a:accent1>
      <a:accent2>
        <a:srgbClr val="2350C9"/>
      </a:accent2>
      <a:accent3>
        <a:srgbClr val="2F62E6"/>
      </a:accent3>
      <a:accent4>
        <a:srgbClr val="FFC83D"/>
      </a:accent4>
      <a:accent5>
        <a:srgbClr val="A9B6D0"/>
      </a:accent5>
      <a:accent6>
        <a:srgbClr val="86A8FF"/>
      </a:accent6>
      <a:hlink>
        <a:srgbClr val="0563C1"/>
      </a:hlink>
      <a:folHlink>
        <a:srgbClr val="954F72"/>
      </a:folHlink>
    </a:clrScheme>
    <a:fontScheme name="ブログのひみつ（仕組みと運営）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ブログのひみつ（仕組みと運営）</dc:title>
  <dc:subject/>
  <dc:creator/>
  <cp:lastModifiedBy/>
  <cp:revision>1</cp:revision>
  <dcterms:created xsi:type="dcterms:W3CDTF">2026-10-27T12:58:55Z</dcterms:created>
  <dcterms:modified xsi:type="dcterms:W3CDTF">2026-10-27T12:58:55Z</dcterms:modified>
</cp:coreProperties>
</file>