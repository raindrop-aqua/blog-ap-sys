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はじめに自己紹介。このブログ「明日使える生成AI」は、ふつうのブログサービスにある『投稿ボタン』がありません。文章のファイルを置いて送るだけで、ロボットがサイトを作って公開してくれます。今日はそのしくみを、中学生でもわかる言葉で説明します。特にAIの話は、いつもより丁寧にや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全体は3つのパートです。1つ目はブログそのものの仕組み。2つ目がAIの仕組みで、今日の一番のメインです。3つ目は、その2つがどう組み合わさってこのブログができているか。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の仕組みを一言でいうと、書く、送る、そのあとは自動、です。人がやるのは最初の2つだけ。黄色い部分はロボットが担当します。この4つがそれぞれ何をしているのかを、次のスライドから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登場する場所は5つ。1つ目は自分のパソコンで、文章を書く。2つ目はGitHubという、ファイルを預かってくれるネット上の倉庫。ここに送ることを『push』といいます。3つ目がGitHub Actionsで、倉庫に荷物が届くと自動で目を覚ますロボット。4つ目がGitHub Pagesで、完成したサイトを公開する店先。最後に読者のブラウザに表示されます。黄色いカードの2つが、人が何もしなくても動く部分です。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記事1本はファイル1つです。WordやSNSの投稿画面は使いません。ファイル名には公開する日付と英語のタイトルを付けます。ファイルの上の部分は『名札』と呼ばれる部分で、タイトルや日付、カテゴリーを書きます。下は本文で、記号を付けるだけで見出しや箇条書きが作れます。この書き方をMarkdown、マークダウンといいます。注意点として、ファイル名の日付が未来だと、その記事は公開され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ページの正体はHTMLというファイルです。でも記事ごとに手でHTMLを書くのは大変なので、Jekyllという機械にまかせています。材料は3つ。自分で書いた記事、借りてきたデザイン、設定のメモ。この3つを入れると、記事の数だけHTMLのページができます。デザインはChirpyという公開されているテーマを使っているので、全部の記事が同じ見た目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プロジェクトには、記事以外にも企画メモやAI向けの説明書が入っています。これがうっかりネットに出たら困ります。そこで、『これは出さない』という禁止リストを作るのではなく、『siteフォルダの中だけを材料にする』と、許可する範囲を1つだけ決めています。リストへの書き忘れが起きないので、事故がしくみで防げます。ちなみに、書きかけの記事を入れるdraftsフォルダは、本番のビルドには入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した瞬間に世界に公開されるので、その前に自分のパソコンの中でサイトを動かして確認します。コンテナというのは、パソコンの中に作る小さなお試し用の部屋で、その中でJekyllが動きます。保存するたびに自動で作り直されるので、書きながら見た目を確認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ここからがメインのAIの話です。ブログを書くとき、私はClaudeというAIに手伝ってもらっています。そのAIが、中で何をしているのか。難しい数式は使わずに、たとえ話で説明します。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生成AIとは何かを、検索エンジンと比べて説明します。検索エンジンは、すでに存在するページを探して見せてくれます。生成AIは、こちらの質問に合わせて、文章をその場で作り出します。同じ質問をしても、毎回少しずつ違う文章が出るのはそのためです。ChatGPT、Claude、Geminiなどがこの仲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成AIの中身を一言でいうと、次に来ることばを予想する機械です。スマホで文字を打つと、次の候補が出る予測変換がありますよね。あれをとてつもなく大きくしたものだと思ってください。『明日の天気は、』の続きは、晴れが一番ありそう、曇りも、雨もある、というふうにAIは数字で並べます。ここの数字はイメージです。いつも一番の候補を選ぶわけではなく、ときどき別の候補も選ぶので、同じ質問でも毎回少し違う答え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次のことばを1つ予想して、それを文章の最後にくっつけます。そして、くっつけた文章全体をもう一度読んで、また次のことばを予想します。これを何百回もくりかえして、長い文章ができあがります。人間が文章を書くときのように、最初から全体を考えているわけではなく、1語ずつ書き足しているのです。黄色い部分が、その回に足されたこと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私たちのように文字をそのまま読んでいるわけではありません。文章をトークンという、ことばのかたまりに区切って、それぞれに番号を付けて計算します。区切り方はAIごとに違い、ここの番号もイメージです。大事なのは、AIが一度に読める量や、利用料金が、このトークンの数で決まるということです。後で出てくる、AIの弱点の話にも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学び方は3段階です。まず、本やWebにある大量の文章を読み、文章の一部を隠して次のことばを当てる練習を何度もくりかえします。これが一番大きな学習です。次に、人がお手本を見せたり、よい答えに点数を付けたりして、役に立つ答え方を教えます。最後に、私たちが質問して使う段階です。つまりAIは、意味を人間と同じように理解しているかどうかは別として、ことばの並びのパターンを、人間が一生かけても読めない量から身につけている、とい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中身を、もう少しだけのぞいてみます。予想を行っているのは、ニューラルネットワークと呼ばれる計算のしくみです。脳の神経細胞のつながりをヒントにしています。丸が小さな計算の部品、線がつなぎ目で、つなぎ目には強さを表す数字が付いています。予想が外れたら、この数字を少しだけ直す。これをものすごい回数くりかえすのが学習です。学習が終わったAIの頭の中は、大きなモデルだと何十億から何千億個以上の数字の表です。ちなみに、AIの中に文章や画像がそのまま保存されているわけ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出す指示のことをプロンプトといいます。AIは次のことばを予想する機械なので、指示がうすいと、ふつうの文章を予想するしかありません。だれに向けて、どのくらいの長さで、何を入れて、と条件を足すほど、次のことばの候補がしぼられて、ねらった文章に近づきます。このブログにはプロンプト設計というカテゴリーがあって、この書き方を扱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も苦手なことが3つあります。1つ目はもっともらしい嘘です。次のことばを予想して書くので、知らないことでも自然な文章で書いてしまいます。ハルシネーションと呼ばれます。2つ目は最新のことを知らないこと。学習した時点までの知識しかありません。ただし検索ツールとつなぐと補えます。3つ目は、一度に覚えていられる量に限りがあること。長い会話の最初のほうを忘れることがあります。だから、AIの答えは人が確かめる、というのが大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ふつうのチャットAIは、質問に答えるところまでです。AIエージェントは、道具を使って、作業をやりとげるところまで進みます。目的を受け取り、考えて計画し、ファイルを読んだり書いたりコマンドを実行したりする道具を使い、結果を見て次の手を決める。うまくいくまでこれをくりかえします。このブログの手伝いをしているClaude Codeは、このAIエージェントのひとつで、私のパソコンの中でファイルを直接読み書きします。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には、記事の作り方の決まりがあります。ルールは3冊のルールブックにまとめてあって、これは人が決めます。作業のほうは、AIに手順書を渡して手伝ってもらっています。ネタを足す、下書きを書く、ルールブックに照らして点検する、記事の上に載せる図解を作る、といった助っ人が用意してあります。AIは、ルールブックを毎回読み直して、その決まりに沿って動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記事ができるまでは6ステップです。1つ目のネタ出しは、AIが切り口をいくつも出してくれます。2つ目が大事で、私が自分の体験を話します。3つ目でAIが下書きを作り、4つ目で別のAI、校閲担当のアカネがルールブックに照らして点検し、5つ目で図解を作ります。そして6つ目、pushして公開するのは人です。黄色い2つが人の仕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の方針です。AIに聞けば出てくる答えは載せません。載せるのは、実際にやってみた体験、失敗も含めて。同じ現場で働く人の視点。そして、最初に何を学んで何を後回しにするかという選び方。この3つのどれかが入っていない記事は、書く意味が薄いと考えています。だから助っ人のAIは、まず私に体験をたずねて、それを文章の形に整える役を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1つ目、このブログは人が書いて送るだけで、あとは自動で公開されます。2つ目、AIは次のことばを予想する機械で、大量の文章から学んだパターンで1語ずつ書き足します。もっともらしい嘘も書くので、人が確かめます。3つ目、AIは助っ人で、体験を書くのは人。AIに任せる部分と人にしかできない部分を分けると、いい記事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最後まで聞いてくださってありがとうございます。右のQRコードを読みとると、このブログが開きます。書いている記事は、実際にAIを使ってみた体験がベースです。ぜひ読みに来てください。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823200" y="1270000"/>
            <a:ext cx="3556000" cy="3556000"/>
          </a:xfrm>
          <a:prstGeom prst="rect">
            <a:avLst/>
          </a:prstGeom>
        </p:spPr>
      </p:pic>
      <p:pic>
        <p:nvPicPr>
          <p:cNvPr id="3" name="Image 1" descr="ellipse">    </p:cNvPr>
          <p:cNvPicPr>
            <a:picLocks noChangeAspect="1"/>
          </p:cNvPicPr>
          <p:nvPr/>
        </p:nvPicPr>
        <p:blipFill>
          <a:blip r:embed="rId2"/>
          <a:srcRect l="0" r="0" t="0" b="0"/>
          <a:stretch/>
        </p:blipFill>
        <p:spPr>
          <a:xfrm>
            <a:off x="9855200" y="4064000"/>
            <a:ext cx="1270000" cy="1270000"/>
          </a:xfrm>
          <a:prstGeom prst="rect">
            <a:avLst/>
          </a:prstGeom>
        </p:spPr>
      </p:pic>
      <p:sp>
        <p:nvSpPr>
          <p:cNvPr id="4" name="Text 0"/>
          <p:cNvSpPr/>
          <p:nvPr/>
        </p:nvSpPr>
        <p:spPr>
          <a:xfrm>
            <a:off x="812800" y="2034580"/>
            <a:ext cx="7194550" cy="350441"/>
          </a:xfrm>
          <a:prstGeom prst="rect">
            <a:avLst/>
          </a:prstGeom>
          <a:noFill/>
          <a:ln/>
        </p:spPr>
        <p:txBody>
          <a:bodyPr wrap="square" lIns="0" tIns="0" rIns="0" bIns="0" rtlCol="0" anchor="t">
            <a:normAutofit/>
          </a:bodyPr>
          <a:lstStyle/>
          <a:p>
            <a:pPr algn="l" indent="0" marL="0">
              <a:lnSpc>
                <a:spcPts val="2560"/>
              </a:lnSpc>
              <a:buNone/>
            </a:pPr>
            <a:r>
              <a:rPr lang="en-US" sz="1600" b="1" spc="100" kern="0" dirty="0">
                <a:solidFill>
                  <a:srgbClr val="86A8FF"/>
                </a:solidFill>
                <a:latin typeface="BIZ UDPGothic" pitchFamily="34" charset="0"/>
                <a:ea typeface="BIZ UDPGothic" pitchFamily="34" charset="-122"/>
                <a:cs typeface="BIZ UDPGothic" pitchFamily="34" charset="-120"/>
              </a:rPr>
              <a:t>「明日使える生成AI」ブログのひみつ</a:t>
            </a:r>
            <a:endParaRPr lang="en-US" sz="1600" dirty="0"/>
          </a:p>
        </p:txBody>
      </p:sp>
      <p:sp>
        <p:nvSpPr>
          <p:cNvPr id="5" name="Text 1"/>
          <p:cNvSpPr/>
          <p:nvPr/>
        </p:nvSpPr>
        <p:spPr>
          <a:xfrm>
            <a:off x="812800" y="2512020"/>
            <a:ext cx="7194550" cy="1422400"/>
          </a:xfrm>
          <a:prstGeom prst="rect">
            <a:avLst/>
          </a:prstGeom>
          <a:noFill/>
          <a:ln/>
        </p:spPr>
        <p:txBody>
          <a:bodyPr wrap="square" lIns="0" tIns="0" rIns="0" bIns="0" rtlCol="0" anchor="t">
            <a:normAutofit/>
          </a:bodyPr>
          <a:lstStyle/>
          <a:p>
            <a:pPr algn="l" indent="0" marL="0">
              <a:lnSpc>
                <a:spcPts val="5500"/>
              </a:lnSpc>
              <a:buNone/>
            </a:pPr>
            <a:r>
              <a:rPr lang="en-US" sz="4400" b="1" dirty="0">
                <a:solidFill>
                  <a:srgbClr val="F4F7FC"/>
                </a:solidFill>
                <a:latin typeface="Zen Maru Gothic" pitchFamily="34" charset="0"/>
                <a:ea typeface="Zen Maru Gothic" pitchFamily="34" charset="-122"/>
                <a:cs typeface="Zen Maru Gothic" pitchFamily="34" charset="-120"/>
              </a:rPr>
              <a:t>文章を書いて送ると、</a:t>
            </a:r>
            <a:endParaRPr lang="en-US" sz="4400" dirty="0"/>
          </a:p>
          <a:p>
            <a:pPr algn="l" indent="0" marL="0">
              <a:lnSpc>
                <a:spcPts val="5500"/>
              </a:lnSpc>
              <a:buNone/>
            </a:pPr>
            <a:r>
              <a:rPr lang="en-US" sz="4400" b="1" dirty="0">
                <a:solidFill>
                  <a:srgbClr val="FFC83D"/>
                </a:solidFill>
                <a:latin typeface="Zen Maru Gothic" pitchFamily="34" charset="0"/>
                <a:ea typeface="Zen Maru Gothic" pitchFamily="34" charset="-122"/>
                <a:cs typeface="Zen Maru Gothic" pitchFamily="34" charset="-120"/>
              </a:rPr>
              <a:t>自動でWebサイト</a:t>
            </a:r>
            <a:r>
              <a:rPr lang="en-US" sz="4400" b="1" dirty="0">
                <a:solidFill>
                  <a:srgbClr val="F4F7FC"/>
                </a:solidFill>
                <a:latin typeface="Zen Maru Gothic" pitchFamily="34" charset="0"/>
                <a:ea typeface="Zen Maru Gothic" pitchFamily="34" charset="-122"/>
                <a:cs typeface="Zen Maru Gothic" pitchFamily="34" charset="-120"/>
              </a:rPr>
              <a:t>になる</a:t>
            </a:r>
            <a:endParaRPr lang="en-US" sz="4400" dirty="0"/>
          </a:p>
        </p:txBody>
      </p:sp>
      <p:sp>
        <p:nvSpPr>
          <p:cNvPr id="6" name="Text 2"/>
          <p:cNvSpPr/>
          <p:nvPr/>
        </p:nvSpPr>
        <p:spPr>
          <a:xfrm>
            <a:off x="812800" y="4213820"/>
            <a:ext cx="7194550" cy="431800"/>
          </a:xfrm>
          <a:prstGeom prst="rect">
            <a:avLst/>
          </a:prstGeom>
          <a:noFill/>
          <a:ln/>
        </p:spPr>
        <p:txBody>
          <a:bodyPr wrap="square" lIns="0" tIns="0" rIns="0" bIns="0" rtlCol="0" anchor="t">
            <a:normAutofit/>
          </a:bodyPr>
          <a:lstStyle/>
          <a:p>
            <a:pPr algn="l" indent="0" marL="0">
              <a:lnSpc>
                <a:spcPts val="3200"/>
              </a:lnSpc>
              <a:buNone/>
            </a:pPr>
            <a:r>
              <a:rPr lang="en-US" sz="2000" dirty="0">
                <a:solidFill>
                  <a:srgbClr val="F4F7FC"/>
                </a:solidFill>
                <a:latin typeface="BIZ UDPGothic" pitchFamily="34" charset="0"/>
                <a:ea typeface="BIZ UDPGothic" pitchFamily="34" charset="-122"/>
                <a:cs typeface="BIZ UDPGothic" pitchFamily="34" charset="-120"/>
              </a:rPr>
              <a:t>ブログのしくみと、その中で働くAIのしくみ</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AGENDA</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今日の流れ</a:t>
            </a:r>
            <a:endParaRPr lang="en-US" sz="3200" dirty="0"/>
          </a:p>
        </p:txBody>
      </p:sp>
      <p:sp>
        <p:nvSpPr>
          <p:cNvPr id="4" name="Shape 2"/>
          <p:cNvSpPr/>
          <p:nvPr/>
        </p:nvSpPr>
        <p:spPr>
          <a:xfrm>
            <a:off x="819150" y="1901130"/>
            <a:ext cx="3356967" cy="3934520"/>
          </a:xfrm>
          <a:prstGeom prst="roundRect">
            <a:avLst>
              <a:gd name="adj" fmla="val 5107"/>
            </a:avLst>
          </a:prstGeom>
          <a:solidFill>
            <a:srgbClr val="FBFCFE"/>
          </a:solidFill>
          <a:ln w="12700">
            <a:solidFill>
              <a:srgbClr val="FBFCFE"/>
            </a:solidFill>
            <a:prstDash val="solid"/>
          </a:ln>
        </p:spPr>
      </p:sp>
      <p:sp>
        <p:nvSpPr>
          <p:cNvPr id="5" name="Text 3"/>
          <p:cNvSpPr/>
          <p:nvPr/>
        </p:nvSpPr>
        <p:spPr>
          <a:xfrm>
            <a:off x="1104900" y="2186880"/>
            <a:ext cx="28690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350C9"/>
                </a:solidFill>
                <a:latin typeface="Zen Maru Gothic" pitchFamily="34" charset="0"/>
                <a:ea typeface="Zen Maru Gothic" pitchFamily="34" charset="-122"/>
                <a:cs typeface="Zen Maru Gothic" pitchFamily="34" charset="-120"/>
              </a:rPr>
              <a:t>1</a:t>
            </a:r>
            <a:endParaRPr lang="en-US" sz="4800" dirty="0"/>
          </a:p>
        </p:txBody>
      </p:sp>
      <p:sp>
        <p:nvSpPr>
          <p:cNvPr id="6" name="Text 4"/>
          <p:cNvSpPr/>
          <p:nvPr/>
        </p:nvSpPr>
        <p:spPr>
          <a:xfrm>
            <a:off x="1104900" y="2898080"/>
            <a:ext cx="2869031"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2350C9"/>
                </a:solidFill>
                <a:latin typeface="Zen Maru Gothic" pitchFamily="34" charset="0"/>
                <a:ea typeface="Zen Maru Gothic" pitchFamily="34" charset="-122"/>
                <a:cs typeface="Zen Maru Gothic" pitchFamily="34" charset="-120"/>
              </a:rPr>
              <a:t>ブログのしくみ</a:t>
            </a:r>
            <a:endParaRPr lang="en-US" sz="2200" dirty="0"/>
          </a:p>
        </p:txBody>
      </p:sp>
      <p:sp>
        <p:nvSpPr>
          <p:cNvPr id="7" name="Text 5"/>
          <p:cNvSpPr/>
          <p:nvPr/>
        </p:nvSpPr>
        <p:spPr>
          <a:xfrm>
            <a:off x="1104900" y="3413621"/>
            <a:ext cx="2869031"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書いた文章が、どうやってWebサイトになるのか</a:t>
            </a:r>
            <a:endParaRPr lang="en-US" sz="1400" dirty="0"/>
          </a:p>
        </p:txBody>
      </p:sp>
      <p:sp>
        <p:nvSpPr>
          <p:cNvPr id="8" name="Shape 6"/>
          <p:cNvSpPr/>
          <p:nvPr/>
        </p:nvSpPr>
        <p:spPr>
          <a:xfrm>
            <a:off x="4417417" y="1901130"/>
            <a:ext cx="3357066" cy="3934520"/>
          </a:xfrm>
          <a:prstGeom prst="roundRect">
            <a:avLst>
              <a:gd name="adj" fmla="val 5107"/>
            </a:avLst>
          </a:prstGeom>
          <a:solidFill>
            <a:srgbClr val="2F62E6"/>
          </a:solidFill>
          <a:ln w="12700">
            <a:solidFill>
              <a:srgbClr val="2F62E6"/>
            </a:solidFill>
            <a:prstDash val="solid"/>
          </a:ln>
        </p:spPr>
      </p:sp>
      <p:sp>
        <p:nvSpPr>
          <p:cNvPr id="9" name="Text 7"/>
          <p:cNvSpPr/>
          <p:nvPr/>
        </p:nvSpPr>
        <p:spPr>
          <a:xfrm>
            <a:off x="4703167" y="2186880"/>
            <a:ext cx="28691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FFFF"/>
                </a:solidFill>
                <a:latin typeface="Zen Maru Gothic" pitchFamily="34" charset="0"/>
                <a:ea typeface="Zen Maru Gothic" pitchFamily="34" charset="-122"/>
                <a:cs typeface="Zen Maru Gothic" pitchFamily="34" charset="-120"/>
              </a:rPr>
              <a:t>2</a:t>
            </a:r>
            <a:endParaRPr lang="en-US" sz="4800" dirty="0"/>
          </a:p>
        </p:txBody>
      </p:sp>
      <p:sp>
        <p:nvSpPr>
          <p:cNvPr id="10" name="Text 8"/>
          <p:cNvSpPr/>
          <p:nvPr/>
        </p:nvSpPr>
        <p:spPr>
          <a:xfrm>
            <a:off x="4703167" y="2898080"/>
            <a:ext cx="2869133"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AIのしくみ</a:t>
            </a:r>
            <a:endParaRPr lang="en-US" sz="2200" dirty="0"/>
          </a:p>
        </p:txBody>
      </p:sp>
      <p:sp>
        <p:nvSpPr>
          <p:cNvPr id="11" name="Text 9"/>
          <p:cNvSpPr/>
          <p:nvPr/>
        </p:nvSpPr>
        <p:spPr>
          <a:xfrm>
            <a:off x="4703167" y="3413621"/>
            <a:ext cx="2869133"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生成AIは中で何をしているのか。ここを一番くわしく</a:t>
            </a:r>
            <a:endParaRPr lang="en-US" sz="1400" dirty="0"/>
          </a:p>
        </p:txBody>
      </p:sp>
      <p:sp>
        <p:nvSpPr>
          <p:cNvPr id="12" name="Shape 10"/>
          <p:cNvSpPr/>
          <p:nvPr/>
        </p:nvSpPr>
        <p:spPr>
          <a:xfrm>
            <a:off x="8015784" y="1901130"/>
            <a:ext cx="3357066" cy="3934520"/>
          </a:xfrm>
          <a:prstGeom prst="roundRect">
            <a:avLst>
              <a:gd name="adj" fmla="val 5107"/>
            </a:avLst>
          </a:prstGeom>
          <a:solidFill>
            <a:srgbClr val="FBFCFE"/>
          </a:solidFill>
          <a:ln w="12700">
            <a:solidFill>
              <a:srgbClr val="FBFCFE"/>
            </a:solidFill>
            <a:prstDash val="solid"/>
          </a:ln>
        </p:spPr>
      </p:sp>
      <p:sp>
        <p:nvSpPr>
          <p:cNvPr id="13" name="Text 11"/>
          <p:cNvSpPr/>
          <p:nvPr/>
        </p:nvSpPr>
        <p:spPr>
          <a:xfrm>
            <a:off x="8301534" y="2186880"/>
            <a:ext cx="28691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350C9"/>
                </a:solidFill>
                <a:latin typeface="Zen Maru Gothic" pitchFamily="34" charset="0"/>
                <a:ea typeface="Zen Maru Gothic" pitchFamily="34" charset="-122"/>
                <a:cs typeface="Zen Maru Gothic" pitchFamily="34" charset="-120"/>
              </a:rPr>
              <a:t>3</a:t>
            </a:r>
            <a:endParaRPr lang="en-US" sz="4800" dirty="0"/>
          </a:p>
        </p:txBody>
      </p:sp>
      <p:sp>
        <p:nvSpPr>
          <p:cNvPr id="14" name="Text 12"/>
          <p:cNvSpPr/>
          <p:nvPr/>
        </p:nvSpPr>
        <p:spPr>
          <a:xfrm>
            <a:off x="8301534" y="2898080"/>
            <a:ext cx="2869133"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2350C9"/>
                </a:solidFill>
                <a:latin typeface="Zen Maru Gothic" pitchFamily="34" charset="0"/>
                <a:ea typeface="Zen Maru Gothic" pitchFamily="34" charset="-122"/>
                <a:cs typeface="Zen Maru Gothic" pitchFamily="34" charset="-120"/>
              </a:rPr>
              <a:t>AIとブログ</a:t>
            </a:r>
            <a:endParaRPr lang="en-US" sz="2200" dirty="0"/>
          </a:p>
        </p:txBody>
      </p:sp>
      <p:sp>
        <p:nvSpPr>
          <p:cNvPr id="15" name="Text 13"/>
          <p:cNvSpPr/>
          <p:nvPr/>
        </p:nvSpPr>
        <p:spPr>
          <a:xfrm>
            <a:off x="8301534" y="3413621"/>
            <a:ext cx="2869133"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AIに任せる部分と、人にしかできない部分</a:t>
            </a:r>
            <a:endParaRPr lang="en-US" sz="14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7"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02 / 23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全体像：人がやるのは2つだけ</a:t>
            </a:r>
            <a:endParaRPr lang="en-US" sz="3200" dirty="0"/>
          </a:p>
        </p:txBody>
      </p:sp>
      <p:sp>
        <p:nvSpPr>
          <p:cNvPr id="4" name="Shape 2"/>
          <p:cNvSpPr/>
          <p:nvPr/>
        </p:nvSpPr>
        <p:spPr>
          <a:xfrm>
            <a:off x="812800" y="1894780"/>
            <a:ext cx="2184400" cy="1285081"/>
          </a:xfrm>
          <a:prstGeom prst="roundRect">
            <a:avLst>
              <a:gd name="adj" fmla="val 15812"/>
            </a:avLst>
          </a:prstGeom>
          <a:solidFill>
            <a:srgbClr val="2F62E6"/>
          </a:solidFill>
          <a:ln/>
        </p:spPr>
      </p:sp>
      <p:sp>
        <p:nvSpPr>
          <p:cNvPr id="5" name="Text 3"/>
          <p:cNvSpPr/>
          <p:nvPr/>
        </p:nvSpPr>
        <p:spPr>
          <a:xfrm>
            <a:off x="884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書く</a:t>
            </a:r>
            <a:endParaRPr lang="en-US" sz="2200" dirty="0"/>
          </a:p>
        </p:txBody>
      </p:sp>
      <p:pic>
        <p:nvPicPr>
          <p:cNvPr id="6" name="Image 0" descr="arrow-right">    </p:cNvPr>
          <p:cNvPicPr>
            <a:picLocks noChangeAspect="1"/>
          </p:cNvPicPr>
          <p:nvPr/>
        </p:nvPicPr>
        <p:blipFill>
          <a:blip r:embed="rId1"/>
          <a:srcRect l="0" r="0" t="0" b="0"/>
          <a:stretch/>
        </p:blipFill>
        <p:spPr>
          <a:xfrm>
            <a:off x="3124200" y="2435721"/>
            <a:ext cx="355600" cy="203200"/>
          </a:xfrm>
          <a:prstGeom prst="rect">
            <a:avLst/>
          </a:prstGeom>
        </p:spPr>
      </p:pic>
      <p:sp>
        <p:nvSpPr>
          <p:cNvPr id="7" name="Shape 4"/>
          <p:cNvSpPr/>
          <p:nvPr/>
        </p:nvSpPr>
        <p:spPr>
          <a:xfrm>
            <a:off x="3606800" y="1894780"/>
            <a:ext cx="2184400" cy="1285081"/>
          </a:xfrm>
          <a:prstGeom prst="roundRect">
            <a:avLst>
              <a:gd name="adj" fmla="val 15812"/>
            </a:avLst>
          </a:prstGeom>
          <a:solidFill>
            <a:srgbClr val="2F62E6"/>
          </a:solidFill>
          <a:ln/>
        </p:spPr>
      </p:sp>
      <p:sp>
        <p:nvSpPr>
          <p:cNvPr id="8" name="Text 5"/>
          <p:cNvSpPr/>
          <p:nvPr/>
        </p:nvSpPr>
        <p:spPr>
          <a:xfrm>
            <a:off x="3678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送る</a:t>
            </a:r>
            <a:endParaRPr lang="en-US" sz="2200" dirty="0"/>
          </a:p>
        </p:txBody>
      </p:sp>
      <p:pic>
        <p:nvPicPr>
          <p:cNvPr id="9" name="Image 1" descr="arrow-right">    </p:cNvPr>
          <p:cNvPicPr>
            <a:picLocks noChangeAspect="1"/>
          </p:cNvPicPr>
          <p:nvPr/>
        </p:nvPicPr>
        <p:blipFill>
          <a:blip r:embed="rId2"/>
          <a:srcRect l="0" r="0" t="0" b="0"/>
          <a:stretch/>
        </p:blipFill>
        <p:spPr>
          <a:xfrm>
            <a:off x="5918200" y="2435721"/>
            <a:ext cx="355600" cy="203200"/>
          </a:xfrm>
          <a:prstGeom prst="rect">
            <a:avLst/>
          </a:prstGeom>
        </p:spPr>
      </p:pic>
      <p:sp>
        <p:nvSpPr>
          <p:cNvPr id="10" name="Shape 6"/>
          <p:cNvSpPr/>
          <p:nvPr/>
        </p:nvSpPr>
        <p:spPr>
          <a:xfrm>
            <a:off x="6400800" y="1894780"/>
            <a:ext cx="2184400" cy="1285081"/>
          </a:xfrm>
          <a:prstGeom prst="roundRect">
            <a:avLst>
              <a:gd name="adj" fmla="val 15812"/>
            </a:avLst>
          </a:prstGeom>
          <a:solidFill>
            <a:srgbClr val="FFC83D"/>
          </a:solidFill>
          <a:ln/>
        </p:spPr>
      </p:sp>
      <p:sp>
        <p:nvSpPr>
          <p:cNvPr id="11" name="Text 7"/>
          <p:cNvSpPr/>
          <p:nvPr/>
        </p:nvSpPr>
        <p:spPr>
          <a:xfrm>
            <a:off x="6472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自動で</a:t>
            </a:r>
            <a:endParaRPr lang="en-US" sz="2200" dirty="0"/>
          </a:p>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組み立てる</a:t>
            </a:r>
            <a:endParaRPr lang="en-US" sz="2200" dirty="0"/>
          </a:p>
        </p:txBody>
      </p:sp>
      <p:pic>
        <p:nvPicPr>
          <p:cNvPr id="12" name="Image 2" descr="arrow-right">    </p:cNvPr>
          <p:cNvPicPr>
            <a:picLocks noChangeAspect="1"/>
          </p:cNvPicPr>
          <p:nvPr/>
        </p:nvPicPr>
        <p:blipFill>
          <a:blip r:embed="rId3"/>
          <a:srcRect l="0" r="0" t="0" b="0"/>
          <a:stretch/>
        </p:blipFill>
        <p:spPr>
          <a:xfrm>
            <a:off x="8712200" y="2435721"/>
            <a:ext cx="355600" cy="203200"/>
          </a:xfrm>
          <a:prstGeom prst="rect">
            <a:avLst/>
          </a:prstGeom>
        </p:spPr>
      </p:pic>
      <p:sp>
        <p:nvSpPr>
          <p:cNvPr id="13" name="Shape 8"/>
          <p:cNvSpPr/>
          <p:nvPr/>
        </p:nvSpPr>
        <p:spPr>
          <a:xfrm>
            <a:off x="9194800" y="1894780"/>
            <a:ext cx="2184400" cy="1285081"/>
          </a:xfrm>
          <a:prstGeom prst="roundRect">
            <a:avLst>
              <a:gd name="adj" fmla="val 15812"/>
            </a:avLst>
          </a:prstGeom>
          <a:solidFill>
            <a:srgbClr val="FFC83D"/>
          </a:solidFill>
          <a:ln/>
        </p:spPr>
      </p:sp>
      <p:sp>
        <p:nvSpPr>
          <p:cNvPr id="14" name="Text 9"/>
          <p:cNvSpPr/>
          <p:nvPr/>
        </p:nvSpPr>
        <p:spPr>
          <a:xfrm>
            <a:off x="9266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自動で</a:t>
            </a:r>
            <a:endParaRPr lang="en-US" sz="2200" dirty="0"/>
          </a:p>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公開される</a:t>
            </a:r>
            <a:endParaRPr lang="en-US" sz="2200" dirty="0"/>
          </a:p>
        </p:txBody>
      </p:sp>
      <p:sp>
        <p:nvSpPr>
          <p:cNvPr id="15" name="Text 10"/>
          <p:cNvSpPr/>
          <p:nvPr/>
        </p:nvSpPr>
        <p:spPr>
          <a:xfrm>
            <a:off x="812800" y="3408462"/>
            <a:ext cx="5376291" cy="35044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2350C9"/>
                </a:solidFill>
                <a:latin typeface="BIZ UDPGothic" pitchFamily="34" charset="0"/>
                <a:ea typeface="BIZ UDPGothic" pitchFamily="34" charset="-122"/>
                <a:cs typeface="BIZ UDPGothic" pitchFamily="34" charset="-120"/>
              </a:rPr>
              <a:t>青</a:t>
            </a:r>
            <a:r>
              <a:rPr lang="en-US" sz="1600" dirty="0">
                <a:solidFill>
                  <a:srgbClr val="2350C9"/>
                </a:solidFill>
                <a:latin typeface="BIZ UDPGothic" pitchFamily="34" charset="0"/>
                <a:ea typeface="BIZ UDPGothic" pitchFamily="34" charset="-122"/>
                <a:cs typeface="BIZ UDPGothic" pitchFamily="34" charset="-120"/>
              </a:rPr>
              <a:t>：人がやる</a:t>
            </a:r>
            <a:endParaRPr lang="en-US" sz="1600" dirty="0"/>
          </a:p>
        </p:txBody>
      </p:sp>
      <p:sp>
        <p:nvSpPr>
          <p:cNvPr id="16" name="Text 11"/>
          <p:cNvSpPr/>
          <p:nvPr/>
        </p:nvSpPr>
        <p:spPr>
          <a:xfrm>
            <a:off x="6159500" y="3408462"/>
            <a:ext cx="5376291" cy="35044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16233B"/>
                </a:solidFill>
                <a:latin typeface="BIZ UDPGothic" pitchFamily="34" charset="0"/>
                <a:ea typeface="BIZ UDPGothic" pitchFamily="34" charset="-122"/>
                <a:cs typeface="BIZ UDPGothic" pitchFamily="34" charset="-120"/>
              </a:rPr>
              <a:t>黄色</a:t>
            </a:r>
            <a:r>
              <a:rPr lang="en-US" sz="1600" dirty="0">
                <a:solidFill>
                  <a:srgbClr val="16233B"/>
                </a:solidFill>
                <a:latin typeface="BIZ UDPGothic" pitchFamily="34" charset="0"/>
                <a:ea typeface="BIZ UDPGothic" pitchFamily="34" charset="-122"/>
                <a:cs typeface="BIZ UDPGothic" pitchFamily="34" charset="-120"/>
              </a:rPr>
              <a:t>：ロボットがやる</a:t>
            </a:r>
            <a:endParaRPr lang="en-US" sz="1600" dirty="0"/>
          </a:p>
        </p:txBody>
      </p:sp>
      <p:sp>
        <p:nvSpPr>
          <p:cNvPr id="17" name="Text 12"/>
          <p:cNvSpPr/>
          <p:nvPr/>
        </p:nvSpPr>
        <p:spPr>
          <a:xfrm>
            <a:off x="812800" y="4063702"/>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記事を1本足すたびに、この流れが自動で最初から最後まで動きます。</a:t>
            </a:r>
            <a:endParaRPr lang="en-US" sz="1600" dirty="0"/>
          </a:p>
        </p:txBody>
      </p:sp>
      <p:sp>
        <p:nvSpPr>
          <p:cNvPr id="18"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03 / 23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記事が読者に届くまでの5つの場所</a:t>
            </a:r>
            <a:endParaRPr lang="en-US" sz="3200" dirty="0"/>
          </a:p>
        </p:txBody>
      </p:sp>
      <p:sp>
        <p:nvSpPr>
          <p:cNvPr id="4" name="Shape 2"/>
          <p:cNvSpPr/>
          <p:nvPr/>
        </p:nvSpPr>
        <p:spPr>
          <a:xfrm>
            <a:off x="819150" y="1901130"/>
            <a:ext cx="1673820" cy="3934520"/>
          </a:xfrm>
          <a:prstGeom prst="roundRect">
            <a:avLst>
              <a:gd name="adj" fmla="val 10243"/>
            </a:avLst>
          </a:prstGeom>
          <a:solidFill>
            <a:srgbClr val="FBFCFE"/>
          </a:solidFill>
          <a:ln w="12700">
            <a:solidFill>
              <a:srgbClr val="D3DBEA"/>
            </a:solidFill>
            <a:prstDash val="solid"/>
          </a:ln>
        </p:spPr>
      </p:sp>
      <p:sp>
        <p:nvSpPr>
          <p:cNvPr id="5" name="Shape 3"/>
          <p:cNvSpPr/>
          <p:nvPr/>
        </p:nvSpPr>
        <p:spPr>
          <a:xfrm>
            <a:off x="977900" y="2085280"/>
            <a:ext cx="833735" cy="307280"/>
          </a:xfrm>
          <a:prstGeom prst="roundRect">
            <a:avLst>
              <a:gd name="adj" fmla="val 50000"/>
            </a:avLst>
          </a:prstGeom>
          <a:solidFill>
            <a:srgbClr val="2F62E6"/>
          </a:solidFill>
          <a:ln/>
        </p:spPr>
      </p:sp>
      <p:sp>
        <p:nvSpPr>
          <p:cNvPr id="6" name="Text 4"/>
          <p:cNvSpPr/>
          <p:nvPr/>
        </p:nvSpPr>
        <p:spPr>
          <a:xfrm>
            <a:off x="1130300" y="2123380"/>
            <a:ext cx="57973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① 書く</a:t>
            </a:r>
            <a:endParaRPr lang="en-US" sz="1300" dirty="0"/>
          </a:p>
        </p:txBody>
      </p:sp>
      <p:sp>
        <p:nvSpPr>
          <p:cNvPr id="7" name="Shape 5"/>
          <p:cNvSpPr/>
          <p:nvPr/>
        </p:nvSpPr>
        <p:spPr>
          <a:xfrm>
            <a:off x="977900" y="2494161"/>
            <a:ext cx="609600" cy="609600"/>
          </a:xfrm>
          <a:prstGeom prst="roundRect">
            <a:avLst>
              <a:gd name="adj" fmla="val 25000"/>
            </a:avLst>
          </a:prstGeom>
          <a:solidFill>
            <a:srgbClr val="2F62E6"/>
          </a:solidFill>
          <a:ln/>
        </p:spPr>
      </p:sp>
      <p:pic>
        <p:nvPicPr>
          <p:cNvPr id="8" name="Image 0" descr="Code">    </p:cNvPr>
          <p:cNvPicPr>
            <a:picLocks noChangeAspect="1"/>
          </p:cNvPicPr>
          <p:nvPr/>
        </p:nvPicPr>
        <p:blipFill>
          <a:blip r:embed="rId1"/>
          <a:srcRect l="0" r="0" t="0" b="0"/>
          <a:stretch/>
        </p:blipFill>
        <p:spPr>
          <a:xfrm>
            <a:off x="1104900" y="2621161"/>
            <a:ext cx="355600" cy="355600"/>
          </a:xfrm>
          <a:prstGeom prst="rect">
            <a:avLst/>
          </a:prstGeom>
        </p:spPr>
      </p:pic>
      <p:sp>
        <p:nvSpPr>
          <p:cNvPr id="9" name="Text 6"/>
          <p:cNvSpPr/>
          <p:nvPr/>
        </p:nvSpPr>
        <p:spPr>
          <a:xfrm>
            <a:off x="97790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自分の</a:t>
            </a:r>
            <a:endParaRPr lang="en-US" sz="1600" dirty="0"/>
          </a:p>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パソコン</a:t>
            </a:r>
            <a:endParaRPr lang="en-US" sz="1600" dirty="0"/>
          </a:p>
        </p:txBody>
      </p:sp>
      <p:sp>
        <p:nvSpPr>
          <p:cNvPr id="10" name="Text 7"/>
          <p:cNvSpPr/>
          <p:nvPr/>
        </p:nvSpPr>
        <p:spPr>
          <a:xfrm>
            <a:off x="977900" y="3835202"/>
            <a:ext cx="1407120" cy="10489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記事を Markdown という書き方で書く場所</a:t>
            </a:r>
            <a:endParaRPr lang="en-US" sz="1300" dirty="0"/>
          </a:p>
        </p:txBody>
      </p:sp>
      <p:pic>
        <p:nvPicPr>
          <p:cNvPr id="11" name="Image 1" descr="arrow-right">    </p:cNvPr>
          <p:cNvPicPr>
            <a:picLocks noChangeAspect="1"/>
          </p:cNvPicPr>
          <p:nvPr/>
        </p:nvPicPr>
        <p:blipFill>
          <a:blip r:embed="rId2"/>
          <a:srcRect l="0" r="0" t="0" b="0"/>
          <a:stretch/>
        </p:blipFill>
        <p:spPr>
          <a:xfrm>
            <a:off x="2588220" y="3766741"/>
            <a:ext cx="355600" cy="203200"/>
          </a:xfrm>
          <a:prstGeom prst="rect">
            <a:avLst/>
          </a:prstGeom>
        </p:spPr>
      </p:pic>
      <p:sp>
        <p:nvSpPr>
          <p:cNvPr id="12" name="Shape 8"/>
          <p:cNvSpPr/>
          <p:nvPr/>
        </p:nvSpPr>
        <p:spPr>
          <a:xfrm>
            <a:off x="3039070" y="1901130"/>
            <a:ext cx="1673920" cy="3934520"/>
          </a:xfrm>
          <a:prstGeom prst="roundRect">
            <a:avLst>
              <a:gd name="adj" fmla="val 10242"/>
            </a:avLst>
          </a:prstGeom>
          <a:solidFill>
            <a:srgbClr val="FBFCFE"/>
          </a:solidFill>
          <a:ln w="12700">
            <a:solidFill>
              <a:srgbClr val="D3DBEA"/>
            </a:solidFill>
            <a:prstDash val="solid"/>
          </a:ln>
        </p:spPr>
      </p:sp>
      <p:sp>
        <p:nvSpPr>
          <p:cNvPr id="13" name="Shape 9"/>
          <p:cNvSpPr/>
          <p:nvPr/>
        </p:nvSpPr>
        <p:spPr>
          <a:xfrm>
            <a:off x="3197820" y="2085280"/>
            <a:ext cx="851892" cy="307280"/>
          </a:xfrm>
          <a:prstGeom prst="roundRect">
            <a:avLst>
              <a:gd name="adj" fmla="val 50000"/>
            </a:avLst>
          </a:prstGeom>
          <a:solidFill>
            <a:srgbClr val="2F62E6"/>
          </a:solidFill>
          <a:ln/>
        </p:spPr>
      </p:sp>
      <p:sp>
        <p:nvSpPr>
          <p:cNvPr id="14" name="Text 10"/>
          <p:cNvSpPr/>
          <p:nvPr/>
        </p:nvSpPr>
        <p:spPr>
          <a:xfrm>
            <a:off x="3350220" y="2123380"/>
            <a:ext cx="5978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② 送る</a:t>
            </a:r>
            <a:endParaRPr lang="en-US" sz="1300" dirty="0"/>
          </a:p>
        </p:txBody>
      </p:sp>
      <p:sp>
        <p:nvSpPr>
          <p:cNvPr id="15" name="Shape 11"/>
          <p:cNvSpPr/>
          <p:nvPr/>
        </p:nvSpPr>
        <p:spPr>
          <a:xfrm>
            <a:off x="3197820" y="2494161"/>
            <a:ext cx="609600" cy="609600"/>
          </a:xfrm>
          <a:prstGeom prst="roundRect">
            <a:avLst>
              <a:gd name="adj" fmla="val 25000"/>
            </a:avLst>
          </a:prstGeom>
          <a:solidFill>
            <a:srgbClr val="2F62E6"/>
          </a:solidFill>
          <a:ln/>
        </p:spPr>
      </p:sp>
      <p:pic>
        <p:nvPicPr>
          <p:cNvPr id="16" name="Image 2" descr="Database">    </p:cNvPr>
          <p:cNvPicPr>
            <a:picLocks noChangeAspect="1"/>
          </p:cNvPicPr>
          <p:nvPr/>
        </p:nvPicPr>
        <p:blipFill>
          <a:blip r:embed="rId3"/>
          <a:srcRect l="0" r="0" t="0" b="0"/>
          <a:stretch/>
        </p:blipFill>
        <p:spPr>
          <a:xfrm>
            <a:off x="3324820" y="2621161"/>
            <a:ext cx="355600" cy="355600"/>
          </a:xfrm>
          <a:prstGeom prst="rect">
            <a:avLst/>
          </a:prstGeom>
        </p:spPr>
      </p:pic>
      <p:sp>
        <p:nvSpPr>
          <p:cNvPr id="17" name="Text 12"/>
          <p:cNvSpPr/>
          <p:nvPr/>
        </p:nvSpPr>
        <p:spPr>
          <a:xfrm>
            <a:off x="3197820" y="3205361"/>
            <a:ext cx="140722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a:t>
            </a:r>
            <a:endParaRPr lang="en-US" sz="1600" dirty="0"/>
          </a:p>
        </p:txBody>
      </p:sp>
      <p:sp>
        <p:nvSpPr>
          <p:cNvPr id="18" name="Text 13"/>
          <p:cNvSpPr/>
          <p:nvPr/>
        </p:nvSpPr>
        <p:spPr>
          <a:xfrm>
            <a:off x="3197820" y="3571081"/>
            <a:ext cx="14072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ファイルと変更の歴史を預かる、ネット上の倉庫</a:t>
            </a:r>
            <a:endParaRPr lang="en-US" sz="1300" dirty="0"/>
          </a:p>
        </p:txBody>
      </p:sp>
      <p:pic>
        <p:nvPicPr>
          <p:cNvPr id="19" name="Image 3" descr="arrow-right">    </p:cNvPr>
          <p:cNvPicPr>
            <a:picLocks noChangeAspect="1"/>
          </p:cNvPicPr>
          <p:nvPr/>
        </p:nvPicPr>
        <p:blipFill>
          <a:blip r:embed="rId4"/>
          <a:srcRect l="0" r="0" t="0" b="0"/>
          <a:stretch/>
        </p:blipFill>
        <p:spPr>
          <a:xfrm>
            <a:off x="4808240" y="3766741"/>
            <a:ext cx="355600" cy="203200"/>
          </a:xfrm>
          <a:prstGeom prst="rect">
            <a:avLst/>
          </a:prstGeom>
        </p:spPr>
      </p:pic>
      <p:sp>
        <p:nvSpPr>
          <p:cNvPr id="20" name="Shape 14"/>
          <p:cNvSpPr/>
          <p:nvPr/>
        </p:nvSpPr>
        <p:spPr>
          <a:xfrm>
            <a:off x="5259090" y="1901130"/>
            <a:ext cx="1673820" cy="3934520"/>
          </a:xfrm>
          <a:prstGeom prst="roundRect">
            <a:avLst>
              <a:gd name="adj" fmla="val 10243"/>
            </a:avLst>
          </a:prstGeom>
          <a:solidFill>
            <a:srgbClr val="FBFCFE"/>
          </a:solidFill>
          <a:ln w="12700">
            <a:solidFill>
              <a:srgbClr val="D3DBEA"/>
            </a:solidFill>
            <a:prstDash val="solid"/>
          </a:ln>
        </p:spPr>
      </p:sp>
      <p:sp>
        <p:nvSpPr>
          <p:cNvPr id="21" name="Shape 15"/>
          <p:cNvSpPr/>
          <p:nvPr/>
        </p:nvSpPr>
        <p:spPr>
          <a:xfrm>
            <a:off x="5417840" y="2085280"/>
            <a:ext cx="1183779" cy="307280"/>
          </a:xfrm>
          <a:prstGeom prst="roundRect">
            <a:avLst>
              <a:gd name="adj" fmla="val 50000"/>
            </a:avLst>
          </a:prstGeom>
          <a:solidFill>
            <a:srgbClr val="FFC83D"/>
          </a:solidFill>
          <a:ln/>
        </p:spPr>
      </p:sp>
      <p:sp>
        <p:nvSpPr>
          <p:cNvPr id="22" name="Text 16"/>
          <p:cNvSpPr/>
          <p:nvPr/>
        </p:nvSpPr>
        <p:spPr>
          <a:xfrm>
            <a:off x="5570240" y="2123380"/>
            <a:ext cx="92977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③ 組み立て</a:t>
            </a:r>
            <a:endParaRPr lang="en-US" sz="1300" dirty="0"/>
          </a:p>
        </p:txBody>
      </p:sp>
      <p:sp>
        <p:nvSpPr>
          <p:cNvPr id="23" name="Shape 17"/>
          <p:cNvSpPr/>
          <p:nvPr/>
        </p:nvSpPr>
        <p:spPr>
          <a:xfrm>
            <a:off x="5417840" y="2494161"/>
            <a:ext cx="609600" cy="609600"/>
          </a:xfrm>
          <a:prstGeom prst="roundRect">
            <a:avLst>
              <a:gd name="adj" fmla="val 25000"/>
            </a:avLst>
          </a:prstGeom>
          <a:solidFill>
            <a:srgbClr val="2F62E6"/>
          </a:solidFill>
          <a:ln/>
        </p:spPr>
      </p:sp>
      <p:pic>
        <p:nvPicPr>
          <p:cNvPr id="24" name="Image 4" descr="Settings">    </p:cNvPr>
          <p:cNvPicPr>
            <a:picLocks noChangeAspect="1"/>
          </p:cNvPicPr>
          <p:nvPr/>
        </p:nvPicPr>
        <p:blipFill>
          <a:blip r:embed="rId5"/>
          <a:srcRect l="0" r="0" t="0" b="0"/>
          <a:stretch/>
        </p:blipFill>
        <p:spPr>
          <a:xfrm>
            <a:off x="5544840" y="2621161"/>
            <a:ext cx="355600" cy="355600"/>
          </a:xfrm>
          <a:prstGeom prst="rect">
            <a:avLst/>
          </a:prstGeom>
        </p:spPr>
      </p:pic>
      <p:sp>
        <p:nvSpPr>
          <p:cNvPr id="25" name="Text 18"/>
          <p:cNvSpPr/>
          <p:nvPr/>
        </p:nvSpPr>
        <p:spPr>
          <a:xfrm>
            <a:off x="541784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 Actions</a:t>
            </a:r>
            <a:endParaRPr lang="en-US" sz="1600" dirty="0"/>
          </a:p>
        </p:txBody>
      </p:sp>
      <p:sp>
        <p:nvSpPr>
          <p:cNvPr id="26" name="Text 19"/>
          <p:cNvSpPr/>
          <p:nvPr/>
        </p:nvSpPr>
        <p:spPr>
          <a:xfrm>
            <a:off x="5417840" y="3835202"/>
            <a:ext cx="14071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荷物が届くと動き出す、サイトを組み立てるロボット</a:t>
            </a:r>
            <a:endParaRPr lang="en-US" sz="1300" dirty="0"/>
          </a:p>
        </p:txBody>
      </p:sp>
      <p:pic>
        <p:nvPicPr>
          <p:cNvPr id="27" name="Image 5" descr="arrow-right">    </p:cNvPr>
          <p:cNvPicPr>
            <a:picLocks noChangeAspect="1"/>
          </p:cNvPicPr>
          <p:nvPr/>
        </p:nvPicPr>
        <p:blipFill>
          <a:blip r:embed="rId6"/>
          <a:srcRect l="0" r="0" t="0" b="0"/>
          <a:stretch/>
        </p:blipFill>
        <p:spPr>
          <a:xfrm>
            <a:off x="7028160" y="3766741"/>
            <a:ext cx="355600" cy="203200"/>
          </a:xfrm>
          <a:prstGeom prst="rect">
            <a:avLst/>
          </a:prstGeom>
        </p:spPr>
      </p:pic>
      <p:sp>
        <p:nvSpPr>
          <p:cNvPr id="28" name="Shape 20"/>
          <p:cNvSpPr/>
          <p:nvPr/>
        </p:nvSpPr>
        <p:spPr>
          <a:xfrm>
            <a:off x="7479010" y="1901130"/>
            <a:ext cx="1673920" cy="3934520"/>
          </a:xfrm>
          <a:prstGeom prst="roundRect">
            <a:avLst>
              <a:gd name="adj" fmla="val 10242"/>
            </a:avLst>
          </a:prstGeom>
          <a:solidFill>
            <a:srgbClr val="FBFCFE"/>
          </a:solidFill>
          <a:ln w="12700">
            <a:solidFill>
              <a:srgbClr val="D3DBEA"/>
            </a:solidFill>
            <a:prstDash val="solid"/>
          </a:ln>
        </p:spPr>
      </p:sp>
      <p:sp>
        <p:nvSpPr>
          <p:cNvPr id="29" name="Shape 21"/>
          <p:cNvSpPr/>
          <p:nvPr/>
        </p:nvSpPr>
        <p:spPr>
          <a:xfrm>
            <a:off x="7637760" y="2085280"/>
            <a:ext cx="855166" cy="307280"/>
          </a:xfrm>
          <a:prstGeom prst="roundRect">
            <a:avLst>
              <a:gd name="adj" fmla="val 50000"/>
            </a:avLst>
          </a:prstGeom>
          <a:solidFill>
            <a:srgbClr val="FFC83D"/>
          </a:solidFill>
          <a:ln/>
        </p:spPr>
      </p:sp>
      <p:sp>
        <p:nvSpPr>
          <p:cNvPr id="30" name="Text 22"/>
          <p:cNvSpPr/>
          <p:nvPr/>
        </p:nvSpPr>
        <p:spPr>
          <a:xfrm>
            <a:off x="7790160" y="2123380"/>
            <a:ext cx="6011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④ 公開</a:t>
            </a:r>
            <a:endParaRPr lang="en-US" sz="1300" dirty="0"/>
          </a:p>
        </p:txBody>
      </p:sp>
      <p:sp>
        <p:nvSpPr>
          <p:cNvPr id="31" name="Shape 23"/>
          <p:cNvSpPr/>
          <p:nvPr/>
        </p:nvSpPr>
        <p:spPr>
          <a:xfrm>
            <a:off x="7637760" y="2494161"/>
            <a:ext cx="609600" cy="609600"/>
          </a:xfrm>
          <a:prstGeom prst="roundRect">
            <a:avLst>
              <a:gd name="adj" fmla="val 25000"/>
            </a:avLst>
          </a:prstGeom>
          <a:solidFill>
            <a:srgbClr val="2F62E6"/>
          </a:solidFill>
          <a:ln/>
        </p:spPr>
      </p:sp>
      <p:pic>
        <p:nvPicPr>
          <p:cNvPr id="32" name="Image 6" descr="Cloud">    </p:cNvPr>
          <p:cNvPicPr>
            <a:picLocks noChangeAspect="1"/>
          </p:cNvPicPr>
          <p:nvPr/>
        </p:nvPicPr>
        <p:blipFill>
          <a:blip r:embed="rId7"/>
          <a:srcRect l="0" r="0" t="0" b="0"/>
          <a:stretch/>
        </p:blipFill>
        <p:spPr>
          <a:xfrm>
            <a:off x="7764760" y="2621161"/>
            <a:ext cx="355600" cy="355600"/>
          </a:xfrm>
          <a:prstGeom prst="rect">
            <a:avLst/>
          </a:prstGeom>
        </p:spPr>
      </p:pic>
      <p:sp>
        <p:nvSpPr>
          <p:cNvPr id="33" name="Text 24"/>
          <p:cNvSpPr/>
          <p:nvPr/>
        </p:nvSpPr>
        <p:spPr>
          <a:xfrm>
            <a:off x="7637760" y="3205361"/>
            <a:ext cx="140722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 Pages</a:t>
            </a:r>
            <a:endParaRPr lang="en-US" sz="1600" dirty="0"/>
          </a:p>
        </p:txBody>
      </p:sp>
      <p:sp>
        <p:nvSpPr>
          <p:cNvPr id="34" name="Text 25"/>
          <p:cNvSpPr/>
          <p:nvPr/>
        </p:nvSpPr>
        <p:spPr>
          <a:xfrm>
            <a:off x="7637760" y="3571081"/>
            <a:ext cx="14072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できあがったサイトを世界に並べる店先</a:t>
            </a:r>
            <a:endParaRPr lang="en-US" sz="1300" dirty="0"/>
          </a:p>
        </p:txBody>
      </p:sp>
      <p:pic>
        <p:nvPicPr>
          <p:cNvPr id="35" name="Image 7" descr="arrow-right">    </p:cNvPr>
          <p:cNvPicPr>
            <a:picLocks noChangeAspect="1"/>
          </p:cNvPicPr>
          <p:nvPr/>
        </p:nvPicPr>
        <p:blipFill>
          <a:blip r:embed="rId8"/>
          <a:srcRect l="0" r="0" t="0" b="0"/>
          <a:stretch/>
        </p:blipFill>
        <p:spPr>
          <a:xfrm>
            <a:off x="9248180" y="3766741"/>
            <a:ext cx="355600" cy="203200"/>
          </a:xfrm>
          <a:prstGeom prst="rect">
            <a:avLst/>
          </a:prstGeom>
        </p:spPr>
      </p:pic>
      <p:sp>
        <p:nvSpPr>
          <p:cNvPr id="36" name="Shape 26"/>
          <p:cNvSpPr/>
          <p:nvPr/>
        </p:nvSpPr>
        <p:spPr>
          <a:xfrm>
            <a:off x="9699030" y="1901130"/>
            <a:ext cx="1673820" cy="3934520"/>
          </a:xfrm>
          <a:prstGeom prst="roundRect">
            <a:avLst>
              <a:gd name="adj" fmla="val 10243"/>
            </a:avLst>
          </a:prstGeom>
          <a:solidFill>
            <a:srgbClr val="FBFCFE"/>
          </a:solidFill>
          <a:ln w="12700">
            <a:solidFill>
              <a:srgbClr val="D3DBEA"/>
            </a:solidFill>
            <a:prstDash val="solid"/>
          </a:ln>
        </p:spPr>
      </p:sp>
      <p:sp>
        <p:nvSpPr>
          <p:cNvPr id="37" name="Shape 27"/>
          <p:cNvSpPr/>
          <p:nvPr/>
        </p:nvSpPr>
        <p:spPr>
          <a:xfrm>
            <a:off x="9857780" y="2085280"/>
            <a:ext cx="855166" cy="307280"/>
          </a:xfrm>
          <a:prstGeom prst="roundRect">
            <a:avLst>
              <a:gd name="adj" fmla="val 50000"/>
            </a:avLst>
          </a:prstGeom>
          <a:solidFill>
            <a:srgbClr val="2F62E6"/>
          </a:solidFill>
          <a:ln/>
        </p:spPr>
      </p:sp>
      <p:sp>
        <p:nvSpPr>
          <p:cNvPr id="38" name="Text 28"/>
          <p:cNvSpPr/>
          <p:nvPr/>
        </p:nvSpPr>
        <p:spPr>
          <a:xfrm>
            <a:off x="10010180" y="2123380"/>
            <a:ext cx="6011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⑤ 読む</a:t>
            </a:r>
            <a:endParaRPr lang="en-US" sz="1300" dirty="0"/>
          </a:p>
        </p:txBody>
      </p:sp>
      <p:sp>
        <p:nvSpPr>
          <p:cNvPr id="39" name="Shape 29"/>
          <p:cNvSpPr/>
          <p:nvPr/>
        </p:nvSpPr>
        <p:spPr>
          <a:xfrm>
            <a:off x="9857780" y="2494161"/>
            <a:ext cx="609600" cy="609600"/>
          </a:xfrm>
          <a:prstGeom prst="roundRect">
            <a:avLst>
              <a:gd name="adj" fmla="val 25000"/>
            </a:avLst>
          </a:prstGeom>
          <a:solidFill>
            <a:srgbClr val="2F62E6"/>
          </a:solidFill>
          <a:ln/>
        </p:spPr>
      </p:sp>
      <p:pic>
        <p:nvPicPr>
          <p:cNvPr id="40" name="Image 8" descr="Globe">    </p:cNvPr>
          <p:cNvPicPr>
            <a:picLocks noChangeAspect="1"/>
          </p:cNvPicPr>
          <p:nvPr/>
        </p:nvPicPr>
        <p:blipFill>
          <a:blip r:embed="rId9"/>
          <a:srcRect l="0" r="0" t="0" b="0"/>
          <a:stretch/>
        </p:blipFill>
        <p:spPr>
          <a:xfrm>
            <a:off x="9984780" y="2621161"/>
            <a:ext cx="355600" cy="355600"/>
          </a:xfrm>
          <a:prstGeom prst="rect">
            <a:avLst/>
          </a:prstGeom>
        </p:spPr>
      </p:pic>
      <p:sp>
        <p:nvSpPr>
          <p:cNvPr id="41" name="Text 30"/>
          <p:cNvSpPr/>
          <p:nvPr/>
        </p:nvSpPr>
        <p:spPr>
          <a:xfrm>
            <a:off x="985778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読む人の</a:t>
            </a:r>
            <a:endParaRPr lang="en-US" sz="1600" dirty="0"/>
          </a:p>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ブラウザ</a:t>
            </a:r>
            <a:endParaRPr lang="en-US" sz="1600" dirty="0"/>
          </a:p>
        </p:txBody>
      </p:sp>
      <p:sp>
        <p:nvSpPr>
          <p:cNvPr id="42" name="Text 31"/>
          <p:cNvSpPr/>
          <p:nvPr/>
        </p:nvSpPr>
        <p:spPr>
          <a:xfrm>
            <a:off x="9857780" y="3835202"/>
            <a:ext cx="1407120" cy="10489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URLを開くと、Chrome や Safari に記事が出る</a:t>
            </a:r>
            <a:endParaRPr lang="en-US" sz="1300" dirty="0"/>
          </a:p>
        </p:txBody>
      </p:sp>
      <p:sp>
        <p:nvSpPr>
          <p:cNvPr id="43" name="Text 3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4" name="Text 3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04 / 23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2"/>
              </a:lnSpc>
              <a:buNone/>
            </a:pPr>
            <a:r>
              <a:rPr lang="en-US" sz="1194"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194" dirty="0"/>
          </a:p>
        </p:txBody>
      </p:sp>
      <p:sp>
        <p:nvSpPr>
          <p:cNvPr id="3" name="Text 1"/>
          <p:cNvSpPr/>
          <p:nvPr/>
        </p:nvSpPr>
        <p:spPr>
          <a:xfrm>
            <a:off x="812800" y="1086247"/>
            <a:ext cx="10883392" cy="487263"/>
          </a:xfrm>
          <a:prstGeom prst="rect">
            <a:avLst/>
          </a:prstGeom>
          <a:noFill/>
          <a:ln/>
        </p:spPr>
        <p:txBody>
          <a:bodyPr wrap="square" lIns="0" tIns="0" rIns="0" bIns="0" rtlCol="0" anchor="t">
            <a:normAutofit/>
          </a:bodyPr>
          <a:lstStyle/>
          <a:p>
            <a:pPr algn="l" indent="0" marL="0">
              <a:lnSpc>
                <a:spcPts val="3675"/>
              </a:lnSpc>
              <a:buNone/>
            </a:pPr>
            <a:r>
              <a:rPr lang="en-US" sz="2940" b="1" dirty="0">
                <a:solidFill>
                  <a:srgbClr val="16233B"/>
                </a:solidFill>
                <a:latin typeface="Zen Maru Gothic" pitchFamily="34" charset="0"/>
                <a:ea typeface="Zen Maru Gothic" pitchFamily="34" charset="-122"/>
                <a:cs typeface="Zen Maru Gothic" pitchFamily="34" charset="-120"/>
              </a:rPr>
              <a:t>記事の正体は、1つのテキストファイル</a:t>
            </a:r>
            <a:endParaRPr lang="en-US" sz="2940" dirty="0"/>
          </a:p>
        </p:txBody>
      </p:sp>
      <p:sp>
        <p:nvSpPr>
          <p:cNvPr id="4" name="Shape 2"/>
          <p:cNvSpPr/>
          <p:nvPr/>
        </p:nvSpPr>
        <p:spPr>
          <a:xfrm>
            <a:off x="812800" y="1827510"/>
            <a:ext cx="5969000" cy="453926"/>
          </a:xfrm>
          <a:custGeom>
            <a:avLst/>
            <a:gdLst/>
            <a:ahLst/>
            <a:cxnLst/>
            <a:rect l="l" t="t" r="r" b="b"/>
            <a:pathLst>
              <a:path w="5969000" h="453926">
                <a:moveTo>
                  <a:pt x="127000" y="0"/>
                </a:moveTo>
                <a:lnTo>
                  <a:pt x="5842000" y="0"/>
                </a:lnTo>
                <a:arcTo hR="127000" wR="127000" stAng="16200000" swAng="5400000"/>
                <a:lnTo>
                  <a:pt x="5969000" y="453926"/>
                </a:lnTo>
                <a:lnTo>
                  <a:pt x="0" y="453926"/>
                </a:lnTo>
                <a:lnTo>
                  <a:pt x="0" y="127000"/>
                </a:lnTo>
                <a:arcTo hR="127000" wR="127000" stAng="10800000" swAng="5400000"/>
                <a:close/>
              </a:path>
            </a:pathLst>
          </a:custGeom>
          <a:solidFill>
            <a:srgbClr val="2F62E6"/>
          </a:solidFill>
          <a:ln/>
        </p:spPr>
      </p:sp>
      <p:sp>
        <p:nvSpPr>
          <p:cNvPr id="5" name="Text 3"/>
          <p:cNvSpPr/>
          <p:nvPr/>
        </p:nvSpPr>
        <p:spPr>
          <a:xfrm>
            <a:off x="1016000" y="1916410"/>
            <a:ext cx="5729478" cy="301526"/>
          </a:xfrm>
          <a:prstGeom prst="rect">
            <a:avLst/>
          </a:prstGeom>
          <a:noFill/>
          <a:ln/>
        </p:spPr>
        <p:txBody>
          <a:bodyPr wrap="square" lIns="0" tIns="0" rIns="0" bIns="0" rtlCol="0" anchor="t">
            <a:normAutofit/>
          </a:bodyPr>
          <a:lstStyle/>
          <a:p>
            <a:pPr algn="l" indent="0" marL="0">
              <a:lnSpc>
                <a:spcPts val="2170"/>
              </a:lnSpc>
              <a:buNone/>
            </a:pPr>
            <a:r>
              <a:rPr lang="en-US" sz="1356" dirty="0">
                <a:solidFill>
                  <a:srgbClr val="FFFFFF"/>
                </a:solidFill>
                <a:latin typeface="Source Code Pro" pitchFamily="34" charset="0"/>
                <a:ea typeface="Source Code Pro" pitchFamily="34" charset="-122"/>
                <a:cs typeface="Source Code Pro" pitchFamily="34" charset="-120"/>
              </a:rPr>
              <a:t>2026-09-28-sample-post.md</a:t>
            </a:r>
            <a:endParaRPr lang="en-US" sz="1356" dirty="0"/>
          </a:p>
        </p:txBody>
      </p:sp>
      <p:sp>
        <p:nvSpPr>
          <p:cNvPr id="6" name="Shape 4"/>
          <p:cNvSpPr/>
          <p:nvPr/>
        </p:nvSpPr>
        <p:spPr>
          <a:xfrm>
            <a:off x="812800" y="2281436"/>
            <a:ext cx="5969000" cy="3560564"/>
          </a:xfrm>
          <a:custGeom>
            <a:avLst/>
            <a:gdLst/>
            <a:ahLst/>
            <a:cxnLst/>
            <a:rect l="l" t="t" r="r" b="b"/>
            <a:pathLst>
              <a:path w="5969000" h="3560564">
                <a:moveTo>
                  <a:pt x="0" y="0"/>
                </a:moveTo>
                <a:lnTo>
                  <a:pt x="5969000" y="0"/>
                </a:lnTo>
                <a:lnTo>
                  <a:pt x="5969000" y="3433564"/>
                </a:lnTo>
                <a:arcTo hR="127000" wR="127000" stAng="0" swAng="5400000"/>
                <a:lnTo>
                  <a:pt x="127000" y="3560564"/>
                </a:lnTo>
                <a:arcTo hR="127000" wR="127000" stAng="5400000" swAng="5400000"/>
                <a:lnTo>
                  <a:pt x="0" y="0"/>
                </a:lnTo>
                <a:close/>
              </a:path>
            </a:pathLst>
          </a:custGeom>
          <a:solidFill>
            <a:srgbClr val="0F1B33"/>
          </a:solidFill>
          <a:ln/>
        </p:spPr>
      </p:sp>
      <p:sp>
        <p:nvSpPr>
          <p:cNvPr id="7" name="Text 5"/>
          <p:cNvSpPr/>
          <p:nvPr/>
        </p:nvSpPr>
        <p:spPr>
          <a:xfrm>
            <a:off x="1041400" y="2459236"/>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A97B5"/>
                </a:solidFill>
                <a:latin typeface="Source Code Pro" pitchFamily="34" charset="0"/>
                <a:ea typeface="Source Code Pro" pitchFamily="34" charset="-122"/>
                <a:cs typeface="Source Code Pro" pitchFamily="34" charset="-120"/>
              </a:rPr>
              <a:t>---</a:t>
            </a:r>
            <a:endParaRPr lang="en-US" sz="1365" dirty="0"/>
          </a:p>
        </p:txBody>
      </p:sp>
      <p:sp>
        <p:nvSpPr>
          <p:cNvPr id="8" name="Text 6"/>
          <p:cNvSpPr/>
          <p:nvPr/>
        </p:nvSpPr>
        <p:spPr>
          <a:xfrm>
            <a:off x="1041400" y="2751832"/>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layout:</a:t>
            </a:r>
            <a:r>
              <a:rPr lang="en-US" sz="1365" dirty="0">
                <a:solidFill>
                  <a:srgbClr val="E6EDFB"/>
                </a:solidFill>
                <a:latin typeface="Source Code Pro" pitchFamily="34" charset="0"/>
                <a:ea typeface="Source Code Pro" pitchFamily="34" charset="-122"/>
                <a:cs typeface="Source Code Pro" pitchFamily="34" charset="-120"/>
              </a:rPr>
              <a:t> post</a:t>
            </a:r>
            <a:endParaRPr lang="en-US" sz="1365" dirty="0"/>
          </a:p>
        </p:txBody>
      </p:sp>
      <p:sp>
        <p:nvSpPr>
          <p:cNvPr id="9" name="Text 7"/>
          <p:cNvSpPr/>
          <p:nvPr/>
        </p:nvSpPr>
        <p:spPr>
          <a:xfrm>
            <a:off x="1041400" y="3044329"/>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title:</a:t>
            </a:r>
            <a:r>
              <a:rPr lang="en-US" sz="1365" dirty="0">
                <a:solidFill>
                  <a:srgbClr val="E6EDFB"/>
                </a:solidFill>
                <a:latin typeface="Source Code Pro" pitchFamily="34" charset="0"/>
                <a:ea typeface="Source Code Pro" pitchFamily="34" charset="-122"/>
                <a:cs typeface="Source Code Pro" pitchFamily="34" charset="-120"/>
              </a:rPr>
              <a:t> "記事のタイトル"</a:t>
            </a:r>
            <a:endParaRPr lang="en-US" sz="1365" dirty="0"/>
          </a:p>
        </p:txBody>
      </p:sp>
      <p:sp>
        <p:nvSpPr>
          <p:cNvPr id="10" name="Text 8"/>
          <p:cNvSpPr/>
          <p:nvPr/>
        </p:nvSpPr>
        <p:spPr>
          <a:xfrm>
            <a:off x="1041400" y="3336925"/>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date:</a:t>
            </a:r>
            <a:r>
              <a:rPr lang="en-US" sz="1365" dirty="0">
                <a:solidFill>
                  <a:srgbClr val="E6EDFB"/>
                </a:solidFill>
                <a:latin typeface="Source Code Pro" pitchFamily="34" charset="0"/>
                <a:ea typeface="Source Code Pro" pitchFamily="34" charset="-122"/>
                <a:cs typeface="Source Code Pro" pitchFamily="34" charset="-120"/>
              </a:rPr>
              <a:t> 2026-09-28</a:t>
            </a:r>
            <a:endParaRPr lang="en-US" sz="1365" dirty="0"/>
          </a:p>
        </p:txBody>
      </p:sp>
      <p:sp>
        <p:nvSpPr>
          <p:cNvPr id="11" name="Text 9"/>
          <p:cNvSpPr/>
          <p:nvPr/>
        </p:nvSpPr>
        <p:spPr>
          <a:xfrm>
            <a:off x="1041400" y="3629422"/>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categories:</a:t>
            </a:r>
            <a:r>
              <a:rPr lang="en-US" sz="1365" dirty="0">
                <a:solidFill>
                  <a:srgbClr val="E6EDFB"/>
                </a:solidFill>
                <a:latin typeface="Source Code Pro" pitchFamily="34" charset="0"/>
                <a:ea typeface="Source Code Pro" pitchFamily="34" charset="-122"/>
                <a:cs typeface="Source Code Pro" pitchFamily="34" charset="-120"/>
              </a:rPr>
              <a:t> [生成AIのきほん]</a:t>
            </a:r>
            <a:endParaRPr lang="en-US" sz="1365" dirty="0"/>
          </a:p>
        </p:txBody>
      </p:sp>
      <p:sp>
        <p:nvSpPr>
          <p:cNvPr id="12" name="Text 10"/>
          <p:cNvSpPr/>
          <p:nvPr/>
        </p:nvSpPr>
        <p:spPr>
          <a:xfrm>
            <a:off x="1041400" y="3922018"/>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tags:</a:t>
            </a:r>
            <a:r>
              <a:rPr lang="en-US" sz="1365" dirty="0">
                <a:solidFill>
                  <a:srgbClr val="E6EDFB"/>
                </a:solidFill>
                <a:latin typeface="Source Code Pro" pitchFamily="34" charset="0"/>
                <a:ea typeface="Source Code Pro" pitchFamily="34" charset="-122"/>
                <a:cs typeface="Source Code Pro" pitchFamily="34" charset="-120"/>
              </a:rPr>
              <a:t> [ChatGPT, 入口]</a:t>
            </a:r>
            <a:endParaRPr lang="en-US" sz="1365" dirty="0"/>
          </a:p>
        </p:txBody>
      </p:sp>
      <p:sp>
        <p:nvSpPr>
          <p:cNvPr id="13" name="Text 11"/>
          <p:cNvSpPr/>
          <p:nvPr/>
        </p:nvSpPr>
        <p:spPr>
          <a:xfrm>
            <a:off x="1041400" y="4214515"/>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A97B5"/>
                </a:solidFill>
                <a:latin typeface="Source Code Pro" pitchFamily="34" charset="0"/>
                <a:ea typeface="Source Code Pro" pitchFamily="34" charset="-122"/>
                <a:cs typeface="Source Code Pro" pitchFamily="34" charset="-120"/>
              </a:rPr>
              <a:t>---</a:t>
            </a:r>
            <a:endParaRPr lang="en-US" sz="1365" dirty="0"/>
          </a:p>
        </p:txBody>
      </p:sp>
      <p:pic>
        <p:nvPicPr>
          <p:cNvPr id="14" name="Image 0" descr="line">    </p:cNvPr>
          <p:cNvPicPr>
            <a:picLocks noChangeAspect="1"/>
          </p:cNvPicPr>
          <p:nvPr/>
        </p:nvPicPr>
        <p:blipFill>
          <a:blip r:embed="rId1"/>
          <a:srcRect l="0" r="0" t="0" b="0"/>
          <a:stretch/>
        </p:blipFill>
        <p:spPr>
          <a:xfrm>
            <a:off x="1041400" y="4634111"/>
            <a:ext cx="5511800" cy="25400"/>
          </a:xfrm>
          <a:prstGeom prst="rect">
            <a:avLst/>
          </a:prstGeom>
        </p:spPr>
      </p:pic>
      <p:sp>
        <p:nvSpPr>
          <p:cNvPr id="15" name="Text 12"/>
          <p:cNvSpPr/>
          <p:nvPr/>
        </p:nvSpPr>
        <p:spPr>
          <a:xfrm>
            <a:off x="1041400" y="4786511"/>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E6EDFB"/>
                </a:solidFill>
                <a:latin typeface="Source Code Pro" pitchFamily="34" charset="0"/>
                <a:ea typeface="Source Code Pro" pitchFamily="34" charset="-122"/>
                <a:cs typeface="Source Code Pro" pitchFamily="34" charset="-120"/>
              </a:rPr>
              <a:t>結論から書きます。この記事では…</a:t>
            </a:r>
            <a:endParaRPr lang="en-US" sz="1365" dirty="0"/>
          </a:p>
        </p:txBody>
      </p:sp>
      <p:sp>
        <p:nvSpPr>
          <p:cNvPr id="16" name="Text 13"/>
          <p:cNvSpPr/>
          <p:nvPr/>
        </p:nvSpPr>
        <p:spPr>
          <a:xfrm>
            <a:off x="1041400" y="5079107"/>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a:t>
            </a:r>
            <a:r>
              <a:rPr lang="en-US" sz="1365" dirty="0">
                <a:solidFill>
                  <a:srgbClr val="E6EDFB"/>
                </a:solidFill>
                <a:latin typeface="Source Code Pro" pitchFamily="34" charset="0"/>
                <a:ea typeface="Source Code Pro" pitchFamily="34" charset="-122"/>
                <a:cs typeface="Source Code Pro" pitchFamily="34" charset="-120"/>
              </a:rPr>
              <a:t> 見出しは # で作る</a:t>
            </a:r>
            <a:endParaRPr lang="en-US" sz="1365" dirty="0"/>
          </a:p>
        </p:txBody>
      </p:sp>
      <p:sp>
        <p:nvSpPr>
          <p:cNvPr id="17" name="Text 14"/>
          <p:cNvSpPr/>
          <p:nvPr/>
        </p:nvSpPr>
        <p:spPr>
          <a:xfrm>
            <a:off x="1041400" y="5371604"/>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a:t>
            </a:r>
            <a:r>
              <a:rPr lang="en-US" sz="1365" dirty="0">
                <a:solidFill>
                  <a:srgbClr val="E6EDFB"/>
                </a:solidFill>
                <a:latin typeface="Source Code Pro" pitchFamily="34" charset="0"/>
                <a:ea typeface="Source Code Pro" pitchFamily="34" charset="-122"/>
                <a:cs typeface="Source Code Pro" pitchFamily="34" charset="-120"/>
              </a:rPr>
              <a:t> 箇条書きは - をつける</a:t>
            </a:r>
            <a:endParaRPr lang="en-US" sz="1365" dirty="0"/>
          </a:p>
        </p:txBody>
      </p:sp>
      <p:sp>
        <p:nvSpPr>
          <p:cNvPr id="18" name="Shape 15"/>
          <p:cNvSpPr/>
          <p:nvPr/>
        </p:nvSpPr>
        <p:spPr>
          <a:xfrm>
            <a:off x="7092950" y="1833860"/>
            <a:ext cx="4279900" cy="849114"/>
          </a:xfrm>
          <a:prstGeom prst="roundRect">
            <a:avLst>
              <a:gd name="adj" fmla="val 20192"/>
            </a:avLst>
          </a:prstGeom>
          <a:solidFill>
            <a:srgbClr val="FBFCFE"/>
          </a:solidFill>
          <a:ln w="12700">
            <a:solidFill>
              <a:srgbClr val="D3DBEA"/>
            </a:solidFill>
            <a:prstDash val="solid"/>
          </a:ln>
        </p:spPr>
      </p:sp>
      <p:sp>
        <p:nvSpPr>
          <p:cNvPr id="19" name="Text 16"/>
          <p:cNvSpPr/>
          <p:nvPr/>
        </p:nvSpPr>
        <p:spPr>
          <a:xfrm>
            <a:off x="7302500" y="1992610"/>
            <a:ext cx="3976624" cy="252313"/>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ファイル名</a:t>
            </a:r>
            <a:endParaRPr lang="en-US" sz="1138" dirty="0"/>
          </a:p>
        </p:txBody>
      </p:sp>
      <p:sp>
        <p:nvSpPr>
          <p:cNvPr id="20" name="Text 17"/>
          <p:cNvSpPr/>
          <p:nvPr/>
        </p:nvSpPr>
        <p:spPr>
          <a:xfrm>
            <a:off x="7302500" y="2244923"/>
            <a:ext cx="3976624" cy="304701"/>
          </a:xfrm>
          <a:prstGeom prst="rect">
            <a:avLst/>
          </a:prstGeom>
          <a:noFill/>
          <a:ln/>
        </p:spPr>
        <p:txBody>
          <a:bodyPr wrap="square" lIns="0" tIns="0" rIns="0" bIns="0" rtlCol="0" anchor="t">
            <a:normAutofit/>
          </a:bodyPr>
          <a:lstStyle/>
          <a:p>
            <a:pPr algn="l" indent="0" marL="0">
              <a:lnSpc>
                <a:spcPts val="2224"/>
              </a:lnSpc>
              <a:buNone/>
            </a:pPr>
            <a:r>
              <a:rPr lang="en-US" sz="1390" b="1" dirty="0">
                <a:solidFill>
                  <a:srgbClr val="16233B"/>
                </a:solidFill>
                <a:latin typeface="BIZ UDPGothic" pitchFamily="34" charset="0"/>
                <a:ea typeface="BIZ UDPGothic" pitchFamily="34" charset="-122"/>
                <a:cs typeface="BIZ UDPGothic" pitchFamily="34" charset="-120"/>
              </a:rPr>
              <a:t>公開する日</a:t>
            </a:r>
            <a:r>
              <a:rPr lang="en-US" sz="1390" dirty="0">
                <a:solidFill>
                  <a:srgbClr val="16233B"/>
                </a:solidFill>
                <a:latin typeface="BIZ UDPGothic" pitchFamily="34" charset="0"/>
                <a:ea typeface="BIZ UDPGothic" pitchFamily="34" charset="-122"/>
                <a:cs typeface="BIZ UDPGothic" pitchFamily="34" charset="-120"/>
              </a:rPr>
              <a:t> ＋ </a:t>
            </a:r>
            <a:r>
              <a:rPr lang="en-US" sz="1390" b="1" dirty="0">
                <a:solidFill>
                  <a:srgbClr val="16233B"/>
                </a:solidFill>
                <a:latin typeface="BIZ UDPGothic" pitchFamily="34" charset="0"/>
                <a:ea typeface="BIZ UDPGothic" pitchFamily="34" charset="-122"/>
                <a:cs typeface="BIZ UDPGothic" pitchFamily="34" charset="-120"/>
              </a:rPr>
              <a:t>英語のタイトル</a:t>
            </a:r>
            <a:endParaRPr lang="en-US" sz="1390" dirty="0"/>
          </a:p>
        </p:txBody>
      </p:sp>
      <p:sp>
        <p:nvSpPr>
          <p:cNvPr id="21" name="Shape 18"/>
          <p:cNvSpPr/>
          <p:nvPr/>
        </p:nvSpPr>
        <p:spPr>
          <a:xfrm>
            <a:off x="7092950" y="2809974"/>
            <a:ext cx="4279900" cy="1095276"/>
          </a:xfrm>
          <a:prstGeom prst="roundRect">
            <a:avLst>
              <a:gd name="adj" fmla="val 15654"/>
            </a:avLst>
          </a:prstGeom>
          <a:solidFill>
            <a:srgbClr val="FBFCFE"/>
          </a:solidFill>
          <a:ln w="12700">
            <a:solidFill>
              <a:srgbClr val="D3DBEA"/>
            </a:solidFill>
            <a:prstDash val="solid"/>
          </a:ln>
        </p:spPr>
      </p:sp>
      <p:sp>
        <p:nvSpPr>
          <p:cNvPr id="22" name="Text 19"/>
          <p:cNvSpPr/>
          <p:nvPr/>
        </p:nvSpPr>
        <p:spPr>
          <a:xfrm>
            <a:off x="7302500" y="2968724"/>
            <a:ext cx="3976624" cy="252809"/>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上の部分：名札</a:t>
            </a:r>
            <a:endParaRPr lang="en-US" sz="1138" dirty="0"/>
          </a:p>
        </p:txBody>
      </p:sp>
      <p:sp>
        <p:nvSpPr>
          <p:cNvPr id="23" name="Text 20"/>
          <p:cNvSpPr/>
          <p:nvPr/>
        </p:nvSpPr>
        <p:spPr>
          <a:xfrm>
            <a:off x="7302500" y="3221534"/>
            <a:ext cx="3976624" cy="550366"/>
          </a:xfrm>
          <a:prstGeom prst="rect">
            <a:avLst/>
          </a:prstGeom>
          <a:noFill/>
          <a:ln/>
        </p:spPr>
        <p:txBody>
          <a:bodyPr wrap="square" lIns="0" tIns="0" rIns="0" bIns="0" rtlCol="0" anchor="t">
            <a:normAutofit/>
          </a:bodyPr>
          <a:lstStyle/>
          <a:p>
            <a:pPr algn="l" indent="0" marL="0">
              <a:lnSpc>
                <a:spcPts val="2085"/>
              </a:lnSpc>
              <a:buNone/>
            </a:pPr>
            <a:r>
              <a:rPr lang="en-US" sz="1303" dirty="0">
                <a:solidFill>
                  <a:srgbClr val="16233B"/>
                </a:solidFill>
                <a:latin typeface="BIZ UDPGothic" pitchFamily="34" charset="0"/>
                <a:ea typeface="BIZ UDPGothic" pitchFamily="34" charset="-122"/>
                <a:cs typeface="BIZ UDPGothic" pitchFamily="34" charset="-120"/>
              </a:rPr>
              <a:t>タイトル・日付・分類を書く。専門用語で front matter</a:t>
            </a:r>
            <a:endParaRPr lang="en-US" sz="1303" dirty="0"/>
          </a:p>
        </p:txBody>
      </p:sp>
      <p:sp>
        <p:nvSpPr>
          <p:cNvPr id="24" name="Shape 21"/>
          <p:cNvSpPr/>
          <p:nvPr/>
        </p:nvSpPr>
        <p:spPr>
          <a:xfrm>
            <a:off x="7092950" y="4032250"/>
            <a:ext cx="4279900" cy="831552"/>
          </a:xfrm>
          <a:prstGeom prst="roundRect">
            <a:avLst>
              <a:gd name="adj" fmla="val 20618"/>
            </a:avLst>
          </a:prstGeom>
          <a:solidFill>
            <a:srgbClr val="FBFCFE"/>
          </a:solidFill>
          <a:ln w="12700">
            <a:solidFill>
              <a:srgbClr val="D3DBEA"/>
            </a:solidFill>
            <a:prstDash val="solid"/>
          </a:ln>
        </p:spPr>
      </p:sp>
      <p:sp>
        <p:nvSpPr>
          <p:cNvPr id="25" name="Text 22"/>
          <p:cNvSpPr/>
          <p:nvPr/>
        </p:nvSpPr>
        <p:spPr>
          <a:xfrm>
            <a:off x="7302500" y="4191000"/>
            <a:ext cx="3976624" cy="252214"/>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下の部分：本文</a:t>
            </a:r>
            <a:endParaRPr lang="en-US" sz="1138" dirty="0"/>
          </a:p>
        </p:txBody>
      </p:sp>
      <p:sp>
        <p:nvSpPr>
          <p:cNvPr id="26" name="Text 23"/>
          <p:cNvSpPr/>
          <p:nvPr/>
        </p:nvSpPr>
        <p:spPr>
          <a:xfrm>
            <a:off x="7302500" y="4443214"/>
            <a:ext cx="3976624" cy="287238"/>
          </a:xfrm>
          <a:prstGeom prst="rect">
            <a:avLst/>
          </a:prstGeom>
          <a:noFill/>
          <a:ln/>
        </p:spPr>
        <p:txBody>
          <a:bodyPr wrap="square" lIns="0" tIns="0" rIns="0" bIns="0" rtlCol="0" anchor="t">
            <a:normAutofit/>
          </a:bodyPr>
          <a:lstStyle/>
          <a:p>
            <a:pPr algn="l" indent="0" marL="0">
              <a:lnSpc>
                <a:spcPts val="2070"/>
              </a:lnSpc>
              <a:buNone/>
            </a:pPr>
            <a:r>
              <a:rPr lang="en-US" sz="1294" dirty="0">
                <a:solidFill>
                  <a:srgbClr val="16233B"/>
                </a:solidFill>
                <a:latin typeface="BIZ UDPGothic" pitchFamily="34" charset="0"/>
                <a:ea typeface="BIZ UDPGothic" pitchFamily="34" charset="-122"/>
                <a:cs typeface="BIZ UDPGothic" pitchFamily="34" charset="-120"/>
              </a:rPr>
              <a:t>ふつうの文章。記号で見出しや箇条書きを作る</a:t>
            </a:r>
            <a:endParaRPr lang="en-US" sz="1294" dirty="0"/>
          </a:p>
        </p:txBody>
      </p:sp>
      <p:sp>
        <p:nvSpPr>
          <p:cNvPr id="27" name="Shape 24"/>
          <p:cNvSpPr/>
          <p:nvPr/>
        </p:nvSpPr>
        <p:spPr>
          <a:xfrm>
            <a:off x="7092950" y="4990802"/>
            <a:ext cx="4279900" cy="844848"/>
          </a:xfrm>
          <a:prstGeom prst="roundRect">
            <a:avLst>
              <a:gd name="adj" fmla="val 20294"/>
            </a:avLst>
          </a:prstGeom>
          <a:solidFill>
            <a:srgbClr val="FFF0BD"/>
          </a:solidFill>
          <a:ln w="12700">
            <a:solidFill>
              <a:srgbClr val="FFC83D"/>
            </a:solidFill>
            <a:prstDash val="solid"/>
          </a:ln>
        </p:spPr>
      </p:sp>
      <p:sp>
        <p:nvSpPr>
          <p:cNvPr id="28" name="Text 25"/>
          <p:cNvSpPr/>
          <p:nvPr/>
        </p:nvSpPr>
        <p:spPr>
          <a:xfrm>
            <a:off x="7302500" y="5149552"/>
            <a:ext cx="3976624" cy="552748"/>
          </a:xfrm>
          <a:prstGeom prst="rect">
            <a:avLst/>
          </a:prstGeom>
          <a:noFill/>
          <a:ln/>
        </p:spPr>
        <p:txBody>
          <a:bodyPr wrap="square" lIns="0" tIns="0" rIns="0" bIns="0" rtlCol="0" anchor="t">
            <a:normAutofit/>
          </a:bodyPr>
          <a:lstStyle/>
          <a:p>
            <a:pPr algn="l" indent="0" marL="0">
              <a:lnSpc>
                <a:spcPts val="2085"/>
              </a:lnSpc>
              <a:buNone/>
            </a:pPr>
            <a:r>
              <a:rPr lang="en-US" sz="1303" b="1" dirty="0">
                <a:solidFill>
                  <a:srgbClr val="16233B"/>
                </a:solidFill>
                <a:latin typeface="BIZ UDPGothic" pitchFamily="34" charset="0"/>
                <a:ea typeface="BIZ UDPGothic" pitchFamily="34" charset="-122"/>
                <a:cs typeface="BIZ UDPGothic" pitchFamily="34" charset="-120"/>
              </a:rPr>
              <a:t>ルール</a:t>
            </a:r>
            <a:r>
              <a:rPr lang="en-US" sz="1303" dirty="0">
                <a:solidFill>
                  <a:srgbClr val="16233B"/>
                </a:solidFill>
                <a:latin typeface="BIZ UDPGothic" pitchFamily="34" charset="0"/>
                <a:ea typeface="BIZ UDPGothic" pitchFamily="34" charset="-122"/>
                <a:cs typeface="BIZ UDPGothic" pitchFamily="34" charset="-120"/>
              </a:rPr>
              <a:t>：ファイル名の日付が未来だと、その記事は公開されない。</a:t>
            </a:r>
            <a:endParaRPr lang="en-US" sz="1303" dirty="0"/>
          </a:p>
        </p:txBody>
      </p:sp>
      <p:sp>
        <p:nvSpPr>
          <p:cNvPr id="29"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05 / 23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27509"/>
          </a:xfrm>
          <a:prstGeom prst="rect">
            <a:avLst/>
          </a:prstGeom>
          <a:noFill/>
          <a:ln/>
        </p:spPr>
        <p:txBody>
          <a:bodyPr wrap="square" lIns="0" tIns="0" rIns="0" bIns="0" rtlCol="0" anchor="t">
            <a:normAutofit/>
          </a:bodyPr>
          <a:lstStyle/>
          <a:p>
            <a:pPr algn="l" indent="0" marL="0">
              <a:lnSpc>
                <a:spcPts val="1621"/>
              </a:lnSpc>
              <a:buNone/>
            </a:pPr>
            <a:r>
              <a:rPr lang="en-US" sz="1158"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158" dirty="0"/>
          </a:p>
        </p:txBody>
      </p:sp>
      <p:sp>
        <p:nvSpPr>
          <p:cNvPr id="3" name="Text 1"/>
          <p:cNvSpPr/>
          <p:nvPr/>
        </p:nvSpPr>
        <p:spPr>
          <a:xfrm>
            <a:off x="812800" y="1078409"/>
            <a:ext cx="10883392" cy="469999"/>
          </a:xfrm>
          <a:prstGeom prst="rect">
            <a:avLst/>
          </a:prstGeom>
          <a:noFill/>
          <a:ln/>
        </p:spPr>
        <p:txBody>
          <a:bodyPr wrap="square" lIns="0" tIns="0" rIns="0" bIns="0" rtlCol="0" anchor="t">
            <a:normAutofit/>
          </a:bodyPr>
          <a:lstStyle/>
          <a:p>
            <a:pPr algn="l" indent="0" marL="0">
              <a:lnSpc>
                <a:spcPts val="3513"/>
              </a:lnSpc>
              <a:buNone/>
            </a:pPr>
            <a:r>
              <a:rPr lang="en-US" sz="2810" b="1" dirty="0">
                <a:solidFill>
                  <a:srgbClr val="16233B"/>
                </a:solidFill>
                <a:latin typeface="Zen Maru Gothic" pitchFamily="34" charset="0"/>
                <a:ea typeface="Zen Maru Gothic" pitchFamily="34" charset="-122"/>
                <a:cs typeface="Zen Maru Gothic" pitchFamily="34" charset="-120"/>
              </a:rPr>
              <a:t>Jekyll は「組み立てる機械」</a:t>
            </a:r>
            <a:endParaRPr lang="en-US" sz="2810" dirty="0"/>
          </a:p>
        </p:txBody>
      </p:sp>
      <p:sp>
        <p:nvSpPr>
          <p:cNvPr id="4" name="Shape 2"/>
          <p:cNvSpPr/>
          <p:nvPr/>
        </p:nvSpPr>
        <p:spPr>
          <a:xfrm>
            <a:off x="819150" y="1808758"/>
            <a:ext cx="1807567" cy="1437779"/>
          </a:xfrm>
          <a:prstGeom prst="roundRect">
            <a:avLst>
              <a:gd name="adj" fmla="val 11925"/>
            </a:avLst>
          </a:prstGeom>
          <a:solidFill>
            <a:srgbClr val="FBFCFE"/>
          </a:solidFill>
          <a:ln w="12700">
            <a:solidFill>
              <a:srgbClr val="D3DBEA"/>
            </a:solidFill>
            <a:prstDash val="solid"/>
          </a:ln>
        </p:spPr>
      </p:sp>
      <p:sp>
        <p:nvSpPr>
          <p:cNvPr id="5" name="Shape 3"/>
          <p:cNvSpPr/>
          <p:nvPr/>
        </p:nvSpPr>
        <p:spPr>
          <a:xfrm>
            <a:off x="1468934" y="1967508"/>
            <a:ext cx="508000" cy="508000"/>
          </a:xfrm>
          <a:prstGeom prst="roundRect">
            <a:avLst>
              <a:gd name="adj" fmla="val 30000"/>
            </a:avLst>
          </a:prstGeom>
          <a:solidFill>
            <a:srgbClr val="E1EAFF"/>
          </a:solidFill>
          <a:ln/>
        </p:spPr>
      </p:sp>
      <p:pic>
        <p:nvPicPr>
          <p:cNvPr id="6" name="Image 0" descr="Book">    </p:cNvPr>
          <p:cNvPicPr>
            <a:picLocks noChangeAspect="1"/>
          </p:cNvPicPr>
          <p:nvPr/>
        </p:nvPicPr>
        <p:blipFill>
          <a:blip r:embed="rId1"/>
          <a:srcRect l="0" r="0" t="0" b="0"/>
          <a:stretch/>
        </p:blipFill>
        <p:spPr>
          <a:xfrm>
            <a:off x="1570534" y="2069108"/>
            <a:ext cx="304800" cy="304800"/>
          </a:xfrm>
          <a:prstGeom prst="rect">
            <a:avLst/>
          </a:prstGeom>
        </p:spPr>
      </p:pic>
      <p:sp>
        <p:nvSpPr>
          <p:cNvPr id="7" name="Text 4"/>
          <p:cNvSpPr/>
          <p:nvPr/>
        </p:nvSpPr>
        <p:spPr>
          <a:xfrm>
            <a:off x="1499989" y="2539008"/>
            <a:ext cx="44579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記事</a:t>
            </a:r>
            <a:endParaRPr lang="en-US" sz="1555" dirty="0"/>
          </a:p>
        </p:txBody>
      </p:sp>
      <p:sp>
        <p:nvSpPr>
          <p:cNvPr id="8" name="Text 5"/>
          <p:cNvSpPr/>
          <p:nvPr/>
        </p:nvSpPr>
        <p:spPr>
          <a:xfrm>
            <a:off x="1344414" y="2856905"/>
            <a:ext cx="757039"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Markdown</a:t>
            </a:r>
            <a:endParaRPr lang="en-US" sz="1159" dirty="0"/>
          </a:p>
        </p:txBody>
      </p:sp>
      <p:sp>
        <p:nvSpPr>
          <p:cNvPr id="9" name="Shape 6"/>
          <p:cNvSpPr/>
          <p:nvPr/>
        </p:nvSpPr>
        <p:spPr>
          <a:xfrm>
            <a:off x="2766417" y="1808758"/>
            <a:ext cx="1807666" cy="1437779"/>
          </a:xfrm>
          <a:prstGeom prst="roundRect">
            <a:avLst>
              <a:gd name="adj" fmla="val 11925"/>
            </a:avLst>
          </a:prstGeom>
          <a:solidFill>
            <a:srgbClr val="FBFCFE"/>
          </a:solidFill>
          <a:ln w="12700">
            <a:solidFill>
              <a:srgbClr val="D3DBEA"/>
            </a:solidFill>
            <a:prstDash val="solid"/>
          </a:ln>
        </p:spPr>
      </p:sp>
      <p:sp>
        <p:nvSpPr>
          <p:cNvPr id="10" name="Shape 7"/>
          <p:cNvSpPr/>
          <p:nvPr/>
        </p:nvSpPr>
        <p:spPr>
          <a:xfrm>
            <a:off x="3416201" y="1967508"/>
            <a:ext cx="508000" cy="508000"/>
          </a:xfrm>
          <a:prstGeom prst="roundRect">
            <a:avLst>
              <a:gd name="adj" fmla="val 30000"/>
            </a:avLst>
          </a:prstGeom>
          <a:solidFill>
            <a:srgbClr val="E1EAFF"/>
          </a:solidFill>
          <a:ln/>
        </p:spPr>
      </p:sp>
      <p:pic>
        <p:nvPicPr>
          <p:cNvPr id="11" name="Image 1" descr="Star">    </p:cNvPr>
          <p:cNvPicPr>
            <a:picLocks noChangeAspect="1"/>
          </p:cNvPicPr>
          <p:nvPr/>
        </p:nvPicPr>
        <p:blipFill>
          <a:blip r:embed="rId2"/>
          <a:srcRect l="0" r="0" t="0" b="0"/>
          <a:stretch/>
        </p:blipFill>
        <p:spPr>
          <a:xfrm>
            <a:off x="3517801" y="2069108"/>
            <a:ext cx="304800" cy="304800"/>
          </a:xfrm>
          <a:prstGeom prst="rect">
            <a:avLst/>
          </a:prstGeom>
        </p:spPr>
      </p:pic>
      <p:sp>
        <p:nvSpPr>
          <p:cNvPr id="12" name="Text 8"/>
          <p:cNvSpPr/>
          <p:nvPr/>
        </p:nvSpPr>
        <p:spPr>
          <a:xfrm>
            <a:off x="3249811" y="2539008"/>
            <a:ext cx="84078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デザイン</a:t>
            </a:r>
            <a:endParaRPr lang="en-US" sz="1555" dirty="0"/>
          </a:p>
        </p:txBody>
      </p:sp>
      <p:sp>
        <p:nvSpPr>
          <p:cNvPr id="13" name="Text 9"/>
          <p:cNvSpPr/>
          <p:nvPr/>
        </p:nvSpPr>
        <p:spPr>
          <a:xfrm>
            <a:off x="3379986" y="2856905"/>
            <a:ext cx="580529"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Chirpy</a:t>
            </a:r>
            <a:endParaRPr lang="en-US" sz="1159" dirty="0"/>
          </a:p>
        </p:txBody>
      </p:sp>
      <p:sp>
        <p:nvSpPr>
          <p:cNvPr id="14" name="Shape 10"/>
          <p:cNvSpPr/>
          <p:nvPr/>
        </p:nvSpPr>
        <p:spPr>
          <a:xfrm>
            <a:off x="4713784" y="1808758"/>
            <a:ext cx="1807666" cy="1437779"/>
          </a:xfrm>
          <a:prstGeom prst="roundRect">
            <a:avLst>
              <a:gd name="adj" fmla="val 11925"/>
            </a:avLst>
          </a:prstGeom>
          <a:solidFill>
            <a:srgbClr val="FBFCFE"/>
          </a:solidFill>
          <a:ln w="12700">
            <a:solidFill>
              <a:srgbClr val="D3DBEA"/>
            </a:solidFill>
            <a:prstDash val="solid"/>
          </a:ln>
        </p:spPr>
      </p:sp>
      <p:sp>
        <p:nvSpPr>
          <p:cNvPr id="15" name="Shape 11"/>
          <p:cNvSpPr/>
          <p:nvPr/>
        </p:nvSpPr>
        <p:spPr>
          <a:xfrm>
            <a:off x="5363567" y="1967508"/>
            <a:ext cx="508000" cy="508000"/>
          </a:xfrm>
          <a:prstGeom prst="roundRect">
            <a:avLst>
              <a:gd name="adj" fmla="val 30000"/>
            </a:avLst>
          </a:prstGeom>
          <a:solidFill>
            <a:srgbClr val="E1EAFF"/>
          </a:solidFill>
          <a:ln/>
        </p:spPr>
      </p:sp>
      <p:pic>
        <p:nvPicPr>
          <p:cNvPr id="16" name="Image 2" descr="Settings">    </p:cNvPr>
          <p:cNvPicPr>
            <a:picLocks noChangeAspect="1"/>
          </p:cNvPicPr>
          <p:nvPr/>
        </p:nvPicPr>
        <p:blipFill>
          <a:blip r:embed="rId3"/>
          <a:srcRect l="0" r="0" t="0" b="0"/>
          <a:stretch/>
        </p:blipFill>
        <p:spPr>
          <a:xfrm>
            <a:off x="5465167" y="2069108"/>
            <a:ext cx="304800" cy="304800"/>
          </a:xfrm>
          <a:prstGeom prst="rect">
            <a:avLst/>
          </a:prstGeom>
        </p:spPr>
      </p:pic>
      <p:sp>
        <p:nvSpPr>
          <p:cNvPr id="17" name="Text 12"/>
          <p:cNvSpPr/>
          <p:nvPr/>
        </p:nvSpPr>
        <p:spPr>
          <a:xfrm>
            <a:off x="5394722" y="2539008"/>
            <a:ext cx="44579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設定</a:t>
            </a:r>
            <a:endParaRPr lang="en-US" sz="1555" dirty="0"/>
          </a:p>
        </p:txBody>
      </p:sp>
      <p:sp>
        <p:nvSpPr>
          <p:cNvPr id="18" name="Text 13"/>
          <p:cNvSpPr/>
          <p:nvPr/>
        </p:nvSpPr>
        <p:spPr>
          <a:xfrm>
            <a:off x="5106591" y="2856905"/>
            <a:ext cx="1021953"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_config.yml</a:t>
            </a:r>
            <a:endParaRPr lang="en-US" sz="1159" dirty="0"/>
          </a:p>
        </p:txBody>
      </p:sp>
      <p:pic>
        <p:nvPicPr>
          <p:cNvPr id="19" name="Image 3" descr="arrow-down">    </p:cNvPr>
          <p:cNvPicPr>
            <a:picLocks noChangeAspect="1"/>
          </p:cNvPicPr>
          <p:nvPr/>
        </p:nvPicPr>
        <p:blipFill>
          <a:blip r:embed="rId4"/>
          <a:srcRect l="0" r="0" t="0" b="0"/>
          <a:stretch/>
        </p:blipFill>
        <p:spPr>
          <a:xfrm>
            <a:off x="3568700" y="3341787"/>
            <a:ext cx="203200" cy="304800"/>
          </a:xfrm>
          <a:prstGeom prst="rect">
            <a:avLst/>
          </a:prstGeom>
        </p:spPr>
      </p:pic>
      <p:sp>
        <p:nvSpPr>
          <p:cNvPr id="20" name="Shape 14"/>
          <p:cNvSpPr/>
          <p:nvPr/>
        </p:nvSpPr>
        <p:spPr>
          <a:xfrm>
            <a:off x="812800" y="3735487"/>
            <a:ext cx="5715000" cy="1003002"/>
          </a:xfrm>
          <a:prstGeom prst="roundRect">
            <a:avLst>
              <a:gd name="adj" fmla="val 17727"/>
            </a:avLst>
          </a:prstGeom>
          <a:solidFill>
            <a:srgbClr val="2F62E6"/>
          </a:solidFill>
          <a:ln/>
        </p:spPr>
      </p:sp>
      <p:sp>
        <p:nvSpPr>
          <p:cNvPr id="21" name="Text 15"/>
          <p:cNvSpPr/>
          <p:nvPr/>
        </p:nvSpPr>
        <p:spPr>
          <a:xfrm>
            <a:off x="2627709" y="3913287"/>
            <a:ext cx="2147634" cy="383977"/>
          </a:xfrm>
          <a:prstGeom prst="rect">
            <a:avLst/>
          </a:prstGeom>
          <a:noFill/>
          <a:ln/>
        </p:spPr>
        <p:txBody>
          <a:bodyPr wrap="square" lIns="0" tIns="0" rIns="0" bIns="0" rtlCol="0" anchor="t">
            <a:normAutofit/>
          </a:bodyPr>
          <a:lstStyle/>
          <a:p>
            <a:pPr algn="l" indent="0" marL="0">
              <a:lnSpc>
                <a:spcPts val="2824"/>
              </a:lnSpc>
              <a:buNone/>
            </a:pPr>
            <a:r>
              <a:rPr lang="en-US" sz="2173" b="1" dirty="0">
                <a:solidFill>
                  <a:srgbClr val="FFFFFF"/>
                </a:solidFill>
                <a:latin typeface="Zen Maru Gothic" pitchFamily="34" charset="0"/>
                <a:ea typeface="Zen Maru Gothic" pitchFamily="34" charset="-122"/>
                <a:cs typeface="Zen Maru Gothic" pitchFamily="34" charset="-120"/>
              </a:rPr>
              <a:t>Jekyll（ジキル）</a:t>
            </a:r>
            <a:endParaRPr lang="en-US" sz="2173" dirty="0"/>
          </a:p>
        </p:txBody>
      </p:sp>
      <p:sp>
        <p:nvSpPr>
          <p:cNvPr id="22" name="Text 16"/>
          <p:cNvSpPr/>
          <p:nvPr/>
        </p:nvSpPr>
        <p:spPr>
          <a:xfrm>
            <a:off x="2414885" y="4297263"/>
            <a:ext cx="2586155" cy="288826"/>
          </a:xfrm>
          <a:prstGeom prst="rect">
            <a:avLst/>
          </a:prstGeom>
          <a:noFill/>
          <a:ln/>
        </p:spPr>
        <p:txBody>
          <a:bodyPr wrap="square" lIns="0" tIns="0" rIns="0" bIns="0" rtlCol="0" anchor="t">
            <a:normAutofit/>
          </a:bodyPr>
          <a:lstStyle/>
          <a:p>
            <a:pPr algn="l" indent="0" marL="0">
              <a:lnSpc>
                <a:spcPts val="2074"/>
              </a:lnSpc>
              <a:buNone/>
            </a:pPr>
            <a:r>
              <a:rPr lang="en-US" sz="1383" dirty="0">
                <a:solidFill>
                  <a:srgbClr val="E8EEFF"/>
                </a:solidFill>
                <a:latin typeface="BIZ UDPGothic" pitchFamily="34" charset="0"/>
                <a:ea typeface="BIZ UDPGothic" pitchFamily="34" charset="-122"/>
                <a:cs typeface="BIZ UDPGothic" pitchFamily="34" charset="-120"/>
              </a:rPr>
              <a:t>材料を全部まぜて、ページを作る</a:t>
            </a:r>
            <a:endParaRPr lang="en-US" sz="1383" dirty="0"/>
          </a:p>
        </p:txBody>
      </p:sp>
      <p:pic>
        <p:nvPicPr>
          <p:cNvPr id="23" name="Image 4" descr="arrow-down">    </p:cNvPr>
          <p:cNvPicPr>
            <a:picLocks noChangeAspect="1"/>
          </p:cNvPicPr>
          <p:nvPr/>
        </p:nvPicPr>
        <p:blipFill>
          <a:blip r:embed="rId5"/>
          <a:srcRect l="0" r="0" t="0" b="0"/>
          <a:stretch/>
        </p:blipFill>
        <p:spPr>
          <a:xfrm>
            <a:off x="3568700" y="4827389"/>
            <a:ext cx="203200" cy="304800"/>
          </a:xfrm>
          <a:prstGeom prst="rect">
            <a:avLst/>
          </a:prstGeom>
        </p:spPr>
      </p:pic>
      <p:sp>
        <p:nvSpPr>
          <p:cNvPr id="24" name="Shape 17"/>
          <p:cNvSpPr/>
          <p:nvPr/>
        </p:nvSpPr>
        <p:spPr>
          <a:xfrm>
            <a:off x="812800" y="5221089"/>
            <a:ext cx="5715000" cy="620911"/>
          </a:xfrm>
          <a:prstGeom prst="roundRect">
            <a:avLst>
              <a:gd name="adj" fmla="val 28635"/>
            </a:avLst>
          </a:prstGeom>
          <a:solidFill>
            <a:srgbClr val="FFC83D"/>
          </a:solidFill>
          <a:ln/>
        </p:spPr>
      </p:sp>
      <p:sp>
        <p:nvSpPr>
          <p:cNvPr id="25" name="Text 18"/>
          <p:cNvSpPr/>
          <p:nvPr/>
        </p:nvSpPr>
        <p:spPr>
          <a:xfrm>
            <a:off x="2162770" y="5373489"/>
            <a:ext cx="3105511" cy="34151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33B"/>
                </a:solidFill>
                <a:latin typeface="Zen Maru Gothic" pitchFamily="34" charset="0"/>
                <a:ea typeface="Zen Maru Gothic" pitchFamily="34" charset="-122"/>
                <a:cs typeface="Zen Maru Gothic" pitchFamily="34" charset="-120"/>
              </a:rPr>
              <a:t>記事の数だけ HTML のページ</a:t>
            </a:r>
            <a:endParaRPr lang="en-US" sz="1800" dirty="0"/>
          </a:p>
        </p:txBody>
      </p:sp>
      <p:sp>
        <p:nvSpPr>
          <p:cNvPr id="26" name="Shape 19"/>
          <p:cNvSpPr/>
          <p:nvPr/>
        </p:nvSpPr>
        <p:spPr>
          <a:xfrm>
            <a:off x="6889750" y="1808758"/>
            <a:ext cx="4483100" cy="1048643"/>
          </a:xfrm>
          <a:prstGeom prst="roundRect">
            <a:avLst>
              <a:gd name="adj" fmla="val 16350"/>
            </a:avLst>
          </a:prstGeom>
          <a:solidFill>
            <a:srgbClr val="FBFCFE"/>
          </a:solidFill>
          <a:ln w="12700">
            <a:solidFill>
              <a:srgbClr val="D3DBEA"/>
            </a:solidFill>
            <a:prstDash val="solid"/>
          </a:ln>
        </p:spPr>
      </p:sp>
      <p:sp>
        <p:nvSpPr>
          <p:cNvPr id="27" name="Text 20"/>
          <p:cNvSpPr/>
          <p:nvPr/>
        </p:nvSpPr>
        <p:spPr>
          <a:xfrm>
            <a:off x="7099300" y="1954808"/>
            <a:ext cx="4185920" cy="246459"/>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記事</a:t>
            </a:r>
            <a:endParaRPr lang="en-US" sz="1365" dirty="0"/>
          </a:p>
        </p:txBody>
      </p:sp>
      <p:sp>
        <p:nvSpPr>
          <p:cNvPr id="28" name="Text 21"/>
          <p:cNvSpPr/>
          <p:nvPr/>
        </p:nvSpPr>
        <p:spPr>
          <a:xfrm>
            <a:off x="7099300" y="2201267"/>
            <a:ext cx="4185920" cy="535484"/>
          </a:xfrm>
          <a:prstGeom prst="rect">
            <a:avLst/>
          </a:prstGeom>
          <a:noFill/>
          <a:ln/>
        </p:spPr>
        <p:txBody>
          <a:bodyPr wrap="square" lIns="0" tIns="0" rIns="0" bIns="0" rtlCol="0" anchor="t">
            <a:normAutofit/>
          </a:bodyPr>
          <a:lstStyle/>
          <a:p>
            <a:pPr algn="l" indent="0" marL="0">
              <a:lnSpc>
                <a:spcPts val="2220"/>
              </a:lnSpc>
              <a:buNone/>
            </a:pPr>
            <a:r>
              <a:rPr lang="en-US" sz="1388" dirty="0">
                <a:solidFill>
                  <a:srgbClr val="16233B"/>
                </a:solidFill>
                <a:latin typeface="BIZ UDPGothic" pitchFamily="34" charset="0"/>
                <a:ea typeface="BIZ UDPGothic" pitchFamily="34" charset="-122"/>
                <a:cs typeface="BIZ UDPGothic" pitchFamily="34" charset="-120"/>
              </a:rPr>
              <a:t>自分で書いた Markdown。中身だけに集中できる。</a:t>
            </a:r>
            <a:endParaRPr lang="en-US" sz="1388" dirty="0"/>
          </a:p>
        </p:txBody>
      </p:sp>
      <p:sp>
        <p:nvSpPr>
          <p:cNvPr id="29" name="Shape 22"/>
          <p:cNvSpPr/>
          <p:nvPr/>
        </p:nvSpPr>
        <p:spPr>
          <a:xfrm>
            <a:off x="6889750" y="2971701"/>
            <a:ext cx="4483100" cy="1048544"/>
          </a:xfrm>
          <a:prstGeom prst="roundRect">
            <a:avLst>
              <a:gd name="adj" fmla="val 16351"/>
            </a:avLst>
          </a:prstGeom>
          <a:solidFill>
            <a:srgbClr val="FBFCFE"/>
          </a:solidFill>
          <a:ln w="12700">
            <a:solidFill>
              <a:srgbClr val="D3DBEA"/>
            </a:solidFill>
            <a:prstDash val="solid"/>
          </a:ln>
        </p:spPr>
      </p:sp>
      <p:sp>
        <p:nvSpPr>
          <p:cNvPr id="30" name="Text 23"/>
          <p:cNvSpPr/>
          <p:nvPr/>
        </p:nvSpPr>
        <p:spPr>
          <a:xfrm>
            <a:off x="7099300" y="3117751"/>
            <a:ext cx="4185920" cy="246360"/>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デザイン</a:t>
            </a:r>
            <a:endParaRPr lang="en-US" sz="1365" dirty="0"/>
          </a:p>
        </p:txBody>
      </p:sp>
      <p:sp>
        <p:nvSpPr>
          <p:cNvPr id="31" name="Text 24"/>
          <p:cNvSpPr/>
          <p:nvPr/>
        </p:nvSpPr>
        <p:spPr>
          <a:xfrm>
            <a:off x="7099300" y="3364111"/>
            <a:ext cx="4185920" cy="535484"/>
          </a:xfrm>
          <a:prstGeom prst="rect">
            <a:avLst/>
          </a:prstGeom>
          <a:noFill/>
          <a:ln/>
        </p:spPr>
        <p:txBody>
          <a:bodyPr wrap="square" lIns="0" tIns="0" rIns="0" bIns="0" rtlCol="0" anchor="t">
            <a:normAutofit/>
          </a:bodyPr>
          <a:lstStyle/>
          <a:p>
            <a:pPr algn="l" indent="0" marL="0">
              <a:lnSpc>
                <a:spcPts val="2010"/>
              </a:lnSpc>
              <a:buNone/>
            </a:pPr>
            <a:r>
              <a:rPr lang="en-US" sz="1256" dirty="0">
                <a:solidFill>
                  <a:srgbClr val="16233B"/>
                </a:solidFill>
                <a:latin typeface="BIZ UDPGothic" pitchFamily="34" charset="0"/>
                <a:ea typeface="BIZ UDPGothic" pitchFamily="34" charset="-122"/>
                <a:cs typeface="BIZ UDPGothic" pitchFamily="34" charset="-120"/>
              </a:rPr>
              <a:t>Chirpy（チャーピー）という、公開されている着せ替えセットを借りている。</a:t>
            </a:r>
            <a:endParaRPr lang="en-US" sz="1256" dirty="0"/>
          </a:p>
        </p:txBody>
      </p:sp>
      <p:sp>
        <p:nvSpPr>
          <p:cNvPr id="32" name="Shape 25"/>
          <p:cNvSpPr/>
          <p:nvPr/>
        </p:nvSpPr>
        <p:spPr>
          <a:xfrm>
            <a:off x="6889750" y="4134545"/>
            <a:ext cx="4483100" cy="1048544"/>
          </a:xfrm>
          <a:prstGeom prst="roundRect">
            <a:avLst>
              <a:gd name="adj" fmla="val 16351"/>
            </a:avLst>
          </a:prstGeom>
          <a:solidFill>
            <a:srgbClr val="FBFCFE"/>
          </a:solidFill>
          <a:ln w="12700">
            <a:solidFill>
              <a:srgbClr val="D3DBEA"/>
            </a:solidFill>
            <a:prstDash val="solid"/>
          </a:ln>
        </p:spPr>
      </p:sp>
      <p:sp>
        <p:nvSpPr>
          <p:cNvPr id="33" name="Text 26"/>
          <p:cNvSpPr/>
          <p:nvPr/>
        </p:nvSpPr>
        <p:spPr>
          <a:xfrm>
            <a:off x="7099300" y="4280595"/>
            <a:ext cx="4185920" cy="246360"/>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設定</a:t>
            </a:r>
            <a:endParaRPr lang="en-US" sz="1365" dirty="0"/>
          </a:p>
        </p:txBody>
      </p:sp>
      <p:sp>
        <p:nvSpPr>
          <p:cNvPr id="34" name="Text 27"/>
          <p:cNvSpPr/>
          <p:nvPr/>
        </p:nvSpPr>
        <p:spPr>
          <a:xfrm>
            <a:off x="7099300" y="4526955"/>
            <a:ext cx="4185920" cy="535484"/>
          </a:xfrm>
          <a:prstGeom prst="rect">
            <a:avLst/>
          </a:prstGeom>
          <a:noFill/>
          <a:ln/>
        </p:spPr>
        <p:txBody>
          <a:bodyPr wrap="square" lIns="0" tIns="0" rIns="0" bIns="0" rtlCol="0" anchor="t">
            <a:normAutofit/>
          </a:bodyPr>
          <a:lstStyle/>
          <a:p>
            <a:pPr algn="l" indent="0" marL="0">
              <a:lnSpc>
                <a:spcPts val="2025"/>
              </a:lnSpc>
              <a:buNone/>
            </a:pPr>
            <a:r>
              <a:rPr lang="en-US" sz="1266" dirty="0">
                <a:solidFill>
                  <a:srgbClr val="16233B"/>
                </a:solidFill>
                <a:latin typeface="BIZ UDPGothic" pitchFamily="34" charset="0"/>
                <a:ea typeface="BIZ UDPGothic" pitchFamily="34" charset="-122"/>
                <a:cs typeface="BIZ UDPGothic" pitchFamily="34" charset="-120"/>
              </a:rPr>
              <a:t>サイトの名前やURL、どのフォルダを材料にするかのメモ。</a:t>
            </a:r>
            <a:endParaRPr lang="en-US" sz="1266" dirty="0"/>
          </a:p>
        </p:txBody>
      </p:sp>
      <p:sp>
        <p:nvSpPr>
          <p:cNvPr id="35" name="Text 28"/>
          <p:cNvSpPr/>
          <p:nvPr/>
        </p:nvSpPr>
        <p:spPr>
          <a:xfrm>
            <a:off x="6883400" y="5329138"/>
            <a:ext cx="4630674" cy="538262"/>
          </a:xfrm>
          <a:prstGeom prst="rect">
            <a:avLst/>
          </a:prstGeom>
          <a:noFill/>
          <a:ln/>
        </p:spPr>
        <p:txBody>
          <a:bodyPr wrap="square" lIns="0" tIns="0" rIns="0" bIns="0" rtlCol="0" anchor="t">
            <a:normAutofit/>
          </a:bodyPr>
          <a:lstStyle/>
          <a:p>
            <a:pPr algn="l" indent="0" marL="0">
              <a:lnSpc>
                <a:spcPts val="2033"/>
              </a:lnSpc>
              <a:buNone/>
            </a:pPr>
            <a:r>
              <a:rPr lang="en-US" sz="1270" dirty="0">
                <a:solidFill>
                  <a:srgbClr val="56647E"/>
                </a:solidFill>
                <a:latin typeface="BIZ UDPGothic" pitchFamily="34" charset="0"/>
                <a:ea typeface="BIZ UDPGothic" pitchFamily="34" charset="-122"/>
                <a:cs typeface="BIZ UDPGothic" pitchFamily="34" charset="-120"/>
              </a:rPr>
              <a:t>同じ機械が同じ手順で全ページを作り直すから、人が手で直す場所がほとんどない。</a:t>
            </a:r>
            <a:endParaRPr lang="en-US" sz="1270" dirty="0"/>
          </a:p>
        </p:txBody>
      </p:sp>
      <p:sp>
        <p:nvSpPr>
          <p:cNvPr id="36" name="Text 2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7" name="Text 3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06 / 23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公開されるものと、されないもの</a:t>
            </a:r>
            <a:endParaRPr lang="en-US" sz="3200" dirty="0"/>
          </a:p>
        </p:txBody>
      </p:sp>
      <p:sp>
        <p:nvSpPr>
          <p:cNvPr id="4" name="Shape 2"/>
          <p:cNvSpPr/>
          <p:nvPr/>
        </p:nvSpPr>
        <p:spPr>
          <a:xfrm>
            <a:off x="819150" y="1901130"/>
            <a:ext cx="6400800" cy="496788"/>
          </a:xfrm>
          <a:prstGeom prst="roundRect">
            <a:avLst>
              <a:gd name="adj" fmla="val 24286"/>
            </a:avLst>
          </a:prstGeom>
          <a:solidFill>
            <a:srgbClr val="FBFCFE"/>
          </a:solidFill>
          <a:ln w="12700">
            <a:solidFill>
              <a:srgbClr val="D3DBEA"/>
            </a:solidFill>
            <a:prstDash val="solid"/>
          </a:ln>
        </p:spPr>
      </p:sp>
      <p:sp>
        <p:nvSpPr>
          <p:cNvPr id="5" name="Text 3"/>
          <p:cNvSpPr/>
          <p:nvPr/>
        </p:nvSpPr>
        <p:spPr>
          <a:xfrm>
            <a:off x="1003300" y="2025055"/>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site/</a:t>
            </a:r>
            <a:endParaRPr lang="en-US" sz="1400" dirty="0"/>
          </a:p>
        </p:txBody>
      </p:sp>
      <p:sp>
        <p:nvSpPr>
          <p:cNvPr id="6" name="Text 4"/>
          <p:cNvSpPr/>
          <p:nvPr/>
        </p:nvSpPr>
        <p:spPr>
          <a:xfrm>
            <a:off x="2743200" y="2033984"/>
            <a:ext cx="27940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Jekyll が材料にする場所</a:t>
            </a:r>
            <a:endParaRPr lang="en-US" sz="1300" dirty="0"/>
          </a:p>
        </p:txBody>
      </p:sp>
      <p:sp>
        <p:nvSpPr>
          <p:cNvPr id="7" name="Shape 5"/>
          <p:cNvSpPr/>
          <p:nvPr/>
        </p:nvSpPr>
        <p:spPr>
          <a:xfrm>
            <a:off x="5608241" y="1995884"/>
            <a:ext cx="1427559" cy="307280"/>
          </a:xfrm>
          <a:prstGeom prst="roundRect">
            <a:avLst>
              <a:gd name="adj" fmla="val 50000"/>
            </a:avLst>
          </a:prstGeom>
          <a:solidFill>
            <a:srgbClr val="2F62E6"/>
          </a:solidFill>
          <a:ln/>
        </p:spPr>
      </p:sp>
      <p:sp>
        <p:nvSpPr>
          <p:cNvPr id="8" name="Text 6"/>
          <p:cNvSpPr/>
          <p:nvPr/>
        </p:nvSpPr>
        <p:spPr>
          <a:xfrm>
            <a:off x="5760641" y="2033984"/>
            <a:ext cx="117355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ここだけが材料</a:t>
            </a:r>
            <a:endParaRPr lang="en-US" sz="1300" dirty="0"/>
          </a:p>
        </p:txBody>
      </p:sp>
      <p:sp>
        <p:nvSpPr>
          <p:cNvPr id="9" name="Shape 7"/>
          <p:cNvSpPr/>
          <p:nvPr/>
        </p:nvSpPr>
        <p:spPr>
          <a:xfrm>
            <a:off x="819150" y="2474119"/>
            <a:ext cx="6400800" cy="496689"/>
          </a:xfrm>
          <a:prstGeom prst="roundRect">
            <a:avLst>
              <a:gd name="adj" fmla="val 24291"/>
            </a:avLst>
          </a:prstGeom>
          <a:solidFill>
            <a:srgbClr val="FBFCFE"/>
          </a:solidFill>
          <a:ln w="12700">
            <a:solidFill>
              <a:srgbClr val="D3DBEA"/>
            </a:solidFill>
            <a:prstDash val="solid"/>
          </a:ln>
        </p:spPr>
      </p:sp>
      <p:sp>
        <p:nvSpPr>
          <p:cNvPr id="10" name="Text 8"/>
          <p:cNvSpPr/>
          <p:nvPr/>
        </p:nvSpPr>
        <p:spPr>
          <a:xfrm>
            <a:off x="1308100" y="2598043"/>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_posts/</a:t>
            </a:r>
            <a:endParaRPr lang="en-US" sz="1400" dirty="0"/>
          </a:p>
        </p:txBody>
      </p:sp>
      <p:sp>
        <p:nvSpPr>
          <p:cNvPr id="11" name="Text 9"/>
          <p:cNvSpPr/>
          <p:nvPr/>
        </p:nvSpPr>
        <p:spPr>
          <a:xfrm>
            <a:off x="2743200" y="2606873"/>
            <a:ext cx="310356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完成した記事</a:t>
            </a:r>
            <a:endParaRPr lang="en-US" sz="1300" dirty="0"/>
          </a:p>
        </p:txBody>
      </p:sp>
      <p:sp>
        <p:nvSpPr>
          <p:cNvPr id="12" name="Shape 10"/>
          <p:cNvSpPr/>
          <p:nvPr/>
        </p:nvSpPr>
        <p:spPr>
          <a:xfrm>
            <a:off x="5908774" y="2568873"/>
            <a:ext cx="1127026" cy="307280"/>
          </a:xfrm>
          <a:prstGeom prst="roundRect">
            <a:avLst>
              <a:gd name="adj" fmla="val 50000"/>
            </a:avLst>
          </a:prstGeom>
          <a:solidFill>
            <a:srgbClr val="DBF4E7"/>
          </a:solidFill>
          <a:ln/>
        </p:spPr>
      </p:sp>
      <p:sp>
        <p:nvSpPr>
          <p:cNvPr id="13" name="Text 11"/>
          <p:cNvSpPr/>
          <p:nvPr/>
        </p:nvSpPr>
        <p:spPr>
          <a:xfrm>
            <a:off x="6061174" y="2606973"/>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公開される</a:t>
            </a:r>
            <a:endParaRPr lang="en-US" sz="1300" dirty="0"/>
          </a:p>
        </p:txBody>
      </p:sp>
      <p:sp>
        <p:nvSpPr>
          <p:cNvPr id="14" name="Shape 12"/>
          <p:cNvSpPr/>
          <p:nvPr/>
        </p:nvSpPr>
        <p:spPr>
          <a:xfrm>
            <a:off x="819150" y="3047008"/>
            <a:ext cx="6400800" cy="496788"/>
          </a:xfrm>
          <a:prstGeom prst="roundRect">
            <a:avLst>
              <a:gd name="adj" fmla="val 24286"/>
            </a:avLst>
          </a:prstGeom>
          <a:solidFill>
            <a:srgbClr val="FBFCFE"/>
          </a:solidFill>
          <a:ln w="12700">
            <a:solidFill>
              <a:srgbClr val="D3DBEA"/>
            </a:solidFill>
            <a:prstDash val="solid"/>
          </a:ln>
        </p:spPr>
      </p:sp>
      <p:sp>
        <p:nvSpPr>
          <p:cNvPr id="15" name="Text 13"/>
          <p:cNvSpPr/>
          <p:nvPr/>
        </p:nvSpPr>
        <p:spPr>
          <a:xfrm>
            <a:off x="1308100" y="3170932"/>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_drafts/</a:t>
            </a:r>
            <a:endParaRPr lang="en-US" sz="1400" dirty="0"/>
          </a:p>
        </p:txBody>
      </p:sp>
      <p:sp>
        <p:nvSpPr>
          <p:cNvPr id="16" name="Text 14"/>
          <p:cNvSpPr/>
          <p:nvPr/>
        </p:nvSpPr>
        <p:spPr>
          <a:xfrm>
            <a:off x="2743200" y="3179862"/>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書きかけの記事</a:t>
            </a:r>
            <a:endParaRPr lang="en-US" sz="1300" dirty="0"/>
          </a:p>
        </p:txBody>
      </p:sp>
      <p:sp>
        <p:nvSpPr>
          <p:cNvPr id="17" name="Shape 15"/>
          <p:cNvSpPr/>
          <p:nvPr/>
        </p:nvSpPr>
        <p:spPr>
          <a:xfrm>
            <a:off x="6235700" y="3141762"/>
            <a:ext cx="800100" cy="307280"/>
          </a:xfrm>
          <a:prstGeom prst="roundRect">
            <a:avLst>
              <a:gd name="adj" fmla="val 50000"/>
            </a:avLst>
          </a:prstGeom>
          <a:solidFill>
            <a:srgbClr val="FCE3E1"/>
          </a:solidFill>
          <a:ln/>
        </p:spPr>
      </p:sp>
      <p:sp>
        <p:nvSpPr>
          <p:cNvPr id="18" name="Text 16"/>
          <p:cNvSpPr/>
          <p:nvPr/>
        </p:nvSpPr>
        <p:spPr>
          <a:xfrm>
            <a:off x="6388100" y="3179862"/>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19" name="Shape 17"/>
          <p:cNvSpPr/>
          <p:nvPr/>
        </p:nvSpPr>
        <p:spPr>
          <a:xfrm>
            <a:off x="819150" y="3619996"/>
            <a:ext cx="6400800" cy="496689"/>
          </a:xfrm>
          <a:prstGeom prst="roundRect">
            <a:avLst>
              <a:gd name="adj" fmla="val 24291"/>
            </a:avLst>
          </a:prstGeom>
          <a:solidFill>
            <a:srgbClr val="FBFCFE"/>
          </a:solidFill>
          <a:ln w="12700">
            <a:solidFill>
              <a:srgbClr val="D3DBEA"/>
            </a:solidFill>
            <a:prstDash val="solid"/>
          </a:ln>
        </p:spPr>
      </p:sp>
      <p:sp>
        <p:nvSpPr>
          <p:cNvPr id="20" name="Text 18"/>
          <p:cNvSpPr/>
          <p:nvPr/>
        </p:nvSpPr>
        <p:spPr>
          <a:xfrm>
            <a:off x="1308100" y="3743920"/>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assets/</a:t>
            </a:r>
            <a:endParaRPr lang="en-US" sz="1400" dirty="0"/>
          </a:p>
        </p:txBody>
      </p:sp>
      <p:sp>
        <p:nvSpPr>
          <p:cNvPr id="21" name="Text 19"/>
          <p:cNvSpPr/>
          <p:nvPr/>
        </p:nvSpPr>
        <p:spPr>
          <a:xfrm>
            <a:off x="2743200" y="3752751"/>
            <a:ext cx="310356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記事の画像など</a:t>
            </a:r>
            <a:endParaRPr lang="en-US" sz="1300" dirty="0"/>
          </a:p>
        </p:txBody>
      </p:sp>
      <p:sp>
        <p:nvSpPr>
          <p:cNvPr id="22" name="Shape 20"/>
          <p:cNvSpPr/>
          <p:nvPr/>
        </p:nvSpPr>
        <p:spPr>
          <a:xfrm>
            <a:off x="5908774" y="3714750"/>
            <a:ext cx="1127026" cy="307280"/>
          </a:xfrm>
          <a:prstGeom prst="roundRect">
            <a:avLst>
              <a:gd name="adj" fmla="val 50000"/>
            </a:avLst>
          </a:prstGeom>
          <a:solidFill>
            <a:srgbClr val="DBF4E7"/>
          </a:solidFill>
          <a:ln/>
        </p:spPr>
      </p:sp>
      <p:sp>
        <p:nvSpPr>
          <p:cNvPr id="23" name="Text 21"/>
          <p:cNvSpPr/>
          <p:nvPr/>
        </p:nvSpPr>
        <p:spPr>
          <a:xfrm>
            <a:off x="6061174" y="3752850"/>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公開される</a:t>
            </a:r>
            <a:endParaRPr lang="en-US" sz="1300" dirty="0"/>
          </a:p>
        </p:txBody>
      </p:sp>
      <p:sp>
        <p:nvSpPr>
          <p:cNvPr id="24" name="Shape 22"/>
          <p:cNvSpPr/>
          <p:nvPr/>
        </p:nvSpPr>
        <p:spPr>
          <a:xfrm>
            <a:off x="819150" y="4192885"/>
            <a:ext cx="6400800" cy="496788"/>
          </a:xfrm>
          <a:prstGeom prst="roundRect">
            <a:avLst>
              <a:gd name="adj" fmla="val 24286"/>
            </a:avLst>
          </a:prstGeom>
          <a:solidFill>
            <a:srgbClr val="FBFCFE"/>
          </a:solidFill>
          <a:ln w="12700">
            <a:solidFill>
              <a:srgbClr val="D3DBEA"/>
            </a:solidFill>
            <a:prstDash val="solid"/>
          </a:ln>
        </p:spPr>
      </p:sp>
      <p:sp>
        <p:nvSpPr>
          <p:cNvPr id="25" name="Text 23"/>
          <p:cNvSpPr/>
          <p:nvPr/>
        </p:nvSpPr>
        <p:spPr>
          <a:xfrm>
            <a:off x="1003300" y="4316809"/>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docs/</a:t>
            </a:r>
            <a:endParaRPr lang="en-US" sz="1400" dirty="0"/>
          </a:p>
        </p:txBody>
      </p:sp>
      <p:sp>
        <p:nvSpPr>
          <p:cNvPr id="26" name="Text 24"/>
          <p:cNvSpPr/>
          <p:nvPr/>
        </p:nvSpPr>
        <p:spPr>
          <a:xfrm>
            <a:off x="2743200" y="4325739"/>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企画メモ・ルールブック</a:t>
            </a:r>
            <a:endParaRPr lang="en-US" sz="1300" dirty="0"/>
          </a:p>
        </p:txBody>
      </p:sp>
      <p:sp>
        <p:nvSpPr>
          <p:cNvPr id="27" name="Shape 25"/>
          <p:cNvSpPr/>
          <p:nvPr/>
        </p:nvSpPr>
        <p:spPr>
          <a:xfrm>
            <a:off x="6235700" y="4287639"/>
            <a:ext cx="800100" cy="307280"/>
          </a:xfrm>
          <a:prstGeom prst="roundRect">
            <a:avLst>
              <a:gd name="adj" fmla="val 50000"/>
            </a:avLst>
          </a:prstGeom>
          <a:solidFill>
            <a:srgbClr val="FCE3E1"/>
          </a:solidFill>
          <a:ln/>
        </p:spPr>
      </p:sp>
      <p:sp>
        <p:nvSpPr>
          <p:cNvPr id="28" name="Text 26"/>
          <p:cNvSpPr/>
          <p:nvPr/>
        </p:nvSpPr>
        <p:spPr>
          <a:xfrm>
            <a:off x="6388100" y="4325739"/>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29" name="Shape 27"/>
          <p:cNvSpPr/>
          <p:nvPr/>
        </p:nvSpPr>
        <p:spPr>
          <a:xfrm>
            <a:off x="819150" y="4765873"/>
            <a:ext cx="6400800" cy="496788"/>
          </a:xfrm>
          <a:prstGeom prst="roundRect">
            <a:avLst>
              <a:gd name="adj" fmla="val 24286"/>
            </a:avLst>
          </a:prstGeom>
          <a:solidFill>
            <a:srgbClr val="FBFCFE"/>
          </a:solidFill>
          <a:ln w="12700">
            <a:solidFill>
              <a:srgbClr val="D3DBEA"/>
            </a:solidFill>
            <a:prstDash val="solid"/>
          </a:ln>
        </p:spPr>
      </p:sp>
      <p:sp>
        <p:nvSpPr>
          <p:cNvPr id="30" name="Text 28"/>
          <p:cNvSpPr/>
          <p:nvPr/>
        </p:nvSpPr>
        <p:spPr>
          <a:xfrm>
            <a:off x="1003300" y="4889798"/>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verification/</a:t>
            </a:r>
            <a:endParaRPr lang="en-US" sz="1400" dirty="0"/>
          </a:p>
        </p:txBody>
      </p:sp>
      <p:sp>
        <p:nvSpPr>
          <p:cNvPr id="31" name="Text 29"/>
          <p:cNvSpPr/>
          <p:nvPr/>
        </p:nvSpPr>
        <p:spPr>
          <a:xfrm>
            <a:off x="2743200" y="4898727"/>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数字を確かめた生データ</a:t>
            </a:r>
            <a:endParaRPr lang="en-US" sz="1300" dirty="0"/>
          </a:p>
        </p:txBody>
      </p:sp>
      <p:sp>
        <p:nvSpPr>
          <p:cNvPr id="32" name="Shape 30"/>
          <p:cNvSpPr/>
          <p:nvPr/>
        </p:nvSpPr>
        <p:spPr>
          <a:xfrm>
            <a:off x="6235700" y="4860627"/>
            <a:ext cx="800100" cy="307280"/>
          </a:xfrm>
          <a:prstGeom prst="roundRect">
            <a:avLst>
              <a:gd name="adj" fmla="val 50000"/>
            </a:avLst>
          </a:prstGeom>
          <a:solidFill>
            <a:srgbClr val="FCE3E1"/>
          </a:solidFill>
          <a:ln/>
        </p:spPr>
      </p:sp>
      <p:sp>
        <p:nvSpPr>
          <p:cNvPr id="33" name="Text 31"/>
          <p:cNvSpPr/>
          <p:nvPr/>
        </p:nvSpPr>
        <p:spPr>
          <a:xfrm>
            <a:off x="6388100" y="4898727"/>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34" name="Shape 32"/>
          <p:cNvSpPr/>
          <p:nvPr/>
        </p:nvSpPr>
        <p:spPr>
          <a:xfrm>
            <a:off x="819150" y="5338862"/>
            <a:ext cx="6400800" cy="496788"/>
          </a:xfrm>
          <a:prstGeom prst="roundRect">
            <a:avLst>
              <a:gd name="adj" fmla="val 24286"/>
            </a:avLst>
          </a:prstGeom>
          <a:solidFill>
            <a:srgbClr val="FBFCFE"/>
          </a:solidFill>
          <a:ln w="12700">
            <a:solidFill>
              <a:srgbClr val="D3DBEA"/>
            </a:solidFill>
            <a:prstDash val="solid"/>
          </a:ln>
        </p:spPr>
      </p:sp>
      <p:sp>
        <p:nvSpPr>
          <p:cNvPr id="35" name="Text 33"/>
          <p:cNvSpPr/>
          <p:nvPr/>
        </p:nvSpPr>
        <p:spPr>
          <a:xfrm>
            <a:off x="1003300" y="5462786"/>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CLAUDE.md</a:t>
            </a:r>
            <a:endParaRPr lang="en-US" sz="1400" dirty="0"/>
          </a:p>
        </p:txBody>
      </p:sp>
      <p:sp>
        <p:nvSpPr>
          <p:cNvPr id="36" name="Text 34"/>
          <p:cNvSpPr/>
          <p:nvPr/>
        </p:nvSpPr>
        <p:spPr>
          <a:xfrm>
            <a:off x="2743200" y="5471716"/>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AIに読ませる説明書</a:t>
            </a:r>
            <a:endParaRPr lang="en-US" sz="1300" dirty="0"/>
          </a:p>
        </p:txBody>
      </p:sp>
      <p:sp>
        <p:nvSpPr>
          <p:cNvPr id="37" name="Shape 35"/>
          <p:cNvSpPr/>
          <p:nvPr/>
        </p:nvSpPr>
        <p:spPr>
          <a:xfrm>
            <a:off x="6235700" y="5433616"/>
            <a:ext cx="800100" cy="307280"/>
          </a:xfrm>
          <a:prstGeom prst="roundRect">
            <a:avLst>
              <a:gd name="adj" fmla="val 50000"/>
            </a:avLst>
          </a:prstGeom>
          <a:solidFill>
            <a:srgbClr val="FCE3E1"/>
          </a:solidFill>
          <a:ln/>
        </p:spPr>
      </p:sp>
      <p:sp>
        <p:nvSpPr>
          <p:cNvPr id="38" name="Text 36"/>
          <p:cNvSpPr/>
          <p:nvPr/>
        </p:nvSpPr>
        <p:spPr>
          <a:xfrm>
            <a:off x="6388100" y="5471716"/>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39" name="Shape 37"/>
          <p:cNvSpPr/>
          <p:nvPr/>
        </p:nvSpPr>
        <p:spPr>
          <a:xfrm>
            <a:off x="7512050" y="1901130"/>
            <a:ext cx="3860800" cy="3934520"/>
          </a:xfrm>
          <a:prstGeom prst="roundRect">
            <a:avLst>
              <a:gd name="adj" fmla="val 4441"/>
            </a:avLst>
          </a:prstGeom>
          <a:solidFill>
            <a:srgbClr val="2F62E6"/>
          </a:solidFill>
          <a:ln w="12700">
            <a:solidFill>
              <a:srgbClr val="2F62E6"/>
            </a:solidFill>
            <a:prstDash val="solid"/>
          </a:ln>
        </p:spPr>
      </p:sp>
      <p:sp>
        <p:nvSpPr>
          <p:cNvPr id="40" name="Text 38"/>
          <p:cNvSpPr/>
          <p:nvPr/>
        </p:nvSpPr>
        <p:spPr>
          <a:xfrm>
            <a:off x="7772400" y="2136080"/>
            <a:ext cx="3440303"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許可する範囲を、1つだけ決める</a:t>
            </a:r>
            <a:endParaRPr lang="en-US" sz="1800" dirty="0"/>
          </a:p>
        </p:txBody>
      </p:sp>
      <p:sp>
        <p:nvSpPr>
          <p:cNvPr id="41" name="Text 39"/>
          <p:cNvSpPr/>
          <p:nvPr/>
        </p:nvSpPr>
        <p:spPr>
          <a:xfrm>
            <a:off x="7772400" y="2534841"/>
            <a:ext cx="3440303"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E8EEFF"/>
                </a:solidFill>
                <a:latin typeface="BIZ UDPGothic" pitchFamily="34" charset="0"/>
                <a:ea typeface="BIZ UDPGothic" pitchFamily="34" charset="-122"/>
                <a:cs typeface="BIZ UDPGothic" pitchFamily="34" charset="-120"/>
              </a:rPr>
              <a:t>「これは出さない」という禁止リストではなく、「site/ の中だけを材料にする」と決めている。</a:t>
            </a:r>
            <a:endParaRPr lang="en-US" sz="1500" dirty="0"/>
          </a:p>
        </p:txBody>
      </p:sp>
      <p:sp>
        <p:nvSpPr>
          <p:cNvPr id="42" name="Text 40"/>
          <p:cNvSpPr/>
          <p:nvPr/>
        </p:nvSpPr>
        <p:spPr>
          <a:xfrm>
            <a:off x="7772400" y="3550841"/>
            <a:ext cx="3440303"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E8EEFF"/>
                </a:solidFill>
                <a:latin typeface="BIZ UDPGothic" pitchFamily="34" charset="0"/>
                <a:ea typeface="BIZ UDPGothic" pitchFamily="34" charset="-122"/>
                <a:cs typeface="BIZ UDPGothic" pitchFamily="34" charset="-120"/>
              </a:rPr>
              <a:t>書き忘れが起きないので、うっかり公開の事故を、しくみで防げる。</a:t>
            </a:r>
            <a:endParaRPr lang="en-US" sz="1500" dirty="0"/>
          </a:p>
        </p:txBody>
      </p:sp>
      <p:sp>
        <p:nvSpPr>
          <p:cNvPr id="43" name="Text 4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4" name="Text 4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07 / 23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公開する前は、自分のパソコンで確認</a:t>
            </a:r>
            <a:endParaRPr lang="en-US" sz="3200" dirty="0"/>
          </a:p>
        </p:txBody>
      </p:sp>
      <p:sp>
        <p:nvSpPr>
          <p:cNvPr id="4" name="Shape 2"/>
          <p:cNvSpPr/>
          <p:nvPr/>
        </p:nvSpPr>
        <p:spPr>
          <a:xfrm>
            <a:off x="819150" y="1901130"/>
            <a:ext cx="2594967" cy="1767780"/>
          </a:xfrm>
          <a:prstGeom prst="roundRect">
            <a:avLst>
              <a:gd name="adj" fmla="val 9699"/>
            </a:avLst>
          </a:prstGeom>
          <a:solidFill>
            <a:srgbClr val="FBFCFE"/>
          </a:solidFill>
          <a:ln w="12700">
            <a:solidFill>
              <a:srgbClr val="D3DBEA"/>
            </a:solidFill>
            <a:prstDash val="solid"/>
          </a:ln>
        </p:spPr>
      </p:sp>
      <p:sp>
        <p:nvSpPr>
          <p:cNvPr id="5" name="Text 3"/>
          <p:cNvSpPr/>
          <p:nvPr/>
        </p:nvSpPr>
        <p:spPr>
          <a:xfrm>
            <a:off x="1054100" y="2136080"/>
            <a:ext cx="218881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ファイルを保存</a:t>
            </a:r>
            <a:endParaRPr lang="en-US" sz="2000" dirty="0"/>
          </a:p>
        </p:txBody>
      </p:sp>
      <p:sp>
        <p:nvSpPr>
          <p:cNvPr id="6" name="Text 4"/>
          <p:cNvSpPr/>
          <p:nvPr/>
        </p:nvSpPr>
        <p:spPr>
          <a:xfrm>
            <a:off x="1054100" y="2555180"/>
            <a:ext cx="2188819"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Markdown を書き換えて、保存するだけ。書きかけの記事も見える。</a:t>
            </a:r>
            <a:endParaRPr lang="en-US" sz="1400" dirty="0"/>
          </a:p>
        </p:txBody>
      </p:sp>
      <p:pic>
        <p:nvPicPr>
          <p:cNvPr id="7" name="Image 0" descr="arrow-right">    </p:cNvPr>
          <p:cNvPicPr>
            <a:picLocks noChangeAspect="1"/>
          </p:cNvPicPr>
          <p:nvPr/>
        </p:nvPicPr>
        <p:blipFill>
          <a:blip r:embed="rId1"/>
          <a:srcRect l="0" r="0" t="0" b="0"/>
          <a:stretch/>
        </p:blipFill>
        <p:spPr>
          <a:xfrm>
            <a:off x="3928467" y="2414191"/>
            <a:ext cx="355600" cy="203200"/>
          </a:xfrm>
          <a:prstGeom prst="rect">
            <a:avLst/>
          </a:prstGeom>
        </p:spPr>
      </p:pic>
      <p:sp>
        <p:nvSpPr>
          <p:cNvPr id="8" name="Text 5"/>
          <p:cNvSpPr/>
          <p:nvPr/>
        </p:nvSpPr>
        <p:spPr>
          <a:xfrm>
            <a:off x="3445867" y="2668191"/>
            <a:ext cx="1320800" cy="512961"/>
          </a:xfrm>
          <a:prstGeom prst="rect">
            <a:avLst/>
          </a:prstGeom>
          <a:noFill/>
          <a:ln/>
        </p:spPr>
        <p:txBody>
          <a:bodyPr wrap="square" lIns="0" tIns="0" rIns="0" bIns="0" rtlCol="0" anchor="t">
            <a:normAutofit/>
          </a:bodyPr>
          <a:lstStyle/>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保存のたびに</a:t>
            </a:r>
            <a:endParaRPr lang="en-US" sz="1200" dirty="0"/>
          </a:p>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自動で作り直す</a:t>
            </a:r>
            <a:endParaRPr lang="en-US" sz="1200" dirty="0"/>
          </a:p>
        </p:txBody>
      </p:sp>
      <p:sp>
        <p:nvSpPr>
          <p:cNvPr id="9" name="Shape 6"/>
          <p:cNvSpPr/>
          <p:nvPr/>
        </p:nvSpPr>
        <p:spPr>
          <a:xfrm>
            <a:off x="4798417" y="1901130"/>
            <a:ext cx="2595066" cy="1767780"/>
          </a:xfrm>
          <a:prstGeom prst="roundRect">
            <a:avLst>
              <a:gd name="adj" fmla="val 9699"/>
            </a:avLst>
          </a:prstGeom>
          <a:solidFill>
            <a:srgbClr val="2F62E6"/>
          </a:solidFill>
          <a:ln w="12700">
            <a:solidFill>
              <a:srgbClr val="2F62E6"/>
            </a:solidFill>
            <a:prstDash val="solid"/>
          </a:ln>
        </p:spPr>
      </p:sp>
      <p:sp>
        <p:nvSpPr>
          <p:cNvPr id="10" name="Text 7"/>
          <p:cNvSpPr/>
          <p:nvPr/>
        </p:nvSpPr>
        <p:spPr>
          <a:xfrm>
            <a:off x="5033367" y="2136080"/>
            <a:ext cx="218892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Zen Maru Gothic" pitchFamily="34" charset="0"/>
                <a:ea typeface="Zen Maru Gothic" pitchFamily="34" charset="-122"/>
                <a:cs typeface="Zen Maru Gothic" pitchFamily="34" charset="-120"/>
              </a:rPr>
              <a:t>コンテナ</a:t>
            </a:r>
            <a:endParaRPr lang="en-US" sz="2000" dirty="0"/>
          </a:p>
        </p:txBody>
      </p:sp>
      <p:sp>
        <p:nvSpPr>
          <p:cNvPr id="11" name="Text 8"/>
          <p:cNvSpPr/>
          <p:nvPr/>
        </p:nvSpPr>
        <p:spPr>
          <a:xfrm>
            <a:off x="5033367" y="2555180"/>
            <a:ext cx="2188921"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パソコンの中に作る、小さなお試し用パソコン。中で Jekyll が動く。</a:t>
            </a:r>
            <a:endParaRPr lang="en-US" sz="1400" dirty="0"/>
          </a:p>
        </p:txBody>
      </p:sp>
      <p:pic>
        <p:nvPicPr>
          <p:cNvPr id="12" name="Image 1" descr="arrow-right">    </p:cNvPr>
          <p:cNvPicPr>
            <a:picLocks noChangeAspect="1"/>
          </p:cNvPicPr>
          <p:nvPr/>
        </p:nvPicPr>
        <p:blipFill>
          <a:blip r:embed="rId2"/>
          <a:srcRect l="0" r="0" t="0" b="0"/>
          <a:stretch/>
        </p:blipFill>
        <p:spPr>
          <a:xfrm>
            <a:off x="7907834" y="2414191"/>
            <a:ext cx="355600" cy="203200"/>
          </a:xfrm>
          <a:prstGeom prst="rect">
            <a:avLst/>
          </a:prstGeom>
        </p:spPr>
      </p:pic>
      <p:sp>
        <p:nvSpPr>
          <p:cNvPr id="13" name="Text 9"/>
          <p:cNvSpPr/>
          <p:nvPr/>
        </p:nvSpPr>
        <p:spPr>
          <a:xfrm>
            <a:off x="7425234" y="2668191"/>
            <a:ext cx="1320800" cy="512961"/>
          </a:xfrm>
          <a:prstGeom prst="rect">
            <a:avLst/>
          </a:prstGeom>
          <a:noFill/>
          <a:ln/>
        </p:spPr>
        <p:txBody>
          <a:bodyPr wrap="square" lIns="0" tIns="0" rIns="0" bIns="0" rtlCol="0" anchor="t">
            <a:normAutofit/>
          </a:bodyPr>
          <a:lstStyle/>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自分だけに</a:t>
            </a:r>
            <a:endParaRPr lang="en-US" sz="1200" dirty="0"/>
          </a:p>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見せる</a:t>
            </a:r>
            <a:endParaRPr lang="en-US" sz="1200" dirty="0"/>
          </a:p>
        </p:txBody>
      </p:sp>
      <p:sp>
        <p:nvSpPr>
          <p:cNvPr id="14" name="Shape 10"/>
          <p:cNvSpPr/>
          <p:nvPr/>
        </p:nvSpPr>
        <p:spPr>
          <a:xfrm>
            <a:off x="8777784" y="1901130"/>
            <a:ext cx="2595066" cy="1767780"/>
          </a:xfrm>
          <a:prstGeom prst="roundRect">
            <a:avLst>
              <a:gd name="adj" fmla="val 9699"/>
            </a:avLst>
          </a:prstGeom>
          <a:solidFill>
            <a:srgbClr val="FBFCFE"/>
          </a:solidFill>
          <a:ln w="12700">
            <a:solidFill>
              <a:srgbClr val="D3DBEA"/>
            </a:solidFill>
            <a:prstDash val="solid"/>
          </a:ln>
        </p:spPr>
      </p:sp>
      <p:sp>
        <p:nvSpPr>
          <p:cNvPr id="15" name="Text 11"/>
          <p:cNvSpPr/>
          <p:nvPr/>
        </p:nvSpPr>
        <p:spPr>
          <a:xfrm>
            <a:off x="9012734" y="2136080"/>
            <a:ext cx="218892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ブラウザ</a:t>
            </a:r>
            <a:endParaRPr lang="en-US" sz="2000" dirty="0"/>
          </a:p>
        </p:txBody>
      </p:sp>
      <p:sp>
        <p:nvSpPr>
          <p:cNvPr id="16" name="Text 12"/>
          <p:cNvSpPr/>
          <p:nvPr/>
        </p:nvSpPr>
        <p:spPr>
          <a:xfrm>
            <a:off x="9012734" y="2555180"/>
            <a:ext cx="2188921"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localhost:4000 を開くと、本番と同じ見た目が出る。</a:t>
            </a:r>
            <a:endParaRPr lang="en-US" sz="1400" dirty="0"/>
          </a:p>
        </p:txBody>
      </p:sp>
      <p:sp>
        <p:nvSpPr>
          <p:cNvPr id="17" name="Text 13"/>
          <p:cNvSpPr/>
          <p:nvPr/>
        </p:nvSpPr>
        <p:spPr>
          <a:xfrm>
            <a:off x="812800" y="3954661"/>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push した瞬間に世界へ出るので、その前にここで見た目を確かめる。</a:t>
            </a:r>
            <a:endParaRPr lang="en-US" sz="1600" dirty="0"/>
          </a:p>
        </p:txBody>
      </p:sp>
      <p:sp>
        <p:nvSpPr>
          <p:cNvPr id="18"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08 / 23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3B"/>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585200" y="3302000"/>
            <a:ext cx="2794000" cy="2794000"/>
          </a:xfrm>
          <a:prstGeom prst="rect">
            <a:avLst/>
          </a:prstGeom>
        </p:spPr>
      </p:pic>
      <p:pic>
        <p:nvPicPr>
          <p:cNvPr id="3" name="Image 1" descr="ellipse">    </p:cNvPr>
          <p:cNvPicPr>
            <a:picLocks noChangeAspect="1"/>
          </p:cNvPicPr>
          <p:nvPr/>
        </p:nvPicPr>
        <p:blipFill>
          <a:blip r:embed="rId2"/>
          <a:srcRect l="0" r="0" t="0" b="0"/>
          <a:stretch/>
        </p:blipFill>
        <p:spPr>
          <a:xfrm>
            <a:off x="7823200" y="4826000"/>
            <a:ext cx="1016000" cy="1016000"/>
          </a:xfrm>
          <a:prstGeom prst="rect">
            <a:avLst/>
          </a:prstGeom>
        </p:spPr>
      </p:pic>
      <p:sp>
        <p:nvSpPr>
          <p:cNvPr id="4" name="Text 0"/>
          <p:cNvSpPr/>
          <p:nvPr/>
        </p:nvSpPr>
        <p:spPr>
          <a:xfrm>
            <a:off x="812800" y="1859359"/>
            <a:ext cx="7848600"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2</a:t>
            </a:r>
            <a:endParaRPr lang="en-US" sz="1600" dirty="0"/>
          </a:p>
        </p:txBody>
      </p:sp>
      <p:sp>
        <p:nvSpPr>
          <p:cNvPr id="5" name="Text 1"/>
          <p:cNvSpPr/>
          <p:nvPr/>
        </p:nvSpPr>
        <p:spPr>
          <a:xfrm>
            <a:off x="812800" y="2311400"/>
            <a:ext cx="7848600"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ここからは、</a:t>
            </a:r>
            <a:endParaRPr lang="en-US" sz="4800" dirty="0"/>
          </a:p>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AI</a:t>
            </a:r>
            <a:r>
              <a:rPr lang="en-US" sz="4800" b="1" dirty="0">
                <a:solidFill>
                  <a:srgbClr val="F4F7FC"/>
                </a:solidFill>
                <a:latin typeface="Zen Maru Gothic" pitchFamily="34" charset="0"/>
                <a:ea typeface="Zen Maru Gothic" pitchFamily="34" charset="-122"/>
                <a:cs typeface="Zen Maru Gothic" pitchFamily="34" charset="-120"/>
              </a:rPr>
              <a:t>のしくみ</a:t>
            </a:r>
            <a:endParaRPr lang="en-US" sz="4800" dirty="0"/>
          </a:p>
        </p:txBody>
      </p:sp>
      <p:sp>
        <p:nvSpPr>
          <p:cNvPr id="6" name="Text 2"/>
          <p:cNvSpPr/>
          <p:nvPr/>
        </p:nvSpPr>
        <p:spPr>
          <a:xfrm>
            <a:off x="812800" y="4064000"/>
            <a:ext cx="7848600" cy="756841"/>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このブログの記事づくりを手伝っている「生成AI」は、中で何をしているのか。</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生成AIは、文章を「新しく作る」AI</a:t>
            </a:r>
            <a:endParaRPr lang="en-US" sz="3200" dirty="0"/>
          </a:p>
        </p:txBody>
      </p:sp>
      <p:sp>
        <p:nvSpPr>
          <p:cNvPr id="4" name="Shape 2"/>
          <p:cNvSpPr/>
          <p:nvPr/>
        </p:nvSpPr>
        <p:spPr>
          <a:xfrm>
            <a:off x="819150" y="1901130"/>
            <a:ext cx="5143500" cy="3350320"/>
          </a:xfrm>
          <a:prstGeom prst="roundRect">
            <a:avLst>
              <a:gd name="adj" fmla="val 5117"/>
            </a:avLst>
          </a:prstGeom>
          <a:solidFill>
            <a:srgbClr val="FBFCFE"/>
          </a:solidFill>
          <a:ln w="12700">
            <a:solidFill>
              <a:srgbClr val="D3DBEA"/>
            </a:solidFill>
            <a:prstDash val="solid"/>
          </a:ln>
        </p:spPr>
      </p:sp>
      <p:sp>
        <p:nvSpPr>
          <p:cNvPr id="5" name="Shape 3"/>
          <p:cNvSpPr/>
          <p:nvPr/>
        </p:nvSpPr>
        <p:spPr>
          <a:xfrm>
            <a:off x="1104900" y="2186880"/>
            <a:ext cx="609600" cy="609600"/>
          </a:xfrm>
          <a:prstGeom prst="roundRect">
            <a:avLst>
              <a:gd name="adj" fmla="val 25000"/>
            </a:avLst>
          </a:prstGeom>
          <a:solidFill>
            <a:srgbClr val="E1EAFF"/>
          </a:solidFill>
          <a:ln/>
        </p:spPr>
      </p:sp>
      <p:pic>
        <p:nvPicPr>
          <p:cNvPr id="6" name="Image 0" descr="Search">    </p:cNvPr>
          <p:cNvPicPr>
            <a:picLocks noChangeAspect="1"/>
          </p:cNvPicPr>
          <p:nvPr/>
        </p:nvPicPr>
        <p:blipFill>
          <a:blip r:embed="rId1"/>
          <a:srcRect l="0" r="0" t="0" b="0"/>
          <a:stretch/>
        </p:blipFill>
        <p:spPr>
          <a:xfrm>
            <a:off x="1231900" y="2313880"/>
            <a:ext cx="355600" cy="355600"/>
          </a:xfrm>
          <a:prstGeom prst="rect">
            <a:avLst/>
          </a:prstGeom>
        </p:spPr>
      </p:pic>
      <p:sp>
        <p:nvSpPr>
          <p:cNvPr id="7" name="Text 4"/>
          <p:cNvSpPr/>
          <p:nvPr/>
        </p:nvSpPr>
        <p:spPr>
          <a:xfrm>
            <a:off x="1104900" y="2923480"/>
            <a:ext cx="4709160"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検索エンジン</a:t>
            </a:r>
            <a:endParaRPr lang="en-US" sz="2200" dirty="0"/>
          </a:p>
        </p:txBody>
      </p:sp>
      <p:sp>
        <p:nvSpPr>
          <p:cNvPr id="8" name="Text 5"/>
          <p:cNvSpPr/>
          <p:nvPr/>
        </p:nvSpPr>
        <p:spPr>
          <a:xfrm>
            <a:off x="1104900" y="3413621"/>
            <a:ext cx="4709160"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すでにあるページを</a:t>
            </a:r>
            <a:r>
              <a:rPr lang="en-US" sz="1600" b="1" dirty="0">
                <a:solidFill>
                  <a:srgbClr val="16233B"/>
                </a:solidFill>
                <a:latin typeface="BIZ UDPGothic" pitchFamily="34" charset="0"/>
                <a:ea typeface="BIZ UDPGothic" pitchFamily="34" charset="-122"/>
                <a:cs typeface="BIZ UDPGothic" pitchFamily="34" charset="-120"/>
              </a:rPr>
              <a:t>探して</a:t>
            </a:r>
            <a:r>
              <a:rPr lang="en-US" sz="1600" dirty="0">
                <a:solidFill>
                  <a:srgbClr val="16233B"/>
                </a:solidFill>
                <a:latin typeface="BIZ UDPGothic" pitchFamily="34" charset="0"/>
                <a:ea typeface="BIZ UDPGothic" pitchFamily="34" charset="-122"/>
                <a:cs typeface="BIZ UDPGothic" pitchFamily="34" charset="-120"/>
              </a:rPr>
              <a:t>、見せてくれる。</a:t>
            </a:r>
            <a:endParaRPr lang="en-US" sz="1600" dirty="0"/>
          </a:p>
        </p:txBody>
      </p:sp>
      <p:sp>
        <p:nvSpPr>
          <p:cNvPr id="9" name="Text 6"/>
          <p:cNvSpPr/>
          <p:nvPr/>
        </p:nvSpPr>
        <p:spPr>
          <a:xfrm>
            <a:off x="1104900" y="3865662"/>
            <a:ext cx="470916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答え：だれかが書いたものが、そのまま出る</a:t>
            </a:r>
            <a:endParaRPr lang="en-US" sz="1400" dirty="0"/>
          </a:p>
        </p:txBody>
      </p:sp>
      <p:sp>
        <p:nvSpPr>
          <p:cNvPr id="10" name="Shape 7"/>
          <p:cNvSpPr/>
          <p:nvPr/>
        </p:nvSpPr>
        <p:spPr>
          <a:xfrm>
            <a:off x="6229350" y="1901130"/>
            <a:ext cx="5143500" cy="3350320"/>
          </a:xfrm>
          <a:prstGeom prst="roundRect">
            <a:avLst>
              <a:gd name="adj" fmla="val 5117"/>
            </a:avLst>
          </a:prstGeom>
          <a:solidFill>
            <a:srgbClr val="2F62E6"/>
          </a:solidFill>
          <a:ln w="12700">
            <a:solidFill>
              <a:srgbClr val="2F62E6"/>
            </a:solidFill>
            <a:prstDash val="solid"/>
          </a:ln>
        </p:spPr>
      </p:sp>
      <p:sp>
        <p:nvSpPr>
          <p:cNvPr id="11" name="Shape 8"/>
          <p:cNvSpPr/>
          <p:nvPr/>
        </p:nvSpPr>
        <p:spPr>
          <a:xfrm>
            <a:off x="6515100" y="2186880"/>
            <a:ext cx="609600" cy="609600"/>
          </a:xfrm>
          <a:prstGeom prst="roundRect">
            <a:avLst>
              <a:gd name="adj" fmla="val 25000"/>
            </a:avLst>
          </a:prstGeom>
          <a:solidFill>
            <a:srgbClr val="FFC83D"/>
          </a:solidFill>
          <a:ln/>
        </p:spPr>
      </p:sp>
      <p:pic>
        <p:nvPicPr>
          <p:cNvPr id="12" name="Image 1" descr="Lightbulb">    </p:cNvPr>
          <p:cNvPicPr>
            <a:picLocks noChangeAspect="1"/>
          </p:cNvPicPr>
          <p:nvPr/>
        </p:nvPicPr>
        <p:blipFill>
          <a:blip r:embed="rId2"/>
          <a:srcRect l="0" r="0" t="0" b="0"/>
          <a:stretch/>
        </p:blipFill>
        <p:spPr>
          <a:xfrm>
            <a:off x="6642100" y="2313880"/>
            <a:ext cx="355600" cy="355600"/>
          </a:xfrm>
          <a:prstGeom prst="rect">
            <a:avLst/>
          </a:prstGeom>
        </p:spPr>
      </p:pic>
      <p:sp>
        <p:nvSpPr>
          <p:cNvPr id="13" name="Text 9"/>
          <p:cNvSpPr/>
          <p:nvPr/>
        </p:nvSpPr>
        <p:spPr>
          <a:xfrm>
            <a:off x="6515100" y="2923480"/>
            <a:ext cx="4709160"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生成AI</a:t>
            </a:r>
            <a:endParaRPr lang="en-US" sz="2200" dirty="0"/>
          </a:p>
        </p:txBody>
      </p:sp>
      <p:sp>
        <p:nvSpPr>
          <p:cNvPr id="14" name="Text 10"/>
          <p:cNvSpPr/>
          <p:nvPr/>
        </p:nvSpPr>
        <p:spPr>
          <a:xfrm>
            <a:off x="6515100" y="3413621"/>
            <a:ext cx="4709160"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FFFFFF"/>
                </a:solidFill>
                <a:latin typeface="BIZ UDPGothic" pitchFamily="34" charset="0"/>
                <a:ea typeface="BIZ UDPGothic" pitchFamily="34" charset="-122"/>
                <a:cs typeface="BIZ UDPGothic" pitchFamily="34" charset="-120"/>
              </a:rPr>
              <a:t>質問に合わせて、文章を</a:t>
            </a:r>
            <a:r>
              <a:rPr lang="en-US" sz="1600" b="1" dirty="0">
                <a:solidFill>
                  <a:srgbClr val="FFFFFF"/>
                </a:solidFill>
                <a:latin typeface="BIZ UDPGothic" pitchFamily="34" charset="0"/>
                <a:ea typeface="BIZ UDPGothic" pitchFamily="34" charset="-122"/>
                <a:cs typeface="BIZ UDPGothic" pitchFamily="34" charset="-120"/>
              </a:rPr>
              <a:t>その場で作り出す</a:t>
            </a:r>
            <a:r>
              <a:rPr lang="en-US" sz="1600" dirty="0">
                <a:solidFill>
                  <a:srgbClr val="FFFFFF"/>
                </a:solidFill>
                <a:latin typeface="BIZ UDPGothic" pitchFamily="34" charset="0"/>
                <a:ea typeface="BIZ UDPGothic" pitchFamily="34" charset="-122"/>
                <a:cs typeface="BIZ UDPGothic" pitchFamily="34" charset="-120"/>
              </a:rPr>
              <a:t>。</a:t>
            </a:r>
            <a:endParaRPr lang="en-US" sz="1600" dirty="0"/>
          </a:p>
        </p:txBody>
      </p:sp>
      <p:sp>
        <p:nvSpPr>
          <p:cNvPr id="15" name="Text 11"/>
          <p:cNvSpPr/>
          <p:nvPr/>
        </p:nvSpPr>
        <p:spPr>
          <a:xfrm>
            <a:off x="6515100" y="3865662"/>
            <a:ext cx="470916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答え：世界に1つだけの文章が、毎回できる</a:t>
            </a:r>
            <a:endParaRPr lang="en-US" sz="1400" dirty="0"/>
          </a:p>
        </p:txBody>
      </p:sp>
      <p:sp>
        <p:nvSpPr>
          <p:cNvPr id="16" name="Text 12"/>
          <p:cNvSpPr/>
          <p:nvPr/>
        </p:nvSpPr>
        <p:spPr>
          <a:xfrm>
            <a:off x="812800" y="5537200"/>
            <a:ext cx="10883392"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ChatGPT・Claude・Gemini などが、ここに入ります。</a:t>
            </a:r>
            <a:endParaRPr lang="en-US" sz="1500" dirty="0"/>
          </a:p>
        </p:txBody>
      </p:sp>
      <p:sp>
        <p:nvSpPr>
          <p:cNvPr id="17"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8"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10 / 23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中身は、「次のことば」の予想</a:t>
            </a:r>
            <a:endParaRPr lang="en-US" sz="3200" dirty="0"/>
          </a:p>
        </p:txBody>
      </p:sp>
      <p:sp>
        <p:nvSpPr>
          <p:cNvPr id="4" name="Text 2"/>
          <p:cNvSpPr/>
          <p:nvPr/>
        </p:nvSpPr>
        <p:spPr>
          <a:xfrm>
            <a:off x="812800" y="1894780"/>
            <a:ext cx="4028948"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たとえば、この続きは？</a:t>
            </a:r>
            <a:endParaRPr lang="en-US" sz="1600" dirty="0"/>
          </a:p>
        </p:txBody>
      </p:sp>
      <p:sp>
        <p:nvSpPr>
          <p:cNvPr id="5" name="Text 3"/>
          <p:cNvSpPr/>
          <p:nvPr/>
        </p:nvSpPr>
        <p:spPr>
          <a:xfrm>
            <a:off x="812800" y="2321421"/>
            <a:ext cx="4028948" cy="619720"/>
          </a:xfrm>
          <a:prstGeom prst="rect">
            <a:avLst/>
          </a:prstGeom>
          <a:noFill/>
          <a:ln/>
        </p:spPr>
        <p:txBody>
          <a:bodyPr wrap="square" lIns="0" tIns="0" rIns="0" bIns="0" rtlCol="0" anchor="t">
            <a:normAutofit/>
          </a:bodyPr>
          <a:lstStyle/>
          <a:p>
            <a:pPr algn="l" indent="0" marL="0">
              <a:lnSpc>
                <a:spcPts val="4680"/>
              </a:lnSpc>
              <a:buNone/>
            </a:pPr>
            <a:r>
              <a:rPr lang="en-US" sz="3600" b="1" dirty="0">
                <a:solidFill>
                  <a:srgbClr val="16233B"/>
                </a:solidFill>
                <a:latin typeface="Zen Maru Gothic" pitchFamily="34" charset="0"/>
                <a:ea typeface="Zen Maru Gothic" pitchFamily="34" charset="-122"/>
                <a:cs typeface="Zen Maru Gothic" pitchFamily="34" charset="-120"/>
              </a:rPr>
              <a:t>明日の天気は、</a:t>
            </a:r>
            <a:endParaRPr lang="en-US" sz="3600" dirty="0"/>
          </a:p>
        </p:txBody>
      </p:sp>
      <p:sp>
        <p:nvSpPr>
          <p:cNvPr id="6" name="Text 4"/>
          <p:cNvSpPr/>
          <p:nvPr/>
        </p:nvSpPr>
        <p:spPr>
          <a:xfrm>
            <a:off x="812800" y="3118941"/>
            <a:ext cx="4028948" cy="67548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スマホの「予測変換」を、とてつもなく大きくしたもの。</a:t>
            </a:r>
            <a:endParaRPr lang="en-US" sz="1600" dirty="0"/>
          </a:p>
        </p:txBody>
      </p:sp>
      <p:sp>
        <p:nvSpPr>
          <p:cNvPr id="7" name="Shape 5"/>
          <p:cNvSpPr/>
          <p:nvPr/>
        </p:nvSpPr>
        <p:spPr>
          <a:xfrm>
            <a:off x="819150" y="3876973"/>
            <a:ext cx="3898900" cy="1455341"/>
          </a:xfrm>
          <a:prstGeom prst="roundRect">
            <a:avLst>
              <a:gd name="adj" fmla="val 11781"/>
            </a:avLst>
          </a:prstGeom>
          <a:solidFill>
            <a:srgbClr val="FFF0BD"/>
          </a:solidFill>
          <a:ln w="12700">
            <a:solidFill>
              <a:srgbClr val="FFC83D"/>
            </a:solidFill>
            <a:prstDash val="solid"/>
          </a:ln>
        </p:spPr>
      </p:sp>
      <p:sp>
        <p:nvSpPr>
          <p:cNvPr id="8" name="Text 6"/>
          <p:cNvSpPr/>
          <p:nvPr/>
        </p:nvSpPr>
        <p:spPr>
          <a:xfrm>
            <a:off x="1028700" y="4035723"/>
            <a:ext cx="3584194" cy="1163241"/>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AIは、これまでに読んだ大量の文章をもとに、「次に来やすいことば」を数字にして並べる。いちばん出やすいことばを選ぶこともあれば、少し違うことばを選ぶこともある。</a:t>
            </a:r>
            <a:endParaRPr lang="en-US" sz="1400" dirty="0"/>
          </a:p>
        </p:txBody>
      </p:sp>
      <p:sp>
        <p:nvSpPr>
          <p:cNvPr id="9" name="Text 7"/>
          <p:cNvSpPr/>
          <p:nvPr/>
        </p:nvSpPr>
        <p:spPr>
          <a:xfrm>
            <a:off x="5029200" y="1894780"/>
            <a:ext cx="6540500" cy="30986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2350C9"/>
                </a:solidFill>
                <a:latin typeface="BIZ UDPGothic" pitchFamily="34" charset="0"/>
                <a:ea typeface="BIZ UDPGothic" pitchFamily="34" charset="-122"/>
                <a:cs typeface="BIZ UDPGothic" pitchFamily="34" charset="-120"/>
              </a:rPr>
              <a:t>AIが並べた「次のことば」の予想</a:t>
            </a:r>
            <a:endParaRPr lang="en-US" sz="1400" dirty="0"/>
          </a:p>
        </p:txBody>
      </p:sp>
      <p:sp>
        <p:nvSpPr>
          <p:cNvPr id="10" name="Text 8"/>
          <p:cNvSpPr/>
          <p:nvPr/>
        </p:nvSpPr>
        <p:spPr>
          <a:xfrm>
            <a:off x="5029200" y="23316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晴れ</a:t>
            </a:r>
            <a:endParaRPr lang="en-US" sz="2000" dirty="0"/>
          </a:p>
        </p:txBody>
      </p:sp>
      <p:sp>
        <p:nvSpPr>
          <p:cNvPr id="11" name="Shape 9"/>
          <p:cNvSpPr/>
          <p:nvPr/>
        </p:nvSpPr>
        <p:spPr>
          <a:xfrm>
            <a:off x="6070600" y="2318941"/>
            <a:ext cx="2895600" cy="355600"/>
          </a:xfrm>
          <a:prstGeom prst="roundRect">
            <a:avLst>
              <a:gd name="adj" fmla="val 25000"/>
            </a:avLst>
          </a:prstGeom>
          <a:solidFill>
            <a:srgbClr val="2F62E6"/>
          </a:solidFill>
          <a:ln/>
        </p:spPr>
      </p:sp>
      <p:sp>
        <p:nvSpPr>
          <p:cNvPr id="12" name="Text 10"/>
          <p:cNvSpPr/>
          <p:nvPr/>
        </p:nvSpPr>
        <p:spPr>
          <a:xfrm>
            <a:off x="9118600" y="2364680"/>
            <a:ext cx="56276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60%</a:t>
            </a:r>
            <a:endParaRPr lang="en-US" sz="1600" dirty="0"/>
          </a:p>
        </p:txBody>
      </p:sp>
      <p:sp>
        <p:nvSpPr>
          <p:cNvPr id="13" name="Text 11"/>
          <p:cNvSpPr/>
          <p:nvPr/>
        </p:nvSpPr>
        <p:spPr>
          <a:xfrm>
            <a:off x="5029200" y="28269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曇り</a:t>
            </a:r>
            <a:endParaRPr lang="en-US" sz="2000" dirty="0"/>
          </a:p>
        </p:txBody>
      </p:sp>
      <p:sp>
        <p:nvSpPr>
          <p:cNvPr id="14" name="Shape 12"/>
          <p:cNvSpPr/>
          <p:nvPr/>
        </p:nvSpPr>
        <p:spPr>
          <a:xfrm>
            <a:off x="6070600" y="2814241"/>
            <a:ext cx="1206500" cy="355600"/>
          </a:xfrm>
          <a:prstGeom prst="roundRect">
            <a:avLst>
              <a:gd name="adj" fmla="val 25000"/>
            </a:avLst>
          </a:prstGeom>
          <a:solidFill>
            <a:srgbClr val="9DB4EE"/>
          </a:solidFill>
          <a:ln/>
        </p:spPr>
      </p:sp>
      <p:sp>
        <p:nvSpPr>
          <p:cNvPr id="15" name="Text 13"/>
          <p:cNvSpPr/>
          <p:nvPr/>
        </p:nvSpPr>
        <p:spPr>
          <a:xfrm>
            <a:off x="7429500" y="2859980"/>
            <a:ext cx="56276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25%</a:t>
            </a:r>
            <a:endParaRPr lang="en-US" sz="1600" dirty="0"/>
          </a:p>
        </p:txBody>
      </p:sp>
      <p:sp>
        <p:nvSpPr>
          <p:cNvPr id="16" name="Text 14"/>
          <p:cNvSpPr/>
          <p:nvPr/>
        </p:nvSpPr>
        <p:spPr>
          <a:xfrm>
            <a:off x="5029200" y="33222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雨</a:t>
            </a:r>
            <a:endParaRPr lang="en-US" sz="2000" dirty="0"/>
          </a:p>
        </p:txBody>
      </p:sp>
      <p:sp>
        <p:nvSpPr>
          <p:cNvPr id="17" name="Shape 15"/>
          <p:cNvSpPr/>
          <p:nvPr/>
        </p:nvSpPr>
        <p:spPr>
          <a:xfrm>
            <a:off x="6070600" y="3309541"/>
            <a:ext cx="482600" cy="355600"/>
          </a:xfrm>
          <a:prstGeom prst="roundRect">
            <a:avLst>
              <a:gd name="adj" fmla="val 25000"/>
            </a:avLst>
          </a:prstGeom>
          <a:solidFill>
            <a:srgbClr val="9DB4EE"/>
          </a:solidFill>
          <a:ln/>
        </p:spPr>
      </p:sp>
      <p:sp>
        <p:nvSpPr>
          <p:cNvPr id="18" name="Text 16"/>
          <p:cNvSpPr/>
          <p:nvPr/>
        </p:nvSpPr>
        <p:spPr>
          <a:xfrm>
            <a:off x="6705600" y="3355280"/>
            <a:ext cx="53637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10%</a:t>
            </a:r>
            <a:endParaRPr lang="en-US" sz="1600" dirty="0"/>
          </a:p>
        </p:txBody>
      </p:sp>
      <p:sp>
        <p:nvSpPr>
          <p:cNvPr id="19" name="Text 17"/>
          <p:cNvSpPr/>
          <p:nvPr/>
        </p:nvSpPr>
        <p:spPr>
          <a:xfrm>
            <a:off x="5029200" y="38175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ほか</a:t>
            </a:r>
            <a:endParaRPr lang="en-US" sz="2000" dirty="0"/>
          </a:p>
        </p:txBody>
      </p:sp>
      <p:sp>
        <p:nvSpPr>
          <p:cNvPr id="20" name="Shape 18"/>
          <p:cNvSpPr/>
          <p:nvPr/>
        </p:nvSpPr>
        <p:spPr>
          <a:xfrm>
            <a:off x="6070600" y="3804841"/>
            <a:ext cx="241300" cy="355600"/>
          </a:xfrm>
          <a:prstGeom prst="roundRect">
            <a:avLst>
              <a:gd name="adj" fmla="val 36842"/>
            </a:avLst>
          </a:prstGeom>
          <a:solidFill>
            <a:srgbClr val="9DB4EE"/>
          </a:solidFill>
          <a:ln/>
        </p:spPr>
      </p:sp>
      <p:sp>
        <p:nvSpPr>
          <p:cNvPr id="21" name="Text 19"/>
          <p:cNvSpPr/>
          <p:nvPr/>
        </p:nvSpPr>
        <p:spPr>
          <a:xfrm>
            <a:off x="6464300" y="3850580"/>
            <a:ext cx="4083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5%</a:t>
            </a:r>
            <a:endParaRPr lang="en-US" sz="1600" dirty="0"/>
          </a:p>
        </p:txBody>
      </p:sp>
      <p:sp>
        <p:nvSpPr>
          <p:cNvPr id="22" name="Text 20"/>
          <p:cNvSpPr/>
          <p:nvPr/>
        </p:nvSpPr>
        <p:spPr>
          <a:xfrm>
            <a:off x="5029200" y="4350941"/>
            <a:ext cx="65405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数字はイメージです</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4" name="Text 2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11 / 23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1語ずつ書き足して、文章になる</a:t>
            </a:r>
            <a:endParaRPr lang="en-US" sz="3200" dirty="0"/>
          </a:p>
        </p:txBody>
      </p:sp>
      <p:sp>
        <p:nvSpPr>
          <p:cNvPr id="4" name="Shape 2"/>
          <p:cNvSpPr/>
          <p:nvPr/>
        </p:nvSpPr>
        <p:spPr>
          <a:xfrm>
            <a:off x="819150" y="1901130"/>
            <a:ext cx="10553700" cy="688280"/>
          </a:xfrm>
          <a:prstGeom prst="roundRect">
            <a:avLst>
              <a:gd name="adj" fmla="val 21220"/>
            </a:avLst>
          </a:prstGeom>
          <a:solidFill>
            <a:srgbClr val="FBFCFE"/>
          </a:solidFill>
          <a:ln w="12700">
            <a:solidFill>
              <a:srgbClr val="D3DBEA"/>
            </a:solidFill>
            <a:prstDash val="solid"/>
          </a:ln>
        </p:spPr>
      </p:sp>
      <p:sp>
        <p:nvSpPr>
          <p:cNvPr id="5" name="Text 3"/>
          <p:cNvSpPr/>
          <p:nvPr/>
        </p:nvSpPr>
        <p:spPr>
          <a:xfrm>
            <a:off x="1028700" y="212080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1回目の予想</a:t>
            </a:r>
            <a:endParaRPr lang="en-US" sz="1400" dirty="0"/>
          </a:p>
        </p:txBody>
      </p:sp>
      <p:sp>
        <p:nvSpPr>
          <p:cNvPr id="6" name="Text 4"/>
          <p:cNvSpPr/>
          <p:nvPr/>
        </p:nvSpPr>
        <p:spPr>
          <a:xfrm>
            <a:off x="2489200" y="2047180"/>
            <a:ext cx="1883664"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a:t>
            </a:r>
            <a:endParaRPr lang="en-US" sz="2400" dirty="0"/>
          </a:p>
        </p:txBody>
      </p:sp>
      <p:sp>
        <p:nvSpPr>
          <p:cNvPr id="7" name="Shape 5"/>
          <p:cNvSpPr/>
          <p:nvPr/>
        </p:nvSpPr>
        <p:spPr>
          <a:xfrm>
            <a:off x="4445000" y="2034480"/>
            <a:ext cx="863600" cy="421580"/>
          </a:xfrm>
          <a:prstGeom prst="roundRect">
            <a:avLst>
              <a:gd name="adj" fmla="val 21087"/>
            </a:avLst>
          </a:prstGeom>
          <a:solidFill>
            <a:srgbClr val="FFC83D"/>
          </a:solidFill>
          <a:ln/>
        </p:spPr>
      </p:sp>
      <p:sp>
        <p:nvSpPr>
          <p:cNvPr id="8" name="Text 6"/>
          <p:cNvSpPr/>
          <p:nvPr/>
        </p:nvSpPr>
        <p:spPr>
          <a:xfrm>
            <a:off x="4572000" y="2047180"/>
            <a:ext cx="6604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晴れ</a:t>
            </a:r>
            <a:endParaRPr lang="en-US" sz="2400" dirty="0"/>
          </a:p>
        </p:txBody>
      </p:sp>
      <p:sp>
        <p:nvSpPr>
          <p:cNvPr id="9" name="Shape 7"/>
          <p:cNvSpPr/>
          <p:nvPr/>
        </p:nvSpPr>
        <p:spPr>
          <a:xfrm>
            <a:off x="819150" y="2729111"/>
            <a:ext cx="10553700" cy="688280"/>
          </a:xfrm>
          <a:prstGeom prst="roundRect">
            <a:avLst>
              <a:gd name="adj" fmla="val 21220"/>
            </a:avLst>
          </a:prstGeom>
          <a:solidFill>
            <a:srgbClr val="FBFCFE"/>
          </a:solidFill>
          <a:ln w="12700">
            <a:solidFill>
              <a:srgbClr val="D3DBEA"/>
            </a:solidFill>
            <a:prstDash val="solid"/>
          </a:ln>
        </p:spPr>
      </p:sp>
      <p:sp>
        <p:nvSpPr>
          <p:cNvPr id="10" name="Text 8"/>
          <p:cNvSpPr/>
          <p:nvPr/>
        </p:nvSpPr>
        <p:spPr>
          <a:xfrm>
            <a:off x="1028700" y="294878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2回目の予想</a:t>
            </a:r>
            <a:endParaRPr lang="en-US" sz="1400" dirty="0"/>
          </a:p>
        </p:txBody>
      </p:sp>
      <p:sp>
        <p:nvSpPr>
          <p:cNvPr id="11" name="Text 9"/>
          <p:cNvSpPr/>
          <p:nvPr/>
        </p:nvSpPr>
        <p:spPr>
          <a:xfrm>
            <a:off x="2489200" y="2875161"/>
            <a:ext cx="2511552"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明日の天気は晴れ</a:t>
            </a:r>
            <a:endParaRPr lang="en-US" sz="2400" dirty="0"/>
          </a:p>
        </p:txBody>
      </p:sp>
      <p:sp>
        <p:nvSpPr>
          <p:cNvPr id="12" name="Shape 10"/>
          <p:cNvSpPr/>
          <p:nvPr/>
        </p:nvSpPr>
        <p:spPr>
          <a:xfrm>
            <a:off x="5054600" y="2862461"/>
            <a:ext cx="863600" cy="421580"/>
          </a:xfrm>
          <a:prstGeom prst="roundRect">
            <a:avLst>
              <a:gd name="adj" fmla="val 21087"/>
            </a:avLst>
          </a:prstGeom>
          <a:solidFill>
            <a:srgbClr val="FFC83D"/>
          </a:solidFill>
          <a:ln/>
        </p:spPr>
      </p:sp>
      <p:sp>
        <p:nvSpPr>
          <p:cNvPr id="13" name="Text 11"/>
          <p:cNvSpPr/>
          <p:nvPr/>
        </p:nvSpPr>
        <p:spPr>
          <a:xfrm>
            <a:off x="5181600" y="2875161"/>
            <a:ext cx="6604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です</a:t>
            </a:r>
            <a:endParaRPr lang="en-US" sz="2400" dirty="0"/>
          </a:p>
        </p:txBody>
      </p:sp>
      <p:sp>
        <p:nvSpPr>
          <p:cNvPr id="14" name="Shape 12"/>
          <p:cNvSpPr/>
          <p:nvPr/>
        </p:nvSpPr>
        <p:spPr>
          <a:xfrm>
            <a:off x="819150" y="3557091"/>
            <a:ext cx="10553700" cy="688280"/>
          </a:xfrm>
          <a:prstGeom prst="roundRect">
            <a:avLst>
              <a:gd name="adj" fmla="val 21220"/>
            </a:avLst>
          </a:prstGeom>
          <a:solidFill>
            <a:srgbClr val="FBFCFE"/>
          </a:solidFill>
          <a:ln w="12700">
            <a:solidFill>
              <a:srgbClr val="D3DBEA"/>
            </a:solidFill>
            <a:prstDash val="solid"/>
          </a:ln>
        </p:spPr>
      </p:sp>
      <p:sp>
        <p:nvSpPr>
          <p:cNvPr id="15" name="Text 13"/>
          <p:cNvSpPr/>
          <p:nvPr/>
        </p:nvSpPr>
        <p:spPr>
          <a:xfrm>
            <a:off x="1028700" y="3776762"/>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3回目の予想</a:t>
            </a:r>
            <a:endParaRPr lang="en-US" sz="1400" dirty="0"/>
          </a:p>
        </p:txBody>
      </p:sp>
      <p:sp>
        <p:nvSpPr>
          <p:cNvPr id="16" name="Text 14"/>
          <p:cNvSpPr/>
          <p:nvPr/>
        </p:nvSpPr>
        <p:spPr>
          <a:xfrm>
            <a:off x="2489200" y="3703141"/>
            <a:ext cx="313944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明日の天気は晴れです</a:t>
            </a:r>
            <a:endParaRPr lang="en-US" sz="2400" dirty="0"/>
          </a:p>
        </p:txBody>
      </p:sp>
      <p:sp>
        <p:nvSpPr>
          <p:cNvPr id="17" name="Shape 15"/>
          <p:cNvSpPr/>
          <p:nvPr/>
        </p:nvSpPr>
        <p:spPr>
          <a:xfrm>
            <a:off x="5664200" y="3690441"/>
            <a:ext cx="558800" cy="421580"/>
          </a:xfrm>
          <a:prstGeom prst="roundRect">
            <a:avLst>
              <a:gd name="adj" fmla="val 21087"/>
            </a:avLst>
          </a:prstGeom>
          <a:solidFill>
            <a:srgbClr val="FFC83D"/>
          </a:solidFill>
          <a:ln/>
        </p:spPr>
      </p:sp>
      <p:sp>
        <p:nvSpPr>
          <p:cNvPr id="18" name="Text 16"/>
          <p:cNvSpPr/>
          <p:nvPr/>
        </p:nvSpPr>
        <p:spPr>
          <a:xfrm>
            <a:off x="5791200" y="3703141"/>
            <a:ext cx="3556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t>
            </a:r>
            <a:endParaRPr lang="en-US" sz="2400" dirty="0"/>
          </a:p>
        </p:txBody>
      </p:sp>
      <p:sp>
        <p:nvSpPr>
          <p:cNvPr id="19" name="Shape 17"/>
          <p:cNvSpPr/>
          <p:nvPr/>
        </p:nvSpPr>
        <p:spPr>
          <a:xfrm>
            <a:off x="819150" y="4537472"/>
            <a:ext cx="10553700" cy="1018381"/>
          </a:xfrm>
          <a:prstGeom prst="roundRect">
            <a:avLst>
              <a:gd name="adj" fmla="val 16836"/>
            </a:avLst>
          </a:prstGeom>
          <a:solidFill>
            <a:srgbClr val="E1EAFF"/>
          </a:solidFill>
          <a:ln w="12700">
            <a:solidFill>
              <a:srgbClr val="E1EAFF"/>
            </a:solidFill>
            <a:prstDash val="solid"/>
          </a:ln>
        </p:spPr>
      </p:sp>
      <p:sp>
        <p:nvSpPr>
          <p:cNvPr id="20" name="Text 18"/>
          <p:cNvSpPr/>
          <p:nvPr/>
        </p:nvSpPr>
        <p:spPr>
          <a:xfrm>
            <a:off x="1054100" y="4721622"/>
            <a:ext cx="10386314" cy="67548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16233B"/>
                </a:solidFill>
                <a:latin typeface="BIZ UDPGothic" pitchFamily="34" charset="0"/>
                <a:ea typeface="BIZ UDPGothic" pitchFamily="34" charset="-122"/>
                <a:cs typeface="BIZ UDPGothic" pitchFamily="34" charset="-120"/>
              </a:rPr>
              <a:t>答えを1語ずつ足しては、また予想する。</a:t>
            </a:r>
            <a:r>
              <a:rPr lang="en-US" sz="1600" dirty="0">
                <a:solidFill>
                  <a:srgbClr val="16233B"/>
                </a:solidFill>
                <a:latin typeface="BIZ UDPGothic" pitchFamily="34" charset="0"/>
                <a:ea typeface="BIZ UDPGothic" pitchFamily="34" charset="-122"/>
                <a:cs typeface="BIZ UDPGothic" pitchFamily="34" charset="-120"/>
              </a:rPr>
              <a:t>これを何百回もくりかえして、長い文章ができあがる。AIは、最初から全文を思い描いているわけではない。</a:t>
            </a:r>
            <a:endParaRPr lang="en-US" sz="16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2"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12 / 23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AIは文字を「トークン」に区切って読む</a:t>
            </a:r>
            <a:endParaRPr lang="en-US" sz="3200" dirty="0"/>
          </a:p>
        </p:txBody>
      </p:sp>
      <p:sp>
        <p:nvSpPr>
          <p:cNvPr id="4" name="Text 2"/>
          <p:cNvSpPr/>
          <p:nvPr/>
        </p:nvSpPr>
        <p:spPr>
          <a:xfrm>
            <a:off x="812800" y="1894780"/>
            <a:ext cx="10883392"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「生成AIは、明日から使える」を区切ると…</a:t>
            </a:r>
            <a:endParaRPr lang="en-US" sz="1500" dirty="0"/>
          </a:p>
        </p:txBody>
      </p:sp>
      <p:sp>
        <p:nvSpPr>
          <p:cNvPr id="5" name="Shape 3"/>
          <p:cNvSpPr/>
          <p:nvPr/>
        </p:nvSpPr>
        <p:spPr>
          <a:xfrm>
            <a:off x="819150" y="2320230"/>
            <a:ext cx="977900" cy="1064121"/>
          </a:xfrm>
          <a:prstGeom prst="roundRect">
            <a:avLst>
              <a:gd name="adj" fmla="val 17532"/>
            </a:avLst>
          </a:prstGeom>
          <a:solidFill>
            <a:srgbClr val="FBFCFE"/>
          </a:solidFill>
          <a:ln w="12700">
            <a:solidFill>
              <a:srgbClr val="D3DBEA"/>
            </a:solidFill>
            <a:prstDash val="solid"/>
          </a:ln>
        </p:spPr>
      </p:sp>
      <p:sp>
        <p:nvSpPr>
          <p:cNvPr id="6" name="Text 4"/>
          <p:cNvSpPr/>
          <p:nvPr/>
        </p:nvSpPr>
        <p:spPr>
          <a:xfrm>
            <a:off x="97790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生成</a:t>
            </a:r>
            <a:endParaRPr lang="en-US" sz="2400" dirty="0"/>
          </a:p>
        </p:txBody>
      </p:sp>
      <p:pic>
        <p:nvPicPr>
          <p:cNvPr id="7" name="Image 0" descr="line">    </p:cNvPr>
          <p:cNvPicPr>
            <a:picLocks noChangeAspect="1"/>
          </p:cNvPicPr>
          <p:nvPr/>
        </p:nvPicPr>
        <p:blipFill>
          <a:blip r:embed="rId1"/>
          <a:srcRect l="0" r="0" t="0" b="0"/>
          <a:stretch/>
        </p:blipFill>
        <p:spPr>
          <a:xfrm>
            <a:off x="1295400" y="2913261"/>
            <a:ext cx="25400" cy="25400"/>
          </a:xfrm>
          <a:prstGeom prst="rect">
            <a:avLst/>
          </a:prstGeom>
        </p:spPr>
      </p:pic>
      <p:sp>
        <p:nvSpPr>
          <p:cNvPr id="8" name="Text 5"/>
          <p:cNvSpPr/>
          <p:nvPr/>
        </p:nvSpPr>
        <p:spPr>
          <a:xfrm>
            <a:off x="106928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4821</a:t>
            </a:r>
            <a:endParaRPr lang="en-US" sz="1400" dirty="0"/>
          </a:p>
        </p:txBody>
      </p:sp>
      <p:sp>
        <p:nvSpPr>
          <p:cNvPr id="9" name="Shape 6"/>
          <p:cNvSpPr/>
          <p:nvPr/>
        </p:nvSpPr>
        <p:spPr>
          <a:xfrm>
            <a:off x="1898650" y="2320230"/>
            <a:ext cx="688380" cy="1064121"/>
          </a:xfrm>
          <a:prstGeom prst="roundRect">
            <a:avLst>
              <a:gd name="adj" fmla="val 24906"/>
            </a:avLst>
          </a:prstGeom>
          <a:solidFill>
            <a:srgbClr val="FBFCFE"/>
          </a:solidFill>
          <a:ln w="12700">
            <a:solidFill>
              <a:srgbClr val="D3DBEA"/>
            </a:solidFill>
            <a:prstDash val="solid"/>
          </a:ln>
        </p:spPr>
      </p:sp>
      <p:sp>
        <p:nvSpPr>
          <p:cNvPr id="10" name="Text 7"/>
          <p:cNvSpPr/>
          <p:nvPr/>
        </p:nvSpPr>
        <p:spPr>
          <a:xfrm>
            <a:off x="2077045" y="2453580"/>
            <a:ext cx="331589"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AI</a:t>
            </a:r>
            <a:endParaRPr lang="en-US" sz="2400" dirty="0"/>
          </a:p>
        </p:txBody>
      </p:sp>
      <p:pic>
        <p:nvPicPr>
          <p:cNvPr id="11" name="Image 1" descr="line">    </p:cNvPr>
          <p:cNvPicPr>
            <a:picLocks noChangeAspect="1"/>
          </p:cNvPicPr>
          <p:nvPr/>
        </p:nvPicPr>
        <p:blipFill>
          <a:blip r:embed="rId2"/>
          <a:srcRect l="0" r="0" t="0" b="0"/>
          <a:stretch/>
        </p:blipFill>
        <p:spPr>
          <a:xfrm>
            <a:off x="2230140" y="2913261"/>
            <a:ext cx="25400" cy="25400"/>
          </a:xfrm>
          <a:prstGeom prst="rect">
            <a:avLst/>
          </a:prstGeom>
        </p:spPr>
      </p:pic>
      <p:sp>
        <p:nvSpPr>
          <p:cNvPr id="12" name="Text 8"/>
          <p:cNvSpPr/>
          <p:nvPr/>
        </p:nvSpPr>
        <p:spPr>
          <a:xfrm>
            <a:off x="2057400" y="3002161"/>
            <a:ext cx="37088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907</a:t>
            </a:r>
            <a:endParaRPr lang="en-US" sz="1400" dirty="0"/>
          </a:p>
        </p:txBody>
      </p:sp>
      <p:sp>
        <p:nvSpPr>
          <p:cNvPr id="13" name="Shape 9"/>
          <p:cNvSpPr/>
          <p:nvPr/>
        </p:nvSpPr>
        <p:spPr>
          <a:xfrm>
            <a:off x="2688630" y="2320230"/>
            <a:ext cx="673100" cy="1064121"/>
          </a:xfrm>
          <a:prstGeom prst="roundRect">
            <a:avLst>
              <a:gd name="adj" fmla="val 25472"/>
            </a:avLst>
          </a:prstGeom>
          <a:solidFill>
            <a:srgbClr val="FBFCFE"/>
          </a:solidFill>
          <a:ln w="12700">
            <a:solidFill>
              <a:srgbClr val="D3DBEA"/>
            </a:solidFill>
            <a:prstDash val="solid"/>
          </a:ln>
        </p:spPr>
      </p:sp>
      <p:sp>
        <p:nvSpPr>
          <p:cNvPr id="14" name="Text 10"/>
          <p:cNvSpPr/>
          <p:nvPr/>
        </p:nvSpPr>
        <p:spPr>
          <a:xfrm>
            <a:off x="2847380" y="2453580"/>
            <a:ext cx="3556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は</a:t>
            </a:r>
            <a:endParaRPr lang="en-US" sz="2400" dirty="0"/>
          </a:p>
        </p:txBody>
      </p:sp>
      <p:pic>
        <p:nvPicPr>
          <p:cNvPr id="15" name="Image 2" descr="line">    </p:cNvPr>
          <p:cNvPicPr>
            <a:picLocks noChangeAspect="1"/>
          </p:cNvPicPr>
          <p:nvPr/>
        </p:nvPicPr>
        <p:blipFill>
          <a:blip r:embed="rId3"/>
          <a:srcRect l="0" r="0" t="0" b="0"/>
          <a:stretch/>
        </p:blipFill>
        <p:spPr>
          <a:xfrm>
            <a:off x="3012480" y="2913261"/>
            <a:ext cx="25400" cy="25400"/>
          </a:xfrm>
          <a:prstGeom prst="rect">
            <a:avLst/>
          </a:prstGeom>
        </p:spPr>
      </p:pic>
      <p:sp>
        <p:nvSpPr>
          <p:cNvPr id="16" name="Text 11"/>
          <p:cNvSpPr/>
          <p:nvPr/>
        </p:nvSpPr>
        <p:spPr>
          <a:xfrm>
            <a:off x="2893020" y="3002161"/>
            <a:ext cx="26422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12</a:t>
            </a:r>
            <a:endParaRPr lang="en-US" sz="1400" dirty="0"/>
          </a:p>
        </p:txBody>
      </p:sp>
      <p:sp>
        <p:nvSpPr>
          <p:cNvPr id="17" name="Shape 12"/>
          <p:cNvSpPr/>
          <p:nvPr/>
        </p:nvSpPr>
        <p:spPr>
          <a:xfrm>
            <a:off x="3463330" y="2320230"/>
            <a:ext cx="673100" cy="1064121"/>
          </a:xfrm>
          <a:prstGeom prst="roundRect">
            <a:avLst>
              <a:gd name="adj" fmla="val 25472"/>
            </a:avLst>
          </a:prstGeom>
          <a:solidFill>
            <a:srgbClr val="FBFCFE"/>
          </a:solidFill>
          <a:ln w="12700">
            <a:solidFill>
              <a:srgbClr val="D3DBEA"/>
            </a:solidFill>
            <a:prstDash val="solid"/>
          </a:ln>
        </p:spPr>
      </p:sp>
      <p:sp>
        <p:nvSpPr>
          <p:cNvPr id="18" name="Text 13"/>
          <p:cNvSpPr/>
          <p:nvPr/>
        </p:nvSpPr>
        <p:spPr>
          <a:xfrm>
            <a:off x="3622080" y="2453580"/>
            <a:ext cx="3556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t>
            </a:r>
            <a:endParaRPr lang="en-US" sz="2400" dirty="0"/>
          </a:p>
        </p:txBody>
      </p:sp>
      <p:pic>
        <p:nvPicPr>
          <p:cNvPr id="19" name="Image 3" descr="line">    </p:cNvPr>
          <p:cNvPicPr>
            <a:picLocks noChangeAspect="1"/>
          </p:cNvPicPr>
          <p:nvPr/>
        </p:nvPicPr>
        <p:blipFill>
          <a:blip r:embed="rId4"/>
          <a:srcRect l="0" r="0" t="0" b="0"/>
          <a:stretch/>
        </p:blipFill>
        <p:spPr>
          <a:xfrm>
            <a:off x="3787180" y="2913261"/>
            <a:ext cx="25400" cy="25400"/>
          </a:xfrm>
          <a:prstGeom prst="rect">
            <a:avLst/>
          </a:prstGeom>
        </p:spPr>
      </p:pic>
      <p:sp>
        <p:nvSpPr>
          <p:cNvPr id="20" name="Text 14"/>
          <p:cNvSpPr/>
          <p:nvPr/>
        </p:nvSpPr>
        <p:spPr>
          <a:xfrm>
            <a:off x="3721100" y="3002161"/>
            <a:ext cx="157559"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6</a:t>
            </a:r>
            <a:endParaRPr lang="en-US" sz="1400" dirty="0"/>
          </a:p>
        </p:txBody>
      </p:sp>
      <p:sp>
        <p:nvSpPr>
          <p:cNvPr id="21" name="Shape 15"/>
          <p:cNvSpPr/>
          <p:nvPr/>
        </p:nvSpPr>
        <p:spPr>
          <a:xfrm>
            <a:off x="4238030" y="2320230"/>
            <a:ext cx="977900" cy="1064121"/>
          </a:xfrm>
          <a:prstGeom prst="roundRect">
            <a:avLst>
              <a:gd name="adj" fmla="val 17532"/>
            </a:avLst>
          </a:prstGeom>
          <a:solidFill>
            <a:srgbClr val="FBFCFE"/>
          </a:solidFill>
          <a:ln w="12700">
            <a:solidFill>
              <a:srgbClr val="D3DBEA"/>
            </a:solidFill>
            <a:prstDash val="solid"/>
          </a:ln>
        </p:spPr>
      </p:sp>
      <p:sp>
        <p:nvSpPr>
          <p:cNvPr id="22" name="Text 16"/>
          <p:cNvSpPr/>
          <p:nvPr/>
        </p:nvSpPr>
        <p:spPr>
          <a:xfrm>
            <a:off x="439678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a:t>
            </a:r>
            <a:endParaRPr lang="en-US" sz="2400" dirty="0"/>
          </a:p>
        </p:txBody>
      </p:sp>
      <p:pic>
        <p:nvPicPr>
          <p:cNvPr id="23" name="Image 4" descr="line">    </p:cNvPr>
          <p:cNvPicPr>
            <a:picLocks noChangeAspect="1"/>
          </p:cNvPicPr>
          <p:nvPr/>
        </p:nvPicPr>
        <p:blipFill>
          <a:blip r:embed="rId5"/>
          <a:srcRect l="0" r="0" t="0" b="0"/>
          <a:stretch/>
        </p:blipFill>
        <p:spPr>
          <a:xfrm>
            <a:off x="4714280" y="2913261"/>
            <a:ext cx="25400" cy="25400"/>
          </a:xfrm>
          <a:prstGeom prst="rect">
            <a:avLst/>
          </a:prstGeom>
        </p:spPr>
      </p:pic>
      <p:sp>
        <p:nvSpPr>
          <p:cNvPr id="24" name="Text 17"/>
          <p:cNvSpPr/>
          <p:nvPr/>
        </p:nvSpPr>
        <p:spPr>
          <a:xfrm>
            <a:off x="448816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2210</a:t>
            </a:r>
            <a:endParaRPr lang="en-US" sz="1400" dirty="0"/>
          </a:p>
        </p:txBody>
      </p:sp>
      <p:sp>
        <p:nvSpPr>
          <p:cNvPr id="25" name="Shape 18"/>
          <p:cNvSpPr/>
          <p:nvPr/>
        </p:nvSpPr>
        <p:spPr>
          <a:xfrm>
            <a:off x="5317530" y="2320230"/>
            <a:ext cx="977900" cy="1064121"/>
          </a:xfrm>
          <a:prstGeom prst="roundRect">
            <a:avLst>
              <a:gd name="adj" fmla="val 17532"/>
            </a:avLst>
          </a:prstGeom>
          <a:solidFill>
            <a:srgbClr val="FBFCFE"/>
          </a:solidFill>
          <a:ln w="12700">
            <a:solidFill>
              <a:srgbClr val="D3DBEA"/>
            </a:solidFill>
            <a:prstDash val="solid"/>
          </a:ln>
        </p:spPr>
      </p:sp>
      <p:sp>
        <p:nvSpPr>
          <p:cNvPr id="26" name="Text 19"/>
          <p:cNvSpPr/>
          <p:nvPr/>
        </p:nvSpPr>
        <p:spPr>
          <a:xfrm>
            <a:off x="547628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から</a:t>
            </a:r>
            <a:endParaRPr lang="en-US" sz="2400" dirty="0"/>
          </a:p>
        </p:txBody>
      </p:sp>
      <p:pic>
        <p:nvPicPr>
          <p:cNvPr id="27" name="Image 5" descr="line">    </p:cNvPr>
          <p:cNvPicPr>
            <a:picLocks noChangeAspect="1"/>
          </p:cNvPicPr>
          <p:nvPr/>
        </p:nvPicPr>
        <p:blipFill>
          <a:blip r:embed="rId6"/>
          <a:srcRect l="0" r="0" t="0" b="0"/>
          <a:stretch/>
        </p:blipFill>
        <p:spPr>
          <a:xfrm>
            <a:off x="5793780" y="2913261"/>
            <a:ext cx="25400" cy="25400"/>
          </a:xfrm>
          <a:prstGeom prst="rect">
            <a:avLst/>
          </a:prstGeom>
        </p:spPr>
      </p:pic>
      <p:sp>
        <p:nvSpPr>
          <p:cNvPr id="28" name="Text 20"/>
          <p:cNvSpPr/>
          <p:nvPr/>
        </p:nvSpPr>
        <p:spPr>
          <a:xfrm>
            <a:off x="5674320" y="3002161"/>
            <a:ext cx="26422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35</a:t>
            </a:r>
            <a:endParaRPr lang="en-US" sz="1400" dirty="0"/>
          </a:p>
        </p:txBody>
      </p:sp>
      <p:sp>
        <p:nvSpPr>
          <p:cNvPr id="29" name="Shape 21"/>
          <p:cNvSpPr/>
          <p:nvPr/>
        </p:nvSpPr>
        <p:spPr>
          <a:xfrm>
            <a:off x="6397030" y="2320230"/>
            <a:ext cx="1282700" cy="1064121"/>
          </a:xfrm>
          <a:prstGeom prst="roundRect">
            <a:avLst>
              <a:gd name="adj" fmla="val 16112"/>
            </a:avLst>
          </a:prstGeom>
          <a:solidFill>
            <a:srgbClr val="FBFCFE"/>
          </a:solidFill>
          <a:ln w="12700">
            <a:solidFill>
              <a:srgbClr val="D3DBEA"/>
            </a:solidFill>
            <a:prstDash val="solid"/>
          </a:ln>
        </p:spPr>
      </p:sp>
      <p:sp>
        <p:nvSpPr>
          <p:cNvPr id="30" name="Text 22"/>
          <p:cNvSpPr/>
          <p:nvPr/>
        </p:nvSpPr>
        <p:spPr>
          <a:xfrm>
            <a:off x="6555780" y="2453580"/>
            <a:ext cx="9652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使える</a:t>
            </a:r>
            <a:endParaRPr lang="en-US" sz="2400" dirty="0"/>
          </a:p>
        </p:txBody>
      </p:sp>
      <p:pic>
        <p:nvPicPr>
          <p:cNvPr id="31" name="Image 6" descr="line">    </p:cNvPr>
          <p:cNvPicPr>
            <a:picLocks noChangeAspect="1"/>
          </p:cNvPicPr>
          <p:nvPr/>
        </p:nvPicPr>
        <p:blipFill>
          <a:blip r:embed="rId7"/>
          <a:srcRect l="0" r="0" t="0" b="0"/>
          <a:stretch/>
        </p:blipFill>
        <p:spPr>
          <a:xfrm>
            <a:off x="7025680" y="2913261"/>
            <a:ext cx="25400" cy="25400"/>
          </a:xfrm>
          <a:prstGeom prst="rect">
            <a:avLst/>
          </a:prstGeom>
        </p:spPr>
      </p:pic>
      <p:sp>
        <p:nvSpPr>
          <p:cNvPr id="32" name="Text 23"/>
          <p:cNvSpPr/>
          <p:nvPr/>
        </p:nvSpPr>
        <p:spPr>
          <a:xfrm>
            <a:off x="679956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3077</a:t>
            </a:r>
            <a:endParaRPr lang="en-US" sz="1400" dirty="0"/>
          </a:p>
        </p:txBody>
      </p:sp>
      <p:sp>
        <p:nvSpPr>
          <p:cNvPr id="33" name="Text 24"/>
          <p:cNvSpPr/>
          <p:nvPr/>
        </p:nvSpPr>
        <p:spPr>
          <a:xfrm>
            <a:off x="812800" y="3505002"/>
            <a:ext cx="10883392"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上：ことばのかたまり（トークン）　下：AIが使う番号　※区切り方と番号は例です</a:t>
            </a:r>
            <a:endParaRPr lang="en-US" sz="1200" dirty="0"/>
          </a:p>
        </p:txBody>
      </p:sp>
      <p:sp>
        <p:nvSpPr>
          <p:cNvPr id="34" name="Shape 25"/>
          <p:cNvSpPr/>
          <p:nvPr/>
        </p:nvSpPr>
        <p:spPr>
          <a:xfrm>
            <a:off x="819150" y="4034532"/>
            <a:ext cx="5168900" cy="1325860"/>
          </a:xfrm>
          <a:prstGeom prst="roundRect">
            <a:avLst>
              <a:gd name="adj" fmla="val 12931"/>
            </a:avLst>
          </a:prstGeom>
          <a:solidFill>
            <a:srgbClr val="FBFCFE"/>
          </a:solidFill>
          <a:ln w="12700">
            <a:solidFill>
              <a:srgbClr val="D3DBEA"/>
            </a:solidFill>
            <a:prstDash val="solid"/>
          </a:ln>
        </p:spPr>
      </p:sp>
      <p:sp>
        <p:nvSpPr>
          <p:cNvPr id="35" name="Text 26"/>
          <p:cNvSpPr/>
          <p:nvPr/>
        </p:nvSpPr>
        <p:spPr>
          <a:xfrm>
            <a:off x="1054100" y="4218682"/>
            <a:ext cx="483997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文字ではなく数字で計算</a:t>
            </a:r>
            <a:endParaRPr lang="en-US" sz="1800" dirty="0"/>
          </a:p>
        </p:txBody>
      </p:sp>
      <p:sp>
        <p:nvSpPr>
          <p:cNvPr id="36" name="Text 27"/>
          <p:cNvSpPr/>
          <p:nvPr/>
        </p:nvSpPr>
        <p:spPr>
          <a:xfrm>
            <a:off x="1054100" y="4566642"/>
            <a:ext cx="4839970"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6233B"/>
                </a:solidFill>
                <a:latin typeface="BIZ UDPGothic" pitchFamily="34" charset="0"/>
                <a:ea typeface="BIZ UDPGothic" pitchFamily="34" charset="-122"/>
                <a:cs typeface="BIZ UDPGothic" pitchFamily="34" charset="-120"/>
              </a:rPr>
              <a:t>AIの中は数字の世界。文章は、いったんトークンの番号に置きかえてから計算する。</a:t>
            </a:r>
            <a:endParaRPr lang="en-US" sz="1500" dirty="0"/>
          </a:p>
        </p:txBody>
      </p:sp>
      <p:sp>
        <p:nvSpPr>
          <p:cNvPr id="37" name="Shape 28"/>
          <p:cNvSpPr/>
          <p:nvPr/>
        </p:nvSpPr>
        <p:spPr>
          <a:xfrm>
            <a:off x="6203950" y="4034532"/>
            <a:ext cx="5168900" cy="1325860"/>
          </a:xfrm>
          <a:prstGeom prst="roundRect">
            <a:avLst>
              <a:gd name="adj" fmla="val 12931"/>
            </a:avLst>
          </a:prstGeom>
          <a:solidFill>
            <a:srgbClr val="FBFCFE"/>
          </a:solidFill>
          <a:ln w="12700">
            <a:solidFill>
              <a:srgbClr val="D3DBEA"/>
            </a:solidFill>
            <a:prstDash val="solid"/>
          </a:ln>
        </p:spPr>
      </p:sp>
      <p:sp>
        <p:nvSpPr>
          <p:cNvPr id="38" name="Text 29"/>
          <p:cNvSpPr/>
          <p:nvPr/>
        </p:nvSpPr>
        <p:spPr>
          <a:xfrm>
            <a:off x="6438900" y="4218682"/>
            <a:ext cx="483997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読める量も、料金も、これで数える</a:t>
            </a:r>
            <a:endParaRPr lang="en-US" sz="1800" dirty="0"/>
          </a:p>
        </p:txBody>
      </p:sp>
      <p:sp>
        <p:nvSpPr>
          <p:cNvPr id="39" name="Text 30"/>
          <p:cNvSpPr/>
          <p:nvPr/>
        </p:nvSpPr>
        <p:spPr>
          <a:xfrm>
            <a:off x="6438900" y="4566642"/>
            <a:ext cx="4839970"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6233B"/>
                </a:solidFill>
                <a:latin typeface="BIZ UDPGothic" pitchFamily="34" charset="0"/>
                <a:ea typeface="BIZ UDPGothic" pitchFamily="34" charset="-122"/>
                <a:cs typeface="BIZ UDPGothic" pitchFamily="34" charset="-120"/>
              </a:rPr>
              <a:t>「一度に読める量」や利用料金は、トークンの数で決まる。</a:t>
            </a:r>
            <a:endParaRPr lang="en-US" sz="1500" dirty="0"/>
          </a:p>
        </p:txBody>
      </p:sp>
      <p:sp>
        <p:nvSpPr>
          <p:cNvPr id="40" name="Text 3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1" name="Text 3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13 / 23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AIは、こうして賢くなる</a:t>
            </a:r>
            <a:endParaRPr lang="en-US" sz="3200" dirty="0"/>
          </a:p>
        </p:txBody>
      </p:sp>
      <p:sp>
        <p:nvSpPr>
          <p:cNvPr id="4" name="Shape 2"/>
          <p:cNvSpPr/>
          <p:nvPr/>
        </p:nvSpPr>
        <p:spPr>
          <a:xfrm>
            <a:off x="819150" y="1901130"/>
            <a:ext cx="3136900" cy="1983680"/>
          </a:xfrm>
          <a:prstGeom prst="roundRect">
            <a:avLst>
              <a:gd name="adj" fmla="val 8643"/>
            </a:avLst>
          </a:prstGeom>
          <a:solidFill>
            <a:srgbClr val="FBFCFE"/>
          </a:solidFill>
          <a:ln w="12700">
            <a:solidFill>
              <a:srgbClr val="D3DBEA"/>
            </a:solidFill>
            <a:prstDash val="solid"/>
          </a:ln>
        </p:spPr>
      </p:sp>
      <p:sp>
        <p:nvSpPr>
          <p:cNvPr id="5" name="Shape 3"/>
          <p:cNvSpPr/>
          <p:nvPr/>
        </p:nvSpPr>
        <p:spPr>
          <a:xfrm>
            <a:off x="1028700" y="2110680"/>
            <a:ext cx="558800" cy="558800"/>
          </a:xfrm>
          <a:prstGeom prst="roundRect">
            <a:avLst>
              <a:gd name="adj" fmla="val 27273"/>
            </a:avLst>
          </a:prstGeom>
          <a:solidFill>
            <a:srgbClr val="2F62E6"/>
          </a:solidFill>
          <a:ln/>
        </p:spPr>
      </p:sp>
      <p:pic>
        <p:nvPicPr>
          <p:cNvPr id="6" name="Image 0" descr="Book">    </p:cNvPr>
          <p:cNvPicPr>
            <a:picLocks noChangeAspect="1"/>
          </p:cNvPicPr>
          <p:nvPr/>
        </p:nvPicPr>
        <p:blipFill>
          <a:blip r:embed="rId1"/>
          <a:srcRect l="0" r="0" t="0" b="0"/>
          <a:stretch/>
        </p:blipFill>
        <p:spPr>
          <a:xfrm>
            <a:off x="1143000" y="2224980"/>
            <a:ext cx="330200" cy="330200"/>
          </a:xfrm>
          <a:prstGeom prst="rect">
            <a:avLst/>
          </a:prstGeom>
        </p:spPr>
      </p:pic>
      <p:sp>
        <p:nvSpPr>
          <p:cNvPr id="7" name="Text 4"/>
          <p:cNvSpPr/>
          <p:nvPr/>
        </p:nvSpPr>
        <p:spPr>
          <a:xfrm>
            <a:off x="1714500" y="2127845"/>
            <a:ext cx="1883664"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1</a:t>
            </a:r>
            <a:endParaRPr lang="en-US" sz="1300" dirty="0"/>
          </a:p>
        </p:txBody>
      </p:sp>
      <p:sp>
        <p:nvSpPr>
          <p:cNvPr id="8" name="Text 5"/>
          <p:cNvSpPr/>
          <p:nvPr/>
        </p:nvSpPr>
        <p:spPr>
          <a:xfrm>
            <a:off x="1714500" y="2355155"/>
            <a:ext cx="18836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大量の文章を読む</a:t>
            </a:r>
            <a:endParaRPr lang="en-US" sz="1800" dirty="0"/>
          </a:p>
        </p:txBody>
      </p:sp>
      <p:sp>
        <p:nvSpPr>
          <p:cNvPr id="9" name="Text 6"/>
          <p:cNvSpPr/>
          <p:nvPr/>
        </p:nvSpPr>
        <p:spPr>
          <a:xfrm>
            <a:off x="10287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本やWebの文章の一部を隠して、次に来ることばを当てる練習を、何度もくりかえす。</a:t>
            </a:r>
            <a:endParaRPr lang="en-US" sz="1400" dirty="0"/>
          </a:p>
        </p:txBody>
      </p:sp>
      <p:pic>
        <p:nvPicPr>
          <p:cNvPr id="10" name="Image 1" descr="arrow-right">    </p:cNvPr>
          <p:cNvPicPr>
            <a:picLocks noChangeAspect="1"/>
          </p:cNvPicPr>
          <p:nvPr/>
        </p:nvPicPr>
        <p:blipFill>
          <a:blip r:embed="rId2"/>
          <a:srcRect l="0" r="0" t="0" b="0"/>
          <a:stretch/>
        </p:blipFill>
        <p:spPr>
          <a:xfrm>
            <a:off x="4064000" y="2791321"/>
            <a:ext cx="355600" cy="203200"/>
          </a:xfrm>
          <a:prstGeom prst="rect">
            <a:avLst/>
          </a:prstGeom>
        </p:spPr>
      </p:pic>
      <p:sp>
        <p:nvSpPr>
          <p:cNvPr id="11" name="Shape 7"/>
          <p:cNvSpPr/>
          <p:nvPr/>
        </p:nvSpPr>
        <p:spPr>
          <a:xfrm>
            <a:off x="4527550" y="1901130"/>
            <a:ext cx="3136900" cy="1983680"/>
          </a:xfrm>
          <a:prstGeom prst="roundRect">
            <a:avLst>
              <a:gd name="adj" fmla="val 8643"/>
            </a:avLst>
          </a:prstGeom>
          <a:solidFill>
            <a:srgbClr val="FBFCFE"/>
          </a:solidFill>
          <a:ln w="12700">
            <a:solidFill>
              <a:srgbClr val="D3DBEA"/>
            </a:solidFill>
            <a:prstDash val="solid"/>
          </a:ln>
        </p:spPr>
      </p:sp>
      <p:sp>
        <p:nvSpPr>
          <p:cNvPr id="12" name="Shape 8"/>
          <p:cNvSpPr/>
          <p:nvPr/>
        </p:nvSpPr>
        <p:spPr>
          <a:xfrm>
            <a:off x="4737100" y="2110680"/>
            <a:ext cx="558800" cy="558800"/>
          </a:xfrm>
          <a:prstGeom prst="roundRect">
            <a:avLst>
              <a:gd name="adj" fmla="val 27273"/>
            </a:avLst>
          </a:prstGeom>
          <a:solidFill>
            <a:srgbClr val="2F62E6"/>
          </a:solidFill>
          <a:ln/>
        </p:spPr>
      </p:sp>
      <p:pic>
        <p:nvPicPr>
          <p:cNvPr id="13" name="Image 2" descr="GraduationCap">    </p:cNvPr>
          <p:cNvPicPr>
            <a:picLocks noChangeAspect="1"/>
          </p:cNvPicPr>
          <p:nvPr/>
        </p:nvPicPr>
        <p:blipFill>
          <a:blip r:embed="rId3"/>
          <a:srcRect l="0" r="0" t="0" b="0"/>
          <a:stretch/>
        </p:blipFill>
        <p:spPr>
          <a:xfrm>
            <a:off x="4851400" y="2224980"/>
            <a:ext cx="330200" cy="330200"/>
          </a:xfrm>
          <a:prstGeom prst="rect">
            <a:avLst/>
          </a:prstGeom>
        </p:spPr>
      </p:pic>
      <p:sp>
        <p:nvSpPr>
          <p:cNvPr id="14" name="Text 9"/>
          <p:cNvSpPr/>
          <p:nvPr/>
        </p:nvSpPr>
        <p:spPr>
          <a:xfrm>
            <a:off x="5422900" y="2127845"/>
            <a:ext cx="165100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2</a:t>
            </a:r>
            <a:endParaRPr lang="en-US" sz="1300" dirty="0"/>
          </a:p>
        </p:txBody>
      </p:sp>
      <p:sp>
        <p:nvSpPr>
          <p:cNvPr id="15" name="Text 10"/>
          <p:cNvSpPr/>
          <p:nvPr/>
        </p:nvSpPr>
        <p:spPr>
          <a:xfrm>
            <a:off x="5422900" y="2355155"/>
            <a:ext cx="165100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答え方を教わる</a:t>
            </a:r>
            <a:endParaRPr lang="en-US" sz="1800" dirty="0"/>
          </a:p>
        </p:txBody>
      </p:sp>
      <p:sp>
        <p:nvSpPr>
          <p:cNvPr id="16" name="Text 11"/>
          <p:cNvSpPr/>
          <p:nvPr/>
        </p:nvSpPr>
        <p:spPr>
          <a:xfrm>
            <a:off x="47371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人がお手本を見せたり、よい答えに点を付けたりして、役に立つ答え方を身につける。</a:t>
            </a:r>
            <a:endParaRPr lang="en-US" sz="1400" dirty="0"/>
          </a:p>
        </p:txBody>
      </p:sp>
      <p:pic>
        <p:nvPicPr>
          <p:cNvPr id="17" name="Image 3" descr="arrow-right">    </p:cNvPr>
          <p:cNvPicPr>
            <a:picLocks noChangeAspect="1"/>
          </p:cNvPicPr>
          <p:nvPr/>
        </p:nvPicPr>
        <p:blipFill>
          <a:blip r:embed="rId4"/>
          <a:srcRect l="0" r="0" t="0" b="0"/>
          <a:stretch/>
        </p:blipFill>
        <p:spPr>
          <a:xfrm>
            <a:off x="7772400" y="2791321"/>
            <a:ext cx="355600" cy="203200"/>
          </a:xfrm>
          <a:prstGeom prst="rect">
            <a:avLst/>
          </a:prstGeom>
        </p:spPr>
      </p:pic>
      <p:sp>
        <p:nvSpPr>
          <p:cNvPr id="18" name="Shape 12"/>
          <p:cNvSpPr/>
          <p:nvPr/>
        </p:nvSpPr>
        <p:spPr>
          <a:xfrm>
            <a:off x="8235950" y="1901130"/>
            <a:ext cx="3136900" cy="1983680"/>
          </a:xfrm>
          <a:prstGeom prst="roundRect">
            <a:avLst>
              <a:gd name="adj" fmla="val 8643"/>
            </a:avLst>
          </a:prstGeom>
          <a:solidFill>
            <a:srgbClr val="FBFCFE"/>
          </a:solidFill>
          <a:ln w="12700">
            <a:solidFill>
              <a:srgbClr val="D3DBEA"/>
            </a:solidFill>
            <a:prstDash val="solid"/>
          </a:ln>
        </p:spPr>
      </p:sp>
      <p:sp>
        <p:nvSpPr>
          <p:cNvPr id="19" name="Shape 13"/>
          <p:cNvSpPr/>
          <p:nvPr/>
        </p:nvSpPr>
        <p:spPr>
          <a:xfrm>
            <a:off x="8445500" y="2110680"/>
            <a:ext cx="558800" cy="558800"/>
          </a:xfrm>
          <a:prstGeom prst="roundRect">
            <a:avLst>
              <a:gd name="adj" fmla="val 27273"/>
            </a:avLst>
          </a:prstGeom>
          <a:solidFill>
            <a:srgbClr val="2F62E6"/>
          </a:solidFill>
          <a:ln/>
        </p:spPr>
      </p:sp>
      <p:pic>
        <p:nvPicPr>
          <p:cNvPr id="20" name="Image 4" descr="Chat">    </p:cNvPr>
          <p:cNvPicPr>
            <a:picLocks noChangeAspect="1"/>
          </p:cNvPicPr>
          <p:nvPr/>
        </p:nvPicPr>
        <p:blipFill>
          <a:blip r:embed="rId5"/>
          <a:srcRect l="0" r="0" t="0" b="0"/>
          <a:stretch/>
        </p:blipFill>
        <p:spPr>
          <a:xfrm>
            <a:off x="8559800" y="2224980"/>
            <a:ext cx="330200" cy="330200"/>
          </a:xfrm>
          <a:prstGeom prst="rect">
            <a:avLst/>
          </a:prstGeom>
        </p:spPr>
      </p:pic>
      <p:sp>
        <p:nvSpPr>
          <p:cNvPr id="21" name="Text 14"/>
          <p:cNvSpPr/>
          <p:nvPr/>
        </p:nvSpPr>
        <p:spPr>
          <a:xfrm>
            <a:off x="9131300" y="2127845"/>
            <a:ext cx="142240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3</a:t>
            </a:r>
            <a:endParaRPr lang="en-US" sz="1300" dirty="0"/>
          </a:p>
        </p:txBody>
      </p:sp>
      <p:sp>
        <p:nvSpPr>
          <p:cNvPr id="22" name="Text 15"/>
          <p:cNvSpPr/>
          <p:nvPr/>
        </p:nvSpPr>
        <p:spPr>
          <a:xfrm>
            <a:off x="9131300" y="2355155"/>
            <a:ext cx="142240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質問に答える</a:t>
            </a:r>
            <a:endParaRPr lang="en-US" sz="1800" dirty="0"/>
          </a:p>
        </p:txBody>
      </p:sp>
      <p:sp>
        <p:nvSpPr>
          <p:cNvPr id="23" name="Text 16"/>
          <p:cNvSpPr/>
          <p:nvPr/>
        </p:nvSpPr>
        <p:spPr>
          <a:xfrm>
            <a:off x="84455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学び終わったAIに、私たちが質問する。学んだ予想の力で文章を作る。</a:t>
            </a:r>
            <a:endParaRPr lang="en-US" sz="1400" dirty="0"/>
          </a:p>
        </p:txBody>
      </p:sp>
      <p:sp>
        <p:nvSpPr>
          <p:cNvPr id="24" name="Shape 17"/>
          <p:cNvSpPr/>
          <p:nvPr/>
        </p:nvSpPr>
        <p:spPr>
          <a:xfrm>
            <a:off x="819150" y="4176911"/>
            <a:ext cx="10553700" cy="667941"/>
          </a:xfrm>
          <a:prstGeom prst="roundRect">
            <a:avLst>
              <a:gd name="adj" fmla="val 25668"/>
            </a:avLst>
          </a:prstGeom>
          <a:solidFill>
            <a:srgbClr val="FFF0BD"/>
          </a:solidFill>
          <a:ln w="12700">
            <a:solidFill>
              <a:srgbClr val="FFC83D"/>
            </a:solidFill>
            <a:prstDash val="solid"/>
          </a:ln>
        </p:spPr>
      </p:sp>
      <p:sp>
        <p:nvSpPr>
          <p:cNvPr id="25" name="Text 18"/>
          <p:cNvSpPr/>
          <p:nvPr/>
        </p:nvSpPr>
        <p:spPr>
          <a:xfrm>
            <a:off x="1054100" y="4348361"/>
            <a:ext cx="10386314"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つまりAIは、</a:t>
            </a:r>
            <a:r>
              <a:rPr lang="en-US" sz="1600" b="1" dirty="0">
                <a:solidFill>
                  <a:srgbClr val="16233B"/>
                </a:solidFill>
                <a:latin typeface="BIZ UDPGothic" pitchFamily="34" charset="0"/>
                <a:ea typeface="BIZ UDPGothic" pitchFamily="34" charset="-122"/>
                <a:cs typeface="BIZ UDPGothic" pitchFamily="34" charset="-120"/>
              </a:rPr>
              <a:t>ことばの並びのパターン</a:t>
            </a:r>
            <a:r>
              <a:rPr lang="en-US" sz="1600" dirty="0">
                <a:solidFill>
                  <a:srgbClr val="16233B"/>
                </a:solidFill>
                <a:latin typeface="BIZ UDPGothic" pitchFamily="34" charset="0"/>
                <a:ea typeface="BIZ UDPGothic" pitchFamily="34" charset="-122"/>
                <a:cs typeface="BIZ UDPGothic" pitchFamily="34" charset="-120"/>
              </a:rPr>
              <a:t>を、人間が一生かけても読めない量の文章から身につけている。</a:t>
            </a:r>
            <a:endParaRPr lang="en-US" sz="1600" dirty="0"/>
          </a:p>
        </p:txBody>
      </p:sp>
      <p:sp>
        <p:nvSpPr>
          <p:cNvPr id="26"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14 / 23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中身は、数字でできた巨大な網</a:t>
            </a:r>
            <a:endParaRPr lang="en-US" sz="3200" dirty="0"/>
          </a:p>
        </p:txBody>
      </p:sp>
      <p:pic>
        <p:nvPicPr>
          <p:cNvPr id="4" name="Image 0" descr="入力、2つの中間層、出力がつながった、ニューラルネットワークの図">    </p:cNvPr>
          <p:cNvPicPr>
            <a:picLocks noChangeAspect="1"/>
          </p:cNvPicPr>
          <p:nvPr/>
        </p:nvPicPr>
        <p:blipFill>
          <a:blip r:embed="rId1"/>
          <a:srcRect l="0" r="0" t="0" b="0"/>
          <a:stretch/>
        </p:blipFill>
        <p:spPr>
          <a:xfrm>
            <a:off x="812800" y="1894780"/>
            <a:ext cx="4826000" cy="3175000"/>
          </a:xfrm>
          <a:prstGeom prst="rect">
            <a:avLst/>
          </a:prstGeom>
        </p:spPr>
      </p:pic>
      <p:sp>
        <p:nvSpPr>
          <p:cNvPr id="5" name="Text 2"/>
          <p:cNvSpPr/>
          <p:nvPr/>
        </p:nvSpPr>
        <p:spPr>
          <a:xfrm>
            <a:off x="812800" y="5120580"/>
            <a:ext cx="1320800"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入力（文章）</a:t>
            </a:r>
            <a:endParaRPr lang="en-US" sz="1300" dirty="0"/>
          </a:p>
        </p:txBody>
      </p:sp>
      <p:sp>
        <p:nvSpPr>
          <p:cNvPr id="6" name="Text 3"/>
          <p:cNvSpPr/>
          <p:nvPr/>
        </p:nvSpPr>
        <p:spPr>
          <a:xfrm>
            <a:off x="2048510" y="5120580"/>
            <a:ext cx="2354580" cy="289520"/>
          </a:xfrm>
          <a:prstGeom prst="rect">
            <a:avLst/>
          </a:prstGeom>
          <a:noFill/>
          <a:ln/>
        </p:spPr>
        <p:txBody>
          <a:bodyPr wrap="square" lIns="0" tIns="0" rIns="0" bIns="0" rtlCol="0" anchor="t">
            <a:normAutofit/>
          </a:bodyPr>
          <a:lstStyle/>
          <a:p>
            <a:pPr algn="ctr" indent="0" marL="0">
              <a:lnSpc>
                <a:spcPts val="2080"/>
              </a:lnSpc>
              <a:buNone/>
            </a:pPr>
            <a:r>
              <a:rPr lang="en-US" sz="1300" b="1" dirty="0">
                <a:solidFill>
                  <a:srgbClr val="2350C9"/>
                </a:solidFill>
                <a:latin typeface="BIZ UDPGothic" pitchFamily="34" charset="0"/>
                <a:ea typeface="BIZ UDPGothic" pitchFamily="34" charset="-122"/>
                <a:cs typeface="BIZ UDPGothic" pitchFamily="34" charset="-120"/>
              </a:rPr>
              <a:t>つなぎ目の強さ＝数字</a:t>
            </a:r>
            <a:endParaRPr lang="en-US" sz="1300" dirty="0"/>
          </a:p>
        </p:txBody>
      </p:sp>
      <p:sp>
        <p:nvSpPr>
          <p:cNvPr id="7" name="Text 4"/>
          <p:cNvSpPr/>
          <p:nvPr/>
        </p:nvSpPr>
        <p:spPr>
          <a:xfrm>
            <a:off x="4318000" y="5120580"/>
            <a:ext cx="1320800" cy="289520"/>
          </a:xfrm>
          <a:prstGeom prst="rect">
            <a:avLst/>
          </a:prstGeom>
          <a:noFill/>
          <a:ln/>
        </p:spPr>
        <p:txBody>
          <a:bodyPr wrap="square" lIns="0" tIns="0" rIns="0" bIns="0" rtlCol="0" anchor="t">
            <a:normAutofit/>
          </a:bodyPr>
          <a:lstStyle/>
          <a:p>
            <a:pPr algn="r"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出力（予想）</a:t>
            </a:r>
            <a:endParaRPr lang="en-US" sz="1300" dirty="0"/>
          </a:p>
        </p:txBody>
      </p:sp>
      <p:sp>
        <p:nvSpPr>
          <p:cNvPr id="8" name="Shape 5"/>
          <p:cNvSpPr/>
          <p:nvPr/>
        </p:nvSpPr>
        <p:spPr>
          <a:xfrm>
            <a:off x="5949950" y="1901130"/>
            <a:ext cx="5422900" cy="1235373"/>
          </a:xfrm>
          <a:prstGeom prst="roundRect">
            <a:avLst>
              <a:gd name="adj" fmla="val 13878"/>
            </a:avLst>
          </a:prstGeom>
          <a:solidFill>
            <a:srgbClr val="FBFCFE"/>
          </a:solidFill>
          <a:ln w="12700">
            <a:solidFill>
              <a:srgbClr val="D3DBEA"/>
            </a:solidFill>
            <a:prstDash val="solid"/>
          </a:ln>
        </p:spPr>
      </p:sp>
      <p:sp>
        <p:nvSpPr>
          <p:cNvPr id="9" name="Text 6"/>
          <p:cNvSpPr/>
          <p:nvPr/>
        </p:nvSpPr>
        <p:spPr>
          <a:xfrm>
            <a:off x="6159500" y="2085280"/>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2350C9"/>
                </a:solidFill>
                <a:latin typeface="Zen Maru Gothic" pitchFamily="34" charset="0"/>
                <a:ea typeface="Zen Maru Gothic" pitchFamily="34" charset="-122"/>
                <a:cs typeface="Zen Maru Gothic" pitchFamily="34" charset="-120"/>
              </a:rPr>
              <a:t>脳の仕組みをヒントにした計算</a:t>
            </a:r>
            <a:endParaRPr lang="en-US" sz="1631" dirty="0"/>
          </a:p>
        </p:txBody>
      </p:sp>
      <p:sp>
        <p:nvSpPr>
          <p:cNvPr id="10" name="Text 7"/>
          <p:cNvSpPr/>
          <p:nvPr/>
        </p:nvSpPr>
        <p:spPr>
          <a:xfrm>
            <a:off x="6159500" y="2403574"/>
            <a:ext cx="5153914" cy="574179"/>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16233B"/>
                </a:solidFill>
                <a:latin typeface="BIZ UDPGothic" pitchFamily="34" charset="0"/>
                <a:ea typeface="BIZ UDPGothic" pitchFamily="34" charset="-122"/>
                <a:cs typeface="BIZ UDPGothic" pitchFamily="34" charset="-120"/>
              </a:rPr>
              <a:t>神経細胞のつながりをまねた「ニューラルネットワーク」。丸が計算の部品で、線がつなぎ目。</a:t>
            </a:r>
            <a:endParaRPr lang="en-US" sz="1350" dirty="0"/>
          </a:p>
        </p:txBody>
      </p:sp>
      <p:sp>
        <p:nvSpPr>
          <p:cNvPr id="11" name="Shape 8"/>
          <p:cNvSpPr/>
          <p:nvPr/>
        </p:nvSpPr>
        <p:spPr>
          <a:xfrm>
            <a:off x="5949950" y="3250803"/>
            <a:ext cx="5422900" cy="1235273"/>
          </a:xfrm>
          <a:prstGeom prst="roundRect">
            <a:avLst>
              <a:gd name="adj" fmla="val 13880"/>
            </a:avLst>
          </a:prstGeom>
          <a:solidFill>
            <a:srgbClr val="FBFCFE"/>
          </a:solidFill>
          <a:ln w="12700">
            <a:solidFill>
              <a:srgbClr val="D3DBEA"/>
            </a:solidFill>
            <a:prstDash val="solid"/>
          </a:ln>
        </p:spPr>
      </p:sp>
      <p:sp>
        <p:nvSpPr>
          <p:cNvPr id="12" name="Text 9"/>
          <p:cNvSpPr/>
          <p:nvPr/>
        </p:nvSpPr>
        <p:spPr>
          <a:xfrm>
            <a:off x="6159500" y="3434953"/>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2350C9"/>
                </a:solidFill>
                <a:latin typeface="Zen Maru Gothic" pitchFamily="34" charset="0"/>
                <a:ea typeface="Zen Maru Gothic" pitchFamily="34" charset="-122"/>
                <a:cs typeface="Zen Maru Gothic" pitchFamily="34" charset="-120"/>
              </a:rPr>
              <a:t>学習 ＝ つなぎ目の数字を調整</a:t>
            </a:r>
            <a:endParaRPr lang="en-US" sz="1631" dirty="0"/>
          </a:p>
        </p:txBody>
      </p:sp>
      <p:sp>
        <p:nvSpPr>
          <p:cNvPr id="13" name="Text 10"/>
          <p:cNvSpPr/>
          <p:nvPr/>
        </p:nvSpPr>
        <p:spPr>
          <a:xfrm>
            <a:off x="6159500" y="3753247"/>
            <a:ext cx="5153914" cy="574080"/>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16233B"/>
                </a:solidFill>
                <a:latin typeface="BIZ UDPGothic" pitchFamily="34" charset="0"/>
                <a:ea typeface="BIZ UDPGothic" pitchFamily="34" charset="-122"/>
                <a:cs typeface="BIZ UDPGothic" pitchFamily="34" charset="-120"/>
              </a:rPr>
              <a:t>予想が外れたら、つなぎ目の強さを少しだけ直す。これを、とんでもない回数くりかえす。</a:t>
            </a:r>
            <a:endParaRPr lang="en-US" sz="1350" dirty="0"/>
          </a:p>
        </p:txBody>
      </p:sp>
      <p:sp>
        <p:nvSpPr>
          <p:cNvPr id="14" name="Shape 11"/>
          <p:cNvSpPr/>
          <p:nvPr/>
        </p:nvSpPr>
        <p:spPr>
          <a:xfrm>
            <a:off x="5949950" y="4600377"/>
            <a:ext cx="5422900" cy="1235273"/>
          </a:xfrm>
          <a:prstGeom prst="roundRect">
            <a:avLst>
              <a:gd name="adj" fmla="val 13880"/>
            </a:avLst>
          </a:prstGeom>
          <a:solidFill>
            <a:srgbClr val="2F62E6"/>
          </a:solidFill>
          <a:ln w="12700">
            <a:solidFill>
              <a:srgbClr val="2F62E6"/>
            </a:solidFill>
            <a:prstDash val="solid"/>
          </a:ln>
        </p:spPr>
      </p:sp>
      <p:sp>
        <p:nvSpPr>
          <p:cNvPr id="15" name="Text 12"/>
          <p:cNvSpPr/>
          <p:nvPr/>
        </p:nvSpPr>
        <p:spPr>
          <a:xfrm>
            <a:off x="6159500" y="4784527"/>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FFFFFF"/>
                </a:solidFill>
                <a:latin typeface="Zen Maru Gothic" pitchFamily="34" charset="0"/>
                <a:ea typeface="Zen Maru Gothic" pitchFamily="34" charset="-122"/>
                <a:cs typeface="Zen Maru Gothic" pitchFamily="34" charset="-120"/>
              </a:rPr>
              <a:t>知識の正体は、数字の表</a:t>
            </a:r>
            <a:endParaRPr lang="en-US" sz="1631" dirty="0"/>
          </a:p>
        </p:txBody>
      </p:sp>
      <p:sp>
        <p:nvSpPr>
          <p:cNvPr id="16" name="Text 13"/>
          <p:cNvSpPr/>
          <p:nvPr/>
        </p:nvSpPr>
        <p:spPr>
          <a:xfrm>
            <a:off x="6159500" y="5102820"/>
            <a:ext cx="5153914" cy="574080"/>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E8EEFF"/>
                </a:solidFill>
                <a:latin typeface="BIZ UDPGothic" pitchFamily="34" charset="0"/>
                <a:ea typeface="BIZ UDPGothic" pitchFamily="34" charset="-122"/>
                <a:cs typeface="BIZ UDPGothic" pitchFamily="34" charset="-120"/>
              </a:rPr>
              <a:t>調整された数字は、大きなAIでは何十億〜何千億個以上。これが「AIの頭の中」。</a:t>
            </a:r>
            <a:endParaRPr lang="en-US" sz="1350" dirty="0"/>
          </a:p>
        </p:txBody>
      </p:sp>
      <p:sp>
        <p:nvSpPr>
          <p:cNvPr id="17"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8"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15 / 23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プロンプトは、AIへの指示書</a:t>
            </a:r>
            <a:endParaRPr lang="en-US" sz="3200" dirty="0"/>
          </a:p>
        </p:txBody>
      </p:sp>
      <p:sp>
        <p:nvSpPr>
          <p:cNvPr id="4" name="Shape 2"/>
          <p:cNvSpPr/>
          <p:nvPr/>
        </p:nvSpPr>
        <p:spPr>
          <a:xfrm>
            <a:off x="819150" y="1901130"/>
            <a:ext cx="5156200" cy="3370659"/>
          </a:xfrm>
          <a:prstGeom prst="roundRect">
            <a:avLst>
              <a:gd name="adj" fmla="val 5087"/>
            </a:avLst>
          </a:prstGeom>
          <a:solidFill>
            <a:srgbClr val="FBFCFE"/>
          </a:solidFill>
          <a:ln w="12700">
            <a:solidFill>
              <a:srgbClr val="D3DBEA"/>
            </a:solidFill>
            <a:prstDash val="solid"/>
          </a:ln>
        </p:spPr>
      </p:sp>
      <p:sp>
        <p:nvSpPr>
          <p:cNvPr id="5" name="Shape 3"/>
          <p:cNvSpPr/>
          <p:nvPr/>
        </p:nvSpPr>
        <p:spPr>
          <a:xfrm>
            <a:off x="1079500" y="2136080"/>
            <a:ext cx="1113929" cy="307280"/>
          </a:xfrm>
          <a:prstGeom prst="roundRect">
            <a:avLst>
              <a:gd name="adj" fmla="val 50000"/>
            </a:avLst>
          </a:prstGeom>
          <a:solidFill>
            <a:srgbClr val="FCE3E1"/>
          </a:solidFill>
          <a:ln/>
        </p:spPr>
      </p:sp>
      <p:sp>
        <p:nvSpPr>
          <p:cNvPr id="6" name="Text 4"/>
          <p:cNvSpPr/>
          <p:nvPr/>
        </p:nvSpPr>
        <p:spPr>
          <a:xfrm>
            <a:off x="1231900" y="2174180"/>
            <a:ext cx="85992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うすい指示</a:t>
            </a:r>
            <a:endParaRPr lang="en-US" sz="1300" dirty="0"/>
          </a:p>
        </p:txBody>
      </p:sp>
      <p:sp>
        <p:nvSpPr>
          <p:cNvPr id="7" name="Text 5"/>
          <p:cNvSpPr/>
          <p:nvPr/>
        </p:nvSpPr>
        <p:spPr>
          <a:xfrm>
            <a:off x="1079500" y="2570361"/>
            <a:ext cx="477456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33B"/>
                </a:solidFill>
                <a:latin typeface="Zen Maru Gothic" pitchFamily="34" charset="0"/>
                <a:ea typeface="Zen Maru Gothic" pitchFamily="34" charset="-122"/>
                <a:cs typeface="Zen Maru Gothic" pitchFamily="34" charset="-120"/>
              </a:rPr>
              <a:t>ブログ記事を書いて</a:t>
            </a:r>
            <a:endParaRPr lang="en-US" sz="2200" dirty="0"/>
          </a:p>
        </p:txBody>
      </p:sp>
      <p:sp>
        <p:nvSpPr>
          <p:cNvPr id="8" name="Text 6"/>
          <p:cNvSpPr/>
          <p:nvPr/>
        </p:nvSpPr>
        <p:spPr>
          <a:xfrm>
            <a:off x="1079500" y="3088481"/>
            <a:ext cx="477456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だれに向けて？　どのくらい？　何について？　AIは、ふつうの文章を予想するしかない。</a:t>
            </a:r>
            <a:endParaRPr lang="en-US" sz="1500" dirty="0"/>
          </a:p>
        </p:txBody>
      </p:sp>
      <p:sp>
        <p:nvSpPr>
          <p:cNvPr id="9" name="Shape 7"/>
          <p:cNvSpPr/>
          <p:nvPr/>
        </p:nvSpPr>
        <p:spPr>
          <a:xfrm>
            <a:off x="6216650" y="1901130"/>
            <a:ext cx="5156200" cy="3370659"/>
          </a:xfrm>
          <a:prstGeom prst="roundRect">
            <a:avLst>
              <a:gd name="adj" fmla="val 5087"/>
            </a:avLst>
          </a:prstGeom>
          <a:solidFill>
            <a:srgbClr val="FBFCFE"/>
          </a:solidFill>
          <a:ln w="12700">
            <a:solidFill>
              <a:srgbClr val="157A4B"/>
            </a:solidFill>
            <a:prstDash val="solid"/>
          </a:ln>
        </p:spPr>
      </p:sp>
      <p:sp>
        <p:nvSpPr>
          <p:cNvPr id="10" name="Shape 8"/>
          <p:cNvSpPr/>
          <p:nvPr/>
        </p:nvSpPr>
        <p:spPr>
          <a:xfrm>
            <a:off x="6477000" y="2136080"/>
            <a:ext cx="1295400" cy="307280"/>
          </a:xfrm>
          <a:prstGeom prst="roundRect">
            <a:avLst>
              <a:gd name="adj" fmla="val 50000"/>
            </a:avLst>
          </a:prstGeom>
          <a:solidFill>
            <a:srgbClr val="DBF4E7"/>
          </a:solidFill>
          <a:ln/>
        </p:spPr>
      </p:sp>
      <p:sp>
        <p:nvSpPr>
          <p:cNvPr id="11" name="Text 9"/>
          <p:cNvSpPr/>
          <p:nvPr/>
        </p:nvSpPr>
        <p:spPr>
          <a:xfrm>
            <a:off x="6629400" y="2174180"/>
            <a:ext cx="1041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具体的な指示</a:t>
            </a:r>
            <a:endParaRPr lang="en-US" sz="1300" dirty="0"/>
          </a:p>
        </p:txBody>
      </p:sp>
      <p:sp>
        <p:nvSpPr>
          <p:cNvPr id="12" name="Text 10"/>
          <p:cNvSpPr/>
          <p:nvPr/>
        </p:nvSpPr>
        <p:spPr>
          <a:xfrm>
            <a:off x="6477000" y="2570361"/>
            <a:ext cx="4774565" cy="119876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33B"/>
                </a:solidFill>
                <a:latin typeface="Zen Maru Gothic" pitchFamily="34" charset="0"/>
                <a:ea typeface="Zen Maru Gothic" pitchFamily="34" charset="-122"/>
                <a:cs typeface="Zen Maru Gothic" pitchFamily="34" charset="-120"/>
              </a:rPr>
              <a:t>中学生向けに、たとえ話を1つ入れて、400字で、ChatGPTの使い方を書いて</a:t>
            </a:r>
            <a:endParaRPr lang="en-US" sz="2200" dirty="0"/>
          </a:p>
        </p:txBody>
      </p:sp>
      <p:sp>
        <p:nvSpPr>
          <p:cNvPr id="13" name="Text 11"/>
          <p:cNvSpPr/>
          <p:nvPr/>
        </p:nvSpPr>
        <p:spPr>
          <a:xfrm>
            <a:off x="6477000" y="3870722"/>
            <a:ext cx="477456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条件が多いほど、「次のことば」の候補がしぼられて、ねらった文章に近づく。</a:t>
            </a:r>
            <a:endParaRPr lang="en-US" sz="1500" dirty="0"/>
          </a:p>
        </p:txBody>
      </p:sp>
      <p:sp>
        <p:nvSpPr>
          <p:cNvPr id="14" name="Text 12"/>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AIに出す指示のことを「プロンプト」という。このブログには、その書き方を扱う「プロンプト設計」のカテゴリーがある。</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6"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16 / 23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AIにも、苦手なことがある</a:t>
            </a:r>
            <a:endParaRPr lang="en-US" sz="3200" dirty="0"/>
          </a:p>
        </p:txBody>
      </p:sp>
      <p:sp>
        <p:nvSpPr>
          <p:cNvPr id="4" name="Shape 2"/>
          <p:cNvSpPr/>
          <p:nvPr/>
        </p:nvSpPr>
        <p:spPr>
          <a:xfrm>
            <a:off x="819150" y="1901130"/>
            <a:ext cx="3407767" cy="3020120"/>
          </a:xfrm>
          <a:prstGeom prst="roundRect">
            <a:avLst>
              <a:gd name="adj" fmla="val 5677"/>
            </a:avLst>
          </a:prstGeom>
          <a:solidFill>
            <a:srgbClr val="FBFCFE"/>
          </a:solidFill>
          <a:ln w="12700">
            <a:solidFill>
              <a:srgbClr val="D3DBEA"/>
            </a:solidFill>
            <a:prstDash val="solid"/>
          </a:ln>
        </p:spPr>
      </p:sp>
      <p:sp>
        <p:nvSpPr>
          <p:cNvPr id="5" name="Text 3"/>
          <p:cNvSpPr/>
          <p:nvPr/>
        </p:nvSpPr>
        <p:spPr>
          <a:xfrm>
            <a:off x="1028700" y="2136080"/>
            <a:ext cx="307832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1</a:t>
            </a:r>
            <a:endParaRPr lang="en-US" sz="3200" dirty="0"/>
          </a:p>
        </p:txBody>
      </p:sp>
      <p:sp>
        <p:nvSpPr>
          <p:cNvPr id="6" name="Text 4"/>
          <p:cNvSpPr/>
          <p:nvPr/>
        </p:nvSpPr>
        <p:spPr>
          <a:xfrm>
            <a:off x="1028700" y="2631380"/>
            <a:ext cx="3078327"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もっともらしい嘘</a:t>
            </a:r>
            <a:endParaRPr lang="en-US" sz="1800" dirty="0"/>
          </a:p>
        </p:txBody>
      </p:sp>
      <p:sp>
        <p:nvSpPr>
          <p:cNvPr id="7" name="Text 5"/>
          <p:cNvSpPr/>
          <p:nvPr/>
        </p:nvSpPr>
        <p:spPr>
          <a:xfrm>
            <a:off x="1028700" y="3017441"/>
            <a:ext cx="3078327"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「次のことば」を予想して書くので、知らないことでも、自然な文で書いてしまう。</a:t>
            </a:r>
            <a:endParaRPr lang="en-US" sz="1400" dirty="0"/>
          </a:p>
        </p:txBody>
      </p:sp>
      <p:sp>
        <p:nvSpPr>
          <p:cNvPr id="8" name="Text 6"/>
          <p:cNvSpPr/>
          <p:nvPr/>
        </p:nvSpPr>
        <p:spPr>
          <a:xfrm>
            <a:off x="1028700" y="3959721"/>
            <a:ext cx="3078327"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ハルシネーションと呼ばれる</a:t>
            </a:r>
            <a:endParaRPr lang="en-US" sz="1300" dirty="0"/>
          </a:p>
        </p:txBody>
      </p:sp>
      <p:sp>
        <p:nvSpPr>
          <p:cNvPr id="9" name="Shape 7"/>
          <p:cNvSpPr/>
          <p:nvPr/>
        </p:nvSpPr>
        <p:spPr>
          <a:xfrm>
            <a:off x="4392017" y="1901130"/>
            <a:ext cx="3407866" cy="3020120"/>
          </a:xfrm>
          <a:prstGeom prst="roundRect">
            <a:avLst>
              <a:gd name="adj" fmla="val 5677"/>
            </a:avLst>
          </a:prstGeom>
          <a:solidFill>
            <a:srgbClr val="FBFCFE"/>
          </a:solidFill>
          <a:ln w="12700">
            <a:solidFill>
              <a:srgbClr val="D3DBEA"/>
            </a:solidFill>
            <a:prstDash val="solid"/>
          </a:ln>
        </p:spPr>
      </p:sp>
      <p:sp>
        <p:nvSpPr>
          <p:cNvPr id="10" name="Text 8"/>
          <p:cNvSpPr/>
          <p:nvPr/>
        </p:nvSpPr>
        <p:spPr>
          <a:xfrm>
            <a:off x="4601567" y="2136080"/>
            <a:ext cx="307842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2</a:t>
            </a:r>
            <a:endParaRPr lang="en-US" sz="3200" dirty="0"/>
          </a:p>
        </p:txBody>
      </p:sp>
      <p:sp>
        <p:nvSpPr>
          <p:cNvPr id="11" name="Text 9"/>
          <p:cNvSpPr/>
          <p:nvPr/>
        </p:nvSpPr>
        <p:spPr>
          <a:xfrm>
            <a:off x="4601567" y="2631380"/>
            <a:ext cx="307842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最新のことは知らない</a:t>
            </a:r>
            <a:endParaRPr lang="en-US" sz="1800" dirty="0"/>
          </a:p>
        </p:txBody>
      </p:sp>
      <p:sp>
        <p:nvSpPr>
          <p:cNvPr id="12" name="Text 10"/>
          <p:cNvSpPr/>
          <p:nvPr/>
        </p:nvSpPr>
        <p:spPr>
          <a:xfrm>
            <a:off x="4601567" y="3017441"/>
            <a:ext cx="3078429"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学習した時点までの知識しか持っていない。</a:t>
            </a:r>
            <a:endParaRPr lang="en-US" sz="1400" dirty="0"/>
          </a:p>
        </p:txBody>
      </p:sp>
      <p:sp>
        <p:nvSpPr>
          <p:cNvPr id="13" name="Text 11"/>
          <p:cNvSpPr/>
          <p:nvPr/>
        </p:nvSpPr>
        <p:spPr>
          <a:xfrm>
            <a:off x="4601567" y="3675261"/>
            <a:ext cx="3078429"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検索ツールとつなぐと補える</a:t>
            </a:r>
            <a:endParaRPr lang="en-US" sz="1300" dirty="0"/>
          </a:p>
        </p:txBody>
      </p:sp>
      <p:sp>
        <p:nvSpPr>
          <p:cNvPr id="14" name="Shape 12"/>
          <p:cNvSpPr/>
          <p:nvPr/>
        </p:nvSpPr>
        <p:spPr>
          <a:xfrm>
            <a:off x="7964984" y="1901130"/>
            <a:ext cx="3407866" cy="3020120"/>
          </a:xfrm>
          <a:prstGeom prst="roundRect">
            <a:avLst>
              <a:gd name="adj" fmla="val 5677"/>
            </a:avLst>
          </a:prstGeom>
          <a:solidFill>
            <a:srgbClr val="FBFCFE"/>
          </a:solidFill>
          <a:ln w="12700">
            <a:solidFill>
              <a:srgbClr val="D3DBEA"/>
            </a:solidFill>
            <a:prstDash val="solid"/>
          </a:ln>
        </p:spPr>
      </p:sp>
      <p:sp>
        <p:nvSpPr>
          <p:cNvPr id="15" name="Text 13"/>
          <p:cNvSpPr/>
          <p:nvPr/>
        </p:nvSpPr>
        <p:spPr>
          <a:xfrm>
            <a:off x="8174534" y="2136080"/>
            <a:ext cx="307842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3</a:t>
            </a:r>
            <a:endParaRPr lang="en-US" sz="3200" dirty="0"/>
          </a:p>
        </p:txBody>
      </p:sp>
      <p:sp>
        <p:nvSpPr>
          <p:cNvPr id="16" name="Text 14"/>
          <p:cNvSpPr/>
          <p:nvPr/>
        </p:nvSpPr>
        <p:spPr>
          <a:xfrm>
            <a:off x="8174534" y="2631380"/>
            <a:ext cx="307842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一度に覚えられる量に限り</a:t>
            </a:r>
            <a:endParaRPr lang="en-US" sz="1800" dirty="0"/>
          </a:p>
        </p:txBody>
      </p:sp>
      <p:sp>
        <p:nvSpPr>
          <p:cNvPr id="17" name="Text 15"/>
          <p:cNvSpPr/>
          <p:nvPr/>
        </p:nvSpPr>
        <p:spPr>
          <a:xfrm>
            <a:off x="8174534" y="3017441"/>
            <a:ext cx="3078429"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一度に読める量にはトークンの上限がある。長い会話の最初のほうは、忘れることがある。</a:t>
            </a:r>
            <a:endParaRPr lang="en-US" sz="1400" dirty="0"/>
          </a:p>
        </p:txBody>
      </p:sp>
      <p:sp>
        <p:nvSpPr>
          <p:cNvPr id="18" name="Text 16"/>
          <p:cNvSpPr/>
          <p:nvPr/>
        </p:nvSpPr>
        <p:spPr>
          <a:xfrm>
            <a:off x="8174534" y="3959721"/>
            <a:ext cx="3078429"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「コンテキスト」と呼ばれる</a:t>
            </a:r>
            <a:endParaRPr lang="en-US" sz="1300" dirty="0"/>
          </a:p>
        </p:txBody>
      </p:sp>
      <p:sp>
        <p:nvSpPr>
          <p:cNvPr id="19" name="Shape 17"/>
          <p:cNvSpPr/>
          <p:nvPr/>
        </p:nvSpPr>
        <p:spPr>
          <a:xfrm>
            <a:off x="819150" y="5213350"/>
            <a:ext cx="10553700" cy="622300"/>
          </a:xfrm>
          <a:prstGeom prst="roundRect">
            <a:avLst>
              <a:gd name="adj" fmla="val 27551"/>
            </a:avLst>
          </a:prstGeom>
          <a:solidFill>
            <a:srgbClr val="FFF0BD"/>
          </a:solidFill>
          <a:ln w="12700">
            <a:solidFill>
              <a:srgbClr val="FFC83D"/>
            </a:solidFill>
            <a:prstDash val="solid"/>
          </a:ln>
        </p:spPr>
      </p:sp>
      <p:sp>
        <p:nvSpPr>
          <p:cNvPr id="20" name="Text 18"/>
          <p:cNvSpPr/>
          <p:nvPr/>
        </p:nvSpPr>
        <p:spPr>
          <a:xfrm>
            <a:off x="1054100" y="5372100"/>
            <a:ext cx="10386314" cy="330200"/>
          </a:xfrm>
          <a:prstGeom prst="rect">
            <a:avLst/>
          </a:prstGeom>
          <a:noFill/>
          <a:ln/>
        </p:spPr>
        <p:txBody>
          <a:bodyPr wrap="square" lIns="0" tIns="0" rIns="0" bIns="0" rtlCol="0" anchor="t">
            <a:normAutofit/>
          </a:bodyPr>
          <a:lstStyle/>
          <a:p>
            <a:pPr algn="l" indent="0" marL="0">
              <a:lnSpc>
                <a:spcPts val="2400"/>
              </a:lnSpc>
              <a:buNone/>
            </a:pPr>
            <a:r>
              <a:rPr lang="en-US" sz="1500" b="1" dirty="0">
                <a:solidFill>
                  <a:srgbClr val="16233B"/>
                </a:solidFill>
                <a:latin typeface="BIZ UDPGothic" pitchFamily="34" charset="0"/>
                <a:ea typeface="BIZ UDPGothic" pitchFamily="34" charset="-122"/>
                <a:cs typeface="BIZ UDPGothic" pitchFamily="34" charset="-120"/>
              </a:rPr>
              <a:t>だからAIの答えは、人が確かめる。</a:t>
            </a:r>
            <a:r>
              <a:rPr lang="en-US" sz="1500" dirty="0">
                <a:solidFill>
                  <a:srgbClr val="16233B"/>
                </a:solidFill>
                <a:latin typeface="BIZ UDPGothic" pitchFamily="34" charset="0"/>
                <a:ea typeface="BIZ UDPGothic" pitchFamily="34" charset="-122"/>
                <a:cs typeface="BIZ UDPGothic" pitchFamily="34" charset="-120"/>
              </a:rPr>
              <a:t>使う側が弱点を知っていると、安心して任せられる部分が見えてくる。</a:t>
            </a:r>
            <a:endParaRPr lang="en-US" sz="15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2"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17 / 23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AIエージェントは、道具を使って作業する</a:t>
            </a:r>
            <a:endParaRPr lang="en-US" sz="3200" dirty="0"/>
          </a:p>
        </p:txBody>
      </p:sp>
      <p:sp>
        <p:nvSpPr>
          <p:cNvPr id="4" name="Shape 2"/>
          <p:cNvSpPr/>
          <p:nvPr/>
        </p:nvSpPr>
        <p:spPr>
          <a:xfrm>
            <a:off x="819150" y="1901130"/>
            <a:ext cx="2247900" cy="1767780"/>
          </a:xfrm>
          <a:prstGeom prst="roundRect">
            <a:avLst>
              <a:gd name="adj" fmla="val 9699"/>
            </a:avLst>
          </a:prstGeom>
          <a:solidFill>
            <a:srgbClr val="FBFCFE"/>
          </a:solidFill>
          <a:ln w="12700">
            <a:solidFill>
              <a:srgbClr val="D3DBEA"/>
            </a:solidFill>
            <a:prstDash val="solid"/>
          </a:ln>
        </p:spPr>
      </p:sp>
      <p:sp>
        <p:nvSpPr>
          <p:cNvPr id="5" name="Text 3"/>
          <p:cNvSpPr/>
          <p:nvPr/>
        </p:nvSpPr>
        <p:spPr>
          <a:xfrm>
            <a:off x="10033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350C9"/>
                </a:solidFill>
                <a:latin typeface="Zen Maru Gothic" pitchFamily="34" charset="0"/>
                <a:ea typeface="Zen Maru Gothic" pitchFamily="34" charset="-122"/>
                <a:cs typeface="Zen Maru Gothic" pitchFamily="34" charset="-120"/>
              </a:rPr>
              <a:t>1</a:t>
            </a:r>
            <a:endParaRPr lang="en-US" sz="2800" dirty="0"/>
          </a:p>
        </p:txBody>
      </p:sp>
      <p:sp>
        <p:nvSpPr>
          <p:cNvPr id="6" name="Text 4"/>
          <p:cNvSpPr/>
          <p:nvPr/>
        </p:nvSpPr>
        <p:spPr>
          <a:xfrm>
            <a:off x="10033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目的を受けとる</a:t>
            </a:r>
            <a:endParaRPr lang="en-US" sz="1800" dirty="0"/>
          </a:p>
        </p:txBody>
      </p:sp>
      <p:sp>
        <p:nvSpPr>
          <p:cNvPr id="7" name="Text 5"/>
          <p:cNvSpPr/>
          <p:nvPr/>
        </p:nvSpPr>
        <p:spPr>
          <a:xfrm>
            <a:off x="10033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「この記事の下書きを作って」</a:t>
            </a:r>
            <a:endParaRPr lang="en-US" sz="1400" dirty="0"/>
          </a:p>
        </p:txBody>
      </p:sp>
      <p:pic>
        <p:nvPicPr>
          <p:cNvPr id="8" name="Image 0" descr="arrow-right">    </p:cNvPr>
          <p:cNvPicPr>
            <a:picLocks noChangeAspect="1"/>
          </p:cNvPicPr>
          <p:nvPr/>
        </p:nvPicPr>
        <p:blipFill>
          <a:blip r:embed="rId1"/>
          <a:srcRect l="0" r="0" t="0" b="0"/>
          <a:stretch/>
        </p:blipFill>
        <p:spPr>
          <a:xfrm>
            <a:off x="3149600" y="2683371"/>
            <a:ext cx="355600" cy="203200"/>
          </a:xfrm>
          <a:prstGeom prst="rect">
            <a:avLst/>
          </a:prstGeom>
        </p:spPr>
      </p:pic>
      <p:sp>
        <p:nvSpPr>
          <p:cNvPr id="9" name="Shape 6"/>
          <p:cNvSpPr/>
          <p:nvPr/>
        </p:nvSpPr>
        <p:spPr>
          <a:xfrm>
            <a:off x="3587750" y="1901130"/>
            <a:ext cx="2247900" cy="1767780"/>
          </a:xfrm>
          <a:prstGeom prst="roundRect">
            <a:avLst>
              <a:gd name="adj" fmla="val 9699"/>
            </a:avLst>
          </a:prstGeom>
          <a:solidFill>
            <a:srgbClr val="2F62E6"/>
          </a:solidFill>
          <a:ln w="12700">
            <a:solidFill>
              <a:srgbClr val="2F62E6"/>
            </a:solidFill>
            <a:prstDash val="solid"/>
          </a:ln>
        </p:spPr>
      </p:sp>
      <p:sp>
        <p:nvSpPr>
          <p:cNvPr id="10" name="Text 7"/>
          <p:cNvSpPr/>
          <p:nvPr/>
        </p:nvSpPr>
        <p:spPr>
          <a:xfrm>
            <a:off x="37719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FFFF"/>
                </a:solidFill>
                <a:latin typeface="Zen Maru Gothic" pitchFamily="34" charset="0"/>
                <a:ea typeface="Zen Maru Gothic" pitchFamily="34" charset="-122"/>
                <a:cs typeface="Zen Maru Gothic" pitchFamily="34" charset="-120"/>
              </a:rPr>
              <a:t>2</a:t>
            </a:r>
            <a:endParaRPr lang="en-US" sz="2800" dirty="0"/>
          </a:p>
        </p:txBody>
      </p:sp>
      <p:sp>
        <p:nvSpPr>
          <p:cNvPr id="11" name="Text 8"/>
          <p:cNvSpPr/>
          <p:nvPr/>
        </p:nvSpPr>
        <p:spPr>
          <a:xfrm>
            <a:off x="37719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考えて計画する</a:t>
            </a:r>
            <a:endParaRPr lang="en-US" sz="1800" dirty="0"/>
          </a:p>
        </p:txBody>
      </p:sp>
      <p:sp>
        <p:nvSpPr>
          <p:cNvPr id="12" name="Text 9"/>
          <p:cNvSpPr/>
          <p:nvPr/>
        </p:nvSpPr>
        <p:spPr>
          <a:xfrm>
            <a:off x="37719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まず何を読めばいいか、順番を考える</a:t>
            </a:r>
            <a:endParaRPr lang="en-US" sz="1400" dirty="0"/>
          </a:p>
        </p:txBody>
      </p:sp>
      <p:pic>
        <p:nvPicPr>
          <p:cNvPr id="13" name="Image 1" descr="arrow-right">    </p:cNvPr>
          <p:cNvPicPr>
            <a:picLocks noChangeAspect="1"/>
          </p:cNvPicPr>
          <p:nvPr/>
        </p:nvPicPr>
        <p:blipFill>
          <a:blip r:embed="rId2"/>
          <a:srcRect l="0" r="0" t="0" b="0"/>
          <a:stretch/>
        </p:blipFill>
        <p:spPr>
          <a:xfrm>
            <a:off x="5918200" y="2683371"/>
            <a:ext cx="355600" cy="203200"/>
          </a:xfrm>
          <a:prstGeom prst="rect">
            <a:avLst/>
          </a:prstGeom>
        </p:spPr>
      </p:pic>
      <p:sp>
        <p:nvSpPr>
          <p:cNvPr id="14" name="Shape 10"/>
          <p:cNvSpPr/>
          <p:nvPr/>
        </p:nvSpPr>
        <p:spPr>
          <a:xfrm>
            <a:off x="6356350" y="1901130"/>
            <a:ext cx="2247900" cy="1767780"/>
          </a:xfrm>
          <a:prstGeom prst="roundRect">
            <a:avLst>
              <a:gd name="adj" fmla="val 9699"/>
            </a:avLst>
          </a:prstGeom>
          <a:solidFill>
            <a:srgbClr val="FBFCFE"/>
          </a:solidFill>
          <a:ln w="12700">
            <a:solidFill>
              <a:srgbClr val="D3DBEA"/>
            </a:solidFill>
            <a:prstDash val="solid"/>
          </a:ln>
        </p:spPr>
      </p:sp>
      <p:sp>
        <p:nvSpPr>
          <p:cNvPr id="15" name="Text 11"/>
          <p:cNvSpPr/>
          <p:nvPr/>
        </p:nvSpPr>
        <p:spPr>
          <a:xfrm>
            <a:off x="65405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350C9"/>
                </a:solidFill>
                <a:latin typeface="Zen Maru Gothic" pitchFamily="34" charset="0"/>
                <a:ea typeface="Zen Maru Gothic" pitchFamily="34" charset="-122"/>
                <a:cs typeface="Zen Maru Gothic" pitchFamily="34" charset="-120"/>
              </a:rPr>
              <a:t>3</a:t>
            </a:r>
            <a:endParaRPr lang="en-US" sz="2800" dirty="0"/>
          </a:p>
        </p:txBody>
      </p:sp>
      <p:sp>
        <p:nvSpPr>
          <p:cNvPr id="16" name="Text 12"/>
          <p:cNvSpPr/>
          <p:nvPr/>
        </p:nvSpPr>
        <p:spPr>
          <a:xfrm>
            <a:off x="65405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道具を使う</a:t>
            </a:r>
            <a:endParaRPr lang="en-US" sz="1800" dirty="0"/>
          </a:p>
        </p:txBody>
      </p:sp>
      <p:sp>
        <p:nvSpPr>
          <p:cNvPr id="17" name="Text 13"/>
          <p:cNvSpPr/>
          <p:nvPr/>
        </p:nvSpPr>
        <p:spPr>
          <a:xfrm>
            <a:off x="65405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ファイルを読む、書く、実行する</a:t>
            </a:r>
            <a:endParaRPr lang="en-US" sz="1400" dirty="0"/>
          </a:p>
        </p:txBody>
      </p:sp>
      <p:pic>
        <p:nvPicPr>
          <p:cNvPr id="18" name="Image 2" descr="arrow-right">    </p:cNvPr>
          <p:cNvPicPr>
            <a:picLocks noChangeAspect="1"/>
          </p:cNvPicPr>
          <p:nvPr/>
        </p:nvPicPr>
        <p:blipFill>
          <a:blip r:embed="rId3"/>
          <a:srcRect l="0" r="0" t="0" b="0"/>
          <a:stretch/>
        </p:blipFill>
        <p:spPr>
          <a:xfrm>
            <a:off x="8686800" y="2683371"/>
            <a:ext cx="355600" cy="203200"/>
          </a:xfrm>
          <a:prstGeom prst="rect">
            <a:avLst/>
          </a:prstGeom>
        </p:spPr>
      </p:pic>
      <p:sp>
        <p:nvSpPr>
          <p:cNvPr id="19" name="Shape 14"/>
          <p:cNvSpPr/>
          <p:nvPr/>
        </p:nvSpPr>
        <p:spPr>
          <a:xfrm>
            <a:off x="9124950" y="1901130"/>
            <a:ext cx="2247900" cy="1767780"/>
          </a:xfrm>
          <a:prstGeom prst="roundRect">
            <a:avLst>
              <a:gd name="adj" fmla="val 9699"/>
            </a:avLst>
          </a:prstGeom>
          <a:solidFill>
            <a:srgbClr val="2F62E6"/>
          </a:solidFill>
          <a:ln w="12700">
            <a:solidFill>
              <a:srgbClr val="2F62E6"/>
            </a:solidFill>
            <a:prstDash val="solid"/>
          </a:ln>
        </p:spPr>
      </p:sp>
      <p:sp>
        <p:nvSpPr>
          <p:cNvPr id="20" name="Text 15"/>
          <p:cNvSpPr/>
          <p:nvPr/>
        </p:nvSpPr>
        <p:spPr>
          <a:xfrm>
            <a:off x="93091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FFFF"/>
                </a:solidFill>
                <a:latin typeface="Zen Maru Gothic" pitchFamily="34" charset="0"/>
                <a:ea typeface="Zen Maru Gothic" pitchFamily="34" charset="-122"/>
                <a:cs typeface="Zen Maru Gothic" pitchFamily="34" charset="-120"/>
              </a:rPr>
              <a:t>4</a:t>
            </a:r>
            <a:endParaRPr lang="en-US" sz="2800" dirty="0"/>
          </a:p>
        </p:txBody>
      </p:sp>
      <p:sp>
        <p:nvSpPr>
          <p:cNvPr id="21" name="Text 16"/>
          <p:cNvSpPr/>
          <p:nvPr/>
        </p:nvSpPr>
        <p:spPr>
          <a:xfrm>
            <a:off x="93091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結果を見て決める</a:t>
            </a:r>
            <a:endParaRPr lang="en-US" sz="1800" dirty="0"/>
          </a:p>
        </p:txBody>
      </p:sp>
      <p:sp>
        <p:nvSpPr>
          <p:cNvPr id="22" name="Text 17"/>
          <p:cNvSpPr/>
          <p:nvPr/>
        </p:nvSpPr>
        <p:spPr>
          <a:xfrm>
            <a:off x="93091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うまくいったか確認して、次の手を選ぶ</a:t>
            </a:r>
            <a:endParaRPr lang="en-US" sz="1400" dirty="0"/>
          </a:p>
        </p:txBody>
      </p:sp>
      <p:sp>
        <p:nvSpPr>
          <p:cNvPr id="23" name="Shape 18"/>
          <p:cNvSpPr/>
          <p:nvPr/>
        </p:nvSpPr>
        <p:spPr>
          <a:xfrm>
            <a:off x="822325" y="3964186"/>
            <a:ext cx="10547350" cy="532110"/>
          </a:xfrm>
          <a:prstGeom prst="roundRect">
            <a:avLst>
              <a:gd name="adj" fmla="val 26851"/>
            </a:avLst>
          </a:prstGeom>
          <a:noFill/>
          <a:ln w="19050">
            <a:solidFill>
              <a:srgbClr val="2F62E6"/>
            </a:solidFill>
            <a:prstDash val="dash"/>
          </a:ln>
        </p:spPr>
      </p:sp>
      <p:sp>
        <p:nvSpPr>
          <p:cNvPr id="24" name="Text 19"/>
          <p:cNvSpPr/>
          <p:nvPr/>
        </p:nvSpPr>
        <p:spPr>
          <a:xfrm>
            <a:off x="4067274" y="4088011"/>
            <a:ext cx="41790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50C9"/>
                </a:solidFill>
                <a:latin typeface="BIZ UDPGothic" pitchFamily="34" charset="0"/>
                <a:ea typeface="BIZ UDPGothic" pitchFamily="34" charset="-122"/>
                <a:cs typeface="BIZ UDPGothic" pitchFamily="34" charset="-120"/>
              </a:rPr>
              <a:t>ゴールに着くまで、2 → 3 → 4 をくりかえす</a:t>
            </a:r>
            <a:endParaRPr lang="en-US" sz="1600" dirty="0"/>
          </a:p>
        </p:txBody>
      </p:sp>
      <p:sp>
        <p:nvSpPr>
          <p:cNvPr id="25" name="Text 20"/>
          <p:cNvSpPr/>
          <p:nvPr/>
        </p:nvSpPr>
        <p:spPr>
          <a:xfrm>
            <a:off x="812800" y="4785221"/>
            <a:ext cx="10883392"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ふつうのチャットAIは「答える」まで。エージェントは、自分で道具を使って「やりとげる」まで。このブログの手伝いをしているのは Claude Code。</a:t>
            </a:r>
            <a:endParaRPr lang="en-US" sz="1400" dirty="0"/>
          </a:p>
        </p:txBody>
      </p:sp>
      <p:sp>
        <p:nvSpPr>
          <p:cNvPr id="26"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18 / 23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AIとブログ</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ルールブック3冊と、AIの助っ人</a:t>
            </a:r>
            <a:endParaRPr lang="en-US" sz="3200" dirty="0"/>
          </a:p>
        </p:txBody>
      </p:sp>
      <p:sp>
        <p:nvSpPr>
          <p:cNvPr id="4" name="Text 2"/>
          <p:cNvSpPr/>
          <p:nvPr/>
        </p:nvSpPr>
        <p:spPr>
          <a:xfrm>
            <a:off x="812800" y="1894780"/>
            <a:ext cx="528472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ルールブック（人が決める）</a:t>
            </a:r>
            <a:endParaRPr lang="en-US" sz="1800" dirty="0"/>
          </a:p>
        </p:txBody>
      </p:sp>
      <p:sp>
        <p:nvSpPr>
          <p:cNvPr id="5" name="Shape 3"/>
          <p:cNvSpPr/>
          <p:nvPr/>
        </p:nvSpPr>
        <p:spPr>
          <a:xfrm>
            <a:off x="819150" y="2287191"/>
            <a:ext cx="5118100" cy="707330"/>
          </a:xfrm>
          <a:prstGeom prst="roundRect">
            <a:avLst>
              <a:gd name="adj" fmla="val 24239"/>
            </a:avLst>
          </a:prstGeom>
          <a:solidFill>
            <a:srgbClr val="FBFCFE"/>
          </a:solidFill>
          <a:ln w="12700">
            <a:solidFill>
              <a:srgbClr val="D3DBEA"/>
            </a:solidFill>
            <a:prstDash val="solid"/>
          </a:ln>
        </p:spPr>
      </p:sp>
      <p:sp>
        <p:nvSpPr>
          <p:cNvPr id="6" name="Text 4"/>
          <p:cNvSpPr/>
          <p:nvPr/>
        </p:nvSpPr>
        <p:spPr>
          <a:xfrm>
            <a:off x="1003300" y="2395141"/>
            <a:ext cx="489229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350C9"/>
                </a:solidFill>
                <a:latin typeface="Source Code Pro" pitchFamily="34" charset="0"/>
                <a:ea typeface="Source Code Pro" pitchFamily="34" charset="-122"/>
                <a:cs typeface="Source Code Pro" pitchFamily="34" charset="-120"/>
              </a:rPr>
              <a:t>content-strategy.md</a:t>
            </a:r>
            <a:endParaRPr lang="en-US" sz="1400" dirty="0"/>
          </a:p>
        </p:txBody>
      </p:sp>
      <p:sp>
        <p:nvSpPr>
          <p:cNvPr id="7" name="Text 5"/>
          <p:cNvSpPr/>
          <p:nvPr/>
        </p:nvSpPr>
        <p:spPr>
          <a:xfrm>
            <a:off x="1003300" y="2638921"/>
            <a:ext cx="489229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だれに向けて、どんな分類で書くか。ブログの方針</a:t>
            </a:r>
            <a:endParaRPr lang="en-US" sz="1300" dirty="0"/>
          </a:p>
        </p:txBody>
      </p:sp>
      <p:sp>
        <p:nvSpPr>
          <p:cNvPr id="8" name="Shape 6"/>
          <p:cNvSpPr/>
          <p:nvPr/>
        </p:nvSpPr>
        <p:spPr>
          <a:xfrm>
            <a:off x="819150" y="3096121"/>
            <a:ext cx="5118100" cy="707330"/>
          </a:xfrm>
          <a:prstGeom prst="roundRect">
            <a:avLst>
              <a:gd name="adj" fmla="val 24239"/>
            </a:avLst>
          </a:prstGeom>
          <a:solidFill>
            <a:srgbClr val="FBFCFE"/>
          </a:solidFill>
          <a:ln w="12700">
            <a:solidFill>
              <a:srgbClr val="D3DBEA"/>
            </a:solidFill>
            <a:prstDash val="solid"/>
          </a:ln>
        </p:spPr>
      </p:sp>
      <p:sp>
        <p:nvSpPr>
          <p:cNvPr id="9" name="Text 7"/>
          <p:cNvSpPr/>
          <p:nvPr/>
        </p:nvSpPr>
        <p:spPr>
          <a:xfrm>
            <a:off x="1003300" y="3204071"/>
            <a:ext cx="489229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350C9"/>
                </a:solidFill>
                <a:latin typeface="Source Code Pro" pitchFamily="34" charset="0"/>
                <a:ea typeface="Source Code Pro" pitchFamily="34" charset="-122"/>
                <a:cs typeface="Source Code Pro" pitchFamily="34" charset="-120"/>
              </a:rPr>
              <a:t>article-backlog.md</a:t>
            </a:r>
            <a:endParaRPr lang="en-US" sz="1400" dirty="0"/>
          </a:p>
        </p:txBody>
      </p:sp>
      <p:sp>
        <p:nvSpPr>
          <p:cNvPr id="10" name="Text 8"/>
          <p:cNvSpPr/>
          <p:nvPr/>
        </p:nvSpPr>
        <p:spPr>
          <a:xfrm>
            <a:off x="1003300" y="3447852"/>
            <a:ext cx="489229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書きたい記事のストック帳。順番のきまりも</a:t>
            </a:r>
            <a:endParaRPr lang="en-US" sz="1300" dirty="0"/>
          </a:p>
        </p:txBody>
      </p:sp>
      <p:sp>
        <p:nvSpPr>
          <p:cNvPr id="11" name="Shape 9"/>
          <p:cNvSpPr/>
          <p:nvPr/>
        </p:nvSpPr>
        <p:spPr>
          <a:xfrm>
            <a:off x="819150" y="3905052"/>
            <a:ext cx="5118100" cy="707330"/>
          </a:xfrm>
          <a:prstGeom prst="roundRect">
            <a:avLst>
              <a:gd name="adj" fmla="val 24239"/>
            </a:avLst>
          </a:prstGeom>
          <a:solidFill>
            <a:srgbClr val="FBFCFE"/>
          </a:solidFill>
          <a:ln w="12700">
            <a:solidFill>
              <a:srgbClr val="D3DBEA"/>
            </a:solidFill>
            <a:prstDash val="solid"/>
          </a:ln>
        </p:spPr>
      </p:sp>
      <p:sp>
        <p:nvSpPr>
          <p:cNvPr id="12" name="Text 10"/>
          <p:cNvSpPr/>
          <p:nvPr/>
        </p:nvSpPr>
        <p:spPr>
          <a:xfrm>
            <a:off x="1003300" y="4013002"/>
            <a:ext cx="489229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350C9"/>
                </a:solidFill>
                <a:latin typeface="Source Code Pro" pitchFamily="34" charset="0"/>
                <a:ea typeface="Source Code Pro" pitchFamily="34" charset="-122"/>
                <a:cs typeface="Source Code Pro" pitchFamily="34" charset="-120"/>
              </a:rPr>
              <a:t>writing-style.md</a:t>
            </a:r>
            <a:endParaRPr lang="en-US" sz="1400" dirty="0"/>
          </a:p>
        </p:txBody>
      </p:sp>
      <p:sp>
        <p:nvSpPr>
          <p:cNvPr id="13" name="Text 11"/>
          <p:cNvSpPr/>
          <p:nvPr/>
        </p:nvSpPr>
        <p:spPr>
          <a:xfrm>
            <a:off x="1003300" y="4256782"/>
            <a:ext cx="489229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文章の口調と、体験談を書くときの守りごと</a:t>
            </a:r>
            <a:endParaRPr lang="en-US" sz="1300" dirty="0"/>
          </a:p>
        </p:txBody>
      </p:sp>
      <p:sp>
        <p:nvSpPr>
          <p:cNvPr id="14" name="Text 12"/>
          <p:cNvSpPr/>
          <p:nvPr/>
        </p:nvSpPr>
        <p:spPr>
          <a:xfrm>
            <a:off x="6248400" y="1894780"/>
            <a:ext cx="528472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AIの助っ人（手順書を渡してある）</a:t>
            </a:r>
            <a:endParaRPr lang="en-US" sz="1800" dirty="0"/>
          </a:p>
        </p:txBody>
      </p:sp>
      <p:sp>
        <p:nvSpPr>
          <p:cNvPr id="15" name="Shape 13"/>
          <p:cNvSpPr/>
          <p:nvPr/>
        </p:nvSpPr>
        <p:spPr>
          <a:xfrm>
            <a:off x="6254750" y="2287191"/>
            <a:ext cx="5118100" cy="707330"/>
          </a:xfrm>
          <a:prstGeom prst="roundRect">
            <a:avLst>
              <a:gd name="adj" fmla="val 24239"/>
            </a:avLst>
          </a:prstGeom>
          <a:solidFill>
            <a:srgbClr val="FBFCFE"/>
          </a:solidFill>
          <a:ln w="12700">
            <a:solidFill>
              <a:srgbClr val="D3DBEA"/>
            </a:solidFill>
            <a:prstDash val="solid"/>
          </a:ln>
        </p:spPr>
      </p:sp>
      <p:sp>
        <p:nvSpPr>
          <p:cNvPr id="16" name="Text 14"/>
          <p:cNvSpPr/>
          <p:nvPr/>
        </p:nvSpPr>
        <p:spPr>
          <a:xfrm>
            <a:off x="6438900" y="2395141"/>
            <a:ext cx="489229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350C9"/>
                </a:solidFill>
                <a:latin typeface="Source Code Pro" pitchFamily="34" charset="0"/>
                <a:ea typeface="Source Code Pro" pitchFamily="34" charset="-122"/>
                <a:cs typeface="Source Code Pro" pitchFamily="34" charset="-120"/>
              </a:rPr>
              <a:t>/add-idea</a:t>
            </a:r>
            <a:endParaRPr lang="en-US" sz="1400" dirty="0"/>
          </a:p>
        </p:txBody>
      </p:sp>
      <p:sp>
        <p:nvSpPr>
          <p:cNvPr id="17" name="Text 15"/>
          <p:cNvSpPr/>
          <p:nvPr/>
        </p:nvSpPr>
        <p:spPr>
          <a:xfrm>
            <a:off x="6438900" y="2638921"/>
            <a:ext cx="489229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思いつきや今日の出来事を、記事のネタに足す</a:t>
            </a:r>
            <a:endParaRPr lang="en-US" sz="1300" dirty="0"/>
          </a:p>
        </p:txBody>
      </p:sp>
      <p:sp>
        <p:nvSpPr>
          <p:cNvPr id="18" name="Shape 16"/>
          <p:cNvSpPr/>
          <p:nvPr/>
        </p:nvSpPr>
        <p:spPr>
          <a:xfrm>
            <a:off x="6254750" y="3096121"/>
            <a:ext cx="5118100" cy="707330"/>
          </a:xfrm>
          <a:prstGeom prst="roundRect">
            <a:avLst>
              <a:gd name="adj" fmla="val 24239"/>
            </a:avLst>
          </a:prstGeom>
          <a:solidFill>
            <a:srgbClr val="FBFCFE"/>
          </a:solidFill>
          <a:ln w="12700">
            <a:solidFill>
              <a:srgbClr val="D3DBEA"/>
            </a:solidFill>
            <a:prstDash val="solid"/>
          </a:ln>
        </p:spPr>
      </p:sp>
      <p:sp>
        <p:nvSpPr>
          <p:cNvPr id="19" name="Text 17"/>
          <p:cNvSpPr/>
          <p:nvPr/>
        </p:nvSpPr>
        <p:spPr>
          <a:xfrm>
            <a:off x="6438900" y="3204071"/>
            <a:ext cx="489229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350C9"/>
                </a:solidFill>
                <a:latin typeface="Source Code Pro" pitchFamily="34" charset="0"/>
                <a:ea typeface="Source Code Pro" pitchFamily="34" charset="-122"/>
                <a:cs typeface="Source Code Pro" pitchFamily="34" charset="-120"/>
              </a:rPr>
              <a:t>/write-post</a:t>
            </a:r>
            <a:endParaRPr lang="en-US" sz="1400" dirty="0"/>
          </a:p>
        </p:txBody>
      </p:sp>
      <p:sp>
        <p:nvSpPr>
          <p:cNvPr id="20" name="Text 18"/>
          <p:cNvSpPr/>
          <p:nvPr/>
        </p:nvSpPr>
        <p:spPr>
          <a:xfrm>
            <a:off x="6438900" y="3447852"/>
            <a:ext cx="489229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ネタ選びから下書き・保存まで、質問しながら進める</a:t>
            </a:r>
            <a:endParaRPr lang="en-US" sz="1300" dirty="0"/>
          </a:p>
        </p:txBody>
      </p:sp>
      <p:sp>
        <p:nvSpPr>
          <p:cNvPr id="21" name="Shape 19"/>
          <p:cNvSpPr/>
          <p:nvPr/>
        </p:nvSpPr>
        <p:spPr>
          <a:xfrm>
            <a:off x="6254750" y="3905052"/>
            <a:ext cx="5118100" cy="707330"/>
          </a:xfrm>
          <a:prstGeom prst="roundRect">
            <a:avLst>
              <a:gd name="adj" fmla="val 24239"/>
            </a:avLst>
          </a:prstGeom>
          <a:solidFill>
            <a:srgbClr val="FBFCFE"/>
          </a:solidFill>
          <a:ln w="12700">
            <a:solidFill>
              <a:srgbClr val="D3DBEA"/>
            </a:solidFill>
            <a:prstDash val="solid"/>
          </a:ln>
        </p:spPr>
      </p:sp>
      <p:sp>
        <p:nvSpPr>
          <p:cNvPr id="22" name="Text 20"/>
          <p:cNvSpPr/>
          <p:nvPr/>
        </p:nvSpPr>
        <p:spPr>
          <a:xfrm>
            <a:off x="6438900" y="4013002"/>
            <a:ext cx="489229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350C9"/>
                </a:solidFill>
                <a:latin typeface="Source Code Pro" pitchFamily="34" charset="0"/>
                <a:ea typeface="Source Code Pro" pitchFamily="34" charset="-122"/>
                <a:cs typeface="Source Code Pro" pitchFamily="34" charset="-120"/>
              </a:rPr>
              <a:t>post-reviewer</a:t>
            </a:r>
            <a:endParaRPr lang="en-US" sz="1400" dirty="0"/>
          </a:p>
        </p:txBody>
      </p:sp>
      <p:sp>
        <p:nvSpPr>
          <p:cNvPr id="23" name="Text 21"/>
          <p:cNvSpPr/>
          <p:nvPr/>
        </p:nvSpPr>
        <p:spPr>
          <a:xfrm>
            <a:off x="6438900" y="4256782"/>
            <a:ext cx="489229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 アカネ。書き上がった下書きを、ルールブックに照らして点検</a:t>
            </a:r>
            <a:endParaRPr lang="en-US" sz="1300" dirty="0"/>
          </a:p>
        </p:txBody>
      </p:sp>
      <p:sp>
        <p:nvSpPr>
          <p:cNvPr id="24" name="Shape 22"/>
          <p:cNvSpPr/>
          <p:nvPr/>
        </p:nvSpPr>
        <p:spPr>
          <a:xfrm>
            <a:off x="6254750" y="4713982"/>
            <a:ext cx="5118100" cy="707330"/>
          </a:xfrm>
          <a:prstGeom prst="roundRect">
            <a:avLst>
              <a:gd name="adj" fmla="val 24239"/>
            </a:avLst>
          </a:prstGeom>
          <a:solidFill>
            <a:srgbClr val="FBFCFE"/>
          </a:solidFill>
          <a:ln w="12700">
            <a:solidFill>
              <a:srgbClr val="D3DBEA"/>
            </a:solidFill>
            <a:prstDash val="solid"/>
          </a:ln>
        </p:spPr>
      </p:sp>
      <p:sp>
        <p:nvSpPr>
          <p:cNvPr id="25" name="Text 23"/>
          <p:cNvSpPr/>
          <p:nvPr/>
        </p:nvSpPr>
        <p:spPr>
          <a:xfrm>
            <a:off x="6438900" y="4821932"/>
            <a:ext cx="489229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350C9"/>
                </a:solidFill>
                <a:latin typeface="Source Code Pro" pitchFamily="34" charset="0"/>
                <a:ea typeface="Source Code Pro" pitchFamily="34" charset="-122"/>
                <a:cs typeface="Source Code Pro" pitchFamily="34" charset="-120"/>
              </a:rPr>
              <a:t>/add-infographic</a:t>
            </a:r>
            <a:endParaRPr lang="en-US" sz="1400" dirty="0"/>
          </a:p>
        </p:txBody>
      </p:sp>
      <p:sp>
        <p:nvSpPr>
          <p:cNvPr id="26" name="Text 24"/>
          <p:cNvSpPr/>
          <p:nvPr/>
        </p:nvSpPr>
        <p:spPr>
          <a:xfrm>
            <a:off x="6438900" y="5065713"/>
            <a:ext cx="489229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記事の一番上に載せる、図解の画像を作る</a:t>
            </a:r>
            <a:endParaRPr lang="en-US" sz="1300" dirty="0"/>
          </a:p>
        </p:txBody>
      </p:sp>
      <p:sp>
        <p:nvSpPr>
          <p:cNvPr id="27" name="Text 2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8" name="Text 26"/>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19 / 23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AIとブログ</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記事ができるまでの6ステップ</a:t>
            </a:r>
            <a:endParaRPr lang="en-US" sz="3200" dirty="0"/>
          </a:p>
        </p:txBody>
      </p:sp>
      <p:sp>
        <p:nvSpPr>
          <p:cNvPr id="4" name="Shape 2"/>
          <p:cNvSpPr/>
          <p:nvPr/>
        </p:nvSpPr>
        <p:spPr>
          <a:xfrm>
            <a:off x="819150" y="1901130"/>
            <a:ext cx="3407767" cy="855861"/>
          </a:xfrm>
          <a:prstGeom prst="roundRect">
            <a:avLst>
              <a:gd name="adj" fmla="val 20032"/>
            </a:avLst>
          </a:prstGeom>
          <a:solidFill>
            <a:srgbClr val="FBFCFE"/>
          </a:solidFill>
          <a:ln w="12700">
            <a:solidFill>
              <a:srgbClr val="D3DBEA"/>
            </a:solidFill>
            <a:prstDash val="solid"/>
          </a:ln>
        </p:spPr>
      </p:sp>
      <p:sp>
        <p:nvSpPr>
          <p:cNvPr id="5" name="Text 3"/>
          <p:cNvSpPr/>
          <p:nvPr/>
        </p:nvSpPr>
        <p:spPr>
          <a:xfrm>
            <a:off x="1028700" y="2161381"/>
            <a:ext cx="16708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350C9"/>
                </a:solidFill>
                <a:latin typeface="Zen Maru Gothic" pitchFamily="34" charset="0"/>
                <a:ea typeface="Zen Maru Gothic" pitchFamily="34" charset="-122"/>
                <a:cs typeface="Zen Maru Gothic" pitchFamily="34" charset="-120"/>
              </a:rPr>
              <a:t>1</a:t>
            </a:r>
            <a:endParaRPr lang="en-US" sz="2200" dirty="0"/>
          </a:p>
        </p:txBody>
      </p:sp>
      <p:sp>
        <p:nvSpPr>
          <p:cNvPr id="6" name="Text 4"/>
          <p:cNvSpPr/>
          <p:nvPr/>
        </p:nvSpPr>
        <p:spPr>
          <a:xfrm>
            <a:off x="1271984" y="2085280"/>
            <a:ext cx="10668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ネタを出す</a:t>
            </a:r>
            <a:endParaRPr lang="en-US" sz="1600" dirty="0"/>
          </a:p>
        </p:txBody>
      </p:sp>
      <p:sp>
        <p:nvSpPr>
          <p:cNvPr id="7" name="Text 5"/>
          <p:cNvSpPr/>
          <p:nvPr/>
        </p:nvSpPr>
        <p:spPr>
          <a:xfrm>
            <a:off x="1271984" y="2374801"/>
            <a:ext cx="10668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6647E"/>
                </a:solidFill>
                <a:latin typeface="Source Code Pro" pitchFamily="34" charset="0"/>
                <a:ea typeface="Source Code Pro" pitchFamily="34" charset="-122"/>
                <a:cs typeface="Source Code Pro" pitchFamily="34" charset="-120"/>
              </a:rPr>
              <a:t>/add-idea</a:t>
            </a:r>
            <a:endParaRPr lang="en-US" sz="1200" dirty="0"/>
          </a:p>
        </p:txBody>
      </p:sp>
      <p:sp>
        <p:nvSpPr>
          <p:cNvPr id="8" name="Shape 6"/>
          <p:cNvSpPr/>
          <p:nvPr/>
        </p:nvSpPr>
        <p:spPr>
          <a:xfrm>
            <a:off x="4392017" y="1901130"/>
            <a:ext cx="3407866" cy="855861"/>
          </a:xfrm>
          <a:prstGeom prst="roundRect">
            <a:avLst>
              <a:gd name="adj" fmla="val 20032"/>
            </a:avLst>
          </a:prstGeom>
          <a:solidFill>
            <a:srgbClr val="FFF0BD"/>
          </a:solidFill>
          <a:ln w="12700">
            <a:solidFill>
              <a:srgbClr val="FFC83D"/>
            </a:solidFill>
            <a:prstDash val="solid"/>
          </a:ln>
        </p:spPr>
      </p:sp>
      <p:sp>
        <p:nvSpPr>
          <p:cNvPr id="9" name="Text 7"/>
          <p:cNvSpPr/>
          <p:nvPr/>
        </p:nvSpPr>
        <p:spPr>
          <a:xfrm>
            <a:off x="4601567" y="2161381"/>
            <a:ext cx="17660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33B"/>
                </a:solidFill>
                <a:latin typeface="Zen Maru Gothic" pitchFamily="34" charset="0"/>
                <a:ea typeface="Zen Maru Gothic" pitchFamily="34" charset="-122"/>
                <a:cs typeface="Zen Maru Gothic" pitchFamily="34" charset="-120"/>
              </a:rPr>
              <a:t>2</a:t>
            </a:r>
            <a:endParaRPr lang="en-US" sz="2200" dirty="0"/>
          </a:p>
        </p:txBody>
      </p:sp>
      <p:sp>
        <p:nvSpPr>
          <p:cNvPr id="10" name="Text 8"/>
          <p:cNvSpPr/>
          <p:nvPr/>
        </p:nvSpPr>
        <p:spPr>
          <a:xfrm>
            <a:off x="4854377" y="2085280"/>
            <a:ext cx="16764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自分の体験を話す</a:t>
            </a:r>
            <a:endParaRPr lang="en-US" sz="1600" dirty="0"/>
          </a:p>
        </p:txBody>
      </p:sp>
      <p:sp>
        <p:nvSpPr>
          <p:cNvPr id="11" name="Text 9"/>
          <p:cNvSpPr/>
          <p:nvPr/>
        </p:nvSpPr>
        <p:spPr>
          <a:xfrm>
            <a:off x="4854377" y="2374801"/>
            <a:ext cx="16764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233B"/>
                </a:solidFill>
                <a:latin typeface="Source Code Pro" pitchFamily="34" charset="0"/>
                <a:ea typeface="Source Code Pro" pitchFamily="34" charset="-122"/>
                <a:cs typeface="Source Code Pro" pitchFamily="34" charset="-120"/>
              </a:rPr>
              <a:t>人がやる</a:t>
            </a:r>
            <a:endParaRPr lang="en-US" sz="1200" dirty="0"/>
          </a:p>
        </p:txBody>
      </p:sp>
      <p:sp>
        <p:nvSpPr>
          <p:cNvPr id="12" name="Shape 10"/>
          <p:cNvSpPr/>
          <p:nvPr/>
        </p:nvSpPr>
        <p:spPr>
          <a:xfrm>
            <a:off x="7964984" y="1901130"/>
            <a:ext cx="3407866" cy="855861"/>
          </a:xfrm>
          <a:prstGeom prst="roundRect">
            <a:avLst>
              <a:gd name="adj" fmla="val 20032"/>
            </a:avLst>
          </a:prstGeom>
          <a:solidFill>
            <a:srgbClr val="FBFCFE"/>
          </a:solidFill>
          <a:ln w="12700">
            <a:solidFill>
              <a:srgbClr val="D3DBEA"/>
            </a:solidFill>
            <a:prstDash val="solid"/>
          </a:ln>
        </p:spPr>
      </p:sp>
      <p:sp>
        <p:nvSpPr>
          <p:cNvPr id="13" name="Text 11"/>
          <p:cNvSpPr/>
          <p:nvPr/>
        </p:nvSpPr>
        <p:spPr>
          <a:xfrm>
            <a:off x="8174534" y="2161381"/>
            <a:ext cx="18524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350C9"/>
                </a:solidFill>
                <a:latin typeface="Zen Maru Gothic" pitchFamily="34" charset="0"/>
                <a:ea typeface="Zen Maru Gothic" pitchFamily="34" charset="-122"/>
                <a:cs typeface="Zen Maru Gothic" pitchFamily="34" charset="-120"/>
              </a:rPr>
              <a:t>3</a:t>
            </a:r>
            <a:endParaRPr lang="en-US" sz="2200" dirty="0"/>
          </a:p>
        </p:txBody>
      </p:sp>
      <p:sp>
        <p:nvSpPr>
          <p:cNvPr id="14" name="Text 12"/>
          <p:cNvSpPr/>
          <p:nvPr/>
        </p:nvSpPr>
        <p:spPr>
          <a:xfrm>
            <a:off x="8435975" y="2085280"/>
            <a:ext cx="12700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下書きを作る</a:t>
            </a:r>
            <a:endParaRPr lang="en-US" sz="1600" dirty="0"/>
          </a:p>
        </p:txBody>
      </p:sp>
      <p:sp>
        <p:nvSpPr>
          <p:cNvPr id="15" name="Text 13"/>
          <p:cNvSpPr/>
          <p:nvPr/>
        </p:nvSpPr>
        <p:spPr>
          <a:xfrm>
            <a:off x="8435975" y="2374801"/>
            <a:ext cx="12700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6647E"/>
                </a:solidFill>
                <a:latin typeface="Source Code Pro" pitchFamily="34" charset="0"/>
                <a:ea typeface="Source Code Pro" pitchFamily="34" charset="-122"/>
                <a:cs typeface="Source Code Pro" pitchFamily="34" charset="-120"/>
              </a:rPr>
              <a:t>/write-post</a:t>
            </a:r>
            <a:endParaRPr lang="en-US" sz="1200" dirty="0"/>
          </a:p>
        </p:txBody>
      </p:sp>
      <p:sp>
        <p:nvSpPr>
          <p:cNvPr id="16" name="Shape 14"/>
          <p:cNvSpPr/>
          <p:nvPr/>
        </p:nvSpPr>
        <p:spPr>
          <a:xfrm>
            <a:off x="819150" y="2922091"/>
            <a:ext cx="3407767" cy="855861"/>
          </a:xfrm>
          <a:prstGeom prst="roundRect">
            <a:avLst>
              <a:gd name="adj" fmla="val 20032"/>
            </a:avLst>
          </a:prstGeom>
          <a:solidFill>
            <a:srgbClr val="FBFCFE"/>
          </a:solidFill>
          <a:ln w="12700">
            <a:solidFill>
              <a:srgbClr val="D3DBEA"/>
            </a:solidFill>
            <a:prstDash val="solid"/>
          </a:ln>
        </p:spPr>
      </p:sp>
      <p:sp>
        <p:nvSpPr>
          <p:cNvPr id="17" name="Text 15"/>
          <p:cNvSpPr/>
          <p:nvPr/>
        </p:nvSpPr>
        <p:spPr>
          <a:xfrm>
            <a:off x="1028700" y="3182342"/>
            <a:ext cx="1889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350C9"/>
                </a:solidFill>
                <a:latin typeface="Zen Maru Gothic" pitchFamily="34" charset="0"/>
                <a:ea typeface="Zen Maru Gothic" pitchFamily="34" charset="-122"/>
                <a:cs typeface="Zen Maru Gothic" pitchFamily="34" charset="-120"/>
              </a:rPr>
              <a:t>4</a:t>
            </a:r>
            <a:endParaRPr lang="en-US" sz="2200" dirty="0"/>
          </a:p>
        </p:txBody>
      </p:sp>
      <p:sp>
        <p:nvSpPr>
          <p:cNvPr id="18" name="Text 16"/>
          <p:cNvSpPr/>
          <p:nvPr/>
        </p:nvSpPr>
        <p:spPr>
          <a:xfrm>
            <a:off x="1293813" y="3106241"/>
            <a:ext cx="8636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点検する</a:t>
            </a:r>
            <a:endParaRPr lang="en-US" sz="1600" dirty="0"/>
          </a:p>
        </p:txBody>
      </p:sp>
      <p:sp>
        <p:nvSpPr>
          <p:cNvPr id="19" name="Text 17"/>
          <p:cNvSpPr/>
          <p:nvPr/>
        </p:nvSpPr>
        <p:spPr>
          <a:xfrm>
            <a:off x="1293813" y="3395762"/>
            <a:ext cx="8636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6647E"/>
                </a:solidFill>
                <a:latin typeface="Source Code Pro" pitchFamily="34" charset="0"/>
                <a:ea typeface="Source Code Pro" pitchFamily="34" charset="-122"/>
                <a:cs typeface="Source Code Pro" pitchFamily="34" charset="-120"/>
              </a:rPr>
              <a:t>🖍️ アカネ</a:t>
            </a:r>
            <a:endParaRPr lang="en-US" sz="1200" dirty="0"/>
          </a:p>
        </p:txBody>
      </p:sp>
      <p:sp>
        <p:nvSpPr>
          <p:cNvPr id="20" name="Shape 18"/>
          <p:cNvSpPr/>
          <p:nvPr/>
        </p:nvSpPr>
        <p:spPr>
          <a:xfrm>
            <a:off x="4392017" y="2922091"/>
            <a:ext cx="3407866" cy="855861"/>
          </a:xfrm>
          <a:prstGeom prst="roundRect">
            <a:avLst>
              <a:gd name="adj" fmla="val 20032"/>
            </a:avLst>
          </a:prstGeom>
          <a:solidFill>
            <a:srgbClr val="FBFCFE"/>
          </a:solidFill>
          <a:ln w="12700">
            <a:solidFill>
              <a:srgbClr val="D3DBEA"/>
            </a:solidFill>
            <a:prstDash val="solid"/>
          </a:ln>
        </p:spPr>
      </p:sp>
      <p:sp>
        <p:nvSpPr>
          <p:cNvPr id="21" name="Text 19"/>
          <p:cNvSpPr/>
          <p:nvPr/>
        </p:nvSpPr>
        <p:spPr>
          <a:xfrm>
            <a:off x="4601567" y="3182342"/>
            <a:ext cx="1824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350C9"/>
                </a:solidFill>
                <a:latin typeface="Zen Maru Gothic" pitchFamily="34" charset="0"/>
                <a:ea typeface="Zen Maru Gothic" pitchFamily="34" charset="-122"/>
                <a:cs typeface="Zen Maru Gothic" pitchFamily="34" charset="-120"/>
              </a:rPr>
              <a:t>5</a:t>
            </a:r>
            <a:endParaRPr lang="en-US" sz="2200" dirty="0"/>
          </a:p>
        </p:txBody>
      </p:sp>
      <p:sp>
        <p:nvSpPr>
          <p:cNvPr id="22" name="Text 20"/>
          <p:cNvSpPr/>
          <p:nvPr/>
        </p:nvSpPr>
        <p:spPr>
          <a:xfrm>
            <a:off x="4860230" y="3106241"/>
            <a:ext cx="151388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図解をつける</a:t>
            </a:r>
            <a:endParaRPr lang="en-US" sz="1600" dirty="0"/>
          </a:p>
        </p:txBody>
      </p:sp>
      <p:sp>
        <p:nvSpPr>
          <p:cNvPr id="23" name="Text 21"/>
          <p:cNvSpPr/>
          <p:nvPr/>
        </p:nvSpPr>
        <p:spPr>
          <a:xfrm>
            <a:off x="4860230" y="3395762"/>
            <a:ext cx="151388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6647E"/>
                </a:solidFill>
                <a:latin typeface="Source Code Pro" pitchFamily="34" charset="0"/>
                <a:ea typeface="Source Code Pro" pitchFamily="34" charset="-122"/>
                <a:cs typeface="Source Code Pro" pitchFamily="34" charset="-120"/>
              </a:rPr>
              <a:t>/add-infographic</a:t>
            </a:r>
            <a:endParaRPr lang="en-US" sz="1200" dirty="0"/>
          </a:p>
        </p:txBody>
      </p:sp>
      <p:sp>
        <p:nvSpPr>
          <p:cNvPr id="24" name="Shape 22"/>
          <p:cNvSpPr/>
          <p:nvPr/>
        </p:nvSpPr>
        <p:spPr>
          <a:xfrm>
            <a:off x="7964984" y="2922091"/>
            <a:ext cx="3407866" cy="855861"/>
          </a:xfrm>
          <a:prstGeom prst="roundRect">
            <a:avLst>
              <a:gd name="adj" fmla="val 20032"/>
            </a:avLst>
          </a:prstGeom>
          <a:solidFill>
            <a:srgbClr val="FFF0BD"/>
          </a:solidFill>
          <a:ln w="12700">
            <a:solidFill>
              <a:srgbClr val="FFC83D"/>
            </a:solidFill>
            <a:prstDash val="solid"/>
          </a:ln>
        </p:spPr>
      </p:sp>
      <p:sp>
        <p:nvSpPr>
          <p:cNvPr id="25" name="Text 23"/>
          <p:cNvSpPr/>
          <p:nvPr/>
        </p:nvSpPr>
        <p:spPr>
          <a:xfrm>
            <a:off x="8174534" y="3182342"/>
            <a:ext cx="1897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33B"/>
                </a:solidFill>
                <a:latin typeface="Zen Maru Gothic" pitchFamily="34" charset="0"/>
                <a:ea typeface="Zen Maru Gothic" pitchFamily="34" charset="-122"/>
                <a:cs typeface="Zen Maru Gothic" pitchFamily="34" charset="-120"/>
              </a:rPr>
              <a:t>6</a:t>
            </a:r>
            <a:endParaRPr lang="en-US" sz="2200" dirty="0"/>
          </a:p>
        </p:txBody>
      </p:sp>
      <p:sp>
        <p:nvSpPr>
          <p:cNvPr id="26" name="Text 24"/>
          <p:cNvSpPr/>
          <p:nvPr/>
        </p:nvSpPr>
        <p:spPr>
          <a:xfrm>
            <a:off x="8440440" y="3106241"/>
            <a:ext cx="128647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送る（push）</a:t>
            </a:r>
            <a:endParaRPr lang="en-US" sz="1600" dirty="0"/>
          </a:p>
        </p:txBody>
      </p:sp>
      <p:sp>
        <p:nvSpPr>
          <p:cNvPr id="27" name="Text 25"/>
          <p:cNvSpPr/>
          <p:nvPr/>
        </p:nvSpPr>
        <p:spPr>
          <a:xfrm>
            <a:off x="8440440" y="3395762"/>
            <a:ext cx="128647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233B"/>
                </a:solidFill>
                <a:latin typeface="Source Code Pro" pitchFamily="34" charset="0"/>
                <a:ea typeface="Source Code Pro" pitchFamily="34" charset="-122"/>
                <a:cs typeface="Source Code Pro" pitchFamily="34" charset="-120"/>
              </a:rPr>
              <a:t>人がやる</a:t>
            </a:r>
            <a:endParaRPr lang="en-US" sz="1200" dirty="0"/>
          </a:p>
        </p:txBody>
      </p:sp>
      <p:sp>
        <p:nvSpPr>
          <p:cNvPr id="28" name="Text 26"/>
          <p:cNvSpPr/>
          <p:nvPr/>
        </p:nvSpPr>
        <p:spPr>
          <a:xfrm>
            <a:off x="812800" y="4063702"/>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黄色が、人にしかできない部分。それ以外は、AIが手伝う。</a:t>
            </a:r>
            <a:endParaRPr lang="en-US" sz="16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20 / 23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F62E6"/>
        </a:solidFill>
      </p:bgPr>
    </p:bg>
    <p:spTree>
      <p:nvGrpSpPr>
        <p:cNvPr id="1" name=""/>
        <p:cNvGrpSpPr/>
        <p:nvPr/>
      </p:nvGrpSpPr>
      <p:grpSpPr>
        <a:xfrm>
          <a:off x="0" y="0"/>
          <a:ext cx="0" cy="0"/>
          <a:chOff x="0" y="0"/>
          <a:chExt cx="0" cy="0"/>
        </a:xfrm>
      </p:grpSpPr>
      <p:sp>
        <p:nvSpPr>
          <p:cNvPr id="2" name="Text 0"/>
          <p:cNvSpPr/>
          <p:nvPr/>
        </p:nvSpPr>
        <p:spPr>
          <a:xfrm>
            <a:off x="812800" y="1958479"/>
            <a:ext cx="10883392" cy="289520"/>
          </a:xfrm>
          <a:prstGeom prst="rect">
            <a:avLst/>
          </a:prstGeom>
          <a:noFill/>
          <a:ln/>
        </p:spPr>
        <p:txBody>
          <a:bodyPr wrap="square" lIns="0" tIns="0" rIns="0" bIns="0" rtlCol="0" anchor="t">
            <a:normAutofit/>
          </a:bodyPr>
          <a:lstStyle/>
          <a:p>
            <a:pPr algn="l" indent="0" marL="0">
              <a:lnSpc>
                <a:spcPts val="2080"/>
              </a:lnSpc>
              <a:buNone/>
            </a:pPr>
            <a:r>
              <a:rPr lang="en-US" sz="1300" b="1" spc="150" kern="0" dirty="0">
                <a:solidFill>
                  <a:srgbClr val="DCE6FF"/>
                </a:solidFill>
                <a:latin typeface="BIZ UDPGothic" pitchFamily="34" charset="0"/>
                <a:ea typeface="BIZ UDPGothic" pitchFamily="34" charset="-122"/>
                <a:cs typeface="BIZ UDPGothic" pitchFamily="34" charset="-120"/>
              </a:rPr>
              <a:t>PART 3 ／ AIとブログ</a:t>
            </a:r>
            <a:endParaRPr lang="en-US" sz="1300" dirty="0"/>
          </a:p>
        </p:txBody>
      </p:sp>
      <p:sp>
        <p:nvSpPr>
          <p:cNvPr id="3" name="Text 1"/>
          <p:cNvSpPr/>
          <p:nvPr/>
        </p:nvSpPr>
        <p:spPr>
          <a:xfrm>
            <a:off x="812800" y="2400399"/>
            <a:ext cx="10883392" cy="1214041"/>
          </a:xfrm>
          <a:prstGeom prst="rect">
            <a:avLst/>
          </a:prstGeom>
          <a:noFill/>
          <a:ln/>
        </p:spPr>
        <p:txBody>
          <a:bodyPr wrap="square" lIns="0" tIns="0" rIns="0" bIns="0" rtlCol="0" anchor="t">
            <a:normAutofit/>
          </a:bodyPr>
          <a:lstStyle/>
          <a:p>
            <a:pPr algn="l" indent="0" marL="0">
              <a:lnSpc>
                <a:spcPts val="4680"/>
              </a:lnSpc>
              <a:buNone/>
            </a:pPr>
            <a:r>
              <a:rPr lang="en-US" sz="3600" b="1" dirty="0">
                <a:solidFill>
                  <a:srgbClr val="FFFFFF"/>
                </a:solidFill>
                <a:latin typeface="Zen Maru Gothic" pitchFamily="34" charset="0"/>
                <a:ea typeface="Zen Maru Gothic" pitchFamily="34" charset="-122"/>
                <a:cs typeface="Zen Maru Gothic" pitchFamily="34" charset="-120"/>
              </a:rPr>
              <a:t>「AIに聞けば出てくる答え」ではなく、</a:t>
            </a:r>
            <a:endParaRPr lang="en-US" sz="3600" dirty="0"/>
          </a:p>
          <a:p>
            <a:pPr algn="l" indent="0" marL="0">
              <a:lnSpc>
                <a:spcPts val="4680"/>
              </a:lnSpc>
              <a:buNone/>
            </a:pPr>
            <a:r>
              <a:rPr lang="en-US" sz="3600" b="1" dirty="0">
                <a:solidFill>
                  <a:srgbClr val="FFC83D"/>
                </a:solidFill>
                <a:latin typeface="Zen Maru Gothic" pitchFamily="34" charset="0"/>
                <a:ea typeface="Zen Maru Gothic" pitchFamily="34" charset="-122"/>
                <a:cs typeface="Zen Maru Gothic" pitchFamily="34" charset="-120"/>
              </a:rPr>
              <a:t>実際にやってみた体験</a:t>
            </a:r>
            <a:r>
              <a:rPr lang="en-US" sz="3600" b="1" dirty="0">
                <a:solidFill>
                  <a:srgbClr val="FFFFFF"/>
                </a:solidFill>
                <a:latin typeface="Zen Maru Gothic" pitchFamily="34" charset="0"/>
                <a:ea typeface="Zen Maru Gothic" pitchFamily="34" charset="-122"/>
                <a:cs typeface="Zen Maru Gothic" pitchFamily="34" charset="-120"/>
              </a:rPr>
              <a:t>を載せる</a:t>
            </a:r>
            <a:endParaRPr lang="en-US" sz="3600" dirty="0"/>
          </a:p>
        </p:txBody>
      </p:sp>
      <p:sp>
        <p:nvSpPr>
          <p:cNvPr id="4" name="Shape 2"/>
          <p:cNvSpPr/>
          <p:nvPr/>
        </p:nvSpPr>
        <p:spPr>
          <a:xfrm>
            <a:off x="812800" y="3766840"/>
            <a:ext cx="3060799" cy="325041"/>
          </a:xfrm>
          <a:prstGeom prst="roundRect">
            <a:avLst>
              <a:gd name="adj" fmla="val 50000"/>
            </a:avLst>
          </a:prstGeom>
          <a:solidFill>
            <a:srgbClr val="FFFFFF"/>
          </a:solidFill>
          <a:ln/>
        </p:spPr>
      </p:sp>
      <p:sp>
        <p:nvSpPr>
          <p:cNvPr id="5" name="Text 3"/>
          <p:cNvSpPr/>
          <p:nvPr/>
        </p:nvSpPr>
        <p:spPr>
          <a:xfrm>
            <a:off x="965200" y="3804940"/>
            <a:ext cx="283867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うまくいかなかったことも含む体験</a:t>
            </a:r>
            <a:endParaRPr lang="en-US" sz="1400" dirty="0"/>
          </a:p>
        </p:txBody>
      </p:sp>
      <p:sp>
        <p:nvSpPr>
          <p:cNvPr id="6" name="Shape 4"/>
          <p:cNvSpPr/>
          <p:nvPr/>
        </p:nvSpPr>
        <p:spPr>
          <a:xfrm>
            <a:off x="3975199" y="3766840"/>
            <a:ext cx="2221607" cy="325041"/>
          </a:xfrm>
          <a:prstGeom prst="roundRect">
            <a:avLst>
              <a:gd name="adj" fmla="val 50000"/>
            </a:avLst>
          </a:prstGeom>
          <a:solidFill>
            <a:srgbClr val="FFFFFF"/>
          </a:solidFill>
          <a:ln/>
        </p:spPr>
      </p:sp>
      <p:sp>
        <p:nvSpPr>
          <p:cNvPr id="7" name="Text 5"/>
          <p:cNvSpPr/>
          <p:nvPr/>
        </p:nvSpPr>
        <p:spPr>
          <a:xfrm>
            <a:off x="4127599" y="3804940"/>
            <a:ext cx="197431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同じ現場で働く人の視点</a:t>
            </a:r>
            <a:endParaRPr lang="en-US" sz="1400" dirty="0"/>
          </a:p>
        </p:txBody>
      </p:sp>
      <p:sp>
        <p:nvSpPr>
          <p:cNvPr id="8" name="Shape 6"/>
          <p:cNvSpPr/>
          <p:nvPr/>
        </p:nvSpPr>
        <p:spPr>
          <a:xfrm>
            <a:off x="6298406" y="3766840"/>
            <a:ext cx="2436713" cy="325041"/>
          </a:xfrm>
          <a:prstGeom prst="roundRect">
            <a:avLst>
              <a:gd name="adj" fmla="val 50000"/>
            </a:avLst>
          </a:prstGeom>
          <a:solidFill>
            <a:srgbClr val="FFFFFF"/>
          </a:solidFill>
          <a:ln/>
        </p:spPr>
      </p:sp>
      <p:sp>
        <p:nvSpPr>
          <p:cNvPr id="9" name="Text 7"/>
          <p:cNvSpPr/>
          <p:nvPr/>
        </p:nvSpPr>
        <p:spPr>
          <a:xfrm>
            <a:off x="6450806" y="3804940"/>
            <a:ext cx="219587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最初に何を学ぶかの選び方</a:t>
            </a:r>
            <a:endParaRPr lang="en-US" sz="1400" dirty="0"/>
          </a:p>
        </p:txBody>
      </p:sp>
      <p:sp>
        <p:nvSpPr>
          <p:cNvPr id="10" name="Text 8"/>
          <p:cNvSpPr/>
          <p:nvPr/>
        </p:nvSpPr>
        <p:spPr>
          <a:xfrm>
            <a:off x="812800" y="4371280"/>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E8EEFF"/>
                </a:solidFill>
                <a:latin typeface="BIZ UDPGothic" pitchFamily="34" charset="0"/>
                <a:ea typeface="BIZ UDPGothic" pitchFamily="34" charset="-122"/>
                <a:cs typeface="BIZ UDPGothic" pitchFamily="34" charset="-120"/>
              </a:rPr>
              <a:t>ChatGPTに聞いても同じ答えが出るなら、書く意味がない。だから、AIには書けない部分を人が担当する。</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まとめ</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今日の3つのポイント</a:t>
            </a:r>
            <a:endParaRPr lang="en-US" sz="3200" dirty="0"/>
          </a:p>
        </p:txBody>
      </p:sp>
      <p:sp>
        <p:nvSpPr>
          <p:cNvPr id="4" name="Shape 2"/>
          <p:cNvSpPr/>
          <p:nvPr/>
        </p:nvSpPr>
        <p:spPr>
          <a:xfrm>
            <a:off x="819150" y="1901130"/>
            <a:ext cx="10553700" cy="977900"/>
          </a:xfrm>
          <a:prstGeom prst="roundRect">
            <a:avLst>
              <a:gd name="adj" fmla="val 17532"/>
            </a:avLst>
          </a:prstGeom>
          <a:solidFill>
            <a:srgbClr val="FBFCFE"/>
          </a:solidFill>
          <a:ln w="12700">
            <a:solidFill>
              <a:srgbClr val="D3DBEA"/>
            </a:solidFill>
            <a:prstDash val="solid"/>
          </a:ln>
        </p:spPr>
      </p:sp>
      <p:sp>
        <p:nvSpPr>
          <p:cNvPr id="5" name="Shape 3"/>
          <p:cNvSpPr/>
          <p:nvPr/>
        </p:nvSpPr>
        <p:spPr>
          <a:xfrm>
            <a:off x="1054100" y="2085280"/>
            <a:ext cx="609600" cy="609600"/>
          </a:xfrm>
          <a:prstGeom prst="roundRect">
            <a:avLst>
              <a:gd name="adj" fmla="val 50000"/>
            </a:avLst>
          </a:prstGeom>
          <a:solidFill>
            <a:srgbClr val="2F62E6"/>
          </a:solidFill>
          <a:ln/>
        </p:spPr>
      </p:sp>
      <p:sp>
        <p:nvSpPr>
          <p:cNvPr id="6" name="Text 4"/>
          <p:cNvSpPr/>
          <p:nvPr/>
        </p:nvSpPr>
        <p:spPr>
          <a:xfrm>
            <a:off x="1028700" y="2085280"/>
            <a:ext cx="660400" cy="635000"/>
          </a:xfrm>
          <a:prstGeom prst="rect">
            <a:avLst/>
          </a:prstGeom>
          <a:noFill/>
          <a:ln/>
        </p:spPr>
        <p:txBody>
          <a:bodyPr wrap="square" lIns="0" tIns="0" rIns="0" bIns="0" rtlCol="0" anchor="t">
            <a:normAutofit/>
          </a:bodyPr>
          <a:lstStyle/>
          <a:p>
            <a:pPr algn="ctr" indent="0" marL="0">
              <a:lnSpc>
                <a:spcPts val="4788"/>
              </a:lnSpc>
              <a:buNone/>
            </a:pPr>
            <a:r>
              <a:rPr lang="en-US" sz="2800" b="1" dirty="0">
                <a:solidFill>
                  <a:srgbClr val="FFFFFF"/>
                </a:solidFill>
                <a:latin typeface="Zen Maru Gothic" pitchFamily="34" charset="0"/>
                <a:ea typeface="Zen Maru Gothic" pitchFamily="34" charset="-122"/>
                <a:cs typeface="Zen Maru Gothic" pitchFamily="34" charset="-120"/>
              </a:rPr>
              <a:t>1</a:t>
            </a:r>
            <a:endParaRPr lang="en-US" sz="2800" dirty="0"/>
          </a:p>
        </p:txBody>
      </p:sp>
      <p:sp>
        <p:nvSpPr>
          <p:cNvPr id="7" name="Text 5"/>
          <p:cNvSpPr/>
          <p:nvPr/>
        </p:nvSpPr>
        <p:spPr>
          <a:xfrm>
            <a:off x="1866900" y="2059880"/>
            <a:ext cx="954913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人は「書く」と「送る」だけ</a:t>
            </a:r>
            <a:endParaRPr lang="en-US" sz="2000" dirty="0"/>
          </a:p>
        </p:txBody>
      </p:sp>
      <p:sp>
        <p:nvSpPr>
          <p:cNvPr id="8" name="Text 6"/>
          <p:cNvSpPr/>
          <p:nvPr/>
        </p:nvSpPr>
        <p:spPr>
          <a:xfrm>
            <a:off x="1866900" y="2415480"/>
            <a:ext cx="9549130"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組み立ても公開も、GitHub のロボットが自動でやってくれる。</a:t>
            </a:r>
            <a:endParaRPr lang="en-US" sz="1500" dirty="0"/>
          </a:p>
        </p:txBody>
      </p:sp>
      <p:sp>
        <p:nvSpPr>
          <p:cNvPr id="9" name="Shape 7"/>
          <p:cNvSpPr/>
          <p:nvPr/>
        </p:nvSpPr>
        <p:spPr>
          <a:xfrm>
            <a:off x="819150" y="3018730"/>
            <a:ext cx="10553700" cy="977900"/>
          </a:xfrm>
          <a:prstGeom prst="roundRect">
            <a:avLst>
              <a:gd name="adj" fmla="val 17532"/>
            </a:avLst>
          </a:prstGeom>
          <a:solidFill>
            <a:srgbClr val="FBFCFE"/>
          </a:solidFill>
          <a:ln w="12700">
            <a:solidFill>
              <a:srgbClr val="D3DBEA"/>
            </a:solidFill>
            <a:prstDash val="solid"/>
          </a:ln>
        </p:spPr>
      </p:sp>
      <p:sp>
        <p:nvSpPr>
          <p:cNvPr id="10" name="Shape 8"/>
          <p:cNvSpPr/>
          <p:nvPr/>
        </p:nvSpPr>
        <p:spPr>
          <a:xfrm>
            <a:off x="1054100" y="3202880"/>
            <a:ext cx="609600" cy="609600"/>
          </a:xfrm>
          <a:prstGeom prst="roundRect">
            <a:avLst>
              <a:gd name="adj" fmla="val 50000"/>
            </a:avLst>
          </a:prstGeom>
          <a:solidFill>
            <a:srgbClr val="2F62E6"/>
          </a:solidFill>
          <a:ln/>
        </p:spPr>
      </p:sp>
      <p:sp>
        <p:nvSpPr>
          <p:cNvPr id="11" name="Text 9"/>
          <p:cNvSpPr/>
          <p:nvPr/>
        </p:nvSpPr>
        <p:spPr>
          <a:xfrm>
            <a:off x="1028700" y="3202880"/>
            <a:ext cx="660400" cy="635000"/>
          </a:xfrm>
          <a:prstGeom prst="rect">
            <a:avLst/>
          </a:prstGeom>
          <a:noFill/>
          <a:ln/>
        </p:spPr>
        <p:txBody>
          <a:bodyPr wrap="square" lIns="0" tIns="0" rIns="0" bIns="0" rtlCol="0" anchor="t">
            <a:normAutofit/>
          </a:bodyPr>
          <a:lstStyle/>
          <a:p>
            <a:pPr algn="ctr" indent="0" marL="0">
              <a:lnSpc>
                <a:spcPts val="4788"/>
              </a:lnSpc>
              <a:buNone/>
            </a:pPr>
            <a:r>
              <a:rPr lang="en-US" sz="2800" b="1" dirty="0">
                <a:solidFill>
                  <a:srgbClr val="FFFFFF"/>
                </a:solidFill>
                <a:latin typeface="Zen Maru Gothic" pitchFamily="34" charset="0"/>
                <a:ea typeface="Zen Maru Gothic" pitchFamily="34" charset="-122"/>
                <a:cs typeface="Zen Maru Gothic" pitchFamily="34" charset="-120"/>
              </a:rPr>
              <a:t>2</a:t>
            </a:r>
            <a:endParaRPr lang="en-US" sz="2800" dirty="0"/>
          </a:p>
        </p:txBody>
      </p:sp>
      <p:sp>
        <p:nvSpPr>
          <p:cNvPr id="12" name="Text 10"/>
          <p:cNvSpPr/>
          <p:nvPr/>
        </p:nvSpPr>
        <p:spPr>
          <a:xfrm>
            <a:off x="1866900" y="3177480"/>
            <a:ext cx="954913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AIは「次のことば」を予想する機械</a:t>
            </a:r>
            <a:endParaRPr lang="en-US" sz="2000" dirty="0"/>
          </a:p>
        </p:txBody>
      </p:sp>
      <p:sp>
        <p:nvSpPr>
          <p:cNvPr id="13" name="Text 11"/>
          <p:cNvSpPr/>
          <p:nvPr/>
        </p:nvSpPr>
        <p:spPr>
          <a:xfrm>
            <a:off x="1866900" y="3533080"/>
            <a:ext cx="9549130"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大量の文章から学んだパターンで、1語ずつ書き足す。もっともらしい嘘も書くので、人が確かめる。</a:t>
            </a:r>
            <a:endParaRPr lang="en-US" sz="1500" dirty="0"/>
          </a:p>
        </p:txBody>
      </p:sp>
      <p:sp>
        <p:nvSpPr>
          <p:cNvPr id="14" name="Shape 12"/>
          <p:cNvSpPr/>
          <p:nvPr/>
        </p:nvSpPr>
        <p:spPr>
          <a:xfrm>
            <a:off x="819150" y="4136330"/>
            <a:ext cx="10553700" cy="977900"/>
          </a:xfrm>
          <a:prstGeom prst="roundRect">
            <a:avLst>
              <a:gd name="adj" fmla="val 17532"/>
            </a:avLst>
          </a:prstGeom>
          <a:solidFill>
            <a:srgbClr val="FBFCFE"/>
          </a:solidFill>
          <a:ln w="12700">
            <a:solidFill>
              <a:srgbClr val="D3DBEA"/>
            </a:solidFill>
            <a:prstDash val="solid"/>
          </a:ln>
        </p:spPr>
      </p:sp>
      <p:sp>
        <p:nvSpPr>
          <p:cNvPr id="15" name="Shape 13"/>
          <p:cNvSpPr/>
          <p:nvPr/>
        </p:nvSpPr>
        <p:spPr>
          <a:xfrm>
            <a:off x="1054100" y="4320480"/>
            <a:ext cx="609600" cy="609600"/>
          </a:xfrm>
          <a:prstGeom prst="roundRect">
            <a:avLst>
              <a:gd name="adj" fmla="val 50000"/>
            </a:avLst>
          </a:prstGeom>
          <a:solidFill>
            <a:srgbClr val="2F62E6"/>
          </a:solidFill>
          <a:ln/>
        </p:spPr>
      </p:sp>
      <p:sp>
        <p:nvSpPr>
          <p:cNvPr id="16" name="Text 14"/>
          <p:cNvSpPr/>
          <p:nvPr/>
        </p:nvSpPr>
        <p:spPr>
          <a:xfrm>
            <a:off x="1028700" y="4320480"/>
            <a:ext cx="660400" cy="635000"/>
          </a:xfrm>
          <a:prstGeom prst="rect">
            <a:avLst/>
          </a:prstGeom>
          <a:noFill/>
          <a:ln/>
        </p:spPr>
        <p:txBody>
          <a:bodyPr wrap="square" lIns="0" tIns="0" rIns="0" bIns="0" rtlCol="0" anchor="t">
            <a:normAutofit/>
          </a:bodyPr>
          <a:lstStyle/>
          <a:p>
            <a:pPr algn="ctr" indent="0" marL="0">
              <a:lnSpc>
                <a:spcPts val="4788"/>
              </a:lnSpc>
              <a:buNone/>
            </a:pPr>
            <a:r>
              <a:rPr lang="en-US" sz="2800" b="1" dirty="0">
                <a:solidFill>
                  <a:srgbClr val="FFFFFF"/>
                </a:solidFill>
                <a:latin typeface="Zen Maru Gothic" pitchFamily="34" charset="0"/>
                <a:ea typeface="Zen Maru Gothic" pitchFamily="34" charset="-122"/>
                <a:cs typeface="Zen Maru Gothic" pitchFamily="34" charset="-120"/>
              </a:rPr>
              <a:t>3</a:t>
            </a:r>
            <a:endParaRPr lang="en-US" sz="2800" dirty="0"/>
          </a:p>
        </p:txBody>
      </p:sp>
      <p:sp>
        <p:nvSpPr>
          <p:cNvPr id="17" name="Text 15"/>
          <p:cNvSpPr/>
          <p:nvPr/>
        </p:nvSpPr>
        <p:spPr>
          <a:xfrm>
            <a:off x="1866900" y="4295080"/>
            <a:ext cx="954913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AIは助っ人。体験は人が書く</a:t>
            </a:r>
            <a:endParaRPr lang="en-US" sz="2000" dirty="0"/>
          </a:p>
        </p:txBody>
      </p:sp>
      <p:sp>
        <p:nvSpPr>
          <p:cNvPr id="18" name="Text 16"/>
          <p:cNvSpPr/>
          <p:nvPr/>
        </p:nvSpPr>
        <p:spPr>
          <a:xfrm>
            <a:off x="1866900" y="4650680"/>
            <a:ext cx="9549130"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AIに任せる部分と、人にしかできない部分を分けると、いい記事になる。</a:t>
            </a:r>
            <a:endParaRPr lang="en-US" sz="15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0" name="Text 1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22 / 23</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2052439"/>
            <a:ext cx="7050659" cy="350441"/>
          </a:xfrm>
          <a:prstGeom prst="rect">
            <a:avLst/>
          </a:prstGeom>
          <a:noFill/>
          <a:ln/>
        </p:spPr>
        <p:txBody>
          <a:bodyPr wrap="square" lIns="0" tIns="0" rIns="0" bIns="0" rtlCol="0" anchor="t">
            <a:normAutofit/>
          </a:bodyPr>
          <a:lstStyle/>
          <a:p>
            <a:pPr algn="l" indent="0" marL="0">
              <a:lnSpc>
                <a:spcPts val="2560"/>
              </a:lnSpc>
              <a:buNone/>
            </a:pPr>
            <a:r>
              <a:rPr lang="en-US" sz="1600" b="1" spc="100" kern="0" dirty="0">
                <a:solidFill>
                  <a:srgbClr val="86A8FF"/>
                </a:solidFill>
                <a:latin typeface="BIZ UDPGothic" pitchFamily="34" charset="0"/>
                <a:ea typeface="BIZ UDPGothic" pitchFamily="34" charset="-122"/>
                <a:cs typeface="BIZ UDPGothic" pitchFamily="34" charset="-120"/>
              </a:rPr>
              <a:t>ぜひ、読みにきてください</a:t>
            </a:r>
            <a:endParaRPr lang="en-US" sz="1600" dirty="0"/>
          </a:p>
        </p:txBody>
      </p:sp>
      <p:sp>
        <p:nvSpPr>
          <p:cNvPr id="3" name="Text 1"/>
          <p:cNvSpPr/>
          <p:nvPr/>
        </p:nvSpPr>
        <p:spPr>
          <a:xfrm>
            <a:off x="812800" y="2453680"/>
            <a:ext cx="7050659" cy="1422400"/>
          </a:xfrm>
          <a:prstGeom prst="rect">
            <a:avLst/>
          </a:prstGeom>
          <a:noFill/>
          <a:ln/>
        </p:spPr>
        <p:txBody>
          <a:bodyPr wrap="square" lIns="0" tIns="0" rIns="0" bIns="0" rtlCol="0" anchor="t">
            <a:normAutofit/>
          </a:bodyPr>
          <a:lstStyle/>
          <a:p>
            <a:pPr algn="l" indent="0" marL="0">
              <a:lnSpc>
                <a:spcPts val="5500"/>
              </a:lnSpc>
              <a:buNone/>
            </a:pPr>
            <a:r>
              <a:rPr lang="en-US" sz="4400" b="1" dirty="0">
                <a:solidFill>
                  <a:srgbClr val="F4F7FC"/>
                </a:solidFill>
                <a:latin typeface="Zen Maru Gothic" pitchFamily="34" charset="0"/>
                <a:ea typeface="Zen Maru Gothic" pitchFamily="34" charset="-122"/>
                <a:cs typeface="Zen Maru Gothic" pitchFamily="34" charset="-120"/>
              </a:rPr>
              <a:t>明日使える</a:t>
            </a:r>
            <a:endParaRPr lang="en-US" sz="4400" dirty="0"/>
          </a:p>
          <a:p>
            <a:pPr algn="l" indent="0" marL="0">
              <a:lnSpc>
                <a:spcPts val="5500"/>
              </a:lnSpc>
              <a:buNone/>
            </a:pPr>
            <a:r>
              <a:rPr lang="en-US" sz="4400" b="1" dirty="0">
                <a:solidFill>
                  <a:srgbClr val="FFC83D"/>
                </a:solidFill>
                <a:latin typeface="Zen Maru Gothic" pitchFamily="34" charset="0"/>
                <a:ea typeface="Zen Maru Gothic" pitchFamily="34" charset="-122"/>
                <a:cs typeface="Zen Maru Gothic" pitchFamily="34" charset="-120"/>
              </a:rPr>
              <a:t>生成AI</a:t>
            </a:r>
            <a:endParaRPr lang="en-US" sz="4400" dirty="0"/>
          </a:p>
        </p:txBody>
      </p:sp>
      <p:sp>
        <p:nvSpPr>
          <p:cNvPr id="4" name="Text 2"/>
          <p:cNvSpPr/>
          <p:nvPr/>
        </p:nvSpPr>
        <p:spPr>
          <a:xfrm>
            <a:off x="812800" y="4028480"/>
            <a:ext cx="7050659"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F4F7FC"/>
                </a:solidFill>
                <a:latin typeface="BIZ UDPGothic" pitchFamily="34" charset="0"/>
                <a:ea typeface="BIZ UDPGothic" pitchFamily="34" charset="-122"/>
                <a:cs typeface="BIZ UDPGothic" pitchFamily="34" charset="-120"/>
              </a:rPr>
              <a:t>スマホでQRコードを読みとると、ブログが開きます。</a:t>
            </a:r>
            <a:endParaRPr lang="en-US" sz="1600" dirty="0"/>
          </a:p>
        </p:txBody>
      </p:sp>
      <p:sp>
        <p:nvSpPr>
          <p:cNvPr id="5" name="Text 3"/>
          <p:cNvSpPr/>
          <p:nvPr/>
        </p:nvSpPr>
        <p:spPr>
          <a:xfrm>
            <a:off x="812800" y="4480520"/>
            <a:ext cx="7050659"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86A8FF"/>
                </a:solidFill>
                <a:latin typeface="Source Code Pro" pitchFamily="34" charset="0"/>
                <a:ea typeface="Source Code Pro" pitchFamily="34" charset="-122"/>
                <a:cs typeface="Source Code Pro" pitchFamily="34" charset="-120"/>
              </a:rPr>
              <a:t>raindrop-aqua.github.io/blog-ap-sys</a:t>
            </a:r>
            <a:endParaRPr lang="en-US" sz="1600" dirty="0"/>
          </a:p>
        </p:txBody>
      </p:sp>
      <p:sp>
        <p:nvSpPr>
          <p:cNvPr id="6" name="Shape 4"/>
          <p:cNvSpPr/>
          <p:nvPr/>
        </p:nvSpPr>
        <p:spPr>
          <a:xfrm>
            <a:off x="8267700" y="1873250"/>
            <a:ext cx="3111500" cy="3111500"/>
          </a:xfrm>
          <a:prstGeom prst="roundRect">
            <a:avLst>
              <a:gd name="adj" fmla="val 8163"/>
            </a:avLst>
          </a:prstGeom>
          <a:solidFill>
            <a:srgbClr val="FFFFFF"/>
          </a:solidFill>
          <a:ln/>
        </p:spPr>
      </p:sp>
      <p:pic>
        <p:nvPicPr>
          <p:cNvPr id="7" name="Image 0" descr="ブログ https://raindrop-aqua.github.io/blog-ap-sys/ を開くQRコード">    </p:cNvPr>
          <p:cNvPicPr>
            <a:picLocks noChangeAspect="1"/>
          </p:cNvPicPr>
          <p:nvPr/>
        </p:nvPicPr>
        <p:blipFill>
          <a:blip r:embed="rId1"/>
          <a:srcRect l="0" r="0" t="0" b="0"/>
          <a:stretch/>
        </p:blipFill>
        <p:spPr>
          <a:xfrm>
            <a:off x="8521700" y="2127250"/>
            <a:ext cx="2603500" cy="260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ブログのしくみ解説スライド</dc:title>
  <dc:subject>PptxGenJS Presentation</dc:subject>
  <dc:creator>PptxGenJS</dc:creator>
  <cp:lastModifiedBy>PptxGenJS</cp:lastModifiedBy>
  <cp:revision>1</cp:revision>
  <dcterms:created xsi:type="dcterms:W3CDTF">2026-09-25T06:13:55Z</dcterms:created>
  <dcterms:modified xsi:type="dcterms:W3CDTF">2026-09-25T06:13:55Z</dcterms:modified>
</cp:coreProperties>
</file>