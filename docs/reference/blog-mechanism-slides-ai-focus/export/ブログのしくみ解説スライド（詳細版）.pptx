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はじめに自己紹介。このブログ「明日使える生成AI」は、ふつうのブログサービスにある『投稿ボタン』がありません。文章のファイルを置いて送るだけで、ロボットがサイトを作って公開してくれます。今日はそのしくみを、中学生でもわかる言葉で説明します。特に、AIの助っ人である『スキル』と『サブエージェント』の話は、いつもより丁寧にや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全体は5つのパートです。1つ目はブログそのものの仕組み。2つ目は生成AIの仕組みで、ここは短いたとえ話で進めます。そして今日のメインが青い3つ目と4つ目、スキルとサブエージェントです。AIに『こういう手順で仕事をして』と渡す手順書がスキル、別の部屋で専門の仕事だけをやってくれる担当者がサブエージェント。このブログでは、それぞれ3つ、3人が働いています。最後の5つ目で、AIに任せる部分と人にしかできない部分をまとめます。パートが変わるときは、黒い大きな扉のスライドが入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パート1は、ブログそのものの仕組みです。ふつうのブログサービスにある『投稿ボタン』が無いのに、どうやって記事が公開されるのか。ここから先、パートが変わるたびにこの黒い扉のスライドが出ます。一番下の5つの丸が、今どこにいるかの目印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ブログの仕組みを一言でいうと、書く、送る、そのあとは自動、です。人がやるのは最初の2つだけ。黄色い部分はロボットが担当します。この4つがそれぞれ何をしているのかを、次のスライドから見てい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登場する場所は5つ。1つ目は自分のパソコンで、文章を書く。2つ目はGitHubという、ファイルを預かってくれるネット上の倉庫。ここに送ることを『push』といいます。3つ目がGitHub Actionsで、倉庫に荷物が届くと自動で目を覚ますロボット。4つ目がGitHub Pagesで、完成したサイトを公開する店先。最後に読者のブラウザに表示されます。黄色いカードの2つが、人が何もしなくても動く部分です。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記事1本はファイル1つです。WordやSNSの投稿画面は使いません。ファイル名には公開する日付と英語のタイトルを付けます。ファイルの上の部分は『名札』と呼ばれる部分で、タイトルや日付、カテゴリーを書きます。下は本文で、記号を付けるだけで見出しや箇条書きが作れます。この書き方をMarkdown、マークダウンといいます。注意点として、ファイル名の日付が未来だと、その記事は公開され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ページの正体はHTMLというファイルです。でも記事ごとに手でHTMLを書くのは大変なので、Jekyllという機械にまかせています。材料は3つ。自分で書いた記事、借りてきたデザイン、設定のメモ。この3つを入れると、記事の数だけHTMLのページができます。デザインはChirpyという公開されているテーマを使っているので、全部の記事が同じ見た目に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プロジェクトには、記事以外にも企画メモやAI向けの説明書が入っています。これがうっかりネットに出たら困ります。そこで、『これは出さない』という禁止リストを作るのではなく、『siteフォルダの中だけを材料にする』と、許可する範囲を1つだけ決めています。リストへの書き忘れが起きないので、事故がしくみで防げます。ちなみに、書きかけの記事を入れるdraftsフォルダは、本番のビルドには入り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した瞬間に世界に公開されるので、その前に自分のパソコンの中でサイトを動かして確認します。コンテナというのは、パソコンの中に作る小さなお試し用の部屋で、その中でJekyllが動きます。保存するたびに自動で作り直されるので、書きながら見た目を確認で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パート2は、生成AIの仕組みです。ブログを書くとき、私はClaudeというAIに手伝ってもらっています。そのAIが中で何をしているのかを、難しい数式は使わずに、たとえ話で説明します。この仕組みを知っておくと、あとの『スキル』や『サブエージェント』がなぜ必要なのかが分か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ず、生成AIとは何かを、検索エンジンと比べて説明します。検索エンジンは、すでに存在するページを探して見せてくれます。生成AIは、こちらの質問に合わせて、文章をその場で作り出します。同じ質問をしても、毎回少しずつ違う文章が出るのはそのためです。ChatGPT、Claude、Geminiなどがこの仲間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生成AIの中身を一言でいうと、次に来ることばを予想する機械です。スマホで文字を打つと、次の候補が出る予測変換がありますよね。あれをとてつもなく大きくしたものだと思ってください。『明日の天気は、』の続きは、晴れが一番ありそう、曇りも、雨もある、というふうにAIは数字で並べます。ここの数字はイメージです。いつも一番の候補を選ぶわけではなく、ときどき別の候補も選ぶので、同じ質問でも毎回少し違う答えにな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は次のことばを1つ予想して、それを文章の最後にくっつけます。そして、くっつけた文章全体をもう一度読んで、また次のことばを予想します。これを何百回もくりかえして、長い文章ができあがります。人間が文章を書くときのように、最初から全体を考えているわけではなく、1語ずつ書き足しているのです。黄色い部分が、その回に足されたことば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は、私たちのように文字をそのまま読んでいるわけではありません。文章をトークンという、ことばのかたまりに区切って、それぞれに番号を付けて計算します。区切り方はAIごとに違い、ここの番号もイメージです。大事なのは、AIが一度に読める量や、利用料金が、このトークンの数で決まるということです。後で出てくる、AIの弱点の話にもつなが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の学び方は3段階です。まず、本やWebにある大量の文章を読み、文章の一部を隠して次のことばを当てる練習を何度もくりかえします。これが一番大きな学習です。次に、人がお手本を見せたり、よい答えに点数を付けたりして、役に立つ答え方を教えます。最後に、私たちが質問して使う段階です。つまりAIは、意味を人間と同じように理解しているかどうかは別として、ことばの並びのパターンを、人間が一生かけても読めない量から身につけている、といえ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の中身を、もう少しだけのぞいてみます。予想を行っているのは、ニューラルネットワークと呼ばれる計算のしくみです。脳の神経細胞のつながりをヒントにしています。丸が小さな計算の部品、線がつなぎ目で、つなぎ目には強さを表す数字が付いています。予想が外れたら、この数字を少しだけ直す。これをものすごい回数くりかえすのが学習です。学習が終わったAIの頭の中は、大きなモデルだと何十億から何千億個以上の数字の表です。ちなみに、AIの中に文章や画像がそのまま保存されているわけではあり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に出す指示のことをプロンプトといいます。AIは次のことばを予想する機械なので、指示がうすいと、ふつうの文章を予想するしかありません。だれに向けて、どのくらいの長さで、何を入れて、と条件を足すほど、次のことばの候補がしぼられて、ねらった文章に近づきます。このブログにはプロンプト設計というカテゴリーがあって、この書き方を扱っ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にも苦手なことが3つあります。1つ目はもっともらしい嘘です。次のことばを予想して書くので、知らないことでも自然な文章で書いてしまいます。ハルシネーションと呼ばれます。2つ目は最新のことを知らないこと。学習した時点までの知識しかありません。ただし検索ツールとつなぐと補えます。3つ目は、一度に覚えていられる量に限りがあること。長い会話の最初のほうを忘れることがあります。だから、AIの答えは人が確かめる、というのが大事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ふつうのチャットAIは、質問に答えるところまでです。AIエージェントは、道具を使って、作業をやりとげるところまで進みます。目的を受け取り、考えて計画し、ファイルを読んだり書いたりコマンドを実行したりする道具を使い、結果を見て次の手を決める。うまくいくまでこれをくりかえします。このブログの手伝いをしているClaude Codeは、このAIエージェントのひとつで、私のパソコンの中でファイルを直接読み書きします。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ここからが今日のメインです。AIの助っ人の1つ目、スキル。スキルは、AIに渡す手順書のことです。このブログでは、ネタ出し、記事を書く、図解をつける、の3つの手順書を用意しています。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ブログを手伝うAIには、3種類のものを渡しています。1つ目はルールブック。何を、どんな方針で書くかの決まりで、これは人が決めます。校則のようなものです。2つ目がスキルで、どう進めるかの手順書。レシピのようなものです。3つ目がサブエージェントで、別の部屋で頼まれた仕事だけをして、結果を返してくれる専門の担当者です。今日はこの2つ目と3つ目を、順番にくわしく見てい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スキルをひとことで言うと、AIに渡す手順書です。たとえるなら料理のレシピ。レシピがあれば初めて作る人でもいつも同じ味に近づけるように、手順書があればAIは毎回同じ順番で仕事を進めます。ポイントは3つ。1つ目、手順書はプログラムではなく、ふつうの日本語の文章で書きます。文章を書き換えれば、AIの動きも変わります。2つ目、呼び方は2通りあって、スラッシュのあとに名前を打って呼ぶか、用件に合っていればAIが自分で選ぶこともあります。3つ目、AIは動き出す前に必ず手順書を読みます。だから同じ決まりを毎回守らせやすいの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スキルの実物を見てみましょう。これは記事を書くためのスキル、write-postの手順書の冒頭です。ブログの記事と同じ、Markdownという書き方のファイルです。上の名札には、名前と、いつ使うかの説明が書いてあります。AIはこの説明を見て、今の用件に合うかどうかを判断します。その下が本文で、最初に『あなたは何の役割か』、次に『守ること』、最後に『フェーズ0からフェーズ7までの順番』が並んでいます。特別なソフトは要りません。この文書を1つ置くだけで、AIに新しい仕事を覚えさせられ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ブログには、3つのスキルがあります。1つ目のadd-ideaは、思いつきや今日あった出来事を、記事のネタにして残すスキルです。起点を見分けて、素材を掘って、切り口を立てて、1本に絞って、審査してネタ帳に書き込む、という5段階です。2つ目のwrite-postは、記事を書くスキルで、テーマ決めから保存までを質問しながら進めます。3つ目のadd-infographicは、記事の一番上に載せる図解の画像を作ります。下に書いてある名前は、そのスキルが途中で呼ぶ専門担当、つまりサブエージェントです。これは次のパートで説明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記事を書くスキルは、0番から7番までの8つのステップです。0番で書きかけがないか確認し、1番でテーマを決め、2番で私の体験を聞き取ります。この2番が手順書の中でも一番時間をかける場所で、『うまくいかなかったことはありませんでしたか』を必ず聞くと書いてあります。3番で構成、4番で下書き、5番で校閲、これは別のAIに任せます。6番で保存、7番でネタ帳などの後片付けと次の記事の提案です。人の体験を引き出すのが山場で、そこを飛ばして書き始めないように、手順書で順番を固定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手順書どおりに動くと、AIはこんな会話をします。これは手順書に書かれた質問とほめ方から作ったイメージで、実際の会話の記録ではありません。まず、いつ試したか、うまくいかなかったことはないかを聞きます。答えが返ってきたら、その中のどこが記事の芯になるかを具体的に言います。手順書には、質問は1回に1〜2問まで、いま何番目のステップかを毎回示す、ほめるときは具体的に、という決まりが書いてあります。質問攻めにされると書き手が疲れて、ブログが続かなくなるから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つ目のスキルは、図解を作るスキルです。この手順書の特徴は、破ってはいけない4つのルールを最初に書いてあること。1つ目、画像の縦横比。2つ目、文字は19ピクセル以上。ブログの本文の幅では画像が縮むので、それより小さい文字は読めません。3つ目、入りきらないときは文字を小さくせず、載せるものを減らす。4つ目、図に書く事実はすべて記事から取る。そして最後に、AI自身が縮めた画像を見て、全部読めるかを確かめます。人に『よく見てね』と頼むのではなく、確認の手順まで手順書に書いておくのがコツ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手順書を書くときの工夫を4つ挙げます。1つ目、役割と目的を最初に書く。このブログのスキルには、代筆ではなく体験を引き出す役だと書いてあります。2つ目、手順に番号をつけて、どの段階でどの文書を読むかも決める。AIに記憶で書かせず、その場で最新のルールを読ませます。3つ目、質問は1回に1〜2問まで。4つ目、やってはいけないことも書く。体験が無いのに、たぶんこうなるはずで書かせない、という具合です。AIには、してほしいことだけでなく、してほしくないことも言葉にして渡すのがコツ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つ目の助っ人は、サブエージェントです。スキルが手順書だったのに対して、サブエージェントは専門の担当者です。メインのAIから頼まれて、別の部屋で自分の専門の仕事だけをして、結果を返してくれ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サブエージェントは、別の部屋で働く専門担当です。仕組みはこうです。メインのAIが、この下書きを点検してとお願いする。サブエージェントは別の部屋で、頼まれた仕事だけをやる。そして結果だけをメインのAIに返す。これで得られることが3つあります。1つ目、校閲だけ、ネタ出しだけと、役割を絞って専門に集中できる。2つ目、持ち物を絞れる。必要な道具だけ渡して、書き換える道具は渡さない、ということもできます。3つ目、調べものの途中経過は持ち帰らず結果だけ受け取るので、メインのAIの頭が散らかり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サブエージェントの実物も、スキルと同じく1つの文書ファイルです。これは校閲担当、アカネの冒頭です。nameのpost-reviewerは呼び出しに使うIDで、人と話すときの名前アカネは、いつ頼むかの説明と一緒にdescriptionに書いてあります。colorは画面に出る色で、アカネは赤です。そして黄色い行のtools、これが持ち物リストです。ファイルを読む、探す、コマンドを実行する道具は渡してありますが、文章を書き換える道具は持たせていません。本文は『あなたはこのブログの校閲担当、アカネです』で始まり、下書きのパスを受け取って、照合結果だけを返す、ファイルは編集しない、と書いてあります。校閲担当は指摘しかできない作りになっ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スキルとサブエージェントのちがいを表にまとめました。スキルは手順書で、メインのAIが書き手と会話しながら実行します。だから質問もします。サブエージェントは専門の担当者で、別の部屋で頼まれた仕事だけをして、結果を返します。書き手と直接は話しません。持ち物も、サブエージェントは役割に必要な道具だけです。このブログでは、スキルが3つ、サブエージェントが3人います。スキルが仕事の段取りを決めて、途中で専門担当を呼ぶ、という組み合わせで動い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ブログで働くサブエージェントは3人います。1人目はネタ出し担当のヒラク。切り口を拓くからヒラクです。思いつきや外部の記事から、記事ネタの切り口を3〜5案出します。守っているのは、案ごとに何で勝負するかを名指しすること、そして書き手が話していない体験をでっち上げないことです。2人目はネタ帳の門番、クラ。ネタ帳という蔵の番をするのでクラです。ネタ帳に積んでよいかを審査します。既存のネタと重なっていないか、価値があるか、ChatGPTで代わりが利かないか。落とすときは、その素材が活きる別の置き場所を必ず示す決まりです。3人目が校閲担当のアカネで、原稿に赤を入れるからアカネ。書き上がった下書きを点検します。直す価値があるものだけを、直し文つきで返します。名前をつけたのは、会話の中で『アカネに見てもらいます』と呼べると、いま誰が何をしているかを追いやすいから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校閲担当のアカネがどんな観点で見ているかを、もう少し詳しく見ます。6つあります。A、避ける言い回しがないか。B、固有性。これが最重要で、体験、失敗、実測の数字、判断の理由のどれかが入っているかを見ます。C、守秘。常駐先の人が読んで自社のことだと分かる書き方になっていないか。D、記事の型と構成。E、構造の癖。太字の連打などです。F、公開前の一問。ChatGPTに聞けば同じ答えが返ってくるなら、書く意味がない。この観点は、ルールブックの文書から取っています。返すものも決まっていて、判定と、必須・推奨・好みの3段階の指摘、直し文、良かった点です。粗探しで件数を稼がないよう、好みの指摘は多くても2件までと決め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最後のパートです。ここまで見てきたスキルとサブエージェントを、実際にどうつないでいるのか。そして、AIに任せていない部分、人が決めている部分はどこかを見ます。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2つを、実際にどうつないでいるかを図にしました。上の段がネタを積むとき。add-ideaのスキルが起点を見分けて素材を掘り、ネタ出し担当のヒラクが切り口を3〜5案返します。ここで人が1本に選びます。そのあと門番のクラが審査して、ネタ帳に追加します。下の段が記事を書くとき。write-postのスキルがテーマを決めて質問し、私が体験を話し、それを活かして下書きを書き、校閲担当のアカネが点検して、最後は人が直します。黄色が人、青がスキル、白が専門担当のサブエージェントです。人が入る場所は、選ぶ、話す、直す。つまり判断が必要なところ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に任せるときに決めている4つのルールです。1つ目、点検することと直すことを分ける。点検するAIは指摘だけを返し、直すかどうかは人が決めます。2つ目、持ち物を絞る。役割に要らない道具は渡しません。3つ目、毎回最新のルールを読ませる。記憶で判断させず、その場でルールブックを開かせます。ルールは更新されるからです。4つ目、最後の決定は人。何を書くか、どう言うか、いつ公開するかは書き手が決めます。AIをうまく使うコツは、何でも任せることではなく、任せる範囲と任せない範囲を先に決めておくことだと考え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ブログの方針です。AIに聞けば出てくる答えは載せません。載せるのは、実際にやってみた体験、失敗も含めて。同じ現場で働く人の視点。そして、最初に何を学んで何を後回しにするかという選び方。この3つのどれかが入っていない記事は、書く意味が薄いと考えています。だから助っ人のAIは、まず私に体験をたずねて、それを文章の形に整える役をしています。校閲担当が最後に必ず出す『公開前の一問』も、この方針から来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とめです。1つ目、このブログは人が書いて送るだけで、あとは自動で公開されます。2つ目、AIは次のことばを予想する機械で、もっともらしい嘘も書くので人が確かめます。3つ目、今日のメインです。スキルは手順書、サブエージェントは専門担当。手順書で進め方を決めて、専門担当に点検を任せます。4つ目、任せる範囲と任せない範囲を先に決めておく。体験と最終決定は人がや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最後まで聞いてくださってありがとうございます。右のQRコードを読みとると、このブログが開きます。書いている記事は、実際にAIを使ってみた体験がベースです。ぜひ読みに来てください。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slideLayout" Target="../slideLayouts/slideLayout1.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slideLayout" Target="../slideLayouts/slideLayout1.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slideLayout" Target="../slideLayouts/slideLayout1.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image" Target="../media/image-36-6.png"/><Relationship Id="rId7" Type="http://schemas.openxmlformats.org/officeDocument/2006/relationships/image" Target="../media/image-36-7.png"/><Relationship Id="rId8" Type="http://schemas.openxmlformats.org/officeDocument/2006/relationships/image" Target="../media/image-36-8.png"/><Relationship Id="rId9" Type="http://schemas.openxmlformats.org/officeDocument/2006/relationships/slideLayout" Target="../slideLayouts/slideLayout1.xml"/><Relationship Id="rId10"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33B"/>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7823200" y="1270000"/>
            <a:ext cx="3556000" cy="3556000"/>
          </a:xfrm>
          <a:prstGeom prst="rect">
            <a:avLst/>
          </a:prstGeom>
        </p:spPr>
      </p:pic>
      <p:pic>
        <p:nvPicPr>
          <p:cNvPr id="3" name="Image 1" descr="ellipse">    </p:cNvPr>
          <p:cNvPicPr>
            <a:picLocks noChangeAspect="1"/>
          </p:cNvPicPr>
          <p:nvPr/>
        </p:nvPicPr>
        <p:blipFill>
          <a:blip r:embed="rId2"/>
          <a:srcRect l="0" r="0" t="0" b="0"/>
          <a:stretch/>
        </p:blipFill>
        <p:spPr>
          <a:xfrm>
            <a:off x="9855200" y="4064000"/>
            <a:ext cx="1270000" cy="1270000"/>
          </a:xfrm>
          <a:prstGeom prst="rect">
            <a:avLst/>
          </a:prstGeom>
        </p:spPr>
      </p:pic>
      <p:sp>
        <p:nvSpPr>
          <p:cNvPr id="4" name="Text 0"/>
          <p:cNvSpPr/>
          <p:nvPr/>
        </p:nvSpPr>
        <p:spPr>
          <a:xfrm>
            <a:off x="812800" y="2034580"/>
            <a:ext cx="7194550" cy="350441"/>
          </a:xfrm>
          <a:prstGeom prst="rect">
            <a:avLst/>
          </a:prstGeom>
          <a:noFill/>
          <a:ln/>
        </p:spPr>
        <p:txBody>
          <a:bodyPr wrap="square" lIns="0" tIns="0" rIns="0" bIns="0" rtlCol="0" anchor="t">
            <a:normAutofit/>
          </a:bodyPr>
          <a:lstStyle/>
          <a:p>
            <a:pPr algn="l" indent="0" marL="0">
              <a:lnSpc>
                <a:spcPts val="2560"/>
              </a:lnSpc>
              <a:buNone/>
            </a:pPr>
            <a:r>
              <a:rPr lang="en-US" sz="1600" b="1" spc="100" kern="0" dirty="0">
                <a:solidFill>
                  <a:srgbClr val="86A8FF"/>
                </a:solidFill>
                <a:latin typeface="BIZ UDPGothic" pitchFamily="34" charset="0"/>
                <a:ea typeface="BIZ UDPGothic" pitchFamily="34" charset="-122"/>
                <a:cs typeface="BIZ UDPGothic" pitchFamily="34" charset="-120"/>
              </a:rPr>
              <a:t>「明日使える生成AI」ブログのひみつ</a:t>
            </a:r>
            <a:endParaRPr lang="en-US" sz="1600" dirty="0"/>
          </a:p>
        </p:txBody>
      </p:sp>
      <p:sp>
        <p:nvSpPr>
          <p:cNvPr id="5" name="Text 1"/>
          <p:cNvSpPr/>
          <p:nvPr/>
        </p:nvSpPr>
        <p:spPr>
          <a:xfrm>
            <a:off x="812800" y="2512020"/>
            <a:ext cx="7194550" cy="1422400"/>
          </a:xfrm>
          <a:prstGeom prst="rect">
            <a:avLst/>
          </a:prstGeom>
          <a:noFill/>
          <a:ln/>
        </p:spPr>
        <p:txBody>
          <a:bodyPr wrap="square" lIns="0" tIns="0" rIns="0" bIns="0" rtlCol="0" anchor="t">
            <a:normAutofit/>
          </a:bodyPr>
          <a:lstStyle/>
          <a:p>
            <a:pPr algn="l" indent="0" marL="0">
              <a:lnSpc>
                <a:spcPts val="5500"/>
              </a:lnSpc>
              <a:buNone/>
            </a:pPr>
            <a:r>
              <a:rPr lang="en-US" sz="4400" b="1" dirty="0">
                <a:solidFill>
                  <a:srgbClr val="F4F7FC"/>
                </a:solidFill>
                <a:latin typeface="Zen Maru Gothic" pitchFamily="34" charset="0"/>
                <a:ea typeface="Zen Maru Gothic" pitchFamily="34" charset="-122"/>
                <a:cs typeface="Zen Maru Gothic" pitchFamily="34" charset="-120"/>
              </a:rPr>
              <a:t>文章を書いて送ると、</a:t>
            </a:r>
            <a:endParaRPr lang="en-US" sz="4400" dirty="0"/>
          </a:p>
          <a:p>
            <a:pPr algn="l" indent="0" marL="0">
              <a:lnSpc>
                <a:spcPts val="5500"/>
              </a:lnSpc>
              <a:buNone/>
            </a:pPr>
            <a:r>
              <a:rPr lang="en-US" sz="4400" b="1" dirty="0">
                <a:solidFill>
                  <a:srgbClr val="FFC83D"/>
                </a:solidFill>
                <a:latin typeface="Zen Maru Gothic" pitchFamily="34" charset="0"/>
                <a:ea typeface="Zen Maru Gothic" pitchFamily="34" charset="-122"/>
                <a:cs typeface="Zen Maru Gothic" pitchFamily="34" charset="-120"/>
              </a:rPr>
              <a:t>自動でWebサイト</a:t>
            </a:r>
            <a:r>
              <a:rPr lang="en-US" sz="4400" b="1" dirty="0">
                <a:solidFill>
                  <a:srgbClr val="F4F7FC"/>
                </a:solidFill>
                <a:latin typeface="Zen Maru Gothic" pitchFamily="34" charset="0"/>
                <a:ea typeface="Zen Maru Gothic" pitchFamily="34" charset="-122"/>
                <a:cs typeface="Zen Maru Gothic" pitchFamily="34" charset="-120"/>
              </a:rPr>
              <a:t>になる</a:t>
            </a:r>
            <a:endParaRPr lang="en-US" sz="4400" dirty="0"/>
          </a:p>
        </p:txBody>
      </p:sp>
      <p:sp>
        <p:nvSpPr>
          <p:cNvPr id="6" name="Text 2"/>
          <p:cNvSpPr/>
          <p:nvPr/>
        </p:nvSpPr>
        <p:spPr>
          <a:xfrm>
            <a:off x="812800" y="4213820"/>
            <a:ext cx="7194550" cy="431800"/>
          </a:xfrm>
          <a:prstGeom prst="rect">
            <a:avLst/>
          </a:prstGeom>
          <a:noFill/>
          <a:ln/>
        </p:spPr>
        <p:txBody>
          <a:bodyPr wrap="square" lIns="0" tIns="0" rIns="0" bIns="0" rtlCol="0" anchor="t">
            <a:normAutofit/>
          </a:bodyPr>
          <a:lstStyle/>
          <a:p>
            <a:pPr algn="l" indent="0" marL="0">
              <a:lnSpc>
                <a:spcPts val="3200"/>
              </a:lnSpc>
              <a:buNone/>
            </a:pPr>
            <a:r>
              <a:rPr lang="en-US" sz="2000" dirty="0">
                <a:solidFill>
                  <a:srgbClr val="F4F7FC"/>
                </a:solidFill>
                <a:latin typeface="BIZ UDPGothic" pitchFamily="34" charset="0"/>
                <a:ea typeface="BIZ UDPGothic" pitchFamily="34" charset="-122"/>
                <a:cs typeface="BIZ UDPGothic" pitchFamily="34" charset="-120"/>
              </a:rPr>
              <a:t>ブログのしくみと、AIの助っ人たち（スキルとサブエージェント）</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AGENDA ／ 青いところが、今日のメイン</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今日の流れ</a:t>
            </a:r>
            <a:endParaRPr lang="en-US" sz="3200" dirty="0"/>
          </a:p>
        </p:txBody>
      </p:sp>
      <p:sp>
        <p:nvSpPr>
          <p:cNvPr id="4" name="Shape 2"/>
          <p:cNvSpPr/>
          <p:nvPr/>
        </p:nvSpPr>
        <p:spPr>
          <a:xfrm>
            <a:off x="819150" y="1901130"/>
            <a:ext cx="10553700" cy="647700"/>
          </a:xfrm>
          <a:prstGeom prst="roundRect">
            <a:avLst>
              <a:gd name="adj" fmla="val 26471"/>
            </a:avLst>
          </a:prstGeom>
          <a:solidFill>
            <a:srgbClr val="FBFCFE"/>
          </a:solidFill>
          <a:ln w="12700">
            <a:solidFill>
              <a:srgbClr val="D3DBEA"/>
            </a:solidFill>
            <a:prstDash val="solid"/>
          </a:ln>
        </p:spPr>
      </p:sp>
      <p:sp>
        <p:nvSpPr>
          <p:cNvPr id="5" name="Shape 3"/>
          <p:cNvSpPr/>
          <p:nvPr/>
        </p:nvSpPr>
        <p:spPr>
          <a:xfrm>
            <a:off x="1054100" y="1996380"/>
            <a:ext cx="457200" cy="457200"/>
          </a:xfrm>
          <a:prstGeom prst="roundRect">
            <a:avLst>
              <a:gd name="adj" fmla="val 50000"/>
            </a:avLst>
          </a:prstGeom>
          <a:solidFill>
            <a:srgbClr val="2F62E6"/>
          </a:solidFill>
          <a:ln/>
        </p:spPr>
      </p:sp>
      <p:sp>
        <p:nvSpPr>
          <p:cNvPr id="6" name="Text 4"/>
          <p:cNvSpPr/>
          <p:nvPr/>
        </p:nvSpPr>
        <p:spPr>
          <a:xfrm>
            <a:off x="1028700" y="1996380"/>
            <a:ext cx="508000" cy="482600"/>
          </a:xfrm>
          <a:prstGeom prst="rect">
            <a:avLst/>
          </a:prstGeom>
          <a:noFill/>
          <a:ln/>
        </p:spPr>
        <p:txBody>
          <a:bodyPr wrap="square" lIns="0" tIns="0" rIns="0" bIns="0" rtlCol="0" anchor="t">
            <a:normAutofit/>
          </a:bodyPr>
          <a:lstStyle/>
          <a:p>
            <a:pPr algn="ctr" indent="0" marL="0">
              <a:lnSpc>
                <a:spcPts val="3608"/>
              </a:lnSpc>
              <a:buNone/>
            </a:pPr>
            <a:r>
              <a:rPr lang="en-US" sz="2200" b="1" dirty="0">
                <a:solidFill>
                  <a:srgbClr val="FFFFFF"/>
                </a:solidFill>
                <a:latin typeface="Zen Maru Gothic" pitchFamily="34" charset="0"/>
                <a:ea typeface="Zen Maru Gothic" pitchFamily="34" charset="-122"/>
                <a:cs typeface="Zen Maru Gothic" pitchFamily="34" charset="-120"/>
              </a:rPr>
              <a:t>1</a:t>
            </a:r>
            <a:endParaRPr lang="en-US" sz="2200" dirty="0"/>
          </a:p>
        </p:txBody>
      </p:sp>
      <p:sp>
        <p:nvSpPr>
          <p:cNvPr id="7" name="Text 5"/>
          <p:cNvSpPr/>
          <p:nvPr/>
        </p:nvSpPr>
        <p:spPr>
          <a:xfrm>
            <a:off x="1714500" y="2059880"/>
            <a:ext cx="2616200"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6233B"/>
                </a:solidFill>
                <a:latin typeface="Zen Maru Gothic" pitchFamily="34" charset="0"/>
                <a:ea typeface="Zen Maru Gothic" pitchFamily="34" charset="-122"/>
                <a:cs typeface="Zen Maru Gothic" pitchFamily="34" charset="-120"/>
              </a:rPr>
              <a:t>ブログのしくみ</a:t>
            </a:r>
            <a:endParaRPr lang="en-US" sz="2000" dirty="0"/>
          </a:p>
        </p:txBody>
      </p:sp>
      <p:sp>
        <p:nvSpPr>
          <p:cNvPr id="8" name="Text 6"/>
          <p:cNvSpPr/>
          <p:nvPr/>
        </p:nvSpPr>
        <p:spPr>
          <a:xfrm>
            <a:off x="4457700" y="2100560"/>
            <a:ext cx="688060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6647E"/>
                </a:solidFill>
                <a:latin typeface="BIZ UDPGothic" pitchFamily="34" charset="0"/>
                <a:ea typeface="BIZ UDPGothic" pitchFamily="34" charset="-122"/>
                <a:cs typeface="BIZ UDPGothic" pitchFamily="34" charset="-120"/>
              </a:rPr>
              <a:t>書いた文章が、Webサイトになって公開されるまで</a:t>
            </a:r>
            <a:endParaRPr lang="en-US" sz="1400" dirty="0"/>
          </a:p>
        </p:txBody>
      </p:sp>
      <p:sp>
        <p:nvSpPr>
          <p:cNvPr id="9" name="Shape 7"/>
          <p:cNvSpPr/>
          <p:nvPr/>
        </p:nvSpPr>
        <p:spPr>
          <a:xfrm>
            <a:off x="819150" y="2637730"/>
            <a:ext cx="10553700" cy="647700"/>
          </a:xfrm>
          <a:prstGeom prst="roundRect">
            <a:avLst>
              <a:gd name="adj" fmla="val 26471"/>
            </a:avLst>
          </a:prstGeom>
          <a:solidFill>
            <a:srgbClr val="FBFCFE"/>
          </a:solidFill>
          <a:ln w="12700">
            <a:solidFill>
              <a:srgbClr val="D3DBEA"/>
            </a:solidFill>
            <a:prstDash val="solid"/>
          </a:ln>
        </p:spPr>
      </p:sp>
      <p:sp>
        <p:nvSpPr>
          <p:cNvPr id="10" name="Shape 8"/>
          <p:cNvSpPr/>
          <p:nvPr/>
        </p:nvSpPr>
        <p:spPr>
          <a:xfrm>
            <a:off x="1054100" y="2732980"/>
            <a:ext cx="457200" cy="457200"/>
          </a:xfrm>
          <a:prstGeom prst="roundRect">
            <a:avLst>
              <a:gd name="adj" fmla="val 50000"/>
            </a:avLst>
          </a:prstGeom>
          <a:solidFill>
            <a:srgbClr val="2F62E6"/>
          </a:solidFill>
          <a:ln/>
        </p:spPr>
      </p:sp>
      <p:sp>
        <p:nvSpPr>
          <p:cNvPr id="11" name="Text 9"/>
          <p:cNvSpPr/>
          <p:nvPr/>
        </p:nvSpPr>
        <p:spPr>
          <a:xfrm>
            <a:off x="1028700" y="2732980"/>
            <a:ext cx="508000" cy="482600"/>
          </a:xfrm>
          <a:prstGeom prst="rect">
            <a:avLst/>
          </a:prstGeom>
          <a:noFill/>
          <a:ln/>
        </p:spPr>
        <p:txBody>
          <a:bodyPr wrap="square" lIns="0" tIns="0" rIns="0" bIns="0" rtlCol="0" anchor="t">
            <a:normAutofit/>
          </a:bodyPr>
          <a:lstStyle/>
          <a:p>
            <a:pPr algn="ctr" indent="0" marL="0">
              <a:lnSpc>
                <a:spcPts val="3608"/>
              </a:lnSpc>
              <a:buNone/>
            </a:pPr>
            <a:r>
              <a:rPr lang="en-US" sz="2200" b="1" dirty="0">
                <a:solidFill>
                  <a:srgbClr val="FFFFFF"/>
                </a:solidFill>
                <a:latin typeface="Zen Maru Gothic" pitchFamily="34" charset="0"/>
                <a:ea typeface="Zen Maru Gothic" pitchFamily="34" charset="-122"/>
                <a:cs typeface="Zen Maru Gothic" pitchFamily="34" charset="-120"/>
              </a:rPr>
              <a:t>2</a:t>
            </a:r>
            <a:endParaRPr lang="en-US" sz="2200" dirty="0"/>
          </a:p>
        </p:txBody>
      </p:sp>
      <p:sp>
        <p:nvSpPr>
          <p:cNvPr id="12" name="Text 10"/>
          <p:cNvSpPr/>
          <p:nvPr/>
        </p:nvSpPr>
        <p:spPr>
          <a:xfrm>
            <a:off x="1714500" y="2796480"/>
            <a:ext cx="2616200"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6233B"/>
                </a:solidFill>
                <a:latin typeface="Zen Maru Gothic" pitchFamily="34" charset="0"/>
                <a:ea typeface="Zen Maru Gothic" pitchFamily="34" charset="-122"/>
                <a:cs typeface="Zen Maru Gothic" pitchFamily="34" charset="-120"/>
              </a:rPr>
              <a:t>AIのしくみ</a:t>
            </a:r>
            <a:endParaRPr lang="en-US" sz="2000" dirty="0"/>
          </a:p>
        </p:txBody>
      </p:sp>
      <p:sp>
        <p:nvSpPr>
          <p:cNvPr id="13" name="Text 11"/>
          <p:cNvSpPr/>
          <p:nvPr/>
        </p:nvSpPr>
        <p:spPr>
          <a:xfrm>
            <a:off x="4457700" y="2837160"/>
            <a:ext cx="688060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6647E"/>
                </a:solidFill>
                <a:latin typeface="BIZ UDPGothic" pitchFamily="34" charset="0"/>
                <a:ea typeface="BIZ UDPGothic" pitchFamily="34" charset="-122"/>
                <a:cs typeface="BIZ UDPGothic" pitchFamily="34" charset="-120"/>
              </a:rPr>
              <a:t>生成AIは、中で何をしているのか</a:t>
            </a:r>
            <a:endParaRPr lang="en-US" sz="1400" dirty="0"/>
          </a:p>
        </p:txBody>
      </p:sp>
      <p:sp>
        <p:nvSpPr>
          <p:cNvPr id="14" name="Shape 12"/>
          <p:cNvSpPr/>
          <p:nvPr/>
        </p:nvSpPr>
        <p:spPr>
          <a:xfrm>
            <a:off x="819150" y="3374330"/>
            <a:ext cx="10553700" cy="647700"/>
          </a:xfrm>
          <a:prstGeom prst="roundRect">
            <a:avLst>
              <a:gd name="adj" fmla="val 26471"/>
            </a:avLst>
          </a:prstGeom>
          <a:solidFill>
            <a:srgbClr val="2F62E6"/>
          </a:solidFill>
          <a:ln w="12700">
            <a:solidFill>
              <a:srgbClr val="2F62E6"/>
            </a:solidFill>
            <a:prstDash val="solid"/>
          </a:ln>
        </p:spPr>
      </p:sp>
      <p:sp>
        <p:nvSpPr>
          <p:cNvPr id="15" name="Shape 13"/>
          <p:cNvSpPr/>
          <p:nvPr/>
        </p:nvSpPr>
        <p:spPr>
          <a:xfrm>
            <a:off x="1054100" y="3469580"/>
            <a:ext cx="457200" cy="457200"/>
          </a:xfrm>
          <a:prstGeom prst="roundRect">
            <a:avLst>
              <a:gd name="adj" fmla="val 50000"/>
            </a:avLst>
          </a:prstGeom>
          <a:solidFill>
            <a:srgbClr val="FFFFFF"/>
          </a:solidFill>
          <a:ln/>
        </p:spPr>
      </p:sp>
      <p:sp>
        <p:nvSpPr>
          <p:cNvPr id="16" name="Text 14"/>
          <p:cNvSpPr/>
          <p:nvPr/>
        </p:nvSpPr>
        <p:spPr>
          <a:xfrm>
            <a:off x="1028700" y="3469580"/>
            <a:ext cx="508000" cy="482600"/>
          </a:xfrm>
          <a:prstGeom prst="rect">
            <a:avLst/>
          </a:prstGeom>
          <a:noFill/>
          <a:ln/>
        </p:spPr>
        <p:txBody>
          <a:bodyPr wrap="square" lIns="0" tIns="0" rIns="0" bIns="0" rtlCol="0" anchor="t">
            <a:normAutofit/>
          </a:bodyPr>
          <a:lstStyle/>
          <a:p>
            <a:pPr algn="ctr" indent="0" marL="0">
              <a:lnSpc>
                <a:spcPts val="3608"/>
              </a:lnSpc>
              <a:buNone/>
            </a:pPr>
            <a:r>
              <a:rPr lang="en-US" sz="2200" b="1" dirty="0">
                <a:solidFill>
                  <a:srgbClr val="2350C9"/>
                </a:solidFill>
                <a:latin typeface="Zen Maru Gothic" pitchFamily="34" charset="0"/>
                <a:ea typeface="Zen Maru Gothic" pitchFamily="34" charset="-122"/>
                <a:cs typeface="Zen Maru Gothic" pitchFamily="34" charset="-120"/>
              </a:rPr>
              <a:t>3</a:t>
            </a:r>
            <a:endParaRPr lang="en-US" sz="2200" dirty="0"/>
          </a:p>
        </p:txBody>
      </p:sp>
      <p:sp>
        <p:nvSpPr>
          <p:cNvPr id="17" name="Text 15"/>
          <p:cNvSpPr/>
          <p:nvPr/>
        </p:nvSpPr>
        <p:spPr>
          <a:xfrm>
            <a:off x="1714500" y="3533080"/>
            <a:ext cx="2616200"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FFFFFF"/>
                </a:solidFill>
                <a:latin typeface="Zen Maru Gothic" pitchFamily="34" charset="0"/>
                <a:ea typeface="Zen Maru Gothic" pitchFamily="34" charset="-122"/>
                <a:cs typeface="Zen Maru Gothic" pitchFamily="34" charset="-120"/>
              </a:rPr>
              <a:t>スキル</a:t>
            </a:r>
            <a:endParaRPr lang="en-US" sz="2000" dirty="0"/>
          </a:p>
        </p:txBody>
      </p:sp>
      <p:sp>
        <p:nvSpPr>
          <p:cNvPr id="18" name="Text 16"/>
          <p:cNvSpPr/>
          <p:nvPr/>
        </p:nvSpPr>
        <p:spPr>
          <a:xfrm>
            <a:off x="4457700" y="3573760"/>
            <a:ext cx="688060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8EEFF"/>
                </a:solidFill>
                <a:latin typeface="BIZ UDPGothic" pitchFamily="34" charset="0"/>
                <a:ea typeface="BIZ UDPGothic" pitchFamily="34" charset="-122"/>
                <a:cs typeface="BIZ UDPGothic" pitchFamily="34" charset="-120"/>
              </a:rPr>
              <a:t>AIに渡す「手順書」。作り方と、使い方</a:t>
            </a:r>
            <a:endParaRPr lang="en-US" sz="1400" dirty="0"/>
          </a:p>
        </p:txBody>
      </p:sp>
      <p:sp>
        <p:nvSpPr>
          <p:cNvPr id="19" name="Shape 17"/>
          <p:cNvSpPr/>
          <p:nvPr/>
        </p:nvSpPr>
        <p:spPr>
          <a:xfrm>
            <a:off x="819150" y="4110930"/>
            <a:ext cx="10553700" cy="647700"/>
          </a:xfrm>
          <a:prstGeom prst="roundRect">
            <a:avLst>
              <a:gd name="adj" fmla="val 26471"/>
            </a:avLst>
          </a:prstGeom>
          <a:solidFill>
            <a:srgbClr val="2F62E6"/>
          </a:solidFill>
          <a:ln w="12700">
            <a:solidFill>
              <a:srgbClr val="2F62E6"/>
            </a:solidFill>
            <a:prstDash val="solid"/>
          </a:ln>
        </p:spPr>
      </p:sp>
      <p:sp>
        <p:nvSpPr>
          <p:cNvPr id="20" name="Shape 18"/>
          <p:cNvSpPr/>
          <p:nvPr/>
        </p:nvSpPr>
        <p:spPr>
          <a:xfrm>
            <a:off x="1054100" y="4206180"/>
            <a:ext cx="457200" cy="457200"/>
          </a:xfrm>
          <a:prstGeom prst="roundRect">
            <a:avLst>
              <a:gd name="adj" fmla="val 50000"/>
            </a:avLst>
          </a:prstGeom>
          <a:solidFill>
            <a:srgbClr val="FFFFFF"/>
          </a:solidFill>
          <a:ln/>
        </p:spPr>
      </p:sp>
      <p:sp>
        <p:nvSpPr>
          <p:cNvPr id="21" name="Text 19"/>
          <p:cNvSpPr/>
          <p:nvPr/>
        </p:nvSpPr>
        <p:spPr>
          <a:xfrm>
            <a:off x="1028700" y="4206180"/>
            <a:ext cx="508000" cy="482600"/>
          </a:xfrm>
          <a:prstGeom prst="rect">
            <a:avLst/>
          </a:prstGeom>
          <a:noFill/>
          <a:ln/>
        </p:spPr>
        <p:txBody>
          <a:bodyPr wrap="square" lIns="0" tIns="0" rIns="0" bIns="0" rtlCol="0" anchor="t">
            <a:normAutofit/>
          </a:bodyPr>
          <a:lstStyle/>
          <a:p>
            <a:pPr algn="ctr" indent="0" marL="0">
              <a:lnSpc>
                <a:spcPts val="3608"/>
              </a:lnSpc>
              <a:buNone/>
            </a:pPr>
            <a:r>
              <a:rPr lang="en-US" sz="2200" b="1" dirty="0">
                <a:solidFill>
                  <a:srgbClr val="2350C9"/>
                </a:solidFill>
                <a:latin typeface="Zen Maru Gothic" pitchFamily="34" charset="0"/>
                <a:ea typeface="Zen Maru Gothic" pitchFamily="34" charset="-122"/>
                <a:cs typeface="Zen Maru Gothic" pitchFamily="34" charset="-120"/>
              </a:rPr>
              <a:t>4</a:t>
            </a:r>
            <a:endParaRPr lang="en-US" sz="2200" dirty="0"/>
          </a:p>
        </p:txBody>
      </p:sp>
      <p:sp>
        <p:nvSpPr>
          <p:cNvPr id="22" name="Text 20"/>
          <p:cNvSpPr/>
          <p:nvPr/>
        </p:nvSpPr>
        <p:spPr>
          <a:xfrm>
            <a:off x="1714500" y="4269680"/>
            <a:ext cx="2616200"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FFFFFF"/>
                </a:solidFill>
                <a:latin typeface="Zen Maru Gothic" pitchFamily="34" charset="0"/>
                <a:ea typeface="Zen Maru Gothic" pitchFamily="34" charset="-122"/>
                <a:cs typeface="Zen Maru Gothic" pitchFamily="34" charset="-120"/>
              </a:rPr>
              <a:t>サブエージェント</a:t>
            </a:r>
            <a:endParaRPr lang="en-US" sz="2000" dirty="0"/>
          </a:p>
        </p:txBody>
      </p:sp>
      <p:sp>
        <p:nvSpPr>
          <p:cNvPr id="23" name="Text 21"/>
          <p:cNvSpPr/>
          <p:nvPr/>
        </p:nvSpPr>
        <p:spPr>
          <a:xfrm>
            <a:off x="4457700" y="4310360"/>
            <a:ext cx="688060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8EEFF"/>
                </a:solidFill>
                <a:latin typeface="BIZ UDPGothic" pitchFamily="34" charset="0"/>
                <a:ea typeface="BIZ UDPGothic" pitchFamily="34" charset="-122"/>
                <a:cs typeface="BIZ UDPGothic" pitchFamily="34" charset="-120"/>
              </a:rPr>
              <a:t>AIの「専門担当」。何を任せているか</a:t>
            </a:r>
            <a:endParaRPr lang="en-US" sz="1400" dirty="0"/>
          </a:p>
        </p:txBody>
      </p:sp>
      <p:sp>
        <p:nvSpPr>
          <p:cNvPr id="24" name="Shape 22"/>
          <p:cNvSpPr/>
          <p:nvPr/>
        </p:nvSpPr>
        <p:spPr>
          <a:xfrm>
            <a:off x="819150" y="4847530"/>
            <a:ext cx="10553700" cy="647700"/>
          </a:xfrm>
          <a:prstGeom prst="roundRect">
            <a:avLst>
              <a:gd name="adj" fmla="val 26471"/>
            </a:avLst>
          </a:prstGeom>
          <a:solidFill>
            <a:srgbClr val="FBFCFE"/>
          </a:solidFill>
          <a:ln w="12700">
            <a:solidFill>
              <a:srgbClr val="D3DBEA"/>
            </a:solidFill>
            <a:prstDash val="solid"/>
          </a:ln>
        </p:spPr>
      </p:sp>
      <p:sp>
        <p:nvSpPr>
          <p:cNvPr id="25" name="Shape 23"/>
          <p:cNvSpPr/>
          <p:nvPr/>
        </p:nvSpPr>
        <p:spPr>
          <a:xfrm>
            <a:off x="1054100" y="4942780"/>
            <a:ext cx="457200" cy="457200"/>
          </a:xfrm>
          <a:prstGeom prst="roundRect">
            <a:avLst>
              <a:gd name="adj" fmla="val 50000"/>
            </a:avLst>
          </a:prstGeom>
          <a:solidFill>
            <a:srgbClr val="2F62E6"/>
          </a:solidFill>
          <a:ln/>
        </p:spPr>
      </p:sp>
      <p:sp>
        <p:nvSpPr>
          <p:cNvPr id="26" name="Text 24"/>
          <p:cNvSpPr/>
          <p:nvPr/>
        </p:nvSpPr>
        <p:spPr>
          <a:xfrm>
            <a:off x="1028700" y="4942780"/>
            <a:ext cx="508000" cy="482600"/>
          </a:xfrm>
          <a:prstGeom prst="rect">
            <a:avLst/>
          </a:prstGeom>
          <a:noFill/>
          <a:ln/>
        </p:spPr>
        <p:txBody>
          <a:bodyPr wrap="square" lIns="0" tIns="0" rIns="0" bIns="0" rtlCol="0" anchor="t">
            <a:normAutofit/>
          </a:bodyPr>
          <a:lstStyle/>
          <a:p>
            <a:pPr algn="ctr" indent="0" marL="0">
              <a:lnSpc>
                <a:spcPts val="3608"/>
              </a:lnSpc>
              <a:buNone/>
            </a:pPr>
            <a:r>
              <a:rPr lang="en-US" sz="2200" b="1" dirty="0">
                <a:solidFill>
                  <a:srgbClr val="FFFFFF"/>
                </a:solidFill>
                <a:latin typeface="Zen Maru Gothic" pitchFamily="34" charset="0"/>
                <a:ea typeface="Zen Maru Gothic" pitchFamily="34" charset="-122"/>
                <a:cs typeface="Zen Maru Gothic" pitchFamily="34" charset="-120"/>
              </a:rPr>
              <a:t>5</a:t>
            </a:r>
            <a:endParaRPr lang="en-US" sz="2200" dirty="0"/>
          </a:p>
        </p:txBody>
      </p:sp>
      <p:sp>
        <p:nvSpPr>
          <p:cNvPr id="27" name="Text 25"/>
          <p:cNvSpPr/>
          <p:nvPr/>
        </p:nvSpPr>
        <p:spPr>
          <a:xfrm>
            <a:off x="1714500" y="5006280"/>
            <a:ext cx="2616200"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6233B"/>
                </a:solidFill>
                <a:latin typeface="Zen Maru Gothic" pitchFamily="34" charset="0"/>
                <a:ea typeface="Zen Maru Gothic" pitchFamily="34" charset="-122"/>
                <a:cs typeface="Zen Maru Gothic" pitchFamily="34" charset="-120"/>
              </a:rPr>
              <a:t>人とAIの分担</a:t>
            </a:r>
            <a:endParaRPr lang="en-US" sz="2000" dirty="0"/>
          </a:p>
        </p:txBody>
      </p:sp>
      <p:sp>
        <p:nvSpPr>
          <p:cNvPr id="28" name="Text 26"/>
          <p:cNvSpPr/>
          <p:nvPr/>
        </p:nvSpPr>
        <p:spPr>
          <a:xfrm>
            <a:off x="4457700" y="5046960"/>
            <a:ext cx="688060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6647E"/>
                </a:solidFill>
                <a:latin typeface="BIZ UDPGothic" pitchFamily="34" charset="0"/>
                <a:ea typeface="BIZ UDPGothic" pitchFamily="34" charset="-122"/>
                <a:cs typeface="BIZ UDPGothic" pitchFamily="34" charset="-120"/>
              </a:rPr>
              <a:t>AIに任せる部分と、人にしかできない部分</a:t>
            </a:r>
            <a:endParaRPr lang="en-US" sz="1400" dirty="0"/>
          </a:p>
        </p:txBody>
      </p:sp>
      <p:sp>
        <p:nvSpPr>
          <p:cNvPr id="29" name="Text 27"/>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30" name="Text 28"/>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02 / 40</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233B"/>
        </a:solidFill>
      </p:bgPr>
    </p:bg>
    <p:spTree>
      <p:nvGrpSpPr>
        <p:cNvPr id="1" name=""/>
        <p:cNvGrpSpPr/>
        <p:nvPr/>
      </p:nvGrpSpPr>
      <p:grpSpPr>
        <a:xfrm>
          <a:off x="0" y="0"/>
          <a:ext cx="0" cy="0"/>
          <a:chOff x="0" y="0"/>
          <a:chExt cx="0" cy="0"/>
        </a:xfrm>
      </p:grpSpPr>
      <p:sp>
        <p:nvSpPr>
          <p:cNvPr id="2" name="Text 0"/>
          <p:cNvSpPr/>
          <p:nvPr/>
        </p:nvSpPr>
        <p:spPr>
          <a:xfrm>
            <a:off x="7193280" y="711200"/>
            <a:ext cx="4185920" cy="228600"/>
          </a:xfrm>
          <a:prstGeom prst="rect">
            <a:avLst/>
          </a:prstGeom>
          <a:noFill/>
          <a:ln/>
        </p:spPr>
        <p:txBody>
          <a:bodyPr wrap="square" lIns="0" tIns="0" rIns="0" bIns="0" rtlCol="0" anchor="t">
            <a:normAutofit/>
          </a:bodyPr>
          <a:lstStyle/>
          <a:p>
            <a:pPr algn="r" indent="0" marL="0">
              <a:lnSpc>
                <a:spcPts val="1600"/>
              </a:lnSpc>
              <a:buNone/>
            </a:pPr>
            <a:r>
              <a:rPr lang="en-US" sz="1600" b="1" dirty="0">
                <a:solidFill>
                  <a:srgbClr val="22355A"/>
                </a:solidFill>
                <a:latin typeface="Zen Maru Gothic" pitchFamily="34" charset="0"/>
                <a:ea typeface="Zen Maru Gothic" pitchFamily="34" charset="-122"/>
                <a:cs typeface="Zen Maru Gothic" pitchFamily="34" charset="-120"/>
              </a:rPr>
              <a:t>1</a:t>
            </a:r>
            <a:endParaRPr lang="en-US" sz="1600" dirty="0"/>
          </a:p>
        </p:txBody>
      </p:sp>
      <p:pic>
        <p:nvPicPr>
          <p:cNvPr id="3" name="Image 0" descr="ellipse">    </p:cNvPr>
          <p:cNvPicPr>
            <a:picLocks noChangeAspect="1"/>
          </p:cNvPicPr>
          <p:nvPr/>
        </p:nvPicPr>
        <p:blipFill>
          <a:blip r:embed="rId1"/>
          <a:srcRect l="0" r="0" t="0" b="0"/>
          <a:stretch/>
        </p:blipFill>
        <p:spPr>
          <a:xfrm>
            <a:off x="9906000" y="3810000"/>
            <a:ext cx="762000" cy="762000"/>
          </a:xfrm>
          <a:prstGeom prst="rect">
            <a:avLst/>
          </a:prstGeom>
        </p:spPr>
      </p:pic>
      <p:sp>
        <p:nvSpPr>
          <p:cNvPr id="4" name="Text 1"/>
          <p:cNvSpPr/>
          <p:nvPr/>
        </p:nvSpPr>
        <p:spPr>
          <a:xfrm>
            <a:off x="812800" y="812800"/>
            <a:ext cx="7521575" cy="350441"/>
          </a:xfrm>
          <a:prstGeom prst="rect">
            <a:avLst/>
          </a:prstGeom>
          <a:noFill/>
          <a:ln/>
        </p:spPr>
        <p:txBody>
          <a:bodyPr wrap="square" lIns="0" tIns="0" rIns="0" bIns="0" rtlCol="0" anchor="t">
            <a:normAutofit/>
          </a:bodyPr>
          <a:lstStyle/>
          <a:p>
            <a:pPr algn="l" indent="0" marL="0">
              <a:lnSpc>
                <a:spcPts val="2560"/>
              </a:lnSpc>
              <a:buNone/>
            </a:pPr>
            <a:r>
              <a:rPr lang="en-US" sz="1600" b="1" spc="200" kern="0" dirty="0">
                <a:solidFill>
                  <a:srgbClr val="86A8FF"/>
                </a:solidFill>
                <a:latin typeface="BIZ UDPGothic" pitchFamily="34" charset="0"/>
                <a:ea typeface="BIZ UDPGothic" pitchFamily="34" charset="-122"/>
                <a:cs typeface="BIZ UDPGothic" pitchFamily="34" charset="-120"/>
              </a:rPr>
              <a:t>PART 1 ／ 5</a:t>
            </a:r>
            <a:endParaRPr lang="en-US" sz="1600" dirty="0"/>
          </a:p>
        </p:txBody>
      </p:sp>
      <p:sp>
        <p:nvSpPr>
          <p:cNvPr id="5" name="Text 2"/>
          <p:cNvSpPr/>
          <p:nvPr/>
        </p:nvSpPr>
        <p:spPr>
          <a:xfrm>
            <a:off x="812800" y="1264841"/>
            <a:ext cx="7521575" cy="1549400"/>
          </a:xfrm>
          <a:prstGeom prst="rect">
            <a:avLst/>
          </a:prstGeom>
          <a:noFill/>
          <a:ln/>
        </p:spPr>
        <p:txBody>
          <a:bodyPr wrap="square" lIns="0" tIns="0" rIns="0" bIns="0" rtlCol="0" anchor="t">
            <a:normAutofit/>
          </a:bodyPr>
          <a:lstStyle/>
          <a:p>
            <a:pPr algn="l" indent="0" marL="0">
              <a:lnSpc>
                <a:spcPts val="6000"/>
              </a:lnSpc>
              <a:buNone/>
            </a:pPr>
            <a:r>
              <a:rPr lang="en-US" sz="4800" b="1" dirty="0">
                <a:solidFill>
                  <a:srgbClr val="F4F7FC"/>
                </a:solidFill>
                <a:latin typeface="Zen Maru Gothic" pitchFamily="34" charset="0"/>
                <a:ea typeface="Zen Maru Gothic" pitchFamily="34" charset="-122"/>
                <a:cs typeface="Zen Maru Gothic" pitchFamily="34" charset="-120"/>
              </a:rPr>
              <a:t>まずは、</a:t>
            </a:r>
            <a:r>
              <a:rPr lang="en-US" sz="4800" b="1" dirty="0">
                <a:solidFill>
                  <a:srgbClr val="FFC83D"/>
                </a:solidFill>
                <a:latin typeface="Zen Maru Gothic" pitchFamily="34" charset="0"/>
                <a:ea typeface="Zen Maru Gothic" pitchFamily="34" charset="-122"/>
                <a:cs typeface="Zen Maru Gothic" pitchFamily="34" charset="-120"/>
              </a:rPr>
              <a:t>ブログ</a:t>
            </a:r>
            <a:r>
              <a:rPr lang="en-US" sz="4800" b="1" dirty="0">
                <a:solidFill>
                  <a:srgbClr val="F4F7FC"/>
                </a:solidFill>
                <a:latin typeface="Zen Maru Gothic" pitchFamily="34" charset="0"/>
                <a:ea typeface="Zen Maru Gothic" pitchFamily="34" charset="-122"/>
                <a:cs typeface="Zen Maru Gothic" pitchFamily="34" charset="-120"/>
              </a:rPr>
              <a:t>の</a:t>
            </a:r>
            <a:endParaRPr lang="en-US" sz="4800" dirty="0"/>
          </a:p>
          <a:p>
            <a:pPr algn="l" indent="0" marL="0">
              <a:lnSpc>
                <a:spcPts val="6000"/>
              </a:lnSpc>
              <a:buNone/>
            </a:pPr>
            <a:r>
              <a:rPr lang="en-US" sz="4800" b="1" dirty="0">
                <a:solidFill>
                  <a:srgbClr val="F4F7FC"/>
                </a:solidFill>
                <a:latin typeface="Zen Maru Gothic" pitchFamily="34" charset="0"/>
                <a:ea typeface="Zen Maru Gothic" pitchFamily="34" charset="-122"/>
                <a:cs typeface="Zen Maru Gothic" pitchFamily="34" charset="-120"/>
              </a:rPr>
              <a:t>しくみ</a:t>
            </a:r>
            <a:endParaRPr lang="en-US" sz="4800" dirty="0"/>
          </a:p>
        </p:txBody>
      </p:sp>
      <p:sp>
        <p:nvSpPr>
          <p:cNvPr id="6" name="Text 3"/>
          <p:cNvSpPr/>
          <p:nvPr/>
        </p:nvSpPr>
        <p:spPr>
          <a:xfrm>
            <a:off x="812800" y="3017441"/>
            <a:ext cx="7521575" cy="391120"/>
          </a:xfrm>
          <a:prstGeom prst="rect">
            <a:avLst/>
          </a:prstGeom>
          <a:noFill/>
          <a:ln/>
        </p:spPr>
        <p:txBody>
          <a:bodyPr wrap="square" lIns="0" tIns="0" rIns="0" bIns="0" rtlCol="0" anchor="t">
            <a:normAutofit/>
          </a:bodyPr>
          <a:lstStyle/>
          <a:p>
            <a:pPr algn="l" indent="0" marL="0">
              <a:lnSpc>
                <a:spcPts val="2880"/>
              </a:lnSpc>
              <a:buNone/>
            </a:pPr>
            <a:r>
              <a:rPr lang="en-US" sz="1800" dirty="0">
                <a:solidFill>
                  <a:srgbClr val="A9B6D0"/>
                </a:solidFill>
                <a:latin typeface="BIZ UDPGothic" pitchFamily="34" charset="0"/>
                <a:ea typeface="BIZ UDPGothic" pitchFamily="34" charset="-122"/>
                <a:cs typeface="BIZ UDPGothic" pitchFamily="34" charset="-120"/>
              </a:rPr>
              <a:t>書いた文章が、どうやって公開されるのか。</a:t>
            </a:r>
            <a:endParaRPr lang="en-US" sz="1800" dirty="0"/>
          </a:p>
        </p:txBody>
      </p:sp>
      <p:sp>
        <p:nvSpPr>
          <p:cNvPr id="7" name="Shape 4"/>
          <p:cNvSpPr/>
          <p:nvPr/>
        </p:nvSpPr>
        <p:spPr>
          <a:xfrm>
            <a:off x="819150" y="5599509"/>
            <a:ext cx="2019300" cy="439341"/>
          </a:xfrm>
          <a:prstGeom prst="roundRect">
            <a:avLst>
              <a:gd name="adj" fmla="val 50000"/>
            </a:avLst>
          </a:prstGeom>
          <a:solidFill>
            <a:srgbClr val="FFC83D"/>
          </a:solidFill>
          <a:ln w="12700">
            <a:solidFill>
              <a:srgbClr val="FFC83D"/>
            </a:solidFill>
            <a:prstDash val="solid"/>
          </a:ln>
        </p:spPr>
      </p:sp>
      <p:sp>
        <p:nvSpPr>
          <p:cNvPr id="8" name="Text 5"/>
          <p:cNvSpPr/>
          <p:nvPr/>
        </p:nvSpPr>
        <p:spPr>
          <a:xfrm>
            <a:off x="847725" y="5694759"/>
            <a:ext cx="196215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6233B"/>
                </a:solidFill>
                <a:latin typeface="BIZ UDPGothic" pitchFamily="34" charset="0"/>
                <a:ea typeface="BIZ UDPGothic" pitchFamily="34" charset="-122"/>
                <a:cs typeface="BIZ UDPGothic" pitchFamily="34" charset="-120"/>
              </a:rPr>
              <a:t>1 ブログのしくみ</a:t>
            </a:r>
            <a:endParaRPr lang="en-US" sz="1400" dirty="0"/>
          </a:p>
        </p:txBody>
      </p:sp>
      <p:sp>
        <p:nvSpPr>
          <p:cNvPr id="9" name="Shape 6"/>
          <p:cNvSpPr/>
          <p:nvPr/>
        </p:nvSpPr>
        <p:spPr>
          <a:xfrm>
            <a:off x="2952750" y="5599509"/>
            <a:ext cx="2019300" cy="439341"/>
          </a:xfrm>
          <a:prstGeom prst="roundRect">
            <a:avLst>
              <a:gd name="adj" fmla="val 50000"/>
            </a:avLst>
          </a:prstGeom>
          <a:noFill/>
          <a:ln w="12700">
            <a:solidFill>
              <a:srgbClr val="34466B"/>
            </a:solidFill>
            <a:prstDash val="solid"/>
          </a:ln>
        </p:spPr>
      </p:sp>
      <p:sp>
        <p:nvSpPr>
          <p:cNvPr id="10" name="Text 7"/>
          <p:cNvSpPr/>
          <p:nvPr/>
        </p:nvSpPr>
        <p:spPr>
          <a:xfrm>
            <a:off x="2981325" y="5694759"/>
            <a:ext cx="196215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A9B6D0"/>
                </a:solidFill>
                <a:latin typeface="BIZ UDPGothic" pitchFamily="34" charset="0"/>
                <a:ea typeface="BIZ UDPGothic" pitchFamily="34" charset="-122"/>
                <a:cs typeface="BIZ UDPGothic" pitchFamily="34" charset="-120"/>
              </a:rPr>
              <a:t>2 AIのしくみ</a:t>
            </a:r>
            <a:endParaRPr lang="en-US" sz="1400" dirty="0"/>
          </a:p>
        </p:txBody>
      </p:sp>
      <p:sp>
        <p:nvSpPr>
          <p:cNvPr id="11" name="Shape 8"/>
          <p:cNvSpPr/>
          <p:nvPr/>
        </p:nvSpPr>
        <p:spPr>
          <a:xfrm>
            <a:off x="5086350" y="5599509"/>
            <a:ext cx="2019300" cy="439341"/>
          </a:xfrm>
          <a:prstGeom prst="roundRect">
            <a:avLst>
              <a:gd name="adj" fmla="val 50000"/>
            </a:avLst>
          </a:prstGeom>
          <a:noFill/>
          <a:ln w="12700">
            <a:solidFill>
              <a:srgbClr val="34466B"/>
            </a:solidFill>
            <a:prstDash val="solid"/>
          </a:ln>
        </p:spPr>
      </p:sp>
      <p:sp>
        <p:nvSpPr>
          <p:cNvPr id="12" name="Text 9"/>
          <p:cNvSpPr/>
          <p:nvPr/>
        </p:nvSpPr>
        <p:spPr>
          <a:xfrm>
            <a:off x="5114925" y="5694759"/>
            <a:ext cx="196215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A9B6D0"/>
                </a:solidFill>
                <a:latin typeface="BIZ UDPGothic" pitchFamily="34" charset="0"/>
                <a:ea typeface="BIZ UDPGothic" pitchFamily="34" charset="-122"/>
                <a:cs typeface="BIZ UDPGothic" pitchFamily="34" charset="-120"/>
              </a:rPr>
              <a:t>3 スキル</a:t>
            </a:r>
            <a:endParaRPr lang="en-US" sz="1400" dirty="0"/>
          </a:p>
        </p:txBody>
      </p:sp>
      <p:sp>
        <p:nvSpPr>
          <p:cNvPr id="13" name="Shape 10"/>
          <p:cNvSpPr/>
          <p:nvPr/>
        </p:nvSpPr>
        <p:spPr>
          <a:xfrm>
            <a:off x="7219950" y="5599509"/>
            <a:ext cx="2019300" cy="439341"/>
          </a:xfrm>
          <a:prstGeom prst="roundRect">
            <a:avLst>
              <a:gd name="adj" fmla="val 50000"/>
            </a:avLst>
          </a:prstGeom>
          <a:noFill/>
          <a:ln w="12700">
            <a:solidFill>
              <a:srgbClr val="34466B"/>
            </a:solidFill>
            <a:prstDash val="solid"/>
          </a:ln>
        </p:spPr>
      </p:sp>
      <p:sp>
        <p:nvSpPr>
          <p:cNvPr id="14" name="Text 11"/>
          <p:cNvSpPr/>
          <p:nvPr/>
        </p:nvSpPr>
        <p:spPr>
          <a:xfrm>
            <a:off x="7248525" y="5694759"/>
            <a:ext cx="196215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A9B6D0"/>
                </a:solidFill>
                <a:latin typeface="BIZ UDPGothic" pitchFamily="34" charset="0"/>
                <a:ea typeface="BIZ UDPGothic" pitchFamily="34" charset="-122"/>
                <a:cs typeface="BIZ UDPGothic" pitchFamily="34" charset="-120"/>
              </a:rPr>
              <a:t>4 サブエージェント</a:t>
            </a:r>
            <a:endParaRPr lang="en-US" sz="1400" dirty="0"/>
          </a:p>
        </p:txBody>
      </p:sp>
      <p:sp>
        <p:nvSpPr>
          <p:cNvPr id="15" name="Shape 12"/>
          <p:cNvSpPr/>
          <p:nvPr/>
        </p:nvSpPr>
        <p:spPr>
          <a:xfrm>
            <a:off x="9353550" y="5599509"/>
            <a:ext cx="2019300" cy="439341"/>
          </a:xfrm>
          <a:prstGeom prst="roundRect">
            <a:avLst>
              <a:gd name="adj" fmla="val 50000"/>
            </a:avLst>
          </a:prstGeom>
          <a:noFill/>
          <a:ln w="12700">
            <a:solidFill>
              <a:srgbClr val="34466B"/>
            </a:solidFill>
            <a:prstDash val="solid"/>
          </a:ln>
        </p:spPr>
      </p:sp>
      <p:sp>
        <p:nvSpPr>
          <p:cNvPr id="16" name="Text 13"/>
          <p:cNvSpPr/>
          <p:nvPr/>
        </p:nvSpPr>
        <p:spPr>
          <a:xfrm>
            <a:off x="9382125" y="5694759"/>
            <a:ext cx="196215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A9B6D0"/>
                </a:solidFill>
                <a:latin typeface="BIZ UDPGothic" pitchFamily="34" charset="0"/>
                <a:ea typeface="BIZ UDPGothic" pitchFamily="34" charset="-122"/>
                <a:cs typeface="BIZ UDPGothic" pitchFamily="34" charset="-120"/>
              </a:rPr>
              <a:t>5 人とAI</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1 ／ ブログのしくみ</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全体像：人がやるのは2つだけ</a:t>
            </a:r>
            <a:endParaRPr lang="en-US" sz="3200" dirty="0"/>
          </a:p>
        </p:txBody>
      </p:sp>
      <p:sp>
        <p:nvSpPr>
          <p:cNvPr id="4" name="Shape 2"/>
          <p:cNvSpPr/>
          <p:nvPr/>
        </p:nvSpPr>
        <p:spPr>
          <a:xfrm>
            <a:off x="812800" y="1894780"/>
            <a:ext cx="2184400" cy="1285081"/>
          </a:xfrm>
          <a:prstGeom prst="roundRect">
            <a:avLst>
              <a:gd name="adj" fmla="val 15812"/>
            </a:avLst>
          </a:prstGeom>
          <a:solidFill>
            <a:srgbClr val="2F62E6"/>
          </a:solidFill>
          <a:ln/>
        </p:spPr>
      </p:sp>
      <p:sp>
        <p:nvSpPr>
          <p:cNvPr id="5" name="Text 3"/>
          <p:cNvSpPr/>
          <p:nvPr/>
        </p:nvSpPr>
        <p:spPr>
          <a:xfrm>
            <a:off x="884682" y="2174180"/>
            <a:ext cx="2040636" cy="751681"/>
          </a:xfrm>
          <a:prstGeom prst="rect">
            <a:avLst/>
          </a:prstGeom>
          <a:noFill/>
          <a:ln/>
        </p:spPr>
        <p:txBody>
          <a:bodyPr wrap="square" lIns="0" tIns="0" rIns="0" bIns="0" rtlCol="0" anchor="t">
            <a:normAutofit/>
          </a:bodyPr>
          <a:lstStyle/>
          <a:p>
            <a:pPr algn="ctr" indent="0" marL="0">
              <a:lnSpc>
                <a:spcPts val="2860"/>
              </a:lnSpc>
              <a:buNone/>
            </a:pPr>
            <a:r>
              <a:rPr lang="en-US" sz="2200" b="1" dirty="0">
                <a:solidFill>
                  <a:srgbClr val="FFFFFF"/>
                </a:solidFill>
                <a:latin typeface="Zen Maru Gothic" pitchFamily="34" charset="0"/>
                <a:ea typeface="Zen Maru Gothic" pitchFamily="34" charset="-122"/>
                <a:cs typeface="Zen Maru Gothic" pitchFamily="34" charset="-120"/>
              </a:rPr>
              <a:t>書く</a:t>
            </a:r>
            <a:endParaRPr lang="en-US" sz="2200" dirty="0"/>
          </a:p>
        </p:txBody>
      </p:sp>
      <p:pic>
        <p:nvPicPr>
          <p:cNvPr id="6" name="Image 0" descr="arrow-right">    </p:cNvPr>
          <p:cNvPicPr>
            <a:picLocks noChangeAspect="1"/>
          </p:cNvPicPr>
          <p:nvPr/>
        </p:nvPicPr>
        <p:blipFill>
          <a:blip r:embed="rId1"/>
          <a:srcRect l="0" r="0" t="0" b="0"/>
          <a:stretch/>
        </p:blipFill>
        <p:spPr>
          <a:xfrm>
            <a:off x="3124200" y="2435721"/>
            <a:ext cx="355600" cy="203200"/>
          </a:xfrm>
          <a:prstGeom prst="rect">
            <a:avLst/>
          </a:prstGeom>
        </p:spPr>
      </p:pic>
      <p:sp>
        <p:nvSpPr>
          <p:cNvPr id="7" name="Shape 4"/>
          <p:cNvSpPr/>
          <p:nvPr/>
        </p:nvSpPr>
        <p:spPr>
          <a:xfrm>
            <a:off x="3606800" y="1894780"/>
            <a:ext cx="2184400" cy="1285081"/>
          </a:xfrm>
          <a:prstGeom prst="roundRect">
            <a:avLst>
              <a:gd name="adj" fmla="val 15812"/>
            </a:avLst>
          </a:prstGeom>
          <a:solidFill>
            <a:srgbClr val="2F62E6"/>
          </a:solidFill>
          <a:ln/>
        </p:spPr>
      </p:sp>
      <p:sp>
        <p:nvSpPr>
          <p:cNvPr id="8" name="Text 5"/>
          <p:cNvSpPr/>
          <p:nvPr/>
        </p:nvSpPr>
        <p:spPr>
          <a:xfrm>
            <a:off x="3678682" y="2174180"/>
            <a:ext cx="2040636" cy="751681"/>
          </a:xfrm>
          <a:prstGeom prst="rect">
            <a:avLst/>
          </a:prstGeom>
          <a:noFill/>
          <a:ln/>
        </p:spPr>
        <p:txBody>
          <a:bodyPr wrap="square" lIns="0" tIns="0" rIns="0" bIns="0" rtlCol="0" anchor="t">
            <a:normAutofit/>
          </a:bodyPr>
          <a:lstStyle/>
          <a:p>
            <a:pPr algn="ctr" indent="0" marL="0">
              <a:lnSpc>
                <a:spcPts val="2860"/>
              </a:lnSpc>
              <a:buNone/>
            </a:pPr>
            <a:r>
              <a:rPr lang="en-US" sz="2200" b="1" dirty="0">
                <a:solidFill>
                  <a:srgbClr val="FFFFFF"/>
                </a:solidFill>
                <a:latin typeface="Zen Maru Gothic" pitchFamily="34" charset="0"/>
                <a:ea typeface="Zen Maru Gothic" pitchFamily="34" charset="-122"/>
                <a:cs typeface="Zen Maru Gothic" pitchFamily="34" charset="-120"/>
              </a:rPr>
              <a:t>送る</a:t>
            </a:r>
            <a:endParaRPr lang="en-US" sz="2200" dirty="0"/>
          </a:p>
        </p:txBody>
      </p:sp>
      <p:pic>
        <p:nvPicPr>
          <p:cNvPr id="9" name="Image 1" descr="arrow-right">    </p:cNvPr>
          <p:cNvPicPr>
            <a:picLocks noChangeAspect="1"/>
          </p:cNvPicPr>
          <p:nvPr/>
        </p:nvPicPr>
        <p:blipFill>
          <a:blip r:embed="rId2"/>
          <a:srcRect l="0" r="0" t="0" b="0"/>
          <a:stretch/>
        </p:blipFill>
        <p:spPr>
          <a:xfrm>
            <a:off x="5918200" y="2435721"/>
            <a:ext cx="355600" cy="203200"/>
          </a:xfrm>
          <a:prstGeom prst="rect">
            <a:avLst/>
          </a:prstGeom>
        </p:spPr>
      </p:pic>
      <p:sp>
        <p:nvSpPr>
          <p:cNvPr id="10" name="Shape 6"/>
          <p:cNvSpPr/>
          <p:nvPr/>
        </p:nvSpPr>
        <p:spPr>
          <a:xfrm>
            <a:off x="6400800" y="1894780"/>
            <a:ext cx="2184400" cy="1285081"/>
          </a:xfrm>
          <a:prstGeom prst="roundRect">
            <a:avLst>
              <a:gd name="adj" fmla="val 15812"/>
            </a:avLst>
          </a:prstGeom>
          <a:solidFill>
            <a:srgbClr val="FFC83D"/>
          </a:solidFill>
          <a:ln/>
        </p:spPr>
      </p:sp>
      <p:sp>
        <p:nvSpPr>
          <p:cNvPr id="11" name="Text 7"/>
          <p:cNvSpPr/>
          <p:nvPr/>
        </p:nvSpPr>
        <p:spPr>
          <a:xfrm>
            <a:off x="6472682" y="2174180"/>
            <a:ext cx="2040636" cy="751681"/>
          </a:xfrm>
          <a:prstGeom prst="rect">
            <a:avLst/>
          </a:prstGeom>
          <a:noFill/>
          <a:ln/>
        </p:spPr>
        <p:txBody>
          <a:bodyPr wrap="square" lIns="0" tIns="0" rIns="0" bIns="0" rtlCol="0" anchor="t">
            <a:normAutofit/>
          </a:bodyPr>
          <a:lstStyle/>
          <a:p>
            <a:pPr algn="ctr" indent="0" marL="0">
              <a:lnSpc>
                <a:spcPts val="2860"/>
              </a:lnSpc>
              <a:buNone/>
            </a:pPr>
            <a:r>
              <a:rPr lang="en-US" sz="2200" b="1" dirty="0">
                <a:solidFill>
                  <a:srgbClr val="16233B"/>
                </a:solidFill>
                <a:latin typeface="Zen Maru Gothic" pitchFamily="34" charset="0"/>
                <a:ea typeface="Zen Maru Gothic" pitchFamily="34" charset="-122"/>
                <a:cs typeface="Zen Maru Gothic" pitchFamily="34" charset="-120"/>
              </a:rPr>
              <a:t>自動で</a:t>
            </a:r>
            <a:endParaRPr lang="en-US" sz="2200" dirty="0"/>
          </a:p>
          <a:p>
            <a:pPr algn="ctr" indent="0" marL="0">
              <a:lnSpc>
                <a:spcPts val="2860"/>
              </a:lnSpc>
              <a:buNone/>
            </a:pPr>
            <a:r>
              <a:rPr lang="en-US" sz="2200" b="1" dirty="0">
                <a:solidFill>
                  <a:srgbClr val="16233B"/>
                </a:solidFill>
                <a:latin typeface="Zen Maru Gothic" pitchFamily="34" charset="0"/>
                <a:ea typeface="Zen Maru Gothic" pitchFamily="34" charset="-122"/>
                <a:cs typeface="Zen Maru Gothic" pitchFamily="34" charset="-120"/>
              </a:rPr>
              <a:t>組み立てる</a:t>
            </a:r>
            <a:endParaRPr lang="en-US" sz="2200" dirty="0"/>
          </a:p>
        </p:txBody>
      </p:sp>
      <p:pic>
        <p:nvPicPr>
          <p:cNvPr id="12" name="Image 2" descr="arrow-right">    </p:cNvPr>
          <p:cNvPicPr>
            <a:picLocks noChangeAspect="1"/>
          </p:cNvPicPr>
          <p:nvPr/>
        </p:nvPicPr>
        <p:blipFill>
          <a:blip r:embed="rId3"/>
          <a:srcRect l="0" r="0" t="0" b="0"/>
          <a:stretch/>
        </p:blipFill>
        <p:spPr>
          <a:xfrm>
            <a:off x="8712200" y="2435721"/>
            <a:ext cx="355600" cy="203200"/>
          </a:xfrm>
          <a:prstGeom prst="rect">
            <a:avLst/>
          </a:prstGeom>
        </p:spPr>
      </p:pic>
      <p:sp>
        <p:nvSpPr>
          <p:cNvPr id="13" name="Shape 8"/>
          <p:cNvSpPr/>
          <p:nvPr/>
        </p:nvSpPr>
        <p:spPr>
          <a:xfrm>
            <a:off x="9194800" y="1894780"/>
            <a:ext cx="2184400" cy="1285081"/>
          </a:xfrm>
          <a:prstGeom prst="roundRect">
            <a:avLst>
              <a:gd name="adj" fmla="val 15812"/>
            </a:avLst>
          </a:prstGeom>
          <a:solidFill>
            <a:srgbClr val="FFC83D"/>
          </a:solidFill>
          <a:ln/>
        </p:spPr>
      </p:sp>
      <p:sp>
        <p:nvSpPr>
          <p:cNvPr id="14" name="Text 9"/>
          <p:cNvSpPr/>
          <p:nvPr/>
        </p:nvSpPr>
        <p:spPr>
          <a:xfrm>
            <a:off x="9266682" y="2174180"/>
            <a:ext cx="2040636" cy="751681"/>
          </a:xfrm>
          <a:prstGeom prst="rect">
            <a:avLst/>
          </a:prstGeom>
          <a:noFill/>
          <a:ln/>
        </p:spPr>
        <p:txBody>
          <a:bodyPr wrap="square" lIns="0" tIns="0" rIns="0" bIns="0" rtlCol="0" anchor="t">
            <a:normAutofit/>
          </a:bodyPr>
          <a:lstStyle/>
          <a:p>
            <a:pPr algn="ctr" indent="0" marL="0">
              <a:lnSpc>
                <a:spcPts val="2860"/>
              </a:lnSpc>
              <a:buNone/>
            </a:pPr>
            <a:r>
              <a:rPr lang="en-US" sz="2200" b="1" dirty="0">
                <a:solidFill>
                  <a:srgbClr val="16233B"/>
                </a:solidFill>
                <a:latin typeface="Zen Maru Gothic" pitchFamily="34" charset="0"/>
                <a:ea typeface="Zen Maru Gothic" pitchFamily="34" charset="-122"/>
                <a:cs typeface="Zen Maru Gothic" pitchFamily="34" charset="-120"/>
              </a:rPr>
              <a:t>自動で</a:t>
            </a:r>
            <a:endParaRPr lang="en-US" sz="2200" dirty="0"/>
          </a:p>
          <a:p>
            <a:pPr algn="ctr" indent="0" marL="0">
              <a:lnSpc>
                <a:spcPts val="2860"/>
              </a:lnSpc>
              <a:buNone/>
            </a:pPr>
            <a:r>
              <a:rPr lang="en-US" sz="2200" b="1" dirty="0">
                <a:solidFill>
                  <a:srgbClr val="16233B"/>
                </a:solidFill>
                <a:latin typeface="Zen Maru Gothic" pitchFamily="34" charset="0"/>
                <a:ea typeface="Zen Maru Gothic" pitchFamily="34" charset="-122"/>
                <a:cs typeface="Zen Maru Gothic" pitchFamily="34" charset="-120"/>
              </a:rPr>
              <a:t>公開される</a:t>
            </a:r>
            <a:endParaRPr lang="en-US" sz="2200" dirty="0"/>
          </a:p>
        </p:txBody>
      </p:sp>
      <p:sp>
        <p:nvSpPr>
          <p:cNvPr id="15" name="Text 10"/>
          <p:cNvSpPr/>
          <p:nvPr/>
        </p:nvSpPr>
        <p:spPr>
          <a:xfrm>
            <a:off x="812800" y="3408462"/>
            <a:ext cx="5376291" cy="350441"/>
          </a:xfrm>
          <a:prstGeom prst="rect">
            <a:avLst/>
          </a:prstGeom>
          <a:noFill/>
          <a:ln/>
        </p:spPr>
        <p:txBody>
          <a:bodyPr wrap="square" lIns="0" tIns="0" rIns="0" bIns="0" rtlCol="0" anchor="t">
            <a:normAutofit/>
          </a:bodyPr>
          <a:lstStyle/>
          <a:p>
            <a:pPr algn="l" indent="0" marL="0">
              <a:lnSpc>
                <a:spcPts val="2560"/>
              </a:lnSpc>
              <a:buNone/>
            </a:pPr>
            <a:r>
              <a:rPr lang="en-US" sz="1600" b="1" dirty="0">
                <a:solidFill>
                  <a:srgbClr val="2350C9"/>
                </a:solidFill>
                <a:latin typeface="BIZ UDPGothic" pitchFamily="34" charset="0"/>
                <a:ea typeface="BIZ UDPGothic" pitchFamily="34" charset="-122"/>
                <a:cs typeface="BIZ UDPGothic" pitchFamily="34" charset="-120"/>
              </a:rPr>
              <a:t>青</a:t>
            </a:r>
            <a:r>
              <a:rPr lang="en-US" sz="1600" dirty="0">
                <a:solidFill>
                  <a:srgbClr val="2350C9"/>
                </a:solidFill>
                <a:latin typeface="BIZ UDPGothic" pitchFamily="34" charset="0"/>
                <a:ea typeface="BIZ UDPGothic" pitchFamily="34" charset="-122"/>
                <a:cs typeface="BIZ UDPGothic" pitchFamily="34" charset="-120"/>
              </a:rPr>
              <a:t>：人がやる</a:t>
            </a:r>
            <a:endParaRPr lang="en-US" sz="1600" dirty="0"/>
          </a:p>
        </p:txBody>
      </p:sp>
      <p:sp>
        <p:nvSpPr>
          <p:cNvPr id="16" name="Text 11"/>
          <p:cNvSpPr/>
          <p:nvPr/>
        </p:nvSpPr>
        <p:spPr>
          <a:xfrm>
            <a:off x="6159500" y="3408462"/>
            <a:ext cx="5376291" cy="350441"/>
          </a:xfrm>
          <a:prstGeom prst="rect">
            <a:avLst/>
          </a:prstGeom>
          <a:noFill/>
          <a:ln/>
        </p:spPr>
        <p:txBody>
          <a:bodyPr wrap="square" lIns="0" tIns="0" rIns="0" bIns="0" rtlCol="0" anchor="t">
            <a:normAutofit/>
          </a:bodyPr>
          <a:lstStyle/>
          <a:p>
            <a:pPr algn="l" indent="0" marL="0">
              <a:lnSpc>
                <a:spcPts val="2560"/>
              </a:lnSpc>
              <a:buNone/>
            </a:pPr>
            <a:r>
              <a:rPr lang="en-US" sz="1600" b="1" dirty="0">
                <a:solidFill>
                  <a:srgbClr val="16233B"/>
                </a:solidFill>
                <a:latin typeface="BIZ UDPGothic" pitchFamily="34" charset="0"/>
                <a:ea typeface="BIZ UDPGothic" pitchFamily="34" charset="-122"/>
                <a:cs typeface="BIZ UDPGothic" pitchFamily="34" charset="-120"/>
              </a:rPr>
              <a:t>黄色</a:t>
            </a:r>
            <a:r>
              <a:rPr lang="en-US" sz="1600" dirty="0">
                <a:solidFill>
                  <a:srgbClr val="16233B"/>
                </a:solidFill>
                <a:latin typeface="BIZ UDPGothic" pitchFamily="34" charset="0"/>
                <a:ea typeface="BIZ UDPGothic" pitchFamily="34" charset="-122"/>
                <a:cs typeface="BIZ UDPGothic" pitchFamily="34" charset="-120"/>
              </a:rPr>
              <a:t>：ロボットがやる</a:t>
            </a:r>
            <a:endParaRPr lang="en-US" sz="1600" dirty="0"/>
          </a:p>
        </p:txBody>
      </p:sp>
      <p:sp>
        <p:nvSpPr>
          <p:cNvPr id="17" name="Text 12"/>
          <p:cNvSpPr/>
          <p:nvPr/>
        </p:nvSpPr>
        <p:spPr>
          <a:xfrm>
            <a:off x="812800" y="4063702"/>
            <a:ext cx="10883392" cy="350441"/>
          </a:xfrm>
          <a:prstGeom prst="rect">
            <a:avLst/>
          </a:prstGeom>
          <a:noFill/>
          <a:ln/>
        </p:spPr>
        <p:txBody>
          <a:bodyPr wrap="square" lIns="0" tIns="0" rIns="0" bIns="0" rtlCol="0" anchor="t">
            <a:normAutofit/>
          </a:bodyPr>
          <a:lstStyle/>
          <a:p>
            <a:pPr algn="l" indent="0" marL="0">
              <a:lnSpc>
                <a:spcPts val="2560"/>
              </a:lnSpc>
              <a:buNone/>
            </a:pPr>
            <a:r>
              <a:rPr lang="en-US" sz="1600" dirty="0">
                <a:solidFill>
                  <a:srgbClr val="56647E"/>
                </a:solidFill>
                <a:latin typeface="BIZ UDPGothic" pitchFamily="34" charset="0"/>
                <a:ea typeface="BIZ UDPGothic" pitchFamily="34" charset="-122"/>
                <a:cs typeface="BIZ UDPGothic" pitchFamily="34" charset="-120"/>
              </a:rPr>
              <a:t>記事を1本足すたびに、この流れが自動で最初から最後まで動きます。</a:t>
            </a:r>
            <a:endParaRPr lang="en-US" sz="1600" dirty="0"/>
          </a:p>
        </p:txBody>
      </p:sp>
      <p:sp>
        <p:nvSpPr>
          <p:cNvPr id="18" name="Text 1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19" name="Text 14"/>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04 / 40</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1 ／ ブログのしくみ</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記事が読者に届くまでの5つの場所</a:t>
            </a:r>
            <a:endParaRPr lang="en-US" sz="3200" dirty="0"/>
          </a:p>
        </p:txBody>
      </p:sp>
      <p:sp>
        <p:nvSpPr>
          <p:cNvPr id="4" name="Shape 2"/>
          <p:cNvSpPr/>
          <p:nvPr/>
        </p:nvSpPr>
        <p:spPr>
          <a:xfrm>
            <a:off x="819150" y="1901130"/>
            <a:ext cx="1673820" cy="3934520"/>
          </a:xfrm>
          <a:prstGeom prst="roundRect">
            <a:avLst>
              <a:gd name="adj" fmla="val 10243"/>
            </a:avLst>
          </a:prstGeom>
          <a:solidFill>
            <a:srgbClr val="FBFCFE"/>
          </a:solidFill>
          <a:ln w="12700">
            <a:solidFill>
              <a:srgbClr val="D3DBEA"/>
            </a:solidFill>
            <a:prstDash val="solid"/>
          </a:ln>
        </p:spPr>
      </p:sp>
      <p:sp>
        <p:nvSpPr>
          <p:cNvPr id="5" name="Shape 3"/>
          <p:cNvSpPr/>
          <p:nvPr/>
        </p:nvSpPr>
        <p:spPr>
          <a:xfrm>
            <a:off x="977900" y="2085280"/>
            <a:ext cx="833735" cy="307280"/>
          </a:xfrm>
          <a:prstGeom prst="roundRect">
            <a:avLst>
              <a:gd name="adj" fmla="val 50000"/>
            </a:avLst>
          </a:prstGeom>
          <a:solidFill>
            <a:srgbClr val="2F62E6"/>
          </a:solidFill>
          <a:ln/>
        </p:spPr>
      </p:sp>
      <p:sp>
        <p:nvSpPr>
          <p:cNvPr id="6" name="Text 4"/>
          <p:cNvSpPr/>
          <p:nvPr/>
        </p:nvSpPr>
        <p:spPr>
          <a:xfrm>
            <a:off x="1130300" y="2123380"/>
            <a:ext cx="579735"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BIZ UDPGothic" pitchFamily="34" charset="0"/>
                <a:ea typeface="BIZ UDPGothic" pitchFamily="34" charset="-122"/>
                <a:cs typeface="BIZ UDPGothic" pitchFamily="34" charset="-120"/>
              </a:rPr>
              <a:t>① 書く</a:t>
            </a:r>
            <a:endParaRPr lang="en-US" sz="1300" dirty="0"/>
          </a:p>
        </p:txBody>
      </p:sp>
      <p:sp>
        <p:nvSpPr>
          <p:cNvPr id="7" name="Shape 5"/>
          <p:cNvSpPr/>
          <p:nvPr/>
        </p:nvSpPr>
        <p:spPr>
          <a:xfrm>
            <a:off x="977900" y="2494161"/>
            <a:ext cx="609600" cy="609600"/>
          </a:xfrm>
          <a:prstGeom prst="roundRect">
            <a:avLst>
              <a:gd name="adj" fmla="val 25000"/>
            </a:avLst>
          </a:prstGeom>
          <a:solidFill>
            <a:srgbClr val="2F62E6"/>
          </a:solidFill>
          <a:ln/>
        </p:spPr>
      </p:sp>
      <p:pic>
        <p:nvPicPr>
          <p:cNvPr id="8" name="Image 0" descr="Code">    </p:cNvPr>
          <p:cNvPicPr>
            <a:picLocks noChangeAspect="1"/>
          </p:cNvPicPr>
          <p:nvPr/>
        </p:nvPicPr>
        <p:blipFill>
          <a:blip r:embed="rId1"/>
          <a:srcRect l="0" r="0" t="0" b="0"/>
          <a:stretch/>
        </p:blipFill>
        <p:spPr>
          <a:xfrm>
            <a:off x="1104900" y="2621161"/>
            <a:ext cx="355600" cy="355600"/>
          </a:xfrm>
          <a:prstGeom prst="rect">
            <a:avLst/>
          </a:prstGeom>
        </p:spPr>
      </p:pic>
      <p:sp>
        <p:nvSpPr>
          <p:cNvPr id="9" name="Text 6"/>
          <p:cNvSpPr/>
          <p:nvPr/>
        </p:nvSpPr>
        <p:spPr>
          <a:xfrm>
            <a:off x="977900" y="3205361"/>
            <a:ext cx="1407120" cy="553641"/>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233B"/>
                </a:solidFill>
                <a:latin typeface="Zen Maru Gothic" pitchFamily="34" charset="0"/>
                <a:ea typeface="Zen Maru Gothic" pitchFamily="34" charset="-122"/>
                <a:cs typeface="Zen Maru Gothic" pitchFamily="34" charset="-120"/>
              </a:rPr>
              <a:t>自分の</a:t>
            </a:r>
            <a:endParaRPr lang="en-US" sz="1600" dirty="0"/>
          </a:p>
          <a:p>
            <a:pPr algn="l" indent="0" marL="0">
              <a:lnSpc>
                <a:spcPts val="2080"/>
              </a:lnSpc>
              <a:buNone/>
            </a:pPr>
            <a:r>
              <a:rPr lang="en-US" sz="1600" b="1" dirty="0">
                <a:solidFill>
                  <a:srgbClr val="16233B"/>
                </a:solidFill>
                <a:latin typeface="Zen Maru Gothic" pitchFamily="34" charset="0"/>
                <a:ea typeface="Zen Maru Gothic" pitchFamily="34" charset="-122"/>
                <a:cs typeface="Zen Maru Gothic" pitchFamily="34" charset="-120"/>
              </a:rPr>
              <a:t>パソコン</a:t>
            </a:r>
            <a:endParaRPr lang="en-US" sz="1600" dirty="0"/>
          </a:p>
        </p:txBody>
      </p:sp>
      <p:sp>
        <p:nvSpPr>
          <p:cNvPr id="10" name="Text 7"/>
          <p:cNvSpPr/>
          <p:nvPr/>
        </p:nvSpPr>
        <p:spPr>
          <a:xfrm>
            <a:off x="977900" y="3835202"/>
            <a:ext cx="1407120" cy="1048941"/>
          </a:xfrm>
          <a:prstGeom prst="rect">
            <a:avLst/>
          </a:prstGeom>
          <a:noFill/>
          <a:ln/>
        </p:spPr>
        <p:txBody>
          <a:bodyPr wrap="square" lIns="0" tIns="0" rIns="0" bIns="0" rtlCol="0" anchor="t">
            <a:normAutofit/>
          </a:bodyPr>
          <a:lstStyle/>
          <a:p>
            <a:pPr algn="l" indent="0" marL="0">
              <a:lnSpc>
                <a:spcPts val="2015"/>
              </a:lnSpc>
              <a:buNone/>
            </a:pPr>
            <a:r>
              <a:rPr lang="en-US" sz="1300" dirty="0">
                <a:solidFill>
                  <a:srgbClr val="56647E"/>
                </a:solidFill>
                <a:latin typeface="BIZ UDPGothic" pitchFamily="34" charset="0"/>
                <a:ea typeface="BIZ UDPGothic" pitchFamily="34" charset="-122"/>
                <a:cs typeface="BIZ UDPGothic" pitchFamily="34" charset="-120"/>
              </a:rPr>
              <a:t>記事を Markdown という書き方で書く場所</a:t>
            </a:r>
            <a:endParaRPr lang="en-US" sz="1300" dirty="0"/>
          </a:p>
        </p:txBody>
      </p:sp>
      <p:pic>
        <p:nvPicPr>
          <p:cNvPr id="11" name="Image 1" descr="arrow-right">    </p:cNvPr>
          <p:cNvPicPr>
            <a:picLocks noChangeAspect="1"/>
          </p:cNvPicPr>
          <p:nvPr/>
        </p:nvPicPr>
        <p:blipFill>
          <a:blip r:embed="rId2"/>
          <a:srcRect l="0" r="0" t="0" b="0"/>
          <a:stretch/>
        </p:blipFill>
        <p:spPr>
          <a:xfrm>
            <a:off x="2588220" y="3766741"/>
            <a:ext cx="355600" cy="203200"/>
          </a:xfrm>
          <a:prstGeom prst="rect">
            <a:avLst/>
          </a:prstGeom>
        </p:spPr>
      </p:pic>
      <p:sp>
        <p:nvSpPr>
          <p:cNvPr id="12" name="Shape 8"/>
          <p:cNvSpPr/>
          <p:nvPr/>
        </p:nvSpPr>
        <p:spPr>
          <a:xfrm>
            <a:off x="3039070" y="1901130"/>
            <a:ext cx="1673920" cy="3934520"/>
          </a:xfrm>
          <a:prstGeom prst="roundRect">
            <a:avLst>
              <a:gd name="adj" fmla="val 10242"/>
            </a:avLst>
          </a:prstGeom>
          <a:solidFill>
            <a:srgbClr val="FBFCFE"/>
          </a:solidFill>
          <a:ln w="12700">
            <a:solidFill>
              <a:srgbClr val="D3DBEA"/>
            </a:solidFill>
            <a:prstDash val="solid"/>
          </a:ln>
        </p:spPr>
      </p:sp>
      <p:sp>
        <p:nvSpPr>
          <p:cNvPr id="13" name="Shape 9"/>
          <p:cNvSpPr/>
          <p:nvPr/>
        </p:nvSpPr>
        <p:spPr>
          <a:xfrm>
            <a:off x="3197820" y="2085280"/>
            <a:ext cx="851892" cy="307280"/>
          </a:xfrm>
          <a:prstGeom prst="roundRect">
            <a:avLst>
              <a:gd name="adj" fmla="val 50000"/>
            </a:avLst>
          </a:prstGeom>
          <a:solidFill>
            <a:srgbClr val="2F62E6"/>
          </a:solidFill>
          <a:ln/>
        </p:spPr>
      </p:sp>
      <p:sp>
        <p:nvSpPr>
          <p:cNvPr id="14" name="Text 10"/>
          <p:cNvSpPr/>
          <p:nvPr/>
        </p:nvSpPr>
        <p:spPr>
          <a:xfrm>
            <a:off x="3350220" y="2123380"/>
            <a:ext cx="59789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BIZ UDPGothic" pitchFamily="34" charset="0"/>
                <a:ea typeface="BIZ UDPGothic" pitchFamily="34" charset="-122"/>
                <a:cs typeface="BIZ UDPGothic" pitchFamily="34" charset="-120"/>
              </a:rPr>
              <a:t>② 送る</a:t>
            </a:r>
            <a:endParaRPr lang="en-US" sz="1300" dirty="0"/>
          </a:p>
        </p:txBody>
      </p:sp>
      <p:sp>
        <p:nvSpPr>
          <p:cNvPr id="15" name="Shape 11"/>
          <p:cNvSpPr/>
          <p:nvPr/>
        </p:nvSpPr>
        <p:spPr>
          <a:xfrm>
            <a:off x="3197820" y="2494161"/>
            <a:ext cx="609600" cy="609600"/>
          </a:xfrm>
          <a:prstGeom prst="roundRect">
            <a:avLst>
              <a:gd name="adj" fmla="val 25000"/>
            </a:avLst>
          </a:prstGeom>
          <a:solidFill>
            <a:srgbClr val="2F62E6"/>
          </a:solidFill>
          <a:ln/>
        </p:spPr>
      </p:sp>
      <p:pic>
        <p:nvPicPr>
          <p:cNvPr id="16" name="Image 2" descr="Database">    </p:cNvPr>
          <p:cNvPicPr>
            <a:picLocks noChangeAspect="1"/>
          </p:cNvPicPr>
          <p:nvPr/>
        </p:nvPicPr>
        <p:blipFill>
          <a:blip r:embed="rId3"/>
          <a:srcRect l="0" r="0" t="0" b="0"/>
          <a:stretch/>
        </p:blipFill>
        <p:spPr>
          <a:xfrm>
            <a:off x="3324820" y="2621161"/>
            <a:ext cx="355600" cy="355600"/>
          </a:xfrm>
          <a:prstGeom prst="rect">
            <a:avLst/>
          </a:prstGeom>
        </p:spPr>
      </p:pic>
      <p:sp>
        <p:nvSpPr>
          <p:cNvPr id="17" name="Text 12"/>
          <p:cNvSpPr/>
          <p:nvPr/>
        </p:nvSpPr>
        <p:spPr>
          <a:xfrm>
            <a:off x="3197820" y="3205361"/>
            <a:ext cx="1407220"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233B"/>
                </a:solidFill>
                <a:latin typeface="Zen Maru Gothic" pitchFamily="34" charset="0"/>
                <a:ea typeface="Zen Maru Gothic" pitchFamily="34" charset="-122"/>
                <a:cs typeface="Zen Maru Gothic" pitchFamily="34" charset="-120"/>
              </a:rPr>
              <a:t>GitHub</a:t>
            </a:r>
            <a:endParaRPr lang="en-US" sz="1600" dirty="0"/>
          </a:p>
        </p:txBody>
      </p:sp>
      <p:sp>
        <p:nvSpPr>
          <p:cNvPr id="18" name="Text 13"/>
          <p:cNvSpPr/>
          <p:nvPr/>
        </p:nvSpPr>
        <p:spPr>
          <a:xfrm>
            <a:off x="3197820" y="3571081"/>
            <a:ext cx="1407220" cy="793055"/>
          </a:xfrm>
          <a:prstGeom prst="rect">
            <a:avLst/>
          </a:prstGeom>
          <a:noFill/>
          <a:ln/>
        </p:spPr>
        <p:txBody>
          <a:bodyPr wrap="square" lIns="0" tIns="0" rIns="0" bIns="0" rtlCol="0" anchor="t">
            <a:normAutofit/>
          </a:bodyPr>
          <a:lstStyle/>
          <a:p>
            <a:pPr algn="l" indent="0" marL="0">
              <a:lnSpc>
                <a:spcPts val="2015"/>
              </a:lnSpc>
              <a:buNone/>
            </a:pPr>
            <a:r>
              <a:rPr lang="en-US" sz="1300" dirty="0">
                <a:solidFill>
                  <a:srgbClr val="56647E"/>
                </a:solidFill>
                <a:latin typeface="BIZ UDPGothic" pitchFamily="34" charset="0"/>
                <a:ea typeface="BIZ UDPGothic" pitchFamily="34" charset="-122"/>
                <a:cs typeface="BIZ UDPGothic" pitchFamily="34" charset="-120"/>
              </a:rPr>
              <a:t>ファイルと変更の歴史を預かる、ネット上の倉庫</a:t>
            </a:r>
            <a:endParaRPr lang="en-US" sz="1300" dirty="0"/>
          </a:p>
        </p:txBody>
      </p:sp>
      <p:pic>
        <p:nvPicPr>
          <p:cNvPr id="19" name="Image 3" descr="arrow-right">    </p:cNvPr>
          <p:cNvPicPr>
            <a:picLocks noChangeAspect="1"/>
          </p:cNvPicPr>
          <p:nvPr/>
        </p:nvPicPr>
        <p:blipFill>
          <a:blip r:embed="rId4"/>
          <a:srcRect l="0" r="0" t="0" b="0"/>
          <a:stretch/>
        </p:blipFill>
        <p:spPr>
          <a:xfrm>
            <a:off x="4808240" y="3766741"/>
            <a:ext cx="355600" cy="203200"/>
          </a:xfrm>
          <a:prstGeom prst="rect">
            <a:avLst/>
          </a:prstGeom>
        </p:spPr>
      </p:pic>
      <p:sp>
        <p:nvSpPr>
          <p:cNvPr id="20" name="Shape 14"/>
          <p:cNvSpPr/>
          <p:nvPr/>
        </p:nvSpPr>
        <p:spPr>
          <a:xfrm>
            <a:off x="5259090" y="1901130"/>
            <a:ext cx="1673820" cy="3934520"/>
          </a:xfrm>
          <a:prstGeom prst="roundRect">
            <a:avLst>
              <a:gd name="adj" fmla="val 10243"/>
            </a:avLst>
          </a:prstGeom>
          <a:solidFill>
            <a:srgbClr val="FBFCFE"/>
          </a:solidFill>
          <a:ln w="12700">
            <a:solidFill>
              <a:srgbClr val="D3DBEA"/>
            </a:solidFill>
            <a:prstDash val="solid"/>
          </a:ln>
        </p:spPr>
      </p:sp>
      <p:sp>
        <p:nvSpPr>
          <p:cNvPr id="21" name="Shape 15"/>
          <p:cNvSpPr/>
          <p:nvPr/>
        </p:nvSpPr>
        <p:spPr>
          <a:xfrm>
            <a:off x="5417840" y="2085280"/>
            <a:ext cx="1183779" cy="307280"/>
          </a:xfrm>
          <a:prstGeom prst="roundRect">
            <a:avLst>
              <a:gd name="adj" fmla="val 50000"/>
            </a:avLst>
          </a:prstGeom>
          <a:solidFill>
            <a:srgbClr val="FFC83D"/>
          </a:solidFill>
          <a:ln/>
        </p:spPr>
      </p:sp>
      <p:sp>
        <p:nvSpPr>
          <p:cNvPr id="22" name="Text 16"/>
          <p:cNvSpPr/>
          <p:nvPr/>
        </p:nvSpPr>
        <p:spPr>
          <a:xfrm>
            <a:off x="5570240" y="2123380"/>
            <a:ext cx="929779"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233B"/>
                </a:solidFill>
                <a:latin typeface="BIZ UDPGothic" pitchFamily="34" charset="0"/>
                <a:ea typeface="BIZ UDPGothic" pitchFamily="34" charset="-122"/>
                <a:cs typeface="BIZ UDPGothic" pitchFamily="34" charset="-120"/>
              </a:rPr>
              <a:t>③ 組み立て</a:t>
            </a:r>
            <a:endParaRPr lang="en-US" sz="1300" dirty="0"/>
          </a:p>
        </p:txBody>
      </p:sp>
      <p:sp>
        <p:nvSpPr>
          <p:cNvPr id="23" name="Shape 17"/>
          <p:cNvSpPr/>
          <p:nvPr/>
        </p:nvSpPr>
        <p:spPr>
          <a:xfrm>
            <a:off x="5417840" y="2494161"/>
            <a:ext cx="609600" cy="609600"/>
          </a:xfrm>
          <a:prstGeom prst="roundRect">
            <a:avLst>
              <a:gd name="adj" fmla="val 25000"/>
            </a:avLst>
          </a:prstGeom>
          <a:solidFill>
            <a:srgbClr val="2F62E6"/>
          </a:solidFill>
          <a:ln/>
        </p:spPr>
      </p:sp>
      <p:pic>
        <p:nvPicPr>
          <p:cNvPr id="24" name="Image 4" descr="Settings">    </p:cNvPr>
          <p:cNvPicPr>
            <a:picLocks noChangeAspect="1"/>
          </p:cNvPicPr>
          <p:nvPr/>
        </p:nvPicPr>
        <p:blipFill>
          <a:blip r:embed="rId5"/>
          <a:srcRect l="0" r="0" t="0" b="0"/>
          <a:stretch/>
        </p:blipFill>
        <p:spPr>
          <a:xfrm>
            <a:off x="5544840" y="2621161"/>
            <a:ext cx="355600" cy="355600"/>
          </a:xfrm>
          <a:prstGeom prst="rect">
            <a:avLst/>
          </a:prstGeom>
        </p:spPr>
      </p:pic>
      <p:sp>
        <p:nvSpPr>
          <p:cNvPr id="25" name="Text 18"/>
          <p:cNvSpPr/>
          <p:nvPr/>
        </p:nvSpPr>
        <p:spPr>
          <a:xfrm>
            <a:off x="5417840" y="3205361"/>
            <a:ext cx="1407120" cy="553641"/>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233B"/>
                </a:solidFill>
                <a:latin typeface="Zen Maru Gothic" pitchFamily="34" charset="0"/>
                <a:ea typeface="Zen Maru Gothic" pitchFamily="34" charset="-122"/>
                <a:cs typeface="Zen Maru Gothic" pitchFamily="34" charset="-120"/>
              </a:rPr>
              <a:t>GitHub Actions</a:t>
            </a:r>
            <a:endParaRPr lang="en-US" sz="1600" dirty="0"/>
          </a:p>
        </p:txBody>
      </p:sp>
      <p:sp>
        <p:nvSpPr>
          <p:cNvPr id="26" name="Text 19"/>
          <p:cNvSpPr/>
          <p:nvPr/>
        </p:nvSpPr>
        <p:spPr>
          <a:xfrm>
            <a:off x="5417840" y="3835202"/>
            <a:ext cx="1407120" cy="793055"/>
          </a:xfrm>
          <a:prstGeom prst="rect">
            <a:avLst/>
          </a:prstGeom>
          <a:noFill/>
          <a:ln/>
        </p:spPr>
        <p:txBody>
          <a:bodyPr wrap="square" lIns="0" tIns="0" rIns="0" bIns="0" rtlCol="0" anchor="t">
            <a:normAutofit/>
          </a:bodyPr>
          <a:lstStyle/>
          <a:p>
            <a:pPr algn="l" indent="0" marL="0">
              <a:lnSpc>
                <a:spcPts val="2015"/>
              </a:lnSpc>
              <a:buNone/>
            </a:pPr>
            <a:r>
              <a:rPr lang="en-US" sz="1300" dirty="0">
                <a:solidFill>
                  <a:srgbClr val="56647E"/>
                </a:solidFill>
                <a:latin typeface="BIZ UDPGothic" pitchFamily="34" charset="0"/>
                <a:ea typeface="BIZ UDPGothic" pitchFamily="34" charset="-122"/>
                <a:cs typeface="BIZ UDPGothic" pitchFamily="34" charset="-120"/>
              </a:rPr>
              <a:t>荷物が届くと動き出す、サイトを組み立てるロボット</a:t>
            </a:r>
            <a:endParaRPr lang="en-US" sz="1300" dirty="0"/>
          </a:p>
        </p:txBody>
      </p:sp>
      <p:pic>
        <p:nvPicPr>
          <p:cNvPr id="27" name="Image 5" descr="arrow-right">    </p:cNvPr>
          <p:cNvPicPr>
            <a:picLocks noChangeAspect="1"/>
          </p:cNvPicPr>
          <p:nvPr/>
        </p:nvPicPr>
        <p:blipFill>
          <a:blip r:embed="rId6"/>
          <a:srcRect l="0" r="0" t="0" b="0"/>
          <a:stretch/>
        </p:blipFill>
        <p:spPr>
          <a:xfrm>
            <a:off x="7028160" y="3766741"/>
            <a:ext cx="355600" cy="203200"/>
          </a:xfrm>
          <a:prstGeom prst="rect">
            <a:avLst/>
          </a:prstGeom>
        </p:spPr>
      </p:pic>
      <p:sp>
        <p:nvSpPr>
          <p:cNvPr id="28" name="Shape 20"/>
          <p:cNvSpPr/>
          <p:nvPr/>
        </p:nvSpPr>
        <p:spPr>
          <a:xfrm>
            <a:off x="7479010" y="1901130"/>
            <a:ext cx="1673920" cy="3934520"/>
          </a:xfrm>
          <a:prstGeom prst="roundRect">
            <a:avLst>
              <a:gd name="adj" fmla="val 10242"/>
            </a:avLst>
          </a:prstGeom>
          <a:solidFill>
            <a:srgbClr val="FBFCFE"/>
          </a:solidFill>
          <a:ln w="12700">
            <a:solidFill>
              <a:srgbClr val="D3DBEA"/>
            </a:solidFill>
            <a:prstDash val="solid"/>
          </a:ln>
        </p:spPr>
      </p:sp>
      <p:sp>
        <p:nvSpPr>
          <p:cNvPr id="29" name="Shape 21"/>
          <p:cNvSpPr/>
          <p:nvPr/>
        </p:nvSpPr>
        <p:spPr>
          <a:xfrm>
            <a:off x="7637760" y="2085280"/>
            <a:ext cx="855166" cy="307280"/>
          </a:xfrm>
          <a:prstGeom prst="roundRect">
            <a:avLst>
              <a:gd name="adj" fmla="val 50000"/>
            </a:avLst>
          </a:prstGeom>
          <a:solidFill>
            <a:srgbClr val="FFC83D"/>
          </a:solidFill>
          <a:ln/>
        </p:spPr>
      </p:sp>
      <p:sp>
        <p:nvSpPr>
          <p:cNvPr id="30" name="Text 22"/>
          <p:cNvSpPr/>
          <p:nvPr/>
        </p:nvSpPr>
        <p:spPr>
          <a:xfrm>
            <a:off x="7790160" y="2123380"/>
            <a:ext cx="601166"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233B"/>
                </a:solidFill>
                <a:latin typeface="BIZ UDPGothic" pitchFamily="34" charset="0"/>
                <a:ea typeface="BIZ UDPGothic" pitchFamily="34" charset="-122"/>
                <a:cs typeface="BIZ UDPGothic" pitchFamily="34" charset="-120"/>
              </a:rPr>
              <a:t>④ 公開</a:t>
            </a:r>
            <a:endParaRPr lang="en-US" sz="1300" dirty="0"/>
          </a:p>
        </p:txBody>
      </p:sp>
      <p:sp>
        <p:nvSpPr>
          <p:cNvPr id="31" name="Shape 23"/>
          <p:cNvSpPr/>
          <p:nvPr/>
        </p:nvSpPr>
        <p:spPr>
          <a:xfrm>
            <a:off x="7637760" y="2494161"/>
            <a:ext cx="609600" cy="609600"/>
          </a:xfrm>
          <a:prstGeom prst="roundRect">
            <a:avLst>
              <a:gd name="adj" fmla="val 25000"/>
            </a:avLst>
          </a:prstGeom>
          <a:solidFill>
            <a:srgbClr val="2F62E6"/>
          </a:solidFill>
          <a:ln/>
        </p:spPr>
      </p:sp>
      <p:pic>
        <p:nvPicPr>
          <p:cNvPr id="32" name="Image 6" descr="Cloud">    </p:cNvPr>
          <p:cNvPicPr>
            <a:picLocks noChangeAspect="1"/>
          </p:cNvPicPr>
          <p:nvPr/>
        </p:nvPicPr>
        <p:blipFill>
          <a:blip r:embed="rId7"/>
          <a:srcRect l="0" r="0" t="0" b="0"/>
          <a:stretch/>
        </p:blipFill>
        <p:spPr>
          <a:xfrm>
            <a:off x="7764760" y="2621161"/>
            <a:ext cx="355600" cy="355600"/>
          </a:xfrm>
          <a:prstGeom prst="rect">
            <a:avLst/>
          </a:prstGeom>
        </p:spPr>
      </p:pic>
      <p:sp>
        <p:nvSpPr>
          <p:cNvPr id="33" name="Text 24"/>
          <p:cNvSpPr/>
          <p:nvPr/>
        </p:nvSpPr>
        <p:spPr>
          <a:xfrm>
            <a:off x="7637760" y="3205361"/>
            <a:ext cx="1407220"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233B"/>
                </a:solidFill>
                <a:latin typeface="Zen Maru Gothic" pitchFamily="34" charset="0"/>
                <a:ea typeface="Zen Maru Gothic" pitchFamily="34" charset="-122"/>
                <a:cs typeface="Zen Maru Gothic" pitchFamily="34" charset="-120"/>
              </a:rPr>
              <a:t>GitHub Pages</a:t>
            </a:r>
            <a:endParaRPr lang="en-US" sz="1600" dirty="0"/>
          </a:p>
        </p:txBody>
      </p:sp>
      <p:sp>
        <p:nvSpPr>
          <p:cNvPr id="34" name="Text 25"/>
          <p:cNvSpPr/>
          <p:nvPr/>
        </p:nvSpPr>
        <p:spPr>
          <a:xfrm>
            <a:off x="7637760" y="3571081"/>
            <a:ext cx="1407220" cy="793055"/>
          </a:xfrm>
          <a:prstGeom prst="rect">
            <a:avLst/>
          </a:prstGeom>
          <a:noFill/>
          <a:ln/>
        </p:spPr>
        <p:txBody>
          <a:bodyPr wrap="square" lIns="0" tIns="0" rIns="0" bIns="0" rtlCol="0" anchor="t">
            <a:normAutofit/>
          </a:bodyPr>
          <a:lstStyle/>
          <a:p>
            <a:pPr algn="l" indent="0" marL="0">
              <a:lnSpc>
                <a:spcPts val="2015"/>
              </a:lnSpc>
              <a:buNone/>
            </a:pPr>
            <a:r>
              <a:rPr lang="en-US" sz="1300" dirty="0">
                <a:solidFill>
                  <a:srgbClr val="56647E"/>
                </a:solidFill>
                <a:latin typeface="BIZ UDPGothic" pitchFamily="34" charset="0"/>
                <a:ea typeface="BIZ UDPGothic" pitchFamily="34" charset="-122"/>
                <a:cs typeface="BIZ UDPGothic" pitchFamily="34" charset="-120"/>
              </a:rPr>
              <a:t>できあがったサイトを世界に並べる店先</a:t>
            </a:r>
            <a:endParaRPr lang="en-US" sz="1300" dirty="0"/>
          </a:p>
        </p:txBody>
      </p:sp>
      <p:pic>
        <p:nvPicPr>
          <p:cNvPr id="35" name="Image 7" descr="arrow-right">    </p:cNvPr>
          <p:cNvPicPr>
            <a:picLocks noChangeAspect="1"/>
          </p:cNvPicPr>
          <p:nvPr/>
        </p:nvPicPr>
        <p:blipFill>
          <a:blip r:embed="rId8"/>
          <a:srcRect l="0" r="0" t="0" b="0"/>
          <a:stretch/>
        </p:blipFill>
        <p:spPr>
          <a:xfrm>
            <a:off x="9248180" y="3766741"/>
            <a:ext cx="355600" cy="203200"/>
          </a:xfrm>
          <a:prstGeom prst="rect">
            <a:avLst/>
          </a:prstGeom>
        </p:spPr>
      </p:pic>
      <p:sp>
        <p:nvSpPr>
          <p:cNvPr id="36" name="Shape 26"/>
          <p:cNvSpPr/>
          <p:nvPr/>
        </p:nvSpPr>
        <p:spPr>
          <a:xfrm>
            <a:off x="9699030" y="1901130"/>
            <a:ext cx="1673820" cy="3934520"/>
          </a:xfrm>
          <a:prstGeom prst="roundRect">
            <a:avLst>
              <a:gd name="adj" fmla="val 10243"/>
            </a:avLst>
          </a:prstGeom>
          <a:solidFill>
            <a:srgbClr val="FBFCFE"/>
          </a:solidFill>
          <a:ln w="12700">
            <a:solidFill>
              <a:srgbClr val="D3DBEA"/>
            </a:solidFill>
            <a:prstDash val="solid"/>
          </a:ln>
        </p:spPr>
      </p:sp>
      <p:sp>
        <p:nvSpPr>
          <p:cNvPr id="37" name="Shape 27"/>
          <p:cNvSpPr/>
          <p:nvPr/>
        </p:nvSpPr>
        <p:spPr>
          <a:xfrm>
            <a:off x="9857780" y="2085280"/>
            <a:ext cx="855166" cy="307280"/>
          </a:xfrm>
          <a:prstGeom prst="roundRect">
            <a:avLst>
              <a:gd name="adj" fmla="val 50000"/>
            </a:avLst>
          </a:prstGeom>
          <a:solidFill>
            <a:srgbClr val="2F62E6"/>
          </a:solidFill>
          <a:ln/>
        </p:spPr>
      </p:sp>
      <p:sp>
        <p:nvSpPr>
          <p:cNvPr id="38" name="Text 28"/>
          <p:cNvSpPr/>
          <p:nvPr/>
        </p:nvSpPr>
        <p:spPr>
          <a:xfrm>
            <a:off x="10010180" y="2123380"/>
            <a:ext cx="601166"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BIZ UDPGothic" pitchFamily="34" charset="0"/>
                <a:ea typeface="BIZ UDPGothic" pitchFamily="34" charset="-122"/>
                <a:cs typeface="BIZ UDPGothic" pitchFamily="34" charset="-120"/>
              </a:rPr>
              <a:t>⑤ 読む</a:t>
            </a:r>
            <a:endParaRPr lang="en-US" sz="1300" dirty="0"/>
          </a:p>
        </p:txBody>
      </p:sp>
      <p:sp>
        <p:nvSpPr>
          <p:cNvPr id="39" name="Shape 29"/>
          <p:cNvSpPr/>
          <p:nvPr/>
        </p:nvSpPr>
        <p:spPr>
          <a:xfrm>
            <a:off x="9857780" y="2494161"/>
            <a:ext cx="609600" cy="609600"/>
          </a:xfrm>
          <a:prstGeom prst="roundRect">
            <a:avLst>
              <a:gd name="adj" fmla="val 25000"/>
            </a:avLst>
          </a:prstGeom>
          <a:solidFill>
            <a:srgbClr val="2F62E6"/>
          </a:solidFill>
          <a:ln/>
        </p:spPr>
      </p:sp>
      <p:pic>
        <p:nvPicPr>
          <p:cNvPr id="40" name="Image 8" descr="Globe">    </p:cNvPr>
          <p:cNvPicPr>
            <a:picLocks noChangeAspect="1"/>
          </p:cNvPicPr>
          <p:nvPr/>
        </p:nvPicPr>
        <p:blipFill>
          <a:blip r:embed="rId9"/>
          <a:srcRect l="0" r="0" t="0" b="0"/>
          <a:stretch/>
        </p:blipFill>
        <p:spPr>
          <a:xfrm>
            <a:off x="9984780" y="2621161"/>
            <a:ext cx="355600" cy="355600"/>
          </a:xfrm>
          <a:prstGeom prst="rect">
            <a:avLst/>
          </a:prstGeom>
        </p:spPr>
      </p:pic>
      <p:sp>
        <p:nvSpPr>
          <p:cNvPr id="41" name="Text 30"/>
          <p:cNvSpPr/>
          <p:nvPr/>
        </p:nvSpPr>
        <p:spPr>
          <a:xfrm>
            <a:off x="9857780" y="3205361"/>
            <a:ext cx="1407120" cy="553641"/>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233B"/>
                </a:solidFill>
                <a:latin typeface="Zen Maru Gothic" pitchFamily="34" charset="0"/>
                <a:ea typeface="Zen Maru Gothic" pitchFamily="34" charset="-122"/>
                <a:cs typeface="Zen Maru Gothic" pitchFamily="34" charset="-120"/>
              </a:rPr>
              <a:t>読む人の</a:t>
            </a:r>
            <a:endParaRPr lang="en-US" sz="1600" dirty="0"/>
          </a:p>
          <a:p>
            <a:pPr algn="l" indent="0" marL="0">
              <a:lnSpc>
                <a:spcPts val="2080"/>
              </a:lnSpc>
              <a:buNone/>
            </a:pPr>
            <a:r>
              <a:rPr lang="en-US" sz="1600" b="1" dirty="0">
                <a:solidFill>
                  <a:srgbClr val="16233B"/>
                </a:solidFill>
                <a:latin typeface="Zen Maru Gothic" pitchFamily="34" charset="0"/>
                <a:ea typeface="Zen Maru Gothic" pitchFamily="34" charset="-122"/>
                <a:cs typeface="Zen Maru Gothic" pitchFamily="34" charset="-120"/>
              </a:rPr>
              <a:t>ブラウザ</a:t>
            </a:r>
            <a:endParaRPr lang="en-US" sz="1600" dirty="0"/>
          </a:p>
        </p:txBody>
      </p:sp>
      <p:sp>
        <p:nvSpPr>
          <p:cNvPr id="42" name="Text 31"/>
          <p:cNvSpPr/>
          <p:nvPr/>
        </p:nvSpPr>
        <p:spPr>
          <a:xfrm>
            <a:off x="9857780" y="3835202"/>
            <a:ext cx="1407120" cy="1048941"/>
          </a:xfrm>
          <a:prstGeom prst="rect">
            <a:avLst/>
          </a:prstGeom>
          <a:noFill/>
          <a:ln/>
        </p:spPr>
        <p:txBody>
          <a:bodyPr wrap="square" lIns="0" tIns="0" rIns="0" bIns="0" rtlCol="0" anchor="t">
            <a:normAutofit/>
          </a:bodyPr>
          <a:lstStyle/>
          <a:p>
            <a:pPr algn="l" indent="0" marL="0">
              <a:lnSpc>
                <a:spcPts val="2015"/>
              </a:lnSpc>
              <a:buNone/>
            </a:pPr>
            <a:r>
              <a:rPr lang="en-US" sz="1300" dirty="0">
                <a:solidFill>
                  <a:srgbClr val="56647E"/>
                </a:solidFill>
                <a:latin typeface="BIZ UDPGothic" pitchFamily="34" charset="0"/>
                <a:ea typeface="BIZ UDPGothic" pitchFamily="34" charset="-122"/>
                <a:cs typeface="BIZ UDPGothic" pitchFamily="34" charset="-120"/>
              </a:rPr>
              <a:t>URLを開くと、Chrome や Safari に記事が出る</a:t>
            </a:r>
            <a:endParaRPr lang="en-US" sz="1300" dirty="0"/>
          </a:p>
        </p:txBody>
      </p:sp>
      <p:sp>
        <p:nvSpPr>
          <p:cNvPr id="43" name="Text 3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44" name="Text 33"/>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05 / 40</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35347"/>
          </a:xfrm>
          <a:prstGeom prst="rect">
            <a:avLst/>
          </a:prstGeom>
          <a:noFill/>
          <a:ln/>
        </p:spPr>
        <p:txBody>
          <a:bodyPr wrap="square" lIns="0" tIns="0" rIns="0" bIns="0" rtlCol="0" anchor="t">
            <a:normAutofit/>
          </a:bodyPr>
          <a:lstStyle/>
          <a:p>
            <a:pPr algn="l" indent="0" marL="0">
              <a:lnSpc>
                <a:spcPts val="1672"/>
              </a:lnSpc>
              <a:buNone/>
            </a:pPr>
            <a:r>
              <a:rPr lang="en-US" sz="1194" b="1" spc="150" kern="0" dirty="0">
                <a:solidFill>
                  <a:srgbClr val="2350C9"/>
                </a:solidFill>
                <a:latin typeface="BIZ UDPGothic" pitchFamily="34" charset="0"/>
                <a:ea typeface="BIZ UDPGothic" pitchFamily="34" charset="-122"/>
                <a:cs typeface="BIZ UDPGothic" pitchFamily="34" charset="-120"/>
              </a:rPr>
              <a:t>PART 1 ／ ブログのしくみ</a:t>
            </a:r>
            <a:endParaRPr lang="en-US" sz="1194" dirty="0"/>
          </a:p>
        </p:txBody>
      </p:sp>
      <p:sp>
        <p:nvSpPr>
          <p:cNvPr id="3" name="Text 1"/>
          <p:cNvSpPr/>
          <p:nvPr/>
        </p:nvSpPr>
        <p:spPr>
          <a:xfrm>
            <a:off x="812800" y="1086247"/>
            <a:ext cx="10883392" cy="487263"/>
          </a:xfrm>
          <a:prstGeom prst="rect">
            <a:avLst/>
          </a:prstGeom>
          <a:noFill/>
          <a:ln/>
        </p:spPr>
        <p:txBody>
          <a:bodyPr wrap="square" lIns="0" tIns="0" rIns="0" bIns="0" rtlCol="0" anchor="t">
            <a:normAutofit/>
          </a:bodyPr>
          <a:lstStyle/>
          <a:p>
            <a:pPr algn="l" indent="0" marL="0">
              <a:lnSpc>
                <a:spcPts val="3675"/>
              </a:lnSpc>
              <a:buNone/>
            </a:pPr>
            <a:r>
              <a:rPr lang="en-US" sz="2940" b="1" dirty="0">
                <a:solidFill>
                  <a:srgbClr val="16233B"/>
                </a:solidFill>
                <a:latin typeface="Zen Maru Gothic" pitchFamily="34" charset="0"/>
                <a:ea typeface="Zen Maru Gothic" pitchFamily="34" charset="-122"/>
                <a:cs typeface="Zen Maru Gothic" pitchFamily="34" charset="-120"/>
              </a:rPr>
              <a:t>記事の正体は、1つのテキストファイル</a:t>
            </a:r>
            <a:endParaRPr lang="en-US" sz="2940" dirty="0"/>
          </a:p>
        </p:txBody>
      </p:sp>
      <p:sp>
        <p:nvSpPr>
          <p:cNvPr id="4" name="Shape 2"/>
          <p:cNvSpPr/>
          <p:nvPr/>
        </p:nvSpPr>
        <p:spPr>
          <a:xfrm>
            <a:off x="812800" y="1827510"/>
            <a:ext cx="5969000" cy="453926"/>
          </a:xfrm>
          <a:custGeom>
            <a:avLst/>
            <a:gdLst/>
            <a:ahLst/>
            <a:cxnLst/>
            <a:rect l="l" t="t" r="r" b="b"/>
            <a:pathLst>
              <a:path w="5969000" h="453926">
                <a:moveTo>
                  <a:pt x="127000" y="0"/>
                </a:moveTo>
                <a:lnTo>
                  <a:pt x="5842000" y="0"/>
                </a:lnTo>
                <a:arcTo hR="127000" wR="127000" stAng="16200000" swAng="5400000"/>
                <a:lnTo>
                  <a:pt x="5969000" y="453926"/>
                </a:lnTo>
                <a:lnTo>
                  <a:pt x="0" y="453926"/>
                </a:lnTo>
                <a:lnTo>
                  <a:pt x="0" y="127000"/>
                </a:lnTo>
                <a:arcTo hR="127000" wR="127000" stAng="10800000" swAng="5400000"/>
                <a:close/>
              </a:path>
            </a:pathLst>
          </a:custGeom>
          <a:solidFill>
            <a:srgbClr val="2F62E6"/>
          </a:solidFill>
          <a:ln/>
        </p:spPr>
      </p:sp>
      <p:sp>
        <p:nvSpPr>
          <p:cNvPr id="5" name="Text 3"/>
          <p:cNvSpPr/>
          <p:nvPr/>
        </p:nvSpPr>
        <p:spPr>
          <a:xfrm>
            <a:off x="1016000" y="1916410"/>
            <a:ext cx="5729478" cy="301526"/>
          </a:xfrm>
          <a:prstGeom prst="rect">
            <a:avLst/>
          </a:prstGeom>
          <a:noFill/>
          <a:ln/>
        </p:spPr>
        <p:txBody>
          <a:bodyPr wrap="square" lIns="0" tIns="0" rIns="0" bIns="0" rtlCol="0" anchor="t">
            <a:normAutofit/>
          </a:bodyPr>
          <a:lstStyle/>
          <a:p>
            <a:pPr algn="l" indent="0" marL="0">
              <a:lnSpc>
                <a:spcPts val="2170"/>
              </a:lnSpc>
              <a:buNone/>
            </a:pPr>
            <a:r>
              <a:rPr lang="en-US" sz="1356" dirty="0">
                <a:solidFill>
                  <a:srgbClr val="FFFFFF"/>
                </a:solidFill>
                <a:latin typeface="Source Code Pro" pitchFamily="34" charset="0"/>
                <a:ea typeface="Source Code Pro" pitchFamily="34" charset="-122"/>
                <a:cs typeface="Source Code Pro" pitchFamily="34" charset="-120"/>
              </a:rPr>
              <a:t>2026-09-28-sample-post.md</a:t>
            </a:r>
            <a:endParaRPr lang="en-US" sz="1356" dirty="0"/>
          </a:p>
        </p:txBody>
      </p:sp>
      <p:sp>
        <p:nvSpPr>
          <p:cNvPr id="6" name="Shape 4"/>
          <p:cNvSpPr/>
          <p:nvPr/>
        </p:nvSpPr>
        <p:spPr>
          <a:xfrm>
            <a:off x="812800" y="2281436"/>
            <a:ext cx="5969000" cy="3560564"/>
          </a:xfrm>
          <a:custGeom>
            <a:avLst/>
            <a:gdLst/>
            <a:ahLst/>
            <a:cxnLst/>
            <a:rect l="l" t="t" r="r" b="b"/>
            <a:pathLst>
              <a:path w="5969000" h="3560564">
                <a:moveTo>
                  <a:pt x="0" y="0"/>
                </a:moveTo>
                <a:lnTo>
                  <a:pt x="5969000" y="0"/>
                </a:lnTo>
                <a:lnTo>
                  <a:pt x="5969000" y="3433564"/>
                </a:lnTo>
                <a:arcTo hR="127000" wR="127000" stAng="0" swAng="5400000"/>
                <a:lnTo>
                  <a:pt x="127000" y="3560564"/>
                </a:lnTo>
                <a:arcTo hR="127000" wR="127000" stAng="5400000" swAng="5400000"/>
                <a:lnTo>
                  <a:pt x="0" y="0"/>
                </a:lnTo>
                <a:close/>
              </a:path>
            </a:pathLst>
          </a:custGeom>
          <a:solidFill>
            <a:srgbClr val="0F1B33"/>
          </a:solidFill>
          <a:ln/>
        </p:spPr>
      </p:sp>
      <p:sp>
        <p:nvSpPr>
          <p:cNvPr id="7" name="Text 5"/>
          <p:cNvSpPr/>
          <p:nvPr/>
        </p:nvSpPr>
        <p:spPr>
          <a:xfrm>
            <a:off x="1041400" y="2459236"/>
            <a:ext cx="5677154" cy="317996"/>
          </a:xfrm>
          <a:prstGeom prst="rect">
            <a:avLst/>
          </a:prstGeom>
          <a:noFill/>
          <a:ln/>
        </p:spPr>
        <p:txBody>
          <a:bodyPr wrap="none" lIns="0" tIns="0" rIns="0" bIns="0" rtlCol="0" anchor="t">
            <a:normAutofit/>
          </a:bodyPr>
          <a:lstStyle/>
          <a:p>
            <a:pPr algn="l" indent="0" marL="0">
              <a:lnSpc>
                <a:spcPts val="2321"/>
              </a:lnSpc>
              <a:buNone/>
            </a:pPr>
            <a:r>
              <a:rPr lang="en-US" sz="1365" dirty="0">
                <a:solidFill>
                  <a:srgbClr val="8A97B5"/>
                </a:solidFill>
                <a:latin typeface="Source Code Pro" pitchFamily="34" charset="0"/>
                <a:ea typeface="Source Code Pro" pitchFamily="34" charset="-122"/>
                <a:cs typeface="Source Code Pro" pitchFamily="34" charset="-120"/>
              </a:rPr>
              <a:t>---</a:t>
            </a:r>
            <a:endParaRPr lang="en-US" sz="1365" dirty="0"/>
          </a:p>
        </p:txBody>
      </p:sp>
      <p:sp>
        <p:nvSpPr>
          <p:cNvPr id="8" name="Text 6"/>
          <p:cNvSpPr/>
          <p:nvPr/>
        </p:nvSpPr>
        <p:spPr>
          <a:xfrm>
            <a:off x="1041400" y="2751832"/>
            <a:ext cx="5677154" cy="317897"/>
          </a:xfrm>
          <a:prstGeom prst="rect">
            <a:avLst/>
          </a:prstGeom>
          <a:noFill/>
          <a:ln/>
        </p:spPr>
        <p:txBody>
          <a:bodyPr wrap="none" lIns="0" tIns="0" rIns="0" bIns="0" rtlCol="0" anchor="t">
            <a:normAutofit/>
          </a:bodyPr>
          <a:lstStyle/>
          <a:p>
            <a:pPr algn="l" indent="0" marL="0">
              <a:lnSpc>
                <a:spcPts val="2321"/>
              </a:lnSpc>
              <a:buNone/>
            </a:pPr>
            <a:r>
              <a:rPr lang="en-US" sz="1365" dirty="0">
                <a:solidFill>
                  <a:srgbClr val="8FB4FF"/>
                </a:solidFill>
                <a:latin typeface="Source Code Pro" pitchFamily="34" charset="0"/>
                <a:ea typeface="Source Code Pro" pitchFamily="34" charset="-122"/>
                <a:cs typeface="Source Code Pro" pitchFamily="34" charset="-120"/>
              </a:rPr>
              <a:t>layout:</a:t>
            </a:r>
            <a:r>
              <a:rPr lang="en-US" sz="1365" dirty="0">
                <a:solidFill>
                  <a:srgbClr val="E6EDFB"/>
                </a:solidFill>
                <a:latin typeface="Source Code Pro" pitchFamily="34" charset="0"/>
                <a:ea typeface="Source Code Pro" pitchFamily="34" charset="-122"/>
                <a:cs typeface="Source Code Pro" pitchFamily="34" charset="-120"/>
              </a:rPr>
              <a:t> post</a:t>
            </a:r>
            <a:endParaRPr lang="en-US" sz="1365" dirty="0"/>
          </a:p>
        </p:txBody>
      </p:sp>
      <p:sp>
        <p:nvSpPr>
          <p:cNvPr id="9" name="Text 7"/>
          <p:cNvSpPr/>
          <p:nvPr/>
        </p:nvSpPr>
        <p:spPr>
          <a:xfrm>
            <a:off x="1041400" y="3044329"/>
            <a:ext cx="5677154" cy="317996"/>
          </a:xfrm>
          <a:prstGeom prst="rect">
            <a:avLst/>
          </a:prstGeom>
          <a:noFill/>
          <a:ln/>
        </p:spPr>
        <p:txBody>
          <a:bodyPr wrap="none" lIns="0" tIns="0" rIns="0" bIns="0" rtlCol="0" anchor="t">
            <a:normAutofit/>
          </a:bodyPr>
          <a:lstStyle/>
          <a:p>
            <a:pPr algn="l" indent="0" marL="0">
              <a:lnSpc>
                <a:spcPts val="2321"/>
              </a:lnSpc>
              <a:buNone/>
            </a:pPr>
            <a:r>
              <a:rPr lang="en-US" sz="1365" dirty="0">
                <a:solidFill>
                  <a:srgbClr val="8FB4FF"/>
                </a:solidFill>
                <a:latin typeface="Source Code Pro" pitchFamily="34" charset="0"/>
                <a:ea typeface="Source Code Pro" pitchFamily="34" charset="-122"/>
                <a:cs typeface="Source Code Pro" pitchFamily="34" charset="-120"/>
              </a:rPr>
              <a:t>title:</a:t>
            </a:r>
            <a:r>
              <a:rPr lang="en-US" sz="1365" dirty="0">
                <a:solidFill>
                  <a:srgbClr val="E6EDFB"/>
                </a:solidFill>
                <a:latin typeface="Source Code Pro" pitchFamily="34" charset="0"/>
                <a:ea typeface="Source Code Pro" pitchFamily="34" charset="-122"/>
                <a:cs typeface="Source Code Pro" pitchFamily="34" charset="-120"/>
              </a:rPr>
              <a:t> "記事のタイトル"</a:t>
            </a:r>
            <a:endParaRPr lang="en-US" sz="1365" dirty="0"/>
          </a:p>
        </p:txBody>
      </p:sp>
      <p:sp>
        <p:nvSpPr>
          <p:cNvPr id="10" name="Text 8"/>
          <p:cNvSpPr/>
          <p:nvPr/>
        </p:nvSpPr>
        <p:spPr>
          <a:xfrm>
            <a:off x="1041400" y="3336925"/>
            <a:ext cx="5677154" cy="317897"/>
          </a:xfrm>
          <a:prstGeom prst="rect">
            <a:avLst/>
          </a:prstGeom>
          <a:noFill/>
          <a:ln/>
        </p:spPr>
        <p:txBody>
          <a:bodyPr wrap="none" lIns="0" tIns="0" rIns="0" bIns="0" rtlCol="0" anchor="t">
            <a:normAutofit/>
          </a:bodyPr>
          <a:lstStyle/>
          <a:p>
            <a:pPr algn="l" indent="0" marL="0">
              <a:lnSpc>
                <a:spcPts val="2321"/>
              </a:lnSpc>
              <a:buNone/>
            </a:pPr>
            <a:r>
              <a:rPr lang="en-US" sz="1365" dirty="0">
                <a:solidFill>
                  <a:srgbClr val="8FB4FF"/>
                </a:solidFill>
                <a:latin typeface="Source Code Pro" pitchFamily="34" charset="0"/>
                <a:ea typeface="Source Code Pro" pitchFamily="34" charset="-122"/>
                <a:cs typeface="Source Code Pro" pitchFamily="34" charset="-120"/>
              </a:rPr>
              <a:t>date:</a:t>
            </a:r>
            <a:r>
              <a:rPr lang="en-US" sz="1365" dirty="0">
                <a:solidFill>
                  <a:srgbClr val="E6EDFB"/>
                </a:solidFill>
                <a:latin typeface="Source Code Pro" pitchFamily="34" charset="0"/>
                <a:ea typeface="Source Code Pro" pitchFamily="34" charset="-122"/>
                <a:cs typeface="Source Code Pro" pitchFamily="34" charset="-120"/>
              </a:rPr>
              <a:t> 2026-09-28</a:t>
            </a:r>
            <a:endParaRPr lang="en-US" sz="1365" dirty="0"/>
          </a:p>
        </p:txBody>
      </p:sp>
      <p:sp>
        <p:nvSpPr>
          <p:cNvPr id="11" name="Text 9"/>
          <p:cNvSpPr/>
          <p:nvPr/>
        </p:nvSpPr>
        <p:spPr>
          <a:xfrm>
            <a:off x="1041400" y="3629422"/>
            <a:ext cx="5677154" cy="317996"/>
          </a:xfrm>
          <a:prstGeom prst="rect">
            <a:avLst/>
          </a:prstGeom>
          <a:noFill/>
          <a:ln/>
        </p:spPr>
        <p:txBody>
          <a:bodyPr wrap="none" lIns="0" tIns="0" rIns="0" bIns="0" rtlCol="0" anchor="t">
            <a:normAutofit/>
          </a:bodyPr>
          <a:lstStyle/>
          <a:p>
            <a:pPr algn="l" indent="0" marL="0">
              <a:lnSpc>
                <a:spcPts val="2321"/>
              </a:lnSpc>
              <a:buNone/>
            </a:pPr>
            <a:r>
              <a:rPr lang="en-US" sz="1365" dirty="0">
                <a:solidFill>
                  <a:srgbClr val="8FB4FF"/>
                </a:solidFill>
                <a:latin typeface="Source Code Pro" pitchFamily="34" charset="0"/>
                <a:ea typeface="Source Code Pro" pitchFamily="34" charset="-122"/>
                <a:cs typeface="Source Code Pro" pitchFamily="34" charset="-120"/>
              </a:rPr>
              <a:t>categories:</a:t>
            </a:r>
            <a:r>
              <a:rPr lang="en-US" sz="1365" dirty="0">
                <a:solidFill>
                  <a:srgbClr val="E6EDFB"/>
                </a:solidFill>
                <a:latin typeface="Source Code Pro" pitchFamily="34" charset="0"/>
                <a:ea typeface="Source Code Pro" pitchFamily="34" charset="-122"/>
                <a:cs typeface="Source Code Pro" pitchFamily="34" charset="-120"/>
              </a:rPr>
              <a:t> [生成AIのきほん]</a:t>
            </a:r>
            <a:endParaRPr lang="en-US" sz="1365" dirty="0"/>
          </a:p>
        </p:txBody>
      </p:sp>
      <p:sp>
        <p:nvSpPr>
          <p:cNvPr id="12" name="Text 10"/>
          <p:cNvSpPr/>
          <p:nvPr/>
        </p:nvSpPr>
        <p:spPr>
          <a:xfrm>
            <a:off x="1041400" y="3922018"/>
            <a:ext cx="5677154" cy="317897"/>
          </a:xfrm>
          <a:prstGeom prst="rect">
            <a:avLst/>
          </a:prstGeom>
          <a:noFill/>
          <a:ln/>
        </p:spPr>
        <p:txBody>
          <a:bodyPr wrap="none" lIns="0" tIns="0" rIns="0" bIns="0" rtlCol="0" anchor="t">
            <a:normAutofit/>
          </a:bodyPr>
          <a:lstStyle/>
          <a:p>
            <a:pPr algn="l" indent="0" marL="0">
              <a:lnSpc>
                <a:spcPts val="2321"/>
              </a:lnSpc>
              <a:buNone/>
            </a:pPr>
            <a:r>
              <a:rPr lang="en-US" sz="1365" dirty="0">
                <a:solidFill>
                  <a:srgbClr val="8FB4FF"/>
                </a:solidFill>
                <a:latin typeface="Source Code Pro" pitchFamily="34" charset="0"/>
                <a:ea typeface="Source Code Pro" pitchFamily="34" charset="-122"/>
                <a:cs typeface="Source Code Pro" pitchFamily="34" charset="-120"/>
              </a:rPr>
              <a:t>tags:</a:t>
            </a:r>
            <a:r>
              <a:rPr lang="en-US" sz="1365" dirty="0">
                <a:solidFill>
                  <a:srgbClr val="E6EDFB"/>
                </a:solidFill>
                <a:latin typeface="Source Code Pro" pitchFamily="34" charset="0"/>
                <a:ea typeface="Source Code Pro" pitchFamily="34" charset="-122"/>
                <a:cs typeface="Source Code Pro" pitchFamily="34" charset="-120"/>
              </a:rPr>
              <a:t> [ChatGPT, 入口]</a:t>
            </a:r>
            <a:endParaRPr lang="en-US" sz="1365" dirty="0"/>
          </a:p>
        </p:txBody>
      </p:sp>
      <p:sp>
        <p:nvSpPr>
          <p:cNvPr id="13" name="Text 11"/>
          <p:cNvSpPr/>
          <p:nvPr/>
        </p:nvSpPr>
        <p:spPr>
          <a:xfrm>
            <a:off x="1041400" y="4214515"/>
            <a:ext cx="5677154" cy="317996"/>
          </a:xfrm>
          <a:prstGeom prst="rect">
            <a:avLst/>
          </a:prstGeom>
          <a:noFill/>
          <a:ln/>
        </p:spPr>
        <p:txBody>
          <a:bodyPr wrap="none" lIns="0" tIns="0" rIns="0" bIns="0" rtlCol="0" anchor="t">
            <a:normAutofit/>
          </a:bodyPr>
          <a:lstStyle/>
          <a:p>
            <a:pPr algn="l" indent="0" marL="0">
              <a:lnSpc>
                <a:spcPts val="2321"/>
              </a:lnSpc>
              <a:buNone/>
            </a:pPr>
            <a:r>
              <a:rPr lang="en-US" sz="1365" dirty="0">
                <a:solidFill>
                  <a:srgbClr val="8A97B5"/>
                </a:solidFill>
                <a:latin typeface="Source Code Pro" pitchFamily="34" charset="0"/>
                <a:ea typeface="Source Code Pro" pitchFamily="34" charset="-122"/>
                <a:cs typeface="Source Code Pro" pitchFamily="34" charset="-120"/>
              </a:rPr>
              <a:t>---</a:t>
            </a:r>
            <a:endParaRPr lang="en-US" sz="1365" dirty="0"/>
          </a:p>
        </p:txBody>
      </p:sp>
      <p:pic>
        <p:nvPicPr>
          <p:cNvPr id="14" name="Image 0" descr="line">    </p:cNvPr>
          <p:cNvPicPr>
            <a:picLocks noChangeAspect="1"/>
          </p:cNvPicPr>
          <p:nvPr/>
        </p:nvPicPr>
        <p:blipFill>
          <a:blip r:embed="rId1"/>
          <a:srcRect l="0" r="0" t="0" b="0"/>
          <a:stretch/>
        </p:blipFill>
        <p:spPr>
          <a:xfrm>
            <a:off x="1041400" y="4634111"/>
            <a:ext cx="5511800" cy="25400"/>
          </a:xfrm>
          <a:prstGeom prst="rect">
            <a:avLst/>
          </a:prstGeom>
        </p:spPr>
      </p:pic>
      <p:sp>
        <p:nvSpPr>
          <p:cNvPr id="15" name="Text 12"/>
          <p:cNvSpPr/>
          <p:nvPr/>
        </p:nvSpPr>
        <p:spPr>
          <a:xfrm>
            <a:off x="1041400" y="4786511"/>
            <a:ext cx="5677154" cy="317996"/>
          </a:xfrm>
          <a:prstGeom prst="rect">
            <a:avLst/>
          </a:prstGeom>
          <a:noFill/>
          <a:ln/>
        </p:spPr>
        <p:txBody>
          <a:bodyPr wrap="none" lIns="0" tIns="0" rIns="0" bIns="0" rtlCol="0" anchor="t">
            <a:normAutofit/>
          </a:bodyPr>
          <a:lstStyle/>
          <a:p>
            <a:pPr algn="l" indent="0" marL="0">
              <a:lnSpc>
                <a:spcPts val="2321"/>
              </a:lnSpc>
              <a:buNone/>
            </a:pPr>
            <a:r>
              <a:rPr lang="en-US" sz="1365" dirty="0">
                <a:solidFill>
                  <a:srgbClr val="E6EDFB"/>
                </a:solidFill>
                <a:latin typeface="Source Code Pro" pitchFamily="34" charset="0"/>
                <a:ea typeface="Source Code Pro" pitchFamily="34" charset="-122"/>
                <a:cs typeface="Source Code Pro" pitchFamily="34" charset="-120"/>
              </a:rPr>
              <a:t>結論から書きます。この記事では…</a:t>
            </a:r>
            <a:endParaRPr lang="en-US" sz="1365" dirty="0"/>
          </a:p>
        </p:txBody>
      </p:sp>
      <p:sp>
        <p:nvSpPr>
          <p:cNvPr id="16" name="Text 13"/>
          <p:cNvSpPr/>
          <p:nvPr/>
        </p:nvSpPr>
        <p:spPr>
          <a:xfrm>
            <a:off x="1041400" y="5079107"/>
            <a:ext cx="5677154" cy="317897"/>
          </a:xfrm>
          <a:prstGeom prst="rect">
            <a:avLst/>
          </a:prstGeom>
          <a:noFill/>
          <a:ln/>
        </p:spPr>
        <p:txBody>
          <a:bodyPr wrap="none" lIns="0" tIns="0" rIns="0" bIns="0" rtlCol="0" anchor="t">
            <a:normAutofit/>
          </a:bodyPr>
          <a:lstStyle/>
          <a:p>
            <a:pPr algn="l" indent="0" marL="0">
              <a:lnSpc>
                <a:spcPts val="2321"/>
              </a:lnSpc>
              <a:buNone/>
            </a:pPr>
            <a:r>
              <a:rPr lang="en-US" sz="1365" dirty="0">
                <a:solidFill>
                  <a:srgbClr val="8FB4FF"/>
                </a:solidFill>
                <a:latin typeface="Source Code Pro" pitchFamily="34" charset="0"/>
                <a:ea typeface="Source Code Pro" pitchFamily="34" charset="-122"/>
                <a:cs typeface="Source Code Pro" pitchFamily="34" charset="-120"/>
              </a:rPr>
              <a:t>##</a:t>
            </a:r>
            <a:r>
              <a:rPr lang="en-US" sz="1365" dirty="0">
                <a:solidFill>
                  <a:srgbClr val="E6EDFB"/>
                </a:solidFill>
                <a:latin typeface="Source Code Pro" pitchFamily="34" charset="0"/>
                <a:ea typeface="Source Code Pro" pitchFamily="34" charset="-122"/>
                <a:cs typeface="Source Code Pro" pitchFamily="34" charset="-120"/>
              </a:rPr>
              <a:t> 見出しは # で作る</a:t>
            </a:r>
            <a:endParaRPr lang="en-US" sz="1365" dirty="0"/>
          </a:p>
        </p:txBody>
      </p:sp>
      <p:sp>
        <p:nvSpPr>
          <p:cNvPr id="17" name="Text 14"/>
          <p:cNvSpPr/>
          <p:nvPr/>
        </p:nvSpPr>
        <p:spPr>
          <a:xfrm>
            <a:off x="1041400" y="5371604"/>
            <a:ext cx="5677154" cy="317996"/>
          </a:xfrm>
          <a:prstGeom prst="rect">
            <a:avLst/>
          </a:prstGeom>
          <a:noFill/>
          <a:ln/>
        </p:spPr>
        <p:txBody>
          <a:bodyPr wrap="none" lIns="0" tIns="0" rIns="0" bIns="0" rtlCol="0" anchor="t">
            <a:normAutofit/>
          </a:bodyPr>
          <a:lstStyle/>
          <a:p>
            <a:pPr algn="l" indent="0" marL="0">
              <a:lnSpc>
                <a:spcPts val="2321"/>
              </a:lnSpc>
              <a:buNone/>
            </a:pPr>
            <a:r>
              <a:rPr lang="en-US" sz="1365" dirty="0">
                <a:solidFill>
                  <a:srgbClr val="8FB4FF"/>
                </a:solidFill>
                <a:latin typeface="Source Code Pro" pitchFamily="34" charset="0"/>
                <a:ea typeface="Source Code Pro" pitchFamily="34" charset="-122"/>
                <a:cs typeface="Source Code Pro" pitchFamily="34" charset="-120"/>
              </a:rPr>
              <a:t>-</a:t>
            </a:r>
            <a:r>
              <a:rPr lang="en-US" sz="1365" dirty="0">
                <a:solidFill>
                  <a:srgbClr val="E6EDFB"/>
                </a:solidFill>
                <a:latin typeface="Source Code Pro" pitchFamily="34" charset="0"/>
                <a:ea typeface="Source Code Pro" pitchFamily="34" charset="-122"/>
                <a:cs typeface="Source Code Pro" pitchFamily="34" charset="-120"/>
              </a:rPr>
              <a:t> 箇条書きは - をつける</a:t>
            </a:r>
            <a:endParaRPr lang="en-US" sz="1365" dirty="0"/>
          </a:p>
        </p:txBody>
      </p:sp>
      <p:sp>
        <p:nvSpPr>
          <p:cNvPr id="18" name="Shape 15"/>
          <p:cNvSpPr/>
          <p:nvPr/>
        </p:nvSpPr>
        <p:spPr>
          <a:xfrm>
            <a:off x="7092950" y="1833860"/>
            <a:ext cx="4279900" cy="849114"/>
          </a:xfrm>
          <a:prstGeom prst="roundRect">
            <a:avLst>
              <a:gd name="adj" fmla="val 20192"/>
            </a:avLst>
          </a:prstGeom>
          <a:solidFill>
            <a:srgbClr val="FBFCFE"/>
          </a:solidFill>
          <a:ln w="12700">
            <a:solidFill>
              <a:srgbClr val="D3DBEA"/>
            </a:solidFill>
            <a:prstDash val="solid"/>
          </a:ln>
        </p:spPr>
      </p:sp>
      <p:sp>
        <p:nvSpPr>
          <p:cNvPr id="19" name="Text 16"/>
          <p:cNvSpPr/>
          <p:nvPr/>
        </p:nvSpPr>
        <p:spPr>
          <a:xfrm>
            <a:off x="7302500" y="1992610"/>
            <a:ext cx="3976624" cy="252313"/>
          </a:xfrm>
          <a:prstGeom prst="rect">
            <a:avLst/>
          </a:prstGeom>
          <a:noFill/>
          <a:ln/>
        </p:spPr>
        <p:txBody>
          <a:bodyPr wrap="square" lIns="0" tIns="0" rIns="0" bIns="0" rtlCol="0" anchor="t">
            <a:normAutofit/>
          </a:bodyPr>
          <a:lstStyle/>
          <a:p>
            <a:pPr algn="l" indent="0" marL="0">
              <a:lnSpc>
                <a:spcPts val="1820"/>
              </a:lnSpc>
              <a:buNone/>
            </a:pPr>
            <a:r>
              <a:rPr lang="en-US" sz="1138" b="1" dirty="0">
                <a:solidFill>
                  <a:srgbClr val="2350C9"/>
                </a:solidFill>
                <a:latin typeface="BIZ UDPGothic" pitchFamily="34" charset="0"/>
                <a:ea typeface="BIZ UDPGothic" pitchFamily="34" charset="-122"/>
                <a:cs typeface="BIZ UDPGothic" pitchFamily="34" charset="-120"/>
              </a:rPr>
              <a:t>ファイル名</a:t>
            </a:r>
            <a:endParaRPr lang="en-US" sz="1138" dirty="0"/>
          </a:p>
        </p:txBody>
      </p:sp>
      <p:sp>
        <p:nvSpPr>
          <p:cNvPr id="20" name="Text 17"/>
          <p:cNvSpPr/>
          <p:nvPr/>
        </p:nvSpPr>
        <p:spPr>
          <a:xfrm>
            <a:off x="7302500" y="2244923"/>
            <a:ext cx="3976624" cy="304701"/>
          </a:xfrm>
          <a:prstGeom prst="rect">
            <a:avLst/>
          </a:prstGeom>
          <a:noFill/>
          <a:ln/>
        </p:spPr>
        <p:txBody>
          <a:bodyPr wrap="square" lIns="0" tIns="0" rIns="0" bIns="0" rtlCol="0" anchor="t">
            <a:normAutofit/>
          </a:bodyPr>
          <a:lstStyle/>
          <a:p>
            <a:pPr algn="l" indent="0" marL="0">
              <a:lnSpc>
                <a:spcPts val="2224"/>
              </a:lnSpc>
              <a:buNone/>
            </a:pPr>
            <a:r>
              <a:rPr lang="en-US" sz="1390" b="1" dirty="0">
                <a:solidFill>
                  <a:srgbClr val="16233B"/>
                </a:solidFill>
                <a:latin typeface="BIZ UDPGothic" pitchFamily="34" charset="0"/>
                <a:ea typeface="BIZ UDPGothic" pitchFamily="34" charset="-122"/>
                <a:cs typeface="BIZ UDPGothic" pitchFamily="34" charset="-120"/>
              </a:rPr>
              <a:t>公開する日</a:t>
            </a:r>
            <a:r>
              <a:rPr lang="en-US" sz="1390" dirty="0">
                <a:solidFill>
                  <a:srgbClr val="16233B"/>
                </a:solidFill>
                <a:latin typeface="BIZ UDPGothic" pitchFamily="34" charset="0"/>
                <a:ea typeface="BIZ UDPGothic" pitchFamily="34" charset="-122"/>
                <a:cs typeface="BIZ UDPGothic" pitchFamily="34" charset="-120"/>
              </a:rPr>
              <a:t> ＋ </a:t>
            </a:r>
            <a:r>
              <a:rPr lang="en-US" sz="1390" b="1" dirty="0">
                <a:solidFill>
                  <a:srgbClr val="16233B"/>
                </a:solidFill>
                <a:latin typeface="BIZ UDPGothic" pitchFamily="34" charset="0"/>
                <a:ea typeface="BIZ UDPGothic" pitchFamily="34" charset="-122"/>
                <a:cs typeface="BIZ UDPGothic" pitchFamily="34" charset="-120"/>
              </a:rPr>
              <a:t>英語のタイトル</a:t>
            </a:r>
            <a:endParaRPr lang="en-US" sz="1390" dirty="0"/>
          </a:p>
        </p:txBody>
      </p:sp>
      <p:sp>
        <p:nvSpPr>
          <p:cNvPr id="21" name="Shape 18"/>
          <p:cNvSpPr/>
          <p:nvPr/>
        </p:nvSpPr>
        <p:spPr>
          <a:xfrm>
            <a:off x="7092950" y="2809974"/>
            <a:ext cx="4279900" cy="1095276"/>
          </a:xfrm>
          <a:prstGeom prst="roundRect">
            <a:avLst>
              <a:gd name="adj" fmla="val 15654"/>
            </a:avLst>
          </a:prstGeom>
          <a:solidFill>
            <a:srgbClr val="FBFCFE"/>
          </a:solidFill>
          <a:ln w="12700">
            <a:solidFill>
              <a:srgbClr val="D3DBEA"/>
            </a:solidFill>
            <a:prstDash val="solid"/>
          </a:ln>
        </p:spPr>
      </p:sp>
      <p:sp>
        <p:nvSpPr>
          <p:cNvPr id="22" name="Text 19"/>
          <p:cNvSpPr/>
          <p:nvPr/>
        </p:nvSpPr>
        <p:spPr>
          <a:xfrm>
            <a:off x="7302500" y="2968724"/>
            <a:ext cx="3976624" cy="252809"/>
          </a:xfrm>
          <a:prstGeom prst="rect">
            <a:avLst/>
          </a:prstGeom>
          <a:noFill/>
          <a:ln/>
        </p:spPr>
        <p:txBody>
          <a:bodyPr wrap="square" lIns="0" tIns="0" rIns="0" bIns="0" rtlCol="0" anchor="t">
            <a:normAutofit/>
          </a:bodyPr>
          <a:lstStyle/>
          <a:p>
            <a:pPr algn="l" indent="0" marL="0">
              <a:lnSpc>
                <a:spcPts val="1820"/>
              </a:lnSpc>
              <a:buNone/>
            </a:pPr>
            <a:r>
              <a:rPr lang="en-US" sz="1138" b="1" dirty="0">
                <a:solidFill>
                  <a:srgbClr val="2350C9"/>
                </a:solidFill>
                <a:latin typeface="BIZ UDPGothic" pitchFamily="34" charset="0"/>
                <a:ea typeface="BIZ UDPGothic" pitchFamily="34" charset="-122"/>
                <a:cs typeface="BIZ UDPGothic" pitchFamily="34" charset="-120"/>
              </a:rPr>
              <a:t>上の部分：名札</a:t>
            </a:r>
            <a:endParaRPr lang="en-US" sz="1138" dirty="0"/>
          </a:p>
        </p:txBody>
      </p:sp>
      <p:sp>
        <p:nvSpPr>
          <p:cNvPr id="23" name="Text 20"/>
          <p:cNvSpPr/>
          <p:nvPr/>
        </p:nvSpPr>
        <p:spPr>
          <a:xfrm>
            <a:off x="7302500" y="3221534"/>
            <a:ext cx="3976624" cy="550366"/>
          </a:xfrm>
          <a:prstGeom prst="rect">
            <a:avLst/>
          </a:prstGeom>
          <a:noFill/>
          <a:ln/>
        </p:spPr>
        <p:txBody>
          <a:bodyPr wrap="square" lIns="0" tIns="0" rIns="0" bIns="0" rtlCol="0" anchor="t">
            <a:normAutofit/>
          </a:bodyPr>
          <a:lstStyle/>
          <a:p>
            <a:pPr algn="l" indent="0" marL="0">
              <a:lnSpc>
                <a:spcPts val="2085"/>
              </a:lnSpc>
              <a:buNone/>
            </a:pPr>
            <a:r>
              <a:rPr lang="en-US" sz="1303" dirty="0">
                <a:solidFill>
                  <a:srgbClr val="16233B"/>
                </a:solidFill>
                <a:latin typeface="BIZ UDPGothic" pitchFamily="34" charset="0"/>
                <a:ea typeface="BIZ UDPGothic" pitchFamily="34" charset="-122"/>
                <a:cs typeface="BIZ UDPGothic" pitchFamily="34" charset="-120"/>
              </a:rPr>
              <a:t>タイトル・日付・分類を書く。専門用語で front matter</a:t>
            </a:r>
            <a:endParaRPr lang="en-US" sz="1303" dirty="0"/>
          </a:p>
        </p:txBody>
      </p:sp>
      <p:sp>
        <p:nvSpPr>
          <p:cNvPr id="24" name="Shape 21"/>
          <p:cNvSpPr/>
          <p:nvPr/>
        </p:nvSpPr>
        <p:spPr>
          <a:xfrm>
            <a:off x="7092950" y="4032250"/>
            <a:ext cx="4279900" cy="831552"/>
          </a:xfrm>
          <a:prstGeom prst="roundRect">
            <a:avLst>
              <a:gd name="adj" fmla="val 20618"/>
            </a:avLst>
          </a:prstGeom>
          <a:solidFill>
            <a:srgbClr val="FBFCFE"/>
          </a:solidFill>
          <a:ln w="12700">
            <a:solidFill>
              <a:srgbClr val="D3DBEA"/>
            </a:solidFill>
            <a:prstDash val="solid"/>
          </a:ln>
        </p:spPr>
      </p:sp>
      <p:sp>
        <p:nvSpPr>
          <p:cNvPr id="25" name="Text 22"/>
          <p:cNvSpPr/>
          <p:nvPr/>
        </p:nvSpPr>
        <p:spPr>
          <a:xfrm>
            <a:off x="7302500" y="4191000"/>
            <a:ext cx="3976624" cy="252214"/>
          </a:xfrm>
          <a:prstGeom prst="rect">
            <a:avLst/>
          </a:prstGeom>
          <a:noFill/>
          <a:ln/>
        </p:spPr>
        <p:txBody>
          <a:bodyPr wrap="square" lIns="0" tIns="0" rIns="0" bIns="0" rtlCol="0" anchor="t">
            <a:normAutofit/>
          </a:bodyPr>
          <a:lstStyle/>
          <a:p>
            <a:pPr algn="l" indent="0" marL="0">
              <a:lnSpc>
                <a:spcPts val="1820"/>
              </a:lnSpc>
              <a:buNone/>
            </a:pPr>
            <a:r>
              <a:rPr lang="en-US" sz="1138" b="1" dirty="0">
                <a:solidFill>
                  <a:srgbClr val="2350C9"/>
                </a:solidFill>
                <a:latin typeface="BIZ UDPGothic" pitchFamily="34" charset="0"/>
                <a:ea typeface="BIZ UDPGothic" pitchFamily="34" charset="-122"/>
                <a:cs typeface="BIZ UDPGothic" pitchFamily="34" charset="-120"/>
              </a:rPr>
              <a:t>下の部分：本文</a:t>
            </a:r>
            <a:endParaRPr lang="en-US" sz="1138" dirty="0"/>
          </a:p>
        </p:txBody>
      </p:sp>
      <p:sp>
        <p:nvSpPr>
          <p:cNvPr id="26" name="Text 23"/>
          <p:cNvSpPr/>
          <p:nvPr/>
        </p:nvSpPr>
        <p:spPr>
          <a:xfrm>
            <a:off x="7302500" y="4443214"/>
            <a:ext cx="3976624" cy="287238"/>
          </a:xfrm>
          <a:prstGeom prst="rect">
            <a:avLst/>
          </a:prstGeom>
          <a:noFill/>
          <a:ln/>
        </p:spPr>
        <p:txBody>
          <a:bodyPr wrap="square" lIns="0" tIns="0" rIns="0" bIns="0" rtlCol="0" anchor="t">
            <a:normAutofit/>
          </a:bodyPr>
          <a:lstStyle/>
          <a:p>
            <a:pPr algn="l" indent="0" marL="0">
              <a:lnSpc>
                <a:spcPts val="2070"/>
              </a:lnSpc>
              <a:buNone/>
            </a:pPr>
            <a:r>
              <a:rPr lang="en-US" sz="1294" dirty="0">
                <a:solidFill>
                  <a:srgbClr val="16233B"/>
                </a:solidFill>
                <a:latin typeface="BIZ UDPGothic" pitchFamily="34" charset="0"/>
                <a:ea typeface="BIZ UDPGothic" pitchFamily="34" charset="-122"/>
                <a:cs typeface="BIZ UDPGothic" pitchFamily="34" charset="-120"/>
              </a:rPr>
              <a:t>ふつうの文章。記号で見出しや箇条書きを作る</a:t>
            </a:r>
            <a:endParaRPr lang="en-US" sz="1294" dirty="0"/>
          </a:p>
        </p:txBody>
      </p:sp>
      <p:sp>
        <p:nvSpPr>
          <p:cNvPr id="27" name="Shape 24"/>
          <p:cNvSpPr/>
          <p:nvPr/>
        </p:nvSpPr>
        <p:spPr>
          <a:xfrm>
            <a:off x="7092950" y="4990802"/>
            <a:ext cx="4279900" cy="844848"/>
          </a:xfrm>
          <a:prstGeom prst="roundRect">
            <a:avLst>
              <a:gd name="adj" fmla="val 20294"/>
            </a:avLst>
          </a:prstGeom>
          <a:solidFill>
            <a:srgbClr val="FFF0BD"/>
          </a:solidFill>
          <a:ln w="12700">
            <a:solidFill>
              <a:srgbClr val="FFC83D"/>
            </a:solidFill>
            <a:prstDash val="solid"/>
          </a:ln>
        </p:spPr>
      </p:sp>
      <p:sp>
        <p:nvSpPr>
          <p:cNvPr id="28" name="Text 25"/>
          <p:cNvSpPr/>
          <p:nvPr/>
        </p:nvSpPr>
        <p:spPr>
          <a:xfrm>
            <a:off x="7302500" y="5149552"/>
            <a:ext cx="3976624" cy="552748"/>
          </a:xfrm>
          <a:prstGeom prst="rect">
            <a:avLst/>
          </a:prstGeom>
          <a:noFill/>
          <a:ln/>
        </p:spPr>
        <p:txBody>
          <a:bodyPr wrap="square" lIns="0" tIns="0" rIns="0" bIns="0" rtlCol="0" anchor="t">
            <a:normAutofit/>
          </a:bodyPr>
          <a:lstStyle/>
          <a:p>
            <a:pPr algn="l" indent="0" marL="0">
              <a:lnSpc>
                <a:spcPts val="2085"/>
              </a:lnSpc>
              <a:buNone/>
            </a:pPr>
            <a:r>
              <a:rPr lang="en-US" sz="1303" b="1" dirty="0">
                <a:solidFill>
                  <a:srgbClr val="16233B"/>
                </a:solidFill>
                <a:latin typeface="BIZ UDPGothic" pitchFamily="34" charset="0"/>
                <a:ea typeface="BIZ UDPGothic" pitchFamily="34" charset="-122"/>
                <a:cs typeface="BIZ UDPGothic" pitchFamily="34" charset="-120"/>
              </a:rPr>
              <a:t>ルール</a:t>
            </a:r>
            <a:r>
              <a:rPr lang="en-US" sz="1303" dirty="0">
                <a:solidFill>
                  <a:srgbClr val="16233B"/>
                </a:solidFill>
                <a:latin typeface="BIZ UDPGothic" pitchFamily="34" charset="0"/>
                <a:ea typeface="BIZ UDPGothic" pitchFamily="34" charset="-122"/>
                <a:cs typeface="BIZ UDPGothic" pitchFamily="34" charset="-120"/>
              </a:rPr>
              <a:t>：ファイル名の日付が未来だと、その記事は公開されない。</a:t>
            </a:r>
            <a:endParaRPr lang="en-US" sz="1303" dirty="0"/>
          </a:p>
        </p:txBody>
      </p:sp>
      <p:sp>
        <p:nvSpPr>
          <p:cNvPr id="29" name="Text 26"/>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30" name="Text 27"/>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06 / 40</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27509"/>
          </a:xfrm>
          <a:prstGeom prst="rect">
            <a:avLst/>
          </a:prstGeom>
          <a:noFill/>
          <a:ln/>
        </p:spPr>
        <p:txBody>
          <a:bodyPr wrap="square" lIns="0" tIns="0" rIns="0" bIns="0" rtlCol="0" anchor="t">
            <a:normAutofit/>
          </a:bodyPr>
          <a:lstStyle/>
          <a:p>
            <a:pPr algn="l" indent="0" marL="0">
              <a:lnSpc>
                <a:spcPts val="1621"/>
              </a:lnSpc>
              <a:buNone/>
            </a:pPr>
            <a:r>
              <a:rPr lang="en-US" sz="1158" b="1" spc="150" kern="0" dirty="0">
                <a:solidFill>
                  <a:srgbClr val="2350C9"/>
                </a:solidFill>
                <a:latin typeface="BIZ UDPGothic" pitchFamily="34" charset="0"/>
                <a:ea typeface="BIZ UDPGothic" pitchFamily="34" charset="-122"/>
                <a:cs typeface="BIZ UDPGothic" pitchFamily="34" charset="-120"/>
              </a:rPr>
              <a:t>PART 1 ／ ブログのしくみ</a:t>
            </a:r>
            <a:endParaRPr lang="en-US" sz="1158" dirty="0"/>
          </a:p>
        </p:txBody>
      </p:sp>
      <p:sp>
        <p:nvSpPr>
          <p:cNvPr id="3" name="Text 1"/>
          <p:cNvSpPr/>
          <p:nvPr/>
        </p:nvSpPr>
        <p:spPr>
          <a:xfrm>
            <a:off x="812800" y="1078409"/>
            <a:ext cx="10883392" cy="469999"/>
          </a:xfrm>
          <a:prstGeom prst="rect">
            <a:avLst/>
          </a:prstGeom>
          <a:noFill/>
          <a:ln/>
        </p:spPr>
        <p:txBody>
          <a:bodyPr wrap="square" lIns="0" tIns="0" rIns="0" bIns="0" rtlCol="0" anchor="t">
            <a:normAutofit/>
          </a:bodyPr>
          <a:lstStyle/>
          <a:p>
            <a:pPr algn="l" indent="0" marL="0">
              <a:lnSpc>
                <a:spcPts val="3513"/>
              </a:lnSpc>
              <a:buNone/>
            </a:pPr>
            <a:r>
              <a:rPr lang="en-US" sz="2810" b="1" dirty="0">
                <a:solidFill>
                  <a:srgbClr val="16233B"/>
                </a:solidFill>
                <a:latin typeface="Zen Maru Gothic" pitchFamily="34" charset="0"/>
                <a:ea typeface="Zen Maru Gothic" pitchFamily="34" charset="-122"/>
                <a:cs typeface="Zen Maru Gothic" pitchFamily="34" charset="-120"/>
              </a:rPr>
              <a:t>Jekyll は「組み立てる機械」</a:t>
            </a:r>
            <a:endParaRPr lang="en-US" sz="2810" dirty="0"/>
          </a:p>
        </p:txBody>
      </p:sp>
      <p:sp>
        <p:nvSpPr>
          <p:cNvPr id="4" name="Shape 2"/>
          <p:cNvSpPr/>
          <p:nvPr/>
        </p:nvSpPr>
        <p:spPr>
          <a:xfrm>
            <a:off x="819150" y="1808758"/>
            <a:ext cx="1807567" cy="1437779"/>
          </a:xfrm>
          <a:prstGeom prst="roundRect">
            <a:avLst>
              <a:gd name="adj" fmla="val 11925"/>
            </a:avLst>
          </a:prstGeom>
          <a:solidFill>
            <a:srgbClr val="FBFCFE"/>
          </a:solidFill>
          <a:ln w="12700">
            <a:solidFill>
              <a:srgbClr val="D3DBEA"/>
            </a:solidFill>
            <a:prstDash val="solid"/>
          </a:ln>
        </p:spPr>
      </p:sp>
      <p:sp>
        <p:nvSpPr>
          <p:cNvPr id="5" name="Shape 3"/>
          <p:cNvSpPr/>
          <p:nvPr/>
        </p:nvSpPr>
        <p:spPr>
          <a:xfrm>
            <a:off x="1468934" y="1967508"/>
            <a:ext cx="508000" cy="508000"/>
          </a:xfrm>
          <a:prstGeom prst="roundRect">
            <a:avLst>
              <a:gd name="adj" fmla="val 30000"/>
            </a:avLst>
          </a:prstGeom>
          <a:solidFill>
            <a:srgbClr val="E1EAFF"/>
          </a:solidFill>
          <a:ln/>
        </p:spPr>
      </p:sp>
      <p:pic>
        <p:nvPicPr>
          <p:cNvPr id="6" name="Image 0" descr="Book">    </p:cNvPr>
          <p:cNvPicPr>
            <a:picLocks noChangeAspect="1"/>
          </p:cNvPicPr>
          <p:nvPr/>
        </p:nvPicPr>
        <p:blipFill>
          <a:blip r:embed="rId1"/>
          <a:srcRect l="0" r="0" t="0" b="0"/>
          <a:stretch/>
        </p:blipFill>
        <p:spPr>
          <a:xfrm>
            <a:off x="1570534" y="2069108"/>
            <a:ext cx="304800" cy="304800"/>
          </a:xfrm>
          <a:prstGeom prst="rect">
            <a:avLst/>
          </a:prstGeom>
        </p:spPr>
      </p:pic>
      <p:sp>
        <p:nvSpPr>
          <p:cNvPr id="7" name="Text 4"/>
          <p:cNvSpPr/>
          <p:nvPr/>
        </p:nvSpPr>
        <p:spPr>
          <a:xfrm>
            <a:off x="1499989" y="2539008"/>
            <a:ext cx="445790" cy="279797"/>
          </a:xfrm>
          <a:prstGeom prst="rect">
            <a:avLst/>
          </a:prstGeom>
          <a:noFill/>
          <a:ln/>
        </p:spPr>
        <p:txBody>
          <a:bodyPr wrap="square" lIns="0" tIns="0" rIns="0" bIns="0" rtlCol="0" anchor="t">
            <a:normAutofit/>
          </a:bodyPr>
          <a:lstStyle/>
          <a:p>
            <a:pPr algn="ctr" indent="0" marL="0">
              <a:lnSpc>
                <a:spcPts val="2022"/>
              </a:lnSpc>
              <a:buNone/>
            </a:pPr>
            <a:r>
              <a:rPr lang="en-US" sz="1555" b="1" dirty="0">
                <a:solidFill>
                  <a:srgbClr val="16233B"/>
                </a:solidFill>
                <a:latin typeface="Zen Maru Gothic" pitchFamily="34" charset="0"/>
                <a:ea typeface="Zen Maru Gothic" pitchFamily="34" charset="-122"/>
                <a:cs typeface="Zen Maru Gothic" pitchFamily="34" charset="-120"/>
              </a:rPr>
              <a:t>記事</a:t>
            </a:r>
            <a:endParaRPr lang="en-US" sz="1555" dirty="0"/>
          </a:p>
        </p:txBody>
      </p:sp>
      <p:sp>
        <p:nvSpPr>
          <p:cNvPr id="8" name="Text 5"/>
          <p:cNvSpPr/>
          <p:nvPr/>
        </p:nvSpPr>
        <p:spPr>
          <a:xfrm>
            <a:off x="1344414" y="2856905"/>
            <a:ext cx="757039" cy="230882"/>
          </a:xfrm>
          <a:prstGeom prst="rect">
            <a:avLst/>
          </a:prstGeom>
          <a:noFill/>
          <a:ln/>
        </p:spPr>
        <p:txBody>
          <a:bodyPr wrap="square" lIns="0" tIns="0" rIns="0" bIns="0" rtlCol="0" anchor="t">
            <a:normAutofit/>
          </a:bodyPr>
          <a:lstStyle/>
          <a:p>
            <a:pPr algn="ctr" indent="0" marL="0">
              <a:lnSpc>
                <a:spcPts val="1622"/>
              </a:lnSpc>
              <a:buNone/>
            </a:pPr>
            <a:r>
              <a:rPr lang="en-US" sz="1159" dirty="0">
                <a:solidFill>
                  <a:srgbClr val="56647E"/>
                </a:solidFill>
                <a:latin typeface="Source Code Pro" pitchFamily="34" charset="0"/>
                <a:ea typeface="Source Code Pro" pitchFamily="34" charset="-122"/>
                <a:cs typeface="Source Code Pro" pitchFamily="34" charset="-120"/>
              </a:rPr>
              <a:t>Markdown</a:t>
            </a:r>
            <a:endParaRPr lang="en-US" sz="1159" dirty="0"/>
          </a:p>
        </p:txBody>
      </p:sp>
      <p:sp>
        <p:nvSpPr>
          <p:cNvPr id="9" name="Shape 6"/>
          <p:cNvSpPr/>
          <p:nvPr/>
        </p:nvSpPr>
        <p:spPr>
          <a:xfrm>
            <a:off x="2766417" y="1808758"/>
            <a:ext cx="1807666" cy="1437779"/>
          </a:xfrm>
          <a:prstGeom prst="roundRect">
            <a:avLst>
              <a:gd name="adj" fmla="val 11925"/>
            </a:avLst>
          </a:prstGeom>
          <a:solidFill>
            <a:srgbClr val="FBFCFE"/>
          </a:solidFill>
          <a:ln w="12700">
            <a:solidFill>
              <a:srgbClr val="D3DBEA"/>
            </a:solidFill>
            <a:prstDash val="solid"/>
          </a:ln>
        </p:spPr>
      </p:sp>
      <p:sp>
        <p:nvSpPr>
          <p:cNvPr id="10" name="Shape 7"/>
          <p:cNvSpPr/>
          <p:nvPr/>
        </p:nvSpPr>
        <p:spPr>
          <a:xfrm>
            <a:off x="3416201" y="1967508"/>
            <a:ext cx="508000" cy="508000"/>
          </a:xfrm>
          <a:prstGeom prst="roundRect">
            <a:avLst>
              <a:gd name="adj" fmla="val 30000"/>
            </a:avLst>
          </a:prstGeom>
          <a:solidFill>
            <a:srgbClr val="E1EAFF"/>
          </a:solidFill>
          <a:ln/>
        </p:spPr>
      </p:sp>
      <p:pic>
        <p:nvPicPr>
          <p:cNvPr id="11" name="Image 1" descr="Star">    </p:cNvPr>
          <p:cNvPicPr>
            <a:picLocks noChangeAspect="1"/>
          </p:cNvPicPr>
          <p:nvPr/>
        </p:nvPicPr>
        <p:blipFill>
          <a:blip r:embed="rId2"/>
          <a:srcRect l="0" r="0" t="0" b="0"/>
          <a:stretch/>
        </p:blipFill>
        <p:spPr>
          <a:xfrm>
            <a:off x="3517801" y="2069108"/>
            <a:ext cx="304800" cy="304800"/>
          </a:xfrm>
          <a:prstGeom prst="rect">
            <a:avLst/>
          </a:prstGeom>
        </p:spPr>
      </p:pic>
      <p:sp>
        <p:nvSpPr>
          <p:cNvPr id="12" name="Text 8"/>
          <p:cNvSpPr/>
          <p:nvPr/>
        </p:nvSpPr>
        <p:spPr>
          <a:xfrm>
            <a:off x="3249811" y="2539008"/>
            <a:ext cx="840780" cy="279797"/>
          </a:xfrm>
          <a:prstGeom prst="rect">
            <a:avLst/>
          </a:prstGeom>
          <a:noFill/>
          <a:ln/>
        </p:spPr>
        <p:txBody>
          <a:bodyPr wrap="square" lIns="0" tIns="0" rIns="0" bIns="0" rtlCol="0" anchor="t">
            <a:normAutofit/>
          </a:bodyPr>
          <a:lstStyle/>
          <a:p>
            <a:pPr algn="ctr" indent="0" marL="0">
              <a:lnSpc>
                <a:spcPts val="2022"/>
              </a:lnSpc>
              <a:buNone/>
            </a:pPr>
            <a:r>
              <a:rPr lang="en-US" sz="1555" b="1" dirty="0">
                <a:solidFill>
                  <a:srgbClr val="16233B"/>
                </a:solidFill>
                <a:latin typeface="Zen Maru Gothic" pitchFamily="34" charset="0"/>
                <a:ea typeface="Zen Maru Gothic" pitchFamily="34" charset="-122"/>
                <a:cs typeface="Zen Maru Gothic" pitchFamily="34" charset="-120"/>
              </a:rPr>
              <a:t>デザイン</a:t>
            </a:r>
            <a:endParaRPr lang="en-US" sz="1555" dirty="0"/>
          </a:p>
        </p:txBody>
      </p:sp>
      <p:sp>
        <p:nvSpPr>
          <p:cNvPr id="13" name="Text 9"/>
          <p:cNvSpPr/>
          <p:nvPr/>
        </p:nvSpPr>
        <p:spPr>
          <a:xfrm>
            <a:off x="3379986" y="2856905"/>
            <a:ext cx="580529" cy="230882"/>
          </a:xfrm>
          <a:prstGeom prst="rect">
            <a:avLst/>
          </a:prstGeom>
          <a:noFill/>
          <a:ln/>
        </p:spPr>
        <p:txBody>
          <a:bodyPr wrap="square" lIns="0" tIns="0" rIns="0" bIns="0" rtlCol="0" anchor="t">
            <a:normAutofit/>
          </a:bodyPr>
          <a:lstStyle/>
          <a:p>
            <a:pPr algn="ctr" indent="0" marL="0">
              <a:lnSpc>
                <a:spcPts val="1622"/>
              </a:lnSpc>
              <a:buNone/>
            </a:pPr>
            <a:r>
              <a:rPr lang="en-US" sz="1159" dirty="0">
                <a:solidFill>
                  <a:srgbClr val="56647E"/>
                </a:solidFill>
                <a:latin typeface="Source Code Pro" pitchFamily="34" charset="0"/>
                <a:ea typeface="Source Code Pro" pitchFamily="34" charset="-122"/>
                <a:cs typeface="Source Code Pro" pitchFamily="34" charset="-120"/>
              </a:rPr>
              <a:t>Chirpy</a:t>
            </a:r>
            <a:endParaRPr lang="en-US" sz="1159" dirty="0"/>
          </a:p>
        </p:txBody>
      </p:sp>
      <p:sp>
        <p:nvSpPr>
          <p:cNvPr id="14" name="Shape 10"/>
          <p:cNvSpPr/>
          <p:nvPr/>
        </p:nvSpPr>
        <p:spPr>
          <a:xfrm>
            <a:off x="4713784" y="1808758"/>
            <a:ext cx="1807666" cy="1437779"/>
          </a:xfrm>
          <a:prstGeom prst="roundRect">
            <a:avLst>
              <a:gd name="adj" fmla="val 11925"/>
            </a:avLst>
          </a:prstGeom>
          <a:solidFill>
            <a:srgbClr val="FBFCFE"/>
          </a:solidFill>
          <a:ln w="12700">
            <a:solidFill>
              <a:srgbClr val="D3DBEA"/>
            </a:solidFill>
            <a:prstDash val="solid"/>
          </a:ln>
        </p:spPr>
      </p:sp>
      <p:sp>
        <p:nvSpPr>
          <p:cNvPr id="15" name="Shape 11"/>
          <p:cNvSpPr/>
          <p:nvPr/>
        </p:nvSpPr>
        <p:spPr>
          <a:xfrm>
            <a:off x="5363567" y="1967508"/>
            <a:ext cx="508000" cy="508000"/>
          </a:xfrm>
          <a:prstGeom prst="roundRect">
            <a:avLst>
              <a:gd name="adj" fmla="val 30000"/>
            </a:avLst>
          </a:prstGeom>
          <a:solidFill>
            <a:srgbClr val="E1EAFF"/>
          </a:solidFill>
          <a:ln/>
        </p:spPr>
      </p:sp>
      <p:pic>
        <p:nvPicPr>
          <p:cNvPr id="16" name="Image 2" descr="Settings">    </p:cNvPr>
          <p:cNvPicPr>
            <a:picLocks noChangeAspect="1"/>
          </p:cNvPicPr>
          <p:nvPr/>
        </p:nvPicPr>
        <p:blipFill>
          <a:blip r:embed="rId3"/>
          <a:srcRect l="0" r="0" t="0" b="0"/>
          <a:stretch/>
        </p:blipFill>
        <p:spPr>
          <a:xfrm>
            <a:off x="5465167" y="2069108"/>
            <a:ext cx="304800" cy="304800"/>
          </a:xfrm>
          <a:prstGeom prst="rect">
            <a:avLst/>
          </a:prstGeom>
        </p:spPr>
      </p:pic>
      <p:sp>
        <p:nvSpPr>
          <p:cNvPr id="17" name="Text 12"/>
          <p:cNvSpPr/>
          <p:nvPr/>
        </p:nvSpPr>
        <p:spPr>
          <a:xfrm>
            <a:off x="5394722" y="2539008"/>
            <a:ext cx="445790" cy="279797"/>
          </a:xfrm>
          <a:prstGeom prst="rect">
            <a:avLst/>
          </a:prstGeom>
          <a:noFill/>
          <a:ln/>
        </p:spPr>
        <p:txBody>
          <a:bodyPr wrap="square" lIns="0" tIns="0" rIns="0" bIns="0" rtlCol="0" anchor="t">
            <a:normAutofit/>
          </a:bodyPr>
          <a:lstStyle/>
          <a:p>
            <a:pPr algn="ctr" indent="0" marL="0">
              <a:lnSpc>
                <a:spcPts val="2022"/>
              </a:lnSpc>
              <a:buNone/>
            </a:pPr>
            <a:r>
              <a:rPr lang="en-US" sz="1555" b="1" dirty="0">
                <a:solidFill>
                  <a:srgbClr val="16233B"/>
                </a:solidFill>
                <a:latin typeface="Zen Maru Gothic" pitchFamily="34" charset="0"/>
                <a:ea typeface="Zen Maru Gothic" pitchFamily="34" charset="-122"/>
                <a:cs typeface="Zen Maru Gothic" pitchFamily="34" charset="-120"/>
              </a:rPr>
              <a:t>設定</a:t>
            </a:r>
            <a:endParaRPr lang="en-US" sz="1555" dirty="0"/>
          </a:p>
        </p:txBody>
      </p:sp>
      <p:sp>
        <p:nvSpPr>
          <p:cNvPr id="18" name="Text 13"/>
          <p:cNvSpPr/>
          <p:nvPr/>
        </p:nvSpPr>
        <p:spPr>
          <a:xfrm>
            <a:off x="5106591" y="2856905"/>
            <a:ext cx="1021953" cy="230882"/>
          </a:xfrm>
          <a:prstGeom prst="rect">
            <a:avLst/>
          </a:prstGeom>
          <a:noFill/>
          <a:ln/>
        </p:spPr>
        <p:txBody>
          <a:bodyPr wrap="square" lIns="0" tIns="0" rIns="0" bIns="0" rtlCol="0" anchor="t">
            <a:normAutofit/>
          </a:bodyPr>
          <a:lstStyle/>
          <a:p>
            <a:pPr algn="ctr" indent="0" marL="0">
              <a:lnSpc>
                <a:spcPts val="1622"/>
              </a:lnSpc>
              <a:buNone/>
            </a:pPr>
            <a:r>
              <a:rPr lang="en-US" sz="1159" dirty="0">
                <a:solidFill>
                  <a:srgbClr val="56647E"/>
                </a:solidFill>
                <a:latin typeface="Source Code Pro" pitchFamily="34" charset="0"/>
                <a:ea typeface="Source Code Pro" pitchFamily="34" charset="-122"/>
                <a:cs typeface="Source Code Pro" pitchFamily="34" charset="-120"/>
              </a:rPr>
              <a:t>_config.yml</a:t>
            </a:r>
            <a:endParaRPr lang="en-US" sz="1159" dirty="0"/>
          </a:p>
        </p:txBody>
      </p:sp>
      <p:pic>
        <p:nvPicPr>
          <p:cNvPr id="19" name="Image 3" descr="arrow-down">    </p:cNvPr>
          <p:cNvPicPr>
            <a:picLocks noChangeAspect="1"/>
          </p:cNvPicPr>
          <p:nvPr/>
        </p:nvPicPr>
        <p:blipFill>
          <a:blip r:embed="rId4"/>
          <a:srcRect l="0" r="0" t="0" b="0"/>
          <a:stretch/>
        </p:blipFill>
        <p:spPr>
          <a:xfrm>
            <a:off x="3568700" y="3341787"/>
            <a:ext cx="203200" cy="304800"/>
          </a:xfrm>
          <a:prstGeom prst="rect">
            <a:avLst/>
          </a:prstGeom>
        </p:spPr>
      </p:pic>
      <p:sp>
        <p:nvSpPr>
          <p:cNvPr id="20" name="Shape 14"/>
          <p:cNvSpPr/>
          <p:nvPr/>
        </p:nvSpPr>
        <p:spPr>
          <a:xfrm>
            <a:off x="812800" y="3735487"/>
            <a:ext cx="5715000" cy="1003002"/>
          </a:xfrm>
          <a:prstGeom prst="roundRect">
            <a:avLst>
              <a:gd name="adj" fmla="val 17727"/>
            </a:avLst>
          </a:prstGeom>
          <a:solidFill>
            <a:srgbClr val="2F62E6"/>
          </a:solidFill>
          <a:ln/>
        </p:spPr>
      </p:sp>
      <p:sp>
        <p:nvSpPr>
          <p:cNvPr id="21" name="Text 15"/>
          <p:cNvSpPr/>
          <p:nvPr/>
        </p:nvSpPr>
        <p:spPr>
          <a:xfrm>
            <a:off x="2627709" y="3913287"/>
            <a:ext cx="2147634" cy="383977"/>
          </a:xfrm>
          <a:prstGeom prst="rect">
            <a:avLst/>
          </a:prstGeom>
          <a:noFill/>
          <a:ln/>
        </p:spPr>
        <p:txBody>
          <a:bodyPr wrap="square" lIns="0" tIns="0" rIns="0" bIns="0" rtlCol="0" anchor="t">
            <a:normAutofit/>
          </a:bodyPr>
          <a:lstStyle/>
          <a:p>
            <a:pPr algn="l" indent="0" marL="0">
              <a:lnSpc>
                <a:spcPts val="2824"/>
              </a:lnSpc>
              <a:buNone/>
            </a:pPr>
            <a:r>
              <a:rPr lang="en-US" sz="2173" b="1" dirty="0">
                <a:solidFill>
                  <a:srgbClr val="FFFFFF"/>
                </a:solidFill>
                <a:latin typeface="Zen Maru Gothic" pitchFamily="34" charset="0"/>
                <a:ea typeface="Zen Maru Gothic" pitchFamily="34" charset="-122"/>
                <a:cs typeface="Zen Maru Gothic" pitchFamily="34" charset="-120"/>
              </a:rPr>
              <a:t>Jekyll（ジキル）</a:t>
            </a:r>
            <a:endParaRPr lang="en-US" sz="2173" dirty="0"/>
          </a:p>
        </p:txBody>
      </p:sp>
      <p:sp>
        <p:nvSpPr>
          <p:cNvPr id="22" name="Text 16"/>
          <p:cNvSpPr/>
          <p:nvPr/>
        </p:nvSpPr>
        <p:spPr>
          <a:xfrm>
            <a:off x="2414885" y="4297263"/>
            <a:ext cx="2586155" cy="288826"/>
          </a:xfrm>
          <a:prstGeom prst="rect">
            <a:avLst/>
          </a:prstGeom>
          <a:noFill/>
          <a:ln/>
        </p:spPr>
        <p:txBody>
          <a:bodyPr wrap="square" lIns="0" tIns="0" rIns="0" bIns="0" rtlCol="0" anchor="t">
            <a:normAutofit/>
          </a:bodyPr>
          <a:lstStyle/>
          <a:p>
            <a:pPr algn="l" indent="0" marL="0">
              <a:lnSpc>
                <a:spcPts val="2074"/>
              </a:lnSpc>
              <a:buNone/>
            </a:pPr>
            <a:r>
              <a:rPr lang="en-US" sz="1383" dirty="0">
                <a:solidFill>
                  <a:srgbClr val="E8EEFF"/>
                </a:solidFill>
                <a:latin typeface="BIZ UDPGothic" pitchFamily="34" charset="0"/>
                <a:ea typeface="BIZ UDPGothic" pitchFamily="34" charset="-122"/>
                <a:cs typeface="BIZ UDPGothic" pitchFamily="34" charset="-120"/>
              </a:rPr>
              <a:t>材料を全部まぜて、ページを作る</a:t>
            </a:r>
            <a:endParaRPr lang="en-US" sz="1383" dirty="0"/>
          </a:p>
        </p:txBody>
      </p:sp>
      <p:pic>
        <p:nvPicPr>
          <p:cNvPr id="23" name="Image 4" descr="arrow-down">    </p:cNvPr>
          <p:cNvPicPr>
            <a:picLocks noChangeAspect="1"/>
          </p:cNvPicPr>
          <p:nvPr/>
        </p:nvPicPr>
        <p:blipFill>
          <a:blip r:embed="rId5"/>
          <a:srcRect l="0" r="0" t="0" b="0"/>
          <a:stretch/>
        </p:blipFill>
        <p:spPr>
          <a:xfrm>
            <a:off x="3568700" y="4827389"/>
            <a:ext cx="203200" cy="304800"/>
          </a:xfrm>
          <a:prstGeom prst="rect">
            <a:avLst/>
          </a:prstGeom>
        </p:spPr>
      </p:pic>
      <p:sp>
        <p:nvSpPr>
          <p:cNvPr id="24" name="Shape 17"/>
          <p:cNvSpPr/>
          <p:nvPr/>
        </p:nvSpPr>
        <p:spPr>
          <a:xfrm>
            <a:off x="812800" y="5221089"/>
            <a:ext cx="5715000" cy="620911"/>
          </a:xfrm>
          <a:prstGeom prst="roundRect">
            <a:avLst>
              <a:gd name="adj" fmla="val 28635"/>
            </a:avLst>
          </a:prstGeom>
          <a:solidFill>
            <a:srgbClr val="FFC83D"/>
          </a:solidFill>
          <a:ln/>
        </p:spPr>
      </p:sp>
      <p:sp>
        <p:nvSpPr>
          <p:cNvPr id="25" name="Text 18"/>
          <p:cNvSpPr/>
          <p:nvPr/>
        </p:nvSpPr>
        <p:spPr>
          <a:xfrm>
            <a:off x="2162770" y="5373489"/>
            <a:ext cx="3105511" cy="341511"/>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6233B"/>
                </a:solidFill>
                <a:latin typeface="Zen Maru Gothic" pitchFamily="34" charset="0"/>
                <a:ea typeface="Zen Maru Gothic" pitchFamily="34" charset="-122"/>
                <a:cs typeface="Zen Maru Gothic" pitchFamily="34" charset="-120"/>
              </a:rPr>
              <a:t>記事の数だけ HTML のページ</a:t>
            </a:r>
            <a:endParaRPr lang="en-US" sz="1800" dirty="0"/>
          </a:p>
        </p:txBody>
      </p:sp>
      <p:sp>
        <p:nvSpPr>
          <p:cNvPr id="26" name="Shape 19"/>
          <p:cNvSpPr/>
          <p:nvPr/>
        </p:nvSpPr>
        <p:spPr>
          <a:xfrm>
            <a:off x="6889750" y="1808758"/>
            <a:ext cx="4483100" cy="1048643"/>
          </a:xfrm>
          <a:prstGeom prst="roundRect">
            <a:avLst>
              <a:gd name="adj" fmla="val 16350"/>
            </a:avLst>
          </a:prstGeom>
          <a:solidFill>
            <a:srgbClr val="FBFCFE"/>
          </a:solidFill>
          <a:ln w="12700">
            <a:solidFill>
              <a:srgbClr val="D3DBEA"/>
            </a:solidFill>
            <a:prstDash val="solid"/>
          </a:ln>
        </p:spPr>
      </p:sp>
      <p:sp>
        <p:nvSpPr>
          <p:cNvPr id="27" name="Text 20"/>
          <p:cNvSpPr/>
          <p:nvPr/>
        </p:nvSpPr>
        <p:spPr>
          <a:xfrm>
            <a:off x="7099300" y="1954808"/>
            <a:ext cx="4185920" cy="246459"/>
          </a:xfrm>
          <a:prstGeom prst="rect">
            <a:avLst/>
          </a:prstGeom>
          <a:noFill/>
          <a:ln/>
        </p:spPr>
        <p:txBody>
          <a:bodyPr wrap="square" lIns="0" tIns="0" rIns="0" bIns="0" rtlCol="0" anchor="t">
            <a:normAutofit/>
          </a:bodyPr>
          <a:lstStyle/>
          <a:p>
            <a:pPr algn="l" indent="0" marL="0">
              <a:lnSpc>
                <a:spcPts val="1775"/>
              </a:lnSpc>
              <a:buNone/>
            </a:pPr>
            <a:r>
              <a:rPr lang="en-US" sz="1365" b="1" dirty="0">
                <a:solidFill>
                  <a:srgbClr val="2350C9"/>
                </a:solidFill>
                <a:latin typeface="Zen Maru Gothic" pitchFamily="34" charset="0"/>
                <a:ea typeface="Zen Maru Gothic" pitchFamily="34" charset="-122"/>
                <a:cs typeface="Zen Maru Gothic" pitchFamily="34" charset="-120"/>
              </a:rPr>
              <a:t>記事</a:t>
            </a:r>
            <a:endParaRPr lang="en-US" sz="1365" dirty="0"/>
          </a:p>
        </p:txBody>
      </p:sp>
      <p:sp>
        <p:nvSpPr>
          <p:cNvPr id="28" name="Text 21"/>
          <p:cNvSpPr/>
          <p:nvPr/>
        </p:nvSpPr>
        <p:spPr>
          <a:xfrm>
            <a:off x="7099300" y="2201267"/>
            <a:ext cx="4185920" cy="535484"/>
          </a:xfrm>
          <a:prstGeom prst="rect">
            <a:avLst/>
          </a:prstGeom>
          <a:noFill/>
          <a:ln/>
        </p:spPr>
        <p:txBody>
          <a:bodyPr wrap="square" lIns="0" tIns="0" rIns="0" bIns="0" rtlCol="0" anchor="t">
            <a:normAutofit/>
          </a:bodyPr>
          <a:lstStyle/>
          <a:p>
            <a:pPr algn="l" indent="0" marL="0">
              <a:lnSpc>
                <a:spcPts val="2220"/>
              </a:lnSpc>
              <a:buNone/>
            </a:pPr>
            <a:r>
              <a:rPr lang="en-US" sz="1388" dirty="0">
                <a:solidFill>
                  <a:srgbClr val="16233B"/>
                </a:solidFill>
                <a:latin typeface="BIZ UDPGothic" pitchFamily="34" charset="0"/>
                <a:ea typeface="BIZ UDPGothic" pitchFamily="34" charset="-122"/>
                <a:cs typeface="BIZ UDPGothic" pitchFamily="34" charset="-120"/>
              </a:rPr>
              <a:t>自分で書いた Markdown。中身だけに集中できる。</a:t>
            </a:r>
            <a:endParaRPr lang="en-US" sz="1388" dirty="0"/>
          </a:p>
        </p:txBody>
      </p:sp>
      <p:sp>
        <p:nvSpPr>
          <p:cNvPr id="29" name="Shape 22"/>
          <p:cNvSpPr/>
          <p:nvPr/>
        </p:nvSpPr>
        <p:spPr>
          <a:xfrm>
            <a:off x="6889750" y="2971701"/>
            <a:ext cx="4483100" cy="1048544"/>
          </a:xfrm>
          <a:prstGeom prst="roundRect">
            <a:avLst>
              <a:gd name="adj" fmla="val 16351"/>
            </a:avLst>
          </a:prstGeom>
          <a:solidFill>
            <a:srgbClr val="FBFCFE"/>
          </a:solidFill>
          <a:ln w="12700">
            <a:solidFill>
              <a:srgbClr val="D3DBEA"/>
            </a:solidFill>
            <a:prstDash val="solid"/>
          </a:ln>
        </p:spPr>
      </p:sp>
      <p:sp>
        <p:nvSpPr>
          <p:cNvPr id="30" name="Text 23"/>
          <p:cNvSpPr/>
          <p:nvPr/>
        </p:nvSpPr>
        <p:spPr>
          <a:xfrm>
            <a:off x="7099300" y="3117751"/>
            <a:ext cx="4185920" cy="246360"/>
          </a:xfrm>
          <a:prstGeom prst="rect">
            <a:avLst/>
          </a:prstGeom>
          <a:noFill/>
          <a:ln/>
        </p:spPr>
        <p:txBody>
          <a:bodyPr wrap="square" lIns="0" tIns="0" rIns="0" bIns="0" rtlCol="0" anchor="t">
            <a:normAutofit/>
          </a:bodyPr>
          <a:lstStyle/>
          <a:p>
            <a:pPr algn="l" indent="0" marL="0">
              <a:lnSpc>
                <a:spcPts val="1775"/>
              </a:lnSpc>
              <a:buNone/>
            </a:pPr>
            <a:r>
              <a:rPr lang="en-US" sz="1365" b="1" dirty="0">
                <a:solidFill>
                  <a:srgbClr val="2350C9"/>
                </a:solidFill>
                <a:latin typeface="Zen Maru Gothic" pitchFamily="34" charset="0"/>
                <a:ea typeface="Zen Maru Gothic" pitchFamily="34" charset="-122"/>
                <a:cs typeface="Zen Maru Gothic" pitchFamily="34" charset="-120"/>
              </a:rPr>
              <a:t>デザイン</a:t>
            </a:r>
            <a:endParaRPr lang="en-US" sz="1365" dirty="0"/>
          </a:p>
        </p:txBody>
      </p:sp>
      <p:sp>
        <p:nvSpPr>
          <p:cNvPr id="31" name="Text 24"/>
          <p:cNvSpPr/>
          <p:nvPr/>
        </p:nvSpPr>
        <p:spPr>
          <a:xfrm>
            <a:off x="7099300" y="3364111"/>
            <a:ext cx="4185920" cy="535484"/>
          </a:xfrm>
          <a:prstGeom prst="rect">
            <a:avLst/>
          </a:prstGeom>
          <a:noFill/>
          <a:ln/>
        </p:spPr>
        <p:txBody>
          <a:bodyPr wrap="square" lIns="0" tIns="0" rIns="0" bIns="0" rtlCol="0" anchor="t">
            <a:normAutofit/>
          </a:bodyPr>
          <a:lstStyle/>
          <a:p>
            <a:pPr algn="l" indent="0" marL="0">
              <a:lnSpc>
                <a:spcPts val="2010"/>
              </a:lnSpc>
              <a:buNone/>
            </a:pPr>
            <a:r>
              <a:rPr lang="en-US" sz="1256" dirty="0">
                <a:solidFill>
                  <a:srgbClr val="16233B"/>
                </a:solidFill>
                <a:latin typeface="BIZ UDPGothic" pitchFamily="34" charset="0"/>
                <a:ea typeface="BIZ UDPGothic" pitchFamily="34" charset="-122"/>
                <a:cs typeface="BIZ UDPGothic" pitchFamily="34" charset="-120"/>
              </a:rPr>
              <a:t>Chirpy（チャーピー）という、公開されている着せ替えセットを借りている。</a:t>
            </a:r>
            <a:endParaRPr lang="en-US" sz="1256" dirty="0"/>
          </a:p>
        </p:txBody>
      </p:sp>
      <p:sp>
        <p:nvSpPr>
          <p:cNvPr id="32" name="Shape 25"/>
          <p:cNvSpPr/>
          <p:nvPr/>
        </p:nvSpPr>
        <p:spPr>
          <a:xfrm>
            <a:off x="6889750" y="4134545"/>
            <a:ext cx="4483100" cy="1048544"/>
          </a:xfrm>
          <a:prstGeom prst="roundRect">
            <a:avLst>
              <a:gd name="adj" fmla="val 16351"/>
            </a:avLst>
          </a:prstGeom>
          <a:solidFill>
            <a:srgbClr val="FBFCFE"/>
          </a:solidFill>
          <a:ln w="12700">
            <a:solidFill>
              <a:srgbClr val="D3DBEA"/>
            </a:solidFill>
            <a:prstDash val="solid"/>
          </a:ln>
        </p:spPr>
      </p:sp>
      <p:sp>
        <p:nvSpPr>
          <p:cNvPr id="33" name="Text 26"/>
          <p:cNvSpPr/>
          <p:nvPr/>
        </p:nvSpPr>
        <p:spPr>
          <a:xfrm>
            <a:off x="7099300" y="4280595"/>
            <a:ext cx="4185920" cy="246360"/>
          </a:xfrm>
          <a:prstGeom prst="rect">
            <a:avLst/>
          </a:prstGeom>
          <a:noFill/>
          <a:ln/>
        </p:spPr>
        <p:txBody>
          <a:bodyPr wrap="square" lIns="0" tIns="0" rIns="0" bIns="0" rtlCol="0" anchor="t">
            <a:normAutofit/>
          </a:bodyPr>
          <a:lstStyle/>
          <a:p>
            <a:pPr algn="l" indent="0" marL="0">
              <a:lnSpc>
                <a:spcPts val="1775"/>
              </a:lnSpc>
              <a:buNone/>
            </a:pPr>
            <a:r>
              <a:rPr lang="en-US" sz="1365" b="1" dirty="0">
                <a:solidFill>
                  <a:srgbClr val="2350C9"/>
                </a:solidFill>
                <a:latin typeface="Zen Maru Gothic" pitchFamily="34" charset="0"/>
                <a:ea typeface="Zen Maru Gothic" pitchFamily="34" charset="-122"/>
                <a:cs typeface="Zen Maru Gothic" pitchFamily="34" charset="-120"/>
              </a:rPr>
              <a:t>設定</a:t>
            </a:r>
            <a:endParaRPr lang="en-US" sz="1365" dirty="0"/>
          </a:p>
        </p:txBody>
      </p:sp>
      <p:sp>
        <p:nvSpPr>
          <p:cNvPr id="34" name="Text 27"/>
          <p:cNvSpPr/>
          <p:nvPr/>
        </p:nvSpPr>
        <p:spPr>
          <a:xfrm>
            <a:off x="7099300" y="4526955"/>
            <a:ext cx="4185920" cy="535484"/>
          </a:xfrm>
          <a:prstGeom prst="rect">
            <a:avLst/>
          </a:prstGeom>
          <a:noFill/>
          <a:ln/>
        </p:spPr>
        <p:txBody>
          <a:bodyPr wrap="square" lIns="0" tIns="0" rIns="0" bIns="0" rtlCol="0" anchor="t">
            <a:normAutofit/>
          </a:bodyPr>
          <a:lstStyle/>
          <a:p>
            <a:pPr algn="l" indent="0" marL="0">
              <a:lnSpc>
                <a:spcPts val="2025"/>
              </a:lnSpc>
              <a:buNone/>
            </a:pPr>
            <a:r>
              <a:rPr lang="en-US" sz="1266" dirty="0">
                <a:solidFill>
                  <a:srgbClr val="16233B"/>
                </a:solidFill>
                <a:latin typeface="BIZ UDPGothic" pitchFamily="34" charset="0"/>
                <a:ea typeface="BIZ UDPGothic" pitchFamily="34" charset="-122"/>
                <a:cs typeface="BIZ UDPGothic" pitchFamily="34" charset="-120"/>
              </a:rPr>
              <a:t>サイトの名前やURL、どのフォルダを材料にするかのメモ。</a:t>
            </a:r>
            <a:endParaRPr lang="en-US" sz="1266" dirty="0"/>
          </a:p>
        </p:txBody>
      </p:sp>
      <p:sp>
        <p:nvSpPr>
          <p:cNvPr id="35" name="Text 28"/>
          <p:cNvSpPr/>
          <p:nvPr/>
        </p:nvSpPr>
        <p:spPr>
          <a:xfrm>
            <a:off x="6883400" y="5329138"/>
            <a:ext cx="4630674" cy="538262"/>
          </a:xfrm>
          <a:prstGeom prst="rect">
            <a:avLst/>
          </a:prstGeom>
          <a:noFill/>
          <a:ln/>
        </p:spPr>
        <p:txBody>
          <a:bodyPr wrap="square" lIns="0" tIns="0" rIns="0" bIns="0" rtlCol="0" anchor="t">
            <a:normAutofit/>
          </a:bodyPr>
          <a:lstStyle/>
          <a:p>
            <a:pPr algn="l" indent="0" marL="0">
              <a:lnSpc>
                <a:spcPts val="2033"/>
              </a:lnSpc>
              <a:buNone/>
            </a:pPr>
            <a:r>
              <a:rPr lang="en-US" sz="1270" dirty="0">
                <a:solidFill>
                  <a:srgbClr val="56647E"/>
                </a:solidFill>
                <a:latin typeface="BIZ UDPGothic" pitchFamily="34" charset="0"/>
                <a:ea typeface="BIZ UDPGothic" pitchFamily="34" charset="-122"/>
                <a:cs typeface="BIZ UDPGothic" pitchFamily="34" charset="-120"/>
              </a:rPr>
              <a:t>同じ機械が同じ手順で全ページを作り直すから、人が手で直す場所がほとんどない。</a:t>
            </a:r>
            <a:endParaRPr lang="en-US" sz="1270" dirty="0"/>
          </a:p>
        </p:txBody>
      </p:sp>
      <p:sp>
        <p:nvSpPr>
          <p:cNvPr id="36" name="Text 2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37" name="Text 30"/>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07 / 40</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1 ／ ブログのしくみ</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公開されるものと、されないもの</a:t>
            </a:r>
            <a:endParaRPr lang="en-US" sz="3200" dirty="0"/>
          </a:p>
        </p:txBody>
      </p:sp>
      <p:sp>
        <p:nvSpPr>
          <p:cNvPr id="4" name="Shape 2"/>
          <p:cNvSpPr/>
          <p:nvPr/>
        </p:nvSpPr>
        <p:spPr>
          <a:xfrm>
            <a:off x="819150" y="1901130"/>
            <a:ext cx="6400800" cy="496788"/>
          </a:xfrm>
          <a:prstGeom prst="roundRect">
            <a:avLst>
              <a:gd name="adj" fmla="val 24286"/>
            </a:avLst>
          </a:prstGeom>
          <a:solidFill>
            <a:srgbClr val="FBFCFE"/>
          </a:solidFill>
          <a:ln w="12700">
            <a:solidFill>
              <a:srgbClr val="D3DBEA"/>
            </a:solidFill>
            <a:prstDash val="solid"/>
          </a:ln>
        </p:spPr>
      </p:sp>
      <p:sp>
        <p:nvSpPr>
          <p:cNvPr id="5" name="Text 3"/>
          <p:cNvSpPr/>
          <p:nvPr/>
        </p:nvSpPr>
        <p:spPr>
          <a:xfrm>
            <a:off x="1003300" y="2025055"/>
            <a:ext cx="16383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33B"/>
                </a:solidFill>
                <a:latin typeface="Source Code Pro" pitchFamily="34" charset="0"/>
                <a:ea typeface="Source Code Pro" pitchFamily="34" charset="-122"/>
                <a:cs typeface="Source Code Pro" pitchFamily="34" charset="-120"/>
              </a:rPr>
              <a:t>site/</a:t>
            </a:r>
            <a:endParaRPr lang="en-US" sz="1400" dirty="0"/>
          </a:p>
        </p:txBody>
      </p:sp>
      <p:sp>
        <p:nvSpPr>
          <p:cNvPr id="6" name="Text 4"/>
          <p:cNvSpPr/>
          <p:nvPr/>
        </p:nvSpPr>
        <p:spPr>
          <a:xfrm>
            <a:off x="2743200" y="2033984"/>
            <a:ext cx="2794020"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6647E"/>
                </a:solidFill>
                <a:latin typeface="BIZ UDPGothic" pitchFamily="34" charset="0"/>
                <a:ea typeface="BIZ UDPGothic" pitchFamily="34" charset="-122"/>
                <a:cs typeface="BIZ UDPGothic" pitchFamily="34" charset="-120"/>
              </a:rPr>
              <a:t>Jekyll が材料にする場所</a:t>
            </a:r>
            <a:endParaRPr lang="en-US" sz="1300" dirty="0"/>
          </a:p>
        </p:txBody>
      </p:sp>
      <p:sp>
        <p:nvSpPr>
          <p:cNvPr id="7" name="Shape 5"/>
          <p:cNvSpPr/>
          <p:nvPr/>
        </p:nvSpPr>
        <p:spPr>
          <a:xfrm>
            <a:off x="5608241" y="1995884"/>
            <a:ext cx="1427559" cy="307280"/>
          </a:xfrm>
          <a:prstGeom prst="roundRect">
            <a:avLst>
              <a:gd name="adj" fmla="val 50000"/>
            </a:avLst>
          </a:prstGeom>
          <a:solidFill>
            <a:srgbClr val="2F62E6"/>
          </a:solidFill>
          <a:ln/>
        </p:spPr>
      </p:sp>
      <p:sp>
        <p:nvSpPr>
          <p:cNvPr id="8" name="Text 6"/>
          <p:cNvSpPr/>
          <p:nvPr/>
        </p:nvSpPr>
        <p:spPr>
          <a:xfrm>
            <a:off x="5760641" y="2033984"/>
            <a:ext cx="1173559"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BIZ UDPGothic" pitchFamily="34" charset="0"/>
                <a:ea typeface="BIZ UDPGothic" pitchFamily="34" charset="-122"/>
                <a:cs typeface="BIZ UDPGothic" pitchFamily="34" charset="-120"/>
              </a:rPr>
              <a:t>ここだけが材料</a:t>
            </a:r>
            <a:endParaRPr lang="en-US" sz="1300" dirty="0"/>
          </a:p>
        </p:txBody>
      </p:sp>
      <p:sp>
        <p:nvSpPr>
          <p:cNvPr id="9" name="Shape 7"/>
          <p:cNvSpPr/>
          <p:nvPr/>
        </p:nvSpPr>
        <p:spPr>
          <a:xfrm>
            <a:off x="819150" y="2474119"/>
            <a:ext cx="6400800" cy="496689"/>
          </a:xfrm>
          <a:prstGeom prst="roundRect">
            <a:avLst>
              <a:gd name="adj" fmla="val 24291"/>
            </a:avLst>
          </a:prstGeom>
          <a:solidFill>
            <a:srgbClr val="FBFCFE"/>
          </a:solidFill>
          <a:ln w="12700">
            <a:solidFill>
              <a:srgbClr val="D3DBEA"/>
            </a:solidFill>
            <a:prstDash val="solid"/>
          </a:ln>
        </p:spPr>
      </p:sp>
      <p:sp>
        <p:nvSpPr>
          <p:cNvPr id="10" name="Text 8"/>
          <p:cNvSpPr/>
          <p:nvPr/>
        </p:nvSpPr>
        <p:spPr>
          <a:xfrm>
            <a:off x="1308100" y="2598043"/>
            <a:ext cx="13335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33B"/>
                </a:solidFill>
                <a:latin typeface="Source Code Pro" pitchFamily="34" charset="0"/>
                <a:ea typeface="Source Code Pro" pitchFamily="34" charset="-122"/>
                <a:cs typeface="Source Code Pro" pitchFamily="34" charset="-120"/>
              </a:rPr>
              <a:t>_posts/</a:t>
            </a:r>
            <a:endParaRPr lang="en-US" sz="1400" dirty="0"/>
          </a:p>
        </p:txBody>
      </p:sp>
      <p:sp>
        <p:nvSpPr>
          <p:cNvPr id="11" name="Text 9"/>
          <p:cNvSpPr/>
          <p:nvPr/>
        </p:nvSpPr>
        <p:spPr>
          <a:xfrm>
            <a:off x="2743200" y="2606873"/>
            <a:ext cx="310356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6647E"/>
                </a:solidFill>
                <a:latin typeface="BIZ UDPGothic" pitchFamily="34" charset="0"/>
                <a:ea typeface="BIZ UDPGothic" pitchFamily="34" charset="-122"/>
                <a:cs typeface="BIZ UDPGothic" pitchFamily="34" charset="-120"/>
              </a:rPr>
              <a:t>完成した記事</a:t>
            </a:r>
            <a:endParaRPr lang="en-US" sz="1300" dirty="0"/>
          </a:p>
        </p:txBody>
      </p:sp>
      <p:sp>
        <p:nvSpPr>
          <p:cNvPr id="12" name="Shape 10"/>
          <p:cNvSpPr/>
          <p:nvPr/>
        </p:nvSpPr>
        <p:spPr>
          <a:xfrm>
            <a:off x="5908774" y="2568873"/>
            <a:ext cx="1127026" cy="307280"/>
          </a:xfrm>
          <a:prstGeom prst="roundRect">
            <a:avLst>
              <a:gd name="adj" fmla="val 50000"/>
            </a:avLst>
          </a:prstGeom>
          <a:solidFill>
            <a:srgbClr val="DBF4E7"/>
          </a:solidFill>
          <a:ln/>
        </p:spPr>
      </p:sp>
      <p:sp>
        <p:nvSpPr>
          <p:cNvPr id="13" name="Text 11"/>
          <p:cNvSpPr/>
          <p:nvPr/>
        </p:nvSpPr>
        <p:spPr>
          <a:xfrm>
            <a:off x="6061174" y="2606973"/>
            <a:ext cx="873026"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57A4B"/>
                </a:solidFill>
                <a:latin typeface="BIZ UDPGothic" pitchFamily="34" charset="0"/>
                <a:ea typeface="BIZ UDPGothic" pitchFamily="34" charset="-122"/>
                <a:cs typeface="BIZ UDPGothic" pitchFamily="34" charset="-120"/>
              </a:rPr>
              <a:t>公開される</a:t>
            </a:r>
            <a:endParaRPr lang="en-US" sz="1300" dirty="0"/>
          </a:p>
        </p:txBody>
      </p:sp>
      <p:sp>
        <p:nvSpPr>
          <p:cNvPr id="14" name="Shape 12"/>
          <p:cNvSpPr/>
          <p:nvPr/>
        </p:nvSpPr>
        <p:spPr>
          <a:xfrm>
            <a:off x="819150" y="3047008"/>
            <a:ext cx="6400800" cy="496788"/>
          </a:xfrm>
          <a:prstGeom prst="roundRect">
            <a:avLst>
              <a:gd name="adj" fmla="val 24286"/>
            </a:avLst>
          </a:prstGeom>
          <a:solidFill>
            <a:srgbClr val="FBFCFE"/>
          </a:solidFill>
          <a:ln w="12700">
            <a:solidFill>
              <a:srgbClr val="D3DBEA"/>
            </a:solidFill>
            <a:prstDash val="solid"/>
          </a:ln>
        </p:spPr>
      </p:sp>
      <p:sp>
        <p:nvSpPr>
          <p:cNvPr id="15" name="Text 13"/>
          <p:cNvSpPr/>
          <p:nvPr/>
        </p:nvSpPr>
        <p:spPr>
          <a:xfrm>
            <a:off x="1308100" y="3170932"/>
            <a:ext cx="13335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33B"/>
                </a:solidFill>
                <a:latin typeface="Source Code Pro" pitchFamily="34" charset="0"/>
                <a:ea typeface="Source Code Pro" pitchFamily="34" charset="-122"/>
                <a:cs typeface="Source Code Pro" pitchFamily="34" charset="-120"/>
              </a:rPr>
              <a:t>_drafts/</a:t>
            </a:r>
            <a:endParaRPr lang="en-US" sz="1400" dirty="0"/>
          </a:p>
        </p:txBody>
      </p:sp>
      <p:sp>
        <p:nvSpPr>
          <p:cNvPr id="16" name="Text 14"/>
          <p:cNvSpPr/>
          <p:nvPr/>
        </p:nvSpPr>
        <p:spPr>
          <a:xfrm>
            <a:off x="2743200" y="3179862"/>
            <a:ext cx="344030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6647E"/>
                </a:solidFill>
                <a:latin typeface="BIZ UDPGothic" pitchFamily="34" charset="0"/>
                <a:ea typeface="BIZ UDPGothic" pitchFamily="34" charset="-122"/>
                <a:cs typeface="BIZ UDPGothic" pitchFamily="34" charset="-120"/>
              </a:rPr>
              <a:t>書きかけの記事</a:t>
            </a:r>
            <a:endParaRPr lang="en-US" sz="1300" dirty="0"/>
          </a:p>
        </p:txBody>
      </p:sp>
      <p:sp>
        <p:nvSpPr>
          <p:cNvPr id="17" name="Shape 15"/>
          <p:cNvSpPr/>
          <p:nvPr/>
        </p:nvSpPr>
        <p:spPr>
          <a:xfrm>
            <a:off x="6235700" y="3141762"/>
            <a:ext cx="800100" cy="307280"/>
          </a:xfrm>
          <a:prstGeom prst="roundRect">
            <a:avLst>
              <a:gd name="adj" fmla="val 50000"/>
            </a:avLst>
          </a:prstGeom>
          <a:solidFill>
            <a:srgbClr val="FCE3E1"/>
          </a:solidFill>
          <a:ln/>
        </p:spPr>
      </p:sp>
      <p:sp>
        <p:nvSpPr>
          <p:cNvPr id="18" name="Text 16"/>
          <p:cNvSpPr/>
          <p:nvPr/>
        </p:nvSpPr>
        <p:spPr>
          <a:xfrm>
            <a:off x="6388100" y="3179862"/>
            <a:ext cx="5461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3B37"/>
                </a:solidFill>
                <a:latin typeface="BIZ UDPGothic" pitchFamily="34" charset="0"/>
                <a:ea typeface="BIZ UDPGothic" pitchFamily="34" charset="-122"/>
                <a:cs typeface="BIZ UDPGothic" pitchFamily="34" charset="-120"/>
              </a:rPr>
              <a:t>出ない</a:t>
            </a:r>
            <a:endParaRPr lang="en-US" sz="1300" dirty="0"/>
          </a:p>
        </p:txBody>
      </p:sp>
      <p:sp>
        <p:nvSpPr>
          <p:cNvPr id="19" name="Shape 17"/>
          <p:cNvSpPr/>
          <p:nvPr/>
        </p:nvSpPr>
        <p:spPr>
          <a:xfrm>
            <a:off x="819150" y="3619996"/>
            <a:ext cx="6400800" cy="496689"/>
          </a:xfrm>
          <a:prstGeom prst="roundRect">
            <a:avLst>
              <a:gd name="adj" fmla="val 24291"/>
            </a:avLst>
          </a:prstGeom>
          <a:solidFill>
            <a:srgbClr val="FBFCFE"/>
          </a:solidFill>
          <a:ln w="12700">
            <a:solidFill>
              <a:srgbClr val="D3DBEA"/>
            </a:solidFill>
            <a:prstDash val="solid"/>
          </a:ln>
        </p:spPr>
      </p:sp>
      <p:sp>
        <p:nvSpPr>
          <p:cNvPr id="20" name="Text 18"/>
          <p:cNvSpPr/>
          <p:nvPr/>
        </p:nvSpPr>
        <p:spPr>
          <a:xfrm>
            <a:off x="1308100" y="3743920"/>
            <a:ext cx="13335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33B"/>
                </a:solidFill>
                <a:latin typeface="Source Code Pro" pitchFamily="34" charset="0"/>
                <a:ea typeface="Source Code Pro" pitchFamily="34" charset="-122"/>
                <a:cs typeface="Source Code Pro" pitchFamily="34" charset="-120"/>
              </a:rPr>
              <a:t>assets/</a:t>
            </a:r>
            <a:endParaRPr lang="en-US" sz="1400" dirty="0"/>
          </a:p>
        </p:txBody>
      </p:sp>
      <p:sp>
        <p:nvSpPr>
          <p:cNvPr id="21" name="Text 19"/>
          <p:cNvSpPr/>
          <p:nvPr/>
        </p:nvSpPr>
        <p:spPr>
          <a:xfrm>
            <a:off x="2743200" y="3752751"/>
            <a:ext cx="310356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6647E"/>
                </a:solidFill>
                <a:latin typeface="BIZ UDPGothic" pitchFamily="34" charset="0"/>
                <a:ea typeface="BIZ UDPGothic" pitchFamily="34" charset="-122"/>
                <a:cs typeface="BIZ UDPGothic" pitchFamily="34" charset="-120"/>
              </a:rPr>
              <a:t>記事の画像など</a:t>
            </a:r>
            <a:endParaRPr lang="en-US" sz="1300" dirty="0"/>
          </a:p>
        </p:txBody>
      </p:sp>
      <p:sp>
        <p:nvSpPr>
          <p:cNvPr id="22" name="Shape 20"/>
          <p:cNvSpPr/>
          <p:nvPr/>
        </p:nvSpPr>
        <p:spPr>
          <a:xfrm>
            <a:off x="5908774" y="3714750"/>
            <a:ext cx="1127026" cy="307280"/>
          </a:xfrm>
          <a:prstGeom prst="roundRect">
            <a:avLst>
              <a:gd name="adj" fmla="val 50000"/>
            </a:avLst>
          </a:prstGeom>
          <a:solidFill>
            <a:srgbClr val="DBF4E7"/>
          </a:solidFill>
          <a:ln/>
        </p:spPr>
      </p:sp>
      <p:sp>
        <p:nvSpPr>
          <p:cNvPr id="23" name="Text 21"/>
          <p:cNvSpPr/>
          <p:nvPr/>
        </p:nvSpPr>
        <p:spPr>
          <a:xfrm>
            <a:off x="6061174" y="3752850"/>
            <a:ext cx="873026"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57A4B"/>
                </a:solidFill>
                <a:latin typeface="BIZ UDPGothic" pitchFamily="34" charset="0"/>
                <a:ea typeface="BIZ UDPGothic" pitchFamily="34" charset="-122"/>
                <a:cs typeface="BIZ UDPGothic" pitchFamily="34" charset="-120"/>
              </a:rPr>
              <a:t>公開される</a:t>
            </a:r>
            <a:endParaRPr lang="en-US" sz="1300" dirty="0"/>
          </a:p>
        </p:txBody>
      </p:sp>
      <p:sp>
        <p:nvSpPr>
          <p:cNvPr id="24" name="Shape 22"/>
          <p:cNvSpPr/>
          <p:nvPr/>
        </p:nvSpPr>
        <p:spPr>
          <a:xfrm>
            <a:off x="819150" y="4192885"/>
            <a:ext cx="6400800" cy="496788"/>
          </a:xfrm>
          <a:prstGeom prst="roundRect">
            <a:avLst>
              <a:gd name="adj" fmla="val 24286"/>
            </a:avLst>
          </a:prstGeom>
          <a:solidFill>
            <a:srgbClr val="FBFCFE"/>
          </a:solidFill>
          <a:ln w="12700">
            <a:solidFill>
              <a:srgbClr val="D3DBEA"/>
            </a:solidFill>
            <a:prstDash val="solid"/>
          </a:ln>
        </p:spPr>
      </p:sp>
      <p:sp>
        <p:nvSpPr>
          <p:cNvPr id="25" name="Text 23"/>
          <p:cNvSpPr/>
          <p:nvPr/>
        </p:nvSpPr>
        <p:spPr>
          <a:xfrm>
            <a:off x="1003300" y="4316809"/>
            <a:ext cx="16383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33B"/>
                </a:solidFill>
                <a:latin typeface="Source Code Pro" pitchFamily="34" charset="0"/>
                <a:ea typeface="Source Code Pro" pitchFamily="34" charset="-122"/>
                <a:cs typeface="Source Code Pro" pitchFamily="34" charset="-120"/>
              </a:rPr>
              <a:t>docs/</a:t>
            </a:r>
            <a:endParaRPr lang="en-US" sz="1400" dirty="0"/>
          </a:p>
        </p:txBody>
      </p:sp>
      <p:sp>
        <p:nvSpPr>
          <p:cNvPr id="26" name="Text 24"/>
          <p:cNvSpPr/>
          <p:nvPr/>
        </p:nvSpPr>
        <p:spPr>
          <a:xfrm>
            <a:off x="2743200" y="4325739"/>
            <a:ext cx="344030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6647E"/>
                </a:solidFill>
                <a:latin typeface="BIZ UDPGothic" pitchFamily="34" charset="0"/>
                <a:ea typeface="BIZ UDPGothic" pitchFamily="34" charset="-122"/>
                <a:cs typeface="BIZ UDPGothic" pitchFamily="34" charset="-120"/>
              </a:rPr>
              <a:t>企画メモ・ルールブック</a:t>
            </a:r>
            <a:endParaRPr lang="en-US" sz="1300" dirty="0"/>
          </a:p>
        </p:txBody>
      </p:sp>
      <p:sp>
        <p:nvSpPr>
          <p:cNvPr id="27" name="Shape 25"/>
          <p:cNvSpPr/>
          <p:nvPr/>
        </p:nvSpPr>
        <p:spPr>
          <a:xfrm>
            <a:off x="6235700" y="4287639"/>
            <a:ext cx="800100" cy="307280"/>
          </a:xfrm>
          <a:prstGeom prst="roundRect">
            <a:avLst>
              <a:gd name="adj" fmla="val 50000"/>
            </a:avLst>
          </a:prstGeom>
          <a:solidFill>
            <a:srgbClr val="FCE3E1"/>
          </a:solidFill>
          <a:ln/>
        </p:spPr>
      </p:sp>
      <p:sp>
        <p:nvSpPr>
          <p:cNvPr id="28" name="Text 26"/>
          <p:cNvSpPr/>
          <p:nvPr/>
        </p:nvSpPr>
        <p:spPr>
          <a:xfrm>
            <a:off x="6388100" y="4325739"/>
            <a:ext cx="5461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3B37"/>
                </a:solidFill>
                <a:latin typeface="BIZ UDPGothic" pitchFamily="34" charset="0"/>
                <a:ea typeface="BIZ UDPGothic" pitchFamily="34" charset="-122"/>
                <a:cs typeface="BIZ UDPGothic" pitchFamily="34" charset="-120"/>
              </a:rPr>
              <a:t>出ない</a:t>
            </a:r>
            <a:endParaRPr lang="en-US" sz="1300" dirty="0"/>
          </a:p>
        </p:txBody>
      </p:sp>
      <p:sp>
        <p:nvSpPr>
          <p:cNvPr id="29" name="Shape 27"/>
          <p:cNvSpPr/>
          <p:nvPr/>
        </p:nvSpPr>
        <p:spPr>
          <a:xfrm>
            <a:off x="819150" y="4765873"/>
            <a:ext cx="6400800" cy="496788"/>
          </a:xfrm>
          <a:prstGeom prst="roundRect">
            <a:avLst>
              <a:gd name="adj" fmla="val 24286"/>
            </a:avLst>
          </a:prstGeom>
          <a:solidFill>
            <a:srgbClr val="FBFCFE"/>
          </a:solidFill>
          <a:ln w="12700">
            <a:solidFill>
              <a:srgbClr val="D3DBEA"/>
            </a:solidFill>
            <a:prstDash val="solid"/>
          </a:ln>
        </p:spPr>
      </p:sp>
      <p:sp>
        <p:nvSpPr>
          <p:cNvPr id="30" name="Text 28"/>
          <p:cNvSpPr/>
          <p:nvPr/>
        </p:nvSpPr>
        <p:spPr>
          <a:xfrm>
            <a:off x="1003300" y="4889798"/>
            <a:ext cx="16383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33B"/>
                </a:solidFill>
                <a:latin typeface="Source Code Pro" pitchFamily="34" charset="0"/>
                <a:ea typeface="Source Code Pro" pitchFamily="34" charset="-122"/>
                <a:cs typeface="Source Code Pro" pitchFamily="34" charset="-120"/>
              </a:rPr>
              <a:t>verification/</a:t>
            </a:r>
            <a:endParaRPr lang="en-US" sz="1400" dirty="0"/>
          </a:p>
        </p:txBody>
      </p:sp>
      <p:sp>
        <p:nvSpPr>
          <p:cNvPr id="31" name="Text 29"/>
          <p:cNvSpPr/>
          <p:nvPr/>
        </p:nvSpPr>
        <p:spPr>
          <a:xfrm>
            <a:off x="2743200" y="4898727"/>
            <a:ext cx="344030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6647E"/>
                </a:solidFill>
                <a:latin typeface="BIZ UDPGothic" pitchFamily="34" charset="0"/>
                <a:ea typeface="BIZ UDPGothic" pitchFamily="34" charset="-122"/>
                <a:cs typeface="BIZ UDPGothic" pitchFamily="34" charset="-120"/>
              </a:rPr>
              <a:t>数字を確かめた生データ</a:t>
            </a:r>
            <a:endParaRPr lang="en-US" sz="1300" dirty="0"/>
          </a:p>
        </p:txBody>
      </p:sp>
      <p:sp>
        <p:nvSpPr>
          <p:cNvPr id="32" name="Shape 30"/>
          <p:cNvSpPr/>
          <p:nvPr/>
        </p:nvSpPr>
        <p:spPr>
          <a:xfrm>
            <a:off x="6235700" y="4860627"/>
            <a:ext cx="800100" cy="307280"/>
          </a:xfrm>
          <a:prstGeom prst="roundRect">
            <a:avLst>
              <a:gd name="adj" fmla="val 50000"/>
            </a:avLst>
          </a:prstGeom>
          <a:solidFill>
            <a:srgbClr val="FCE3E1"/>
          </a:solidFill>
          <a:ln/>
        </p:spPr>
      </p:sp>
      <p:sp>
        <p:nvSpPr>
          <p:cNvPr id="33" name="Text 31"/>
          <p:cNvSpPr/>
          <p:nvPr/>
        </p:nvSpPr>
        <p:spPr>
          <a:xfrm>
            <a:off x="6388100" y="4898727"/>
            <a:ext cx="5461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3B37"/>
                </a:solidFill>
                <a:latin typeface="BIZ UDPGothic" pitchFamily="34" charset="0"/>
                <a:ea typeface="BIZ UDPGothic" pitchFamily="34" charset="-122"/>
                <a:cs typeface="BIZ UDPGothic" pitchFamily="34" charset="-120"/>
              </a:rPr>
              <a:t>出ない</a:t>
            </a:r>
            <a:endParaRPr lang="en-US" sz="1300" dirty="0"/>
          </a:p>
        </p:txBody>
      </p:sp>
      <p:sp>
        <p:nvSpPr>
          <p:cNvPr id="34" name="Shape 32"/>
          <p:cNvSpPr/>
          <p:nvPr/>
        </p:nvSpPr>
        <p:spPr>
          <a:xfrm>
            <a:off x="819150" y="5338862"/>
            <a:ext cx="6400800" cy="496788"/>
          </a:xfrm>
          <a:prstGeom prst="roundRect">
            <a:avLst>
              <a:gd name="adj" fmla="val 24286"/>
            </a:avLst>
          </a:prstGeom>
          <a:solidFill>
            <a:srgbClr val="FBFCFE"/>
          </a:solidFill>
          <a:ln w="12700">
            <a:solidFill>
              <a:srgbClr val="D3DBEA"/>
            </a:solidFill>
            <a:prstDash val="solid"/>
          </a:ln>
        </p:spPr>
      </p:sp>
      <p:sp>
        <p:nvSpPr>
          <p:cNvPr id="35" name="Text 33"/>
          <p:cNvSpPr/>
          <p:nvPr/>
        </p:nvSpPr>
        <p:spPr>
          <a:xfrm>
            <a:off x="1003300" y="5462786"/>
            <a:ext cx="163830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6233B"/>
                </a:solidFill>
                <a:latin typeface="Source Code Pro" pitchFamily="34" charset="0"/>
                <a:ea typeface="Source Code Pro" pitchFamily="34" charset="-122"/>
                <a:cs typeface="Source Code Pro" pitchFamily="34" charset="-120"/>
              </a:rPr>
              <a:t>CLAUDE.md</a:t>
            </a:r>
            <a:endParaRPr lang="en-US" sz="1400" dirty="0"/>
          </a:p>
        </p:txBody>
      </p:sp>
      <p:sp>
        <p:nvSpPr>
          <p:cNvPr id="36" name="Text 34"/>
          <p:cNvSpPr/>
          <p:nvPr/>
        </p:nvSpPr>
        <p:spPr>
          <a:xfrm>
            <a:off x="2743200" y="5471716"/>
            <a:ext cx="344030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6647E"/>
                </a:solidFill>
                <a:latin typeface="BIZ UDPGothic" pitchFamily="34" charset="0"/>
                <a:ea typeface="BIZ UDPGothic" pitchFamily="34" charset="-122"/>
                <a:cs typeface="BIZ UDPGothic" pitchFamily="34" charset="-120"/>
              </a:rPr>
              <a:t>AIに読ませる説明書</a:t>
            </a:r>
            <a:endParaRPr lang="en-US" sz="1300" dirty="0"/>
          </a:p>
        </p:txBody>
      </p:sp>
      <p:sp>
        <p:nvSpPr>
          <p:cNvPr id="37" name="Shape 35"/>
          <p:cNvSpPr/>
          <p:nvPr/>
        </p:nvSpPr>
        <p:spPr>
          <a:xfrm>
            <a:off x="6235700" y="5433616"/>
            <a:ext cx="800100" cy="307280"/>
          </a:xfrm>
          <a:prstGeom prst="roundRect">
            <a:avLst>
              <a:gd name="adj" fmla="val 50000"/>
            </a:avLst>
          </a:prstGeom>
          <a:solidFill>
            <a:srgbClr val="FCE3E1"/>
          </a:solidFill>
          <a:ln/>
        </p:spPr>
      </p:sp>
      <p:sp>
        <p:nvSpPr>
          <p:cNvPr id="38" name="Text 36"/>
          <p:cNvSpPr/>
          <p:nvPr/>
        </p:nvSpPr>
        <p:spPr>
          <a:xfrm>
            <a:off x="6388100" y="5471716"/>
            <a:ext cx="5461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3B37"/>
                </a:solidFill>
                <a:latin typeface="BIZ UDPGothic" pitchFamily="34" charset="0"/>
                <a:ea typeface="BIZ UDPGothic" pitchFamily="34" charset="-122"/>
                <a:cs typeface="BIZ UDPGothic" pitchFamily="34" charset="-120"/>
              </a:rPr>
              <a:t>出ない</a:t>
            </a:r>
            <a:endParaRPr lang="en-US" sz="1300" dirty="0"/>
          </a:p>
        </p:txBody>
      </p:sp>
      <p:sp>
        <p:nvSpPr>
          <p:cNvPr id="39" name="Shape 37"/>
          <p:cNvSpPr/>
          <p:nvPr/>
        </p:nvSpPr>
        <p:spPr>
          <a:xfrm>
            <a:off x="7512050" y="1901130"/>
            <a:ext cx="3860800" cy="3934520"/>
          </a:xfrm>
          <a:prstGeom prst="roundRect">
            <a:avLst>
              <a:gd name="adj" fmla="val 4441"/>
            </a:avLst>
          </a:prstGeom>
          <a:solidFill>
            <a:srgbClr val="2F62E6"/>
          </a:solidFill>
          <a:ln w="12700">
            <a:solidFill>
              <a:srgbClr val="2F62E6"/>
            </a:solidFill>
            <a:prstDash val="solid"/>
          </a:ln>
        </p:spPr>
      </p:sp>
      <p:sp>
        <p:nvSpPr>
          <p:cNvPr id="40" name="Text 38"/>
          <p:cNvSpPr/>
          <p:nvPr/>
        </p:nvSpPr>
        <p:spPr>
          <a:xfrm>
            <a:off x="7772400" y="2136080"/>
            <a:ext cx="3440303"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FFFFFF"/>
                </a:solidFill>
                <a:latin typeface="Zen Maru Gothic" pitchFamily="34" charset="0"/>
                <a:ea typeface="Zen Maru Gothic" pitchFamily="34" charset="-122"/>
                <a:cs typeface="Zen Maru Gothic" pitchFamily="34" charset="-120"/>
              </a:rPr>
              <a:t>許可する範囲を、1つだけ決める</a:t>
            </a:r>
            <a:endParaRPr lang="en-US" sz="1800" dirty="0"/>
          </a:p>
        </p:txBody>
      </p:sp>
      <p:sp>
        <p:nvSpPr>
          <p:cNvPr id="41" name="Text 39"/>
          <p:cNvSpPr/>
          <p:nvPr/>
        </p:nvSpPr>
        <p:spPr>
          <a:xfrm>
            <a:off x="7772400" y="2534841"/>
            <a:ext cx="3440303" cy="939800"/>
          </a:xfrm>
          <a:prstGeom prst="rect">
            <a:avLst/>
          </a:prstGeom>
          <a:noFill/>
          <a:ln/>
        </p:spPr>
        <p:txBody>
          <a:bodyPr wrap="square" lIns="0" tIns="0" rIns="0" bIns="0" rtlCol="0" anchor="t">
            <a:normAutofit/>
          </a:bodyPr>
          <a:lstStyle/>
          <a:p>
            <a:pPr algn="l" indent="0" marL="0">
              <a:lnSpc>
                <a:spcPts val="2400"/>
              </a:lnSpc>
              <a:buNone/>
            </a:pPr>
            <a:r>
              <a:rPr lang="en-US" sz="1500" dirty="0">
                <a:solidFill>
                  <a:srgbClr val="E8EEFF"/>
                </a:solidFill>
                <a:latin typeface="BIZ UDPGothic" pitchFamily="34" charset="0"/>
                <a:ea typeface="BIZ UDPGothic" pitchFamily="34" charset="-122"/>
                <a:cs typeface="BIZ UDPGothic" pitchFamily="34" charset="-120"/>
              </a:rPr>
              <a:t>「これは出さない」という禁止リストではなく、「site/ の中だけを材料にする」と決めている。</a:t>
            </a:r>
            <a:endParaRPr lang="en-US" sz="1500" dirty="0"/>
          </a:p>
        </p:txBody>
      </p:sp>
      <p:sp>
        <p:nvSpPr>
          <p:cNvPr id="42" name="Text 40"/>
          <p:cNvSpPr/>
          <p:nvPr/>
        </p:nvSpPr>
        <p:spPr>
          <a:xfrm>
            <a:off x="7772400" y="3550841"/>
            <a:ext cx="3440303" cy="635000"/>
          </a:xfrm>
          <a:prstGeom prst="rect">
            <a:avLst/>
          </a:prstGeom>
          <a:noFill/>
          <a:ln/>
        </p:spPr>
        <p:txBody>
          <a:bodyPr wrap="square" lIns="0" tIns="0" rIns="0" bIns="0" rtlCol="0" anchor="t">
            <a:normAutofit/>
          </a:bodyPr>
          <a:lstStyle/>
          <a:p>
            <a:pPr algn="l" indent="0" marL="0">
              <a:lnSpc>
                <a:spcPts val="2400"/>
              </a:lnSpc>
              <a:buNone/>
            </a:pPr>
            <a:r>
              <a:rPr lang="en-US" sz="1500" dirty="0">
                <a:solidFill>
                  <a:srgbClr val="E8EEFF"/>
                </a:solidFill>
                <a:latin typeface="BIZ UDPGothic" pitchFamily="34" charset="0"/>
                <a:ea typeface="BIZ UDPGothic" pitchFamily="34" charset="-122"/>
                <a:cs typeface="BIZ UDPGothic" pitchFamily="34" charset="-120"/>
              </a:rPr>
              <a:t>書き忘れが起きないので、うっかり公開の事故を、しくみで防げる。</a:t>
            </a:r>
            <a:endParaRPr lang="en-US" sz="1500" dirty="0"/>
          </a:p>
        </p:txBody>
      </p:sp>
      <p:sp>
        <p:nvSpPr>
          <p:cNvPr id="43" name="Text 41"/>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44" name="Text 42"/>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08 / 40</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1 ／ ブログのしくみ</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公開する前は、自分のパソコンで確認</a:t>
            </a:r>
            <a:endParaRPr lang="en-US" sz="3200" dirty="0"/>
          </a:p>
        </p:txBody>
      </p:sp>
      <p:sp>
        <p:nvSpPr>
          <p:cNvPr id="4" name="Shape 2"/>
          <p:cNvSpPr/>
          <p:nvPr/>
        </p:nvSpPr>
        <p:spPr>
          <a:xfrm>
            <a:off x="819150" y="1901130"/>
            <a:ext cx="2594967" cy="1767780"/>
          </a:xfrm>
          <a:prstGeom prst="roundRect">
            <a:avLst>
              <a:gd name="adj" fmla="val 9699"/>
            </a:avLst>
          </a:prstGeom>
          <a:solidFill>
            <a:srgbClr val="FBFCFE"/>
          </a:solidFill>
          <a:ln w="12700">
            <a:solidFill>
              <a:srgbClr val="D3DBEA"/>
            </a:solidFill>
            <a:prstDash val="solid"/>
          </a:ln>
        </p:spPr>
      </p:sp>
      <p:sp>
        <p:nvSpPr>
          <p:cNvPr id="5" name="Text 3"/>
          <p:cNvSpPr/>
          <p:nvPr/>
        </p:nvSpPr>
        <p:spPr>
          <a:xfrm>
            <a:off x="1054100" y="2136080"/>
            <a:ext cx="2188819"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6233B"/>
                </a:solidFill>
                <a:latin typeface="Zen Maru Gothic" pitchFamily="34" charset="0"/>
                <a:ea typeface="Zen Maru Gothic" pitchFamily="34" charset="-122"/>
                <a:cs typeface="Zen Maru Gothic" pitchFamily="34" charset="-120"/>
              </a:rPr>
              <a:t>ファイルを保存</a:t>
            </a:r>
            <a:endParaRPr lang="en-US" sz="2000" dirty="0"/>
          </a:p>
        </p:txBody>
      </p:sp>
      <p:sp>
        <p:nvSpPr>
          <p:cNvPr id="6" name="Text 4"/>
          <p:cNvSpPr/>
          <p:nvPr/>
        </p:nvSpPr>
        <p:spPr>
          <a:xfrm>
            <a:off x="1054100" y="2555180"/>
            <a:ext cx="2188819" cy="87878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56647E"/>
                </a:solidFill>
                <a:latin typeface="BIZ UDPGothic" pitchFamily="34" charset="0"/>
                <a:ea typeface="BIZ UDPGothic" pitchFamily="34" charset="-122"/>
                <a:cs typeface="BIZ UDPGothic" pitchFamily="34" charset="-120"/>
              </a:rPr>
              <a:t>Markdown を書き換えて、保存するだけ。書きかけの記事も見える。</a:t>
            </a:r>
            <a:endParaRPr lang="en-US" sz="1400" dirty="0"/>
          </a:p>
        </p:txBody>
      </p:sp>
      <p:pic>
        <p:nvPicPr>
          <p:cNvPr id="7" name="Image 0" descr="arrow-right">    </p:cNvPr>
          <p:cNvPicPr>
            <a:picLocks noChangeAspect="1"/>
          </p:cNvPicPr>
          <p:nvPr/>
        </p:nvPicPr>
        <p:blipFill>
          <a:blip r:embed="rId1"/>
          <a:srcRect l="0" r="0" t="0" b="0"/>
          <a:stretch/>
        </p:blipFill>
        <p:spPr>
          <a:xfrm>
            <a:off x="3928467" y="2414191"/>
            <a:ext cx="355600" cy="203200"/>
          </a:xfrm>
          <a:prstGeom prst="rect">
            <a:avLst/>
          </a:prstGeom>
        </p:spPr>
      </p:pic>
      <p:sp>
        <p:nvSpPr>
          <p:cNvPr id="8" name="Text 5"/>
          <p:cNvSpPr/>
          <p:nvPr/>
        </p:nvSpPr>
        <p:spPr>
          <a:xfrm>
            <a:off x="3445867" y="2668191"/>
            <a:ext cx="1320800" cy="512961"/>
          </a:xfrm>
          <a:prstGeom prst="rect">
            <a:avLst/>
          </a:prstGeom>
          <a:noFill/>
          <a:ln/>
        </p:spPr>
        <p:txBody>
          <a:bodyPr wrap="square" lIns="0" tIns="0" rIns="0" bIns="0" rtlCol="0" anchor="t">
            <a:normAutofit/>
          </a:bodyPr>
          <a:lstStyle/>
          <a:p>
            <a:pPr algn="ctr" indent="0" marL="0">
              <a:lnSpc>
                <a:spcPts val="1920"/>
              </a:lnSpc>
              <a:buNone/>
            </a:pPr>
            <a:r>
              <a:rPr lang="en-US" sz="1200" dirty="0">
                <a:solidFill>
                  <a:srgbClr val="56647E"/>
                </a:solidFill>
                <a:latin typeface="BIZ UDPGothic" pitchFamily="34" charset="0"/>
                <a:ea typeface="BIZ UDPGothic" pitchFamily="34" charset="-122"/>
                <a:cs typeface="BIZ UDPGothic" pitchFamily="34" charset="-120"/>
              </a:rPr>
              <a:t>保存のたびに</a:t>
            </a:r>
            <a:endParaRPr lang="en-US" sz="1200" dirty="0"/>
          </a:p>
          <a:p>
            <a:pPr algn="ctr" indent="0" marL="0">
              <a:lnSpc>
                <a:spcPts val="1920"/>
              </a:lnSpc>
              <a:buNone/>
            </a:pPr>
            <a:r>
              <a:rPr lang="en-US" sz="1200" dirty="0">
                <a:solidFill>
                  <a:srgbClr val="56647E"/>
                </a:solidFill>
                <a:latin typeface="BIZ UDPGothic" pitchFamily="34" charset="0"/>
                <a:ea typeface="BIZ UDPGothic" pitchFamily="34" charset="-122"/>
                <a:cs typeface="BIZ UDPGothic" pitchFamily="34" charset="-120"/>
              </a:rPr>
              <a:t>自動で作り直す</a:t>
            </a:r>
            <a:endParaRPr lang="en-US" sz="1200" dirty="0"/>
          </a:p>
        </p:txBody>
      </p:sp>
      <p:sp>
        <p:nvSpPr>
          <p:cNvPr id="9" name="Shape 6"/>
          <p:cNvSpPr/>
          <p:nvPr/>
        </p:nvSpPr>
        <p:spPr>
          <a:xfrm>
            <a:off x="4798417" y="1901130"/>
            <a:ext cx="2595066" cy="1767780"/>
          </a:xfrm>
          <a:prstGeom prst="roundRect">
            <a:avLst>
              <a:gd name="adj" fmla="val 9699"/>
            </a:avLst>
          </a:prstGeom>
          <a:solidFill>
            <a:srgbClr val="2F62E6"/>
          </a:solidFill>
          <a:ln w="12700">
            <a:solidFill>
              <a:srgbClr val="2F62E6"/>
            </a:solidFill>
            <a:prstDash val="solid"/>
          </a:ln>
        </p:spPr>
      </p:sp>
      <p:sp>
        <p:nvSpPr>
          <p:cNvPr id="10" name="Text 7"/>
          <p:cNvSpPr/>
          <p:nvPr/>
        </p:nvSpPr>
        <p:spPr>
          <a:xfrm>
            <a:off x="5033367" y="2136080"/>
            <a:ext cx="2188921"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FFFFFF"/>
                </a:solidFill>
                <a:latin typeface="Zen Maru Gothic" pitchFamily="34" charset="0"/>
                <a:ea typeface="Zen Maru Gothic" pitchFamily="34" charset="-122"/>
                <a:cs typeface="Zen Maru Gothic" pitchFamily="34" charset="-120"/>
              </a:rPr>
              <a:t>コンテナ</a:t>
            </a:r>
            <a:endParaRPr lang="en-US" sz="2000" dirty="0"/>
          </a:p>
        </p:txBody>
      </p:sp>
      <p:sp>
        <p:nvSpPr>
          <p:cNvPr id="11" name="Text 8"/>
          <p:cNvSpPr/>
          <p:nvPr/>
        </p:nvSpPr>
        <p:spPr>
          <a:xfrm>
            <a:off x="5033367" y="2555180"/>
            <a:ext cx="2188921" cy="87878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E8EEFF"/>
                </a:solidFill>
                <a:latin typeface="BIZ UDPGothic" pitchFamily="34" charset="0"/>
                <a:ea typeface="BIZ UDPGothic" pitchFamily="34" charset="-122"/>
                <a:cs typeface="BIZ UDPGothic" pitchFamily="34" charset="-120"/>
              </a:rPr>
              <a:t>パソコンの中に作る、小さなお試し用パソコン。中で Jekyll が動く。</a:t>
            </a:r>
            <a:endParaRPr lang="en-US" sz="1400" dirty="0"/>
          </a:p>
        </p:txBody>
      </p:sp>
      <p:pic>
        <p:nvPicPr>
          <p:cNvPr id="12" name="Image 1" descr="arrow-right">    </p:cNvPr>
          <p:cNvPicPr>
            <a:picLocks noChangeAspect="1"/>
          </p:cNvPicPr>
          <p:nvPr/>
        </p:nvPicPr>
        <p:blipFill>
          <a:blip r:embed="rId2"/>
          <a:srcRect l="0" r="0" t="0" b="0"/>
          <a:stretch/>
        </p:blipFill>
        <p:spPr>
          <a:xfrm>
            <a:off x="7907834" y="2414191"/>
            <a:ext cx="355600" cy="203200"/>
          </a:xfrm>
          <a:prstGeom prst="rect">
            <a:avLst/>
          </a:prstGeom>
        </p:spPr>
      </p:pic>
      <p:sp>
        <p:nvSpPr>
          <p:cNvPr id="13" name="Text 9"/>
          <p:cNvSpPr/>
          <p:nvPr/>
        </p:nvSpPr>
        <p:spPr>
          <a:xfrm>
            <a:off x="7425234" y="2668191"/>
            <a:ext cx="1320800" cy="512961"/>
          </a:xfrm>
          <a:prstGeom prst="rect">
            <a:avLst/>
          </a:prstGeom>
          <a:noFill/>
          <a:ln/>
        </p:spPr>
        <p:txBody>
          <a:bodyPr wrap="square" lIns="0" tIns="0" rIns="0" bIns="0" rtlCol="0" anchor="t">
            <a:normAutofit/>
          </a:bodyPr>
          <a:lstStyle/>
          <a:p>
            <a:pPr algn="ctr" indent="0" marL="0">
              <a:lnSpc>
                <a:spcPts val="1920"/>
              </a:lnSpc>
              <a:buNone/>
            </a:pPr>
            <a:r>
              <a:rPr lang="en-US" sz="1200" dirty="0">
                <a:solidFill>
                  <a:srgbClr val="56647E"/>
                </a:solidFill>
                <a:latin typeface="BIZ UDPGothic" pitchFamily="34" charset="0"/>
                <a:ea typeface="BIZ UDPGothic" pitchFamily="34" charset="-122"/>
                <a:cs typeface="BIZ UDPGothic" pitchFamily="34" charset="-120"/>
              </a:rPr>
              <a:t>自分だけに</a:t>
            </a:r>
            <a:endParaRPr lang="en-US" sz="1200" dirty="0"/>
          </a:p>
          <a:p>
            <a:pPr algn="ctr" indent="0" marL="0">
              <a:lnSpc>
                <a:spcPts val="1920"/>
              </a:lnSpc>
              <a:buNone/>
            </a:pPr>
            <a:r>
              <a:rPr lang="en-US" sz="1200" dirty="0">
                <a:solidFill>
                  <a:srgbClr val="56647E"/>
                </a:solidFill>
                <a:latin typeface="BIZ UDPGothic" pitchFamily="34" charset="0"/>
                <a:ea typeface="BIZ UDPGothic" pitchFamily="34" charset="-122"/>
                <a:cs typeface="BIZ UDPGothic" pitchFamily="34" charset="-120"/>
              </a:rPr>
              <a:t>見せる</a:t>
            </a:r>
            <a:endParaRPr lang="en-US" sz="1200" dirty="0"/>
          </a:p>
        </p:txBody>
      </p:sp>
      <p:sp>
        <p:nvSpPr>
          <p:cNvPr id="14" name="Shape 10"/>
          <p:cNvSpPr/>
          <p:nvPr/>
        </p:nvSpPr>
        <p:spPr>
          <a:xfrm>
            <a:off x="8777784" y="1901130"/>
            <a:ext cx="2595066" cy="1767780"/>
          </a:xfrm>
          <a:prstGeom prst="roundRect">
            <a:avLst>
              <a:gd name="adj" fmla="val 9699"/>
            </a:avLst>
          </a:prstGeom>
          <a:solidFill>
            <a:srgbClr val="FBFCFE"/>
          </a:solidFill>
          <a:ln w="12700">
            <a:solidFill>
              <a:srgbClr val="D3DBEA"/>
            </a:solidFill>
            <a:prstDash val="solid"/>
          </a:ln>
        </p:spPr>
      </p:sp>
      <p:sp>
        <p:nvSpPr>
          <p:cNvPr id="15" name="Text 11"/>
          <p:cNvSpPr/>
          <p:nvPr/>
        </p:nvSpPr>
        <p:spPr>
          <a:xfrm>
            <a:off x="9012734" y="2136080"/>
            <a:ext cx="2188921"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6233B"/>
                </a:solidFill>
                <a:latin typeface="Zen Maru Gothic" pitchFamily="34" charset="0"/>
                <a:ea typeface="Zen Maru Gothic" pitchFamily="34" charset="-122"/>
                <a:cs typeface="Zen Maru Gothic" pitchFamily="34" charset="-120"/>
              </a:rPr>
              <a:t>ブラウザ</a:t>
            </a:r>
            <a:endParaRPr lang="en-US" sz="2000" dirty="0"/>
          </a:p>
        </p:txBody>
      </p:sp>
      <p:sp>
        <p:nvSpPr>
          <p:cNvPr id="16" name="Text 12"/>
          <p:cNvSpPr/>
          <p:nvPr/>
        </p:nvSpPr>
        <p:spPr>
          <a:xfrm>
            <a:off x="9012734" y="2555180"/>
            <a:ext cx="2188921" cy="87878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56647E"/>
                </a:solidFill>
                <a:latin typeface="BIZ UDPGothic" pitchFamily="34" charset="0"/>
                <a:ea typeface="BIZ UDPGothic" pitchFamily="34" charset="-122"/>
                <a:cs typeface="BIZ UDPGothic" pitchFamily="34" charset="-120"/>
              </a:rPr>
              <a:t>localhost:4000 を開くと、本番と同じ見た目が出る。</a:t>
            </a:r>
            <a:endParaRPr lang="en-US" sz="1400" dirty="0"/>
          </a:p>
        </p:txBody>
      </p:sp>
      <p:sp>
        <p:nvSpPr>
          <p:cNvPr id="17" name="Text 13"/>
          <p:cNvSpPr/>
          <p:nvPr/>
        </p:nvSpPr>
        <p:spPr>
          <a:xfrm>
            <a:off x="812800" y="3954661"/>
            <a:ext cx="10883392" cy="350441"/>
          </a:xfrm>
          <a:prstGeom prst="rect">
            <a:avLst/>
          </a:prstGeom>
          <a:noFill/>
          <a:ln/>
        </p:spPr>
        <p:txBody>
          <a:bodyPr wrap="square" lIns="0" tIns="0" rIns="0" bIns="0" rtlCol="0" anchor="t">
            <a:normAutofit/>
          </a:bodyPr>
          <a:lstStyle/>
          <a:p>
            <a:pPr algn="l" indent="0" marL="0">
              <a:lnSpc>
                <a:spcPts val="2560"/>
              </a:lnSpc>
              <a:buNone/>
            </a:pPr>
            <a:r>
              <a:rPr lang="en-US" sz="1600" dirty="0">
                <a:solidFill>
                  <a:srgbClr val="56647E"/>
                </a:solidFill>
                <a:latin typeface="BIZ UDPGothic" pitchFamily="34" charset="0"/>
                <a:ea typeface="BIZ UDPGothic" pitchFamily="34" charset="-122"/>
                <a:cs typeface="BIZ UDPGothic" pitchFamily="34" charset="-120"/>
              </a:rPr>
              <a:t>push した瞬間に世界へ出るので、その前にここで見た目を確かめる。</a:t>
            </a:r>
            <a:endParaRPr lang="en-US" sz="1600" dirty="0"/>
          </a:p>
        </p:txBody>
      </p:sp>
      <p:sp>
        <p:nvSpPr>
          <p:cNvPr id="18" name="Text 1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19" name="Text 15"/>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09 / 40</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233B"/>
        </a:solidFill>
      </p:bgPr>
    </p:bg>
    <p:spTree>
      <p:nvGrpSpPr>
        <p:cNvPr id="1" name=""/>
        <p:cNvGrpSpPr/>
        <p:nvPr/>
      </p:nvGrpSpPr>
      <p:grpSpPr>
        <a:xfrm>
          <a:off x="0" y="0"/>
          <a:ext cx="0" cy="0"/>
          <a:chOff x="0" y="0"/>
          <a:chExt cx="0" cy="0"/>
        </a:xfrm>
      </p:grpSpPr>
      <p:sp>
        <p:nvSpPr>
          <p:cNvPr id="2" name="Text 0"/>
          <p:cNvSpPr/>
          <p:nvPr/>
        </p:nvSpPr>
        <p:spPr>
          <a:xfrm>
            <a:off x="7193280" y="711200"/>
            <a:ext cx="4185920" cy="228600"/>
          </a:xfrm>
          <a:prstGeom prst="rect">
            <a:avLst/>
          </a:prstGeom>
          <a:noFill/>
          <a:ln/>
        </p:spPr>
        <p:txBody>
          <a:bodyPr wrap="square" lIns="0" tIns="0" rIns="0" bIns="0" rtlCol="0" anchor="t">
            <a:normAutofit/>
          </a:bodyPr>
          <a:lstStyle/>
          <a:p>
            <a:pPr algn="r" indent="0" marL="0">
              <a:lnSpc>
                <a:spcPts val="1600"/>
              </a:lnSpc>
              <a:buNone/>
            </a:pPr>
            <a:r>
              <a:rPr lang="en-US" sz="1600" b="1" dirty="0">
                <a:solidFill>
                  <a:srgbClr val="22355A"/>
                </a:solidFill>
                <a:latin typeface="Zen Maru Gothic" pitchFamily="34" charset="0"/>
                <a:ea typeface="Zen Maru Gothic" pitchFamily="34" charset="-122"/>
                <a:cs typeface="Zen Maru Gothic" pitchFamily="34" charset="-120"/>
              </a:rPr>
              <a:t>2</a:t>
            </a:r>
            <a:endParaRPr lang="en-US" sz="1600" dirty="0"/>
          </a:p>
        </p:txBody>
      </p:sp>
      <p:pic>
        <p:nvPicPr>
          <p:cNvPr id="3" name="Image 0" descr="ellipse">    </p:cNvPr>
          <p:cNvPicPr>
            <a:picLocks noChangeAspect="1"/>
          </p:cNvPicPr>
          <p:nvPr/>
        </p:nvPicPr>
        <p:blipFill>
          <a:blip r:embed="rId1"/>
          <a:srcRect l="0" r="0" t="0" b="0"/>
          <a:stretch/>
        </p:blipFill>
        <p:spPr>
          <a:xfrm>
            <a:off x="9906000" y="3810000"/>
            <a:ext cx="762000" cy="762000"/>
          </a:xfrm>
          <a:prstGeom prst="rect">
            <a:avLst/>
          </a:prstGeom>
        </p:spPr>
      </p:pic>
      <p:sp>
        <p:nvSpPr>
          <p:cNvPr id="4" name="Text 1"/>
          <p:cNvSpPr/>
          <p:nvPr/>
        </p:nvSpPr>
        <p:spPr>
          <a:xfrm>
            <a:off x="812800" y="812800"/>
            <a:ext cx="7521575" cy="350441"/>
          </a:xfrm>
          <a:prstGeom prst="rect">
            <a:avLst/>
          </a:prstGeom>
          <a:noFill/>
          <a:ln/>
        </p:spPr>
        <p:txBody>
          <a:bodyPr wrap="square" lIns="0" tIns="0" rIns="0" bIns="0" rtlCol="0" anchor="t">
            <a:normAutofit/>
          </a:bodyPr>
          <a:lstStyle/>
          <a:p>
            <a:pPr algn="l" indent="0" marL="0">
              <a:lnSpc>
                <a:spcPts val="2560"/>
              </a:lnSpc>
              <a:buNone/>
            </a:pPr>
            <a:r>
              <a:rPr lang="en-US" sz="1600" b="1" spc="200" kern="0" dirty="0">
                <a:solidFill>
                  <a:srgbClr val="86A8FF"/>
                </a:solidFill>
                <a:latin typeface="BIZ UDPGothic" pitchFamily="34" charset="0"/>
                <a:ea typeface="BIZ UDPGothic" pitchFamily="34" charset="-122"/>
                <a:cs typeface="BIZ UDPGothic" pitchFamily="34" charset="-120"/>
              </a:rPr>
              <a:t>PART 2 ／ 5</a:t>
            </a:r>
            <a:endParaRPr lang="en-US" sz="1600" dirty="0"/>
          </a:p>
        </p:txBody>
      </p:sp>
      <p:sp>
        <p:nvSpPr>
          <p:cNvPr id="5" name="Text 2"/>
          <p:cNvSpPr/>
          <p:nvPr/>
        </p:nvSpPr>
        <p:spPr>
          <a:xfrm>
            <a:off x="812800" y="1264841"/>
            <a:ext cx="7521575" cy="1549400"/>
          </a:xfrm>
          <a:prstGeom prst="rect">
            <a:avLst/>
          </a:prstGeom>
          <a:noFill/>
          <a:ln/>
        </p:spPr>
        <p:txBody>
          <a:bodyPr wrap="square" lIns="0" tIns="0" rIns="0" bIns="0" rtlCol="0" anchor="t">
            <a:normAutofit/>
          </a:bodyPr>
          <a:lstStyle/>
          <a:p>
            <a:pPr algn="l" indent="0" marL="0">
              <a:lnSpc>
                <a:spcPts val="6000"/>
              </a:lnSpc>
              <a:buNone/>
            </a:pPr>
            <a:r>
              <a:rPr lang="en-US" sz="4800" b="1" dirty="0">
                <a:solidFill>
                  <a:srgbClr val="F4F7FC"/>
                </a:solidFill>
                <a:latin typeface="Zen Maru Gothic" pitchFamily="34" charset="0"/>
                <a:ea typeface="Zen Maru Gothic" pitchFamily="34" charset="-122"/>
                <a:cs typeface="Zen Maru Gothic" pitchFamily="34" charset="-120"/>
              </a:rPr>
              <a:t>ここからは、</a:t>
            </a:r>
            <a:endParaRPr lang="en-US" sz="4800" dirty="0"/>
          </a:p>
          <a:p>
            <a:pPr algn="l" indent="0" marL="0">
              <a:lnSpc>
                <a:spcPts val="6000"/>
              </a:lnSpc>
              <a:buNone/>
            </a:pPr>
            <a:r>
              <a:rPr lang="en-US" sz="4800" b="1" dirty="0">
                <a:solidFill>
                  <a:srgbClr val="FFC83D"/>
                </a:solidFill>
                <a:latin typeface="Zen Maru Gothic" pitchFamily="34" charset="0"/>
                <a:ea typeface="Zen Maru Gothic" pitchFamily="34" charset="-122"/>
                <a:cs typeface="Zen Maru Gothic" pitchFamily="34" charset="-120"/>
              </a:rPr>
              <a:t>AI</a:t>
            </a:r>
            <a:r>
              <a:rPr lang="en-US" sz="4800" b="1" dirty="0">
                <a:solidFill>
                  <a:srgbClr val="F4F7FC"/>
                </a:solidFill>
                <a:latin typeface="Zen Maru Gothic" pitchFamily="34" charset="0"/>
                <a:ea typeface="Zen Maru Gothic" pitchFamily="34" charset="-122"/>
                <a:cs typeface="Zen Maru Gothic" pitchFamily="34" charset="-120"/>
              </a:rPr>
              <a:t>のしくみ</a:t>
            </a:r>
            <a:endParaRPr lang="en-US" sz="4800" dirty="0"/>
          </a:p>
        </p:txBody>
      </p:sp>
      <p:sp>
        <p:nvSpPr>
          <p:cNvPr id="6" name="Text 3"/>
          <p:cNvSpPr/>
          <p:nvPr/>
        </p:nvSpPr>
        <p:spPr>
          <a:xfrm>
            <a:off x="812800" y="3017441"/>
            <a:ext cx="7521575" cy="391120"/>
          </a:xfrm>
          <a:prstGeom prst="rect">
            <a:avLst/>
          </a:prstGeom>
          <a:noFill/>
          <a:ln/>
        </p:spPr>
        <p:txBody>
          <a:bodyPr wrap="square" lIns="0" tIns="0" rIns="0" bIns="0" rtlCol="0" anchor="t">
            <a:normAutofit/>
          </a:bodyPr>
          <a:lstStyle/>
          <a:p>
            <a:pPr algn="l" indent="0" marL="0">
              <a:lnSpc>
                <a:spcPts val="2880"/>
              </a:lnSpc>
              <a:buNone/>
            </a:pPr>
            <a:r>
              <a:rPr lang="en-US" sz="1800" dirty="0">
                <a:solidFill>
                  <a:srgbClr val="A9B6D0"/>
                </a:solidFill>
                <a:latin typeface="BIZ UDPGothic" pitchFamily="34" charset="0"/>
                <a:ea typeface="BIZ UDPGothic" pitchFamily="34" charset="-122"/>
                <a:cs typeface="BIZ UDPGothic" pitchFamily="34" charset="-120"/>
              </a:rPr>
              <a:t>AIは、中で何をしているのか。難しい数式は使わない。</a:t>
            </a:r>
            <a:endParaRPr lang="en-US" sz="1800" dirty="0"/>
          </a:p>
        </p:txBody>
      </p:sp>
      <p:sp>
        <p:nvSpPr>
          <p:cNvPr id="7" name="Shape 4"/>
          <p:cNvSpPr/>
          <p:nvPr/>
        </p:nvSpPr>
        <p:spPr>
          <a:xfrm>
            <a:off x="819150" y="5599509"/>
            <a:ext cx="2019300" cy="439341"/>
          </a:xfrm>
          <a:prstGeom prst="roundRect">
            <a:avLst>
              <a:gd name="adj" fmla="val 50000"/>
            </a:avLst>
          </a:prstGeom>
          <a:solidFill>
            <a:srgbClr val="1F3050"/>
          </a:solidFill>
          <a:ln w="12700">
            <a:solidFill>
              <a:srgbClr val="1F3050"/>
            </a:solidFill>
            <a:prstDash val="solid"/>
          </a:ln>
        </p:spPr>
      </p:sp>
      <p:sp>
        <p:nvSpPr>
          <p:cNvPr id="8" name="Text 5"/>
          <p:cNvSpPr/>
          <p:nvPr/>
        </p:nvSpPr>
        <p:spPr>
          <a:xfrm>
            <a:off x="847725" y="5694759"/>
            <a:ext cx="196215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F4F7FC"/>
                </a:solidFill>
                <a:latin typeface="BIZ UDPGothic" pitchFamily="34" charset="0"/>
                <a:ea typeface="BIZ UDPGothic" pitchFamily="34" charset="-122"/>
                <a:cs typeface="BIZ UDPGothic" pitchFamily="34" charset="-120"/>
              </a:rPr>
              <a:t>1 ブログのしくみ</a:t>
            </a:r>
            <a:endParaRPr lang="en-US" sz="1400" dirty="0"/>
          </a:p>
        </p:txBody>
      </p:sp>
      <p:sp>
        <p:nvSpPr>
          <p:cNvPr id="9" name="Shape 6"/>
          <p:cNvSpPr/>
          <p:nvPr/>
        </p:nvSpPr>
        <p:spPr>
          <a:xfrm>
            <a:off x="2952750" y="5599509"/>
            <a:ext cx="2019300" cy="439341"/>
          </a:xfrm>
          <a:prstGeom prst="roundRect">
            <a:avLst>
              <a:gd name="adj" fmla="val 50000"/>
            </a:avLst>
          </a:prstGeom>
          <a:solidFill>
            <a:srgbClr val="FFC83D"/>
          </a:solidFill>
          <a:ln w="12700">
            <a:solidFill>
              <a:srgbClr val="FFC83D"/>
            </a:solidFill>
            <a:prstDash val="solid"/>
          </a:ln>
        </p:spPr>
      </p:sp>
      <p:sp>
        <p:nvSpPr>
          <p:cNvPr id="10" name="Text 7"/>
          <p:cNvSpPr/>
          <p:nvPr/>
        </p:nvSpPr>
        <p:spPr>
          <a:xfrm>
            <a:off x="2981325" y="5694759"/>
            <a:ext cx="196215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6233B"/>
                </a:solidFill>
                <a:latin typeface="BIZ UDPGothic" pitchFamily="34" charset="0"/>
                <a:ea typeface="BIZ UDPGothic" pitchFamily="34" charset="-122"/>
                <a:cs typeface="BIZ UDPGothic" pitchFamily="34" charset="-120"/>
              </a:rPr>
              <a:t>2 AIのしくみ</a:t>
            </a:r>
            <a:endParaRPr lang="en-US" sz="1400" dirty="0"/>
          </a:p>
        </p:txBody>
      </p:sp>
      <p:sp>
        <p:nvSpPr>
          <p:cNvPr id="11" name="Shape 8"/>
          <p:cNvSpPr/>
          <p:nvPr/>
        </p:nvSpPr>
        <p:spPr>
          <a:xfrm>
            <a:off x="5086350" y="5599509"/>
            <a:ext cx="2019300" cy="439341"/>
          </a:xfrm>
          <a:prstGeom prst="roundRect">
            <a:avLst>
              <a:gd name="adj" fmla="val 50000"/>
            </a:avLst>
          </a:prstGeom>
          <a:noFill/>
          <a:ln w="12700">
            <a:solidFill>
              <a:srgbClr val="34466B"/>
            </a:solidFill>
            <a:prstDash val="solid"/>
          </a:ln>
        </p:spPr>
      </p:sp>
      <p:sp>
        <p:nvSpPr>
          <p:cNvPr id="12" name="Text 9"/>
          <p:cNvSpPr/>
          <p:nvPr/>
        </p:nvSpPr>
        <p:spPr>
          <a:xfrm>
            <a:off x="5114925" y="5694759"/>
            <a:ext cx="196215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A9B6D0"/>
                </a:solidFill>
                <a:latin typeface="BIZ UDPGothic" pitchFamily="34" charset="0"/>
                <a:ea typeface="BIZ UDPGothic" pitchFamily="34" charset="-122"/>
                <a:cs typeface="BIZ UDPGothic" pitchFamily="34" charset="-120"/>
              </a:rPr>
              <a:t>3 スキル</a:t>
            </a:r>
            <a:endParaRPr lang="en-US" sz="1400" dirty="0"/>
          </a:p>
        </p:txBody>
      </p:sp>
      <p:sp>
        <p:nvSpPr>
          <p:cNvPr id="13" name="Shape 10"/>
          <p:cNvSpPr/>
          <p:nvPr/>
        </p:nvSpPr>
        <p:spPr>
          <a:xfrm>
            <a:off x="7219950" y="5599509"/>
            <a:ext cx="2019300" cy="439341"/>
          </a:xfrm>
          <a:prstGeom prst="roundRect">
            <a:avLst>
              <a:gd name="adj" fmla="val 50000"/>
            </a:avLst>
          </a:prstGeom>
          <a:noFill/>
          <a:ln w="12700">
            <a:solidFill>
              <a:srgbClr val="34466B"/>
            </a:solidFill>
            <a:prstDash val="solid"/>
          </a:ln>
        </p:spPr>
      </p:sp>
      <p:sp>
        <p:nvSpPr>
          <p:cNvPr id="14" name="Text 11"/>
          <p:cNvSpPr/>
          <p:nvPr/>
        </p:nvSpPr>
        <p:spPr>
          <a:xfrm>
            <a:off x="7248525" y="5694759"/>
            <a:ext cx="196215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A9B6D0"/>
                </a:solidFill>
                <a:latin typeface="BIZ UDPGothic" pitchFamily="34" charset="0"/>
                <a:ea typeface="BIZ UDPGothic" pitchFamily="34" charset="-122"/>
                <a:cs typeface="BIZ UDPGothic" pitchFamily="34" charset="-120"/>
              </a:rPr>
              <a:t>4 サブエージェント</a:t>
            </a:r>
            <a:endParaRPr lang="en-US" sz="1400" dirty="0"/>
          </a:p>
        </p:txBody>
      </p:sp>
      <p:sp>
        <p:nvSpPr>
          <p:cNvPr id="15" name="Shape 12"/>
          <p:cNvSpPr/>
          <p:nvPr/>
        </p:nvSpPr>
        <p:spPr>
          <a:xfrm>
            <a:off x="9353550" y="5599509"/>
            <a:ext cx="2019300" cy="439341"/>
          </a:xfrm>
          <a:prstGeom prst="roundRect">
            <a:avLst>
              <a:gd name="adj" fmla="val 50000"/>
            </a:avLst>
          </a:prstGeom>
          <a:noFill/>
          <a:ln w="12700">
            <a:solidFill>
              <a:srgbClr val="34466B"/>
            </a:solidFill>
            <a:prstDash val="solid"/>
          </a:ln>
        </p:spPr>
      </p:sp>
      <p:sp>
        <p:nvSpPr>
          <p:cNvPr id="16" name="Text 13"/>
          <p:cNvSpPr/>
          <p:nvPr/>
        </p:nvSpPr>
        <p:spPr>
          <a:xfrm>
            <a:off x="9382125" y="5694759"/>
            <a:ext cx="196215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A9B6D0"/>
                </a:solidFill>
                <a:latin typeface="BIZ UDPGothic" pitchFamily="34" charset="0"/>
                <a:ea typeface="BIZ UDPGothic" pitchFamily="34" charset="-122"/>
                <a:cs typeface="BIZ UDPGothic" pitchFamily="34" charset="-120"/>
              </a:rPr>
              <a:t>5 人とAI</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2 ／ AIのしくみ</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生成AIは、文章を「新しく作る」AI</a:t>
            </a:r>
            <a:endParaRPr lang="en-US" sz="3200" dirty="0"/>
          </a:p>
        </p:txBody>
      </p:sp>
      <p:sp>
        <p:nvSpPr>
          <p:cNvPr id="4" name="Shape 2"/>
          <p:cNvSpPr/>
          <p:nvPr/>
        </p:nvSpPr>
        <p:spPr>
          <a:xfrm>
            <a:off x="819150" y="1901130"/>
            <a:ext cx="5143500" cy="3350320"/>
          </a:xfrm>
          <a:prstGeom prst="roundRect">
            <a:avLst>
              <a:gd name="adj" fmla="val 5117"/>
            </a:avLst>
          </a:prstGeom>
          <a:solidFill>
            <a:srgbClr val="FBFCFE"/>
          </a:solidFill>
          <a:ln w="12700">
            <a:solidFill>
              <a:srgbClr val="D3DBEA"/>
            </a:solidFill>
            <a:prstDash val="solid"/>
          </a:ln>
        </p:spPr>
      </p:sp>
      <p:sp>
        <p:nvSpPr>
          <p:cNvPr id="5" name="Shape 3"/>
          <p:cNvSpPr/>
          <p:nvPr/>
        </p:nvSpPr>
        <p:spPr>
          <a:xfrm>
            <a:off x="1104900" y="2186880"/>
            <a:ext cx="609600" cy="609600"/>
          </a:xfrm>
          <a:prstGeom prst="roundRect">
            <a:avLst>
              <a:gd name="adj" fmla="val 25000"/>
            </a:avLst>
          </a:prstGeom>
          <a:solidFill>
            <a:srgbClr val="E1EAFF"/>
          </a:solidFill>
          <a:ln/>
        </p:spPr>
      </p:sp>
      <p:pic>
        <p:nvPicPr>
          <p:cNvPr id="6" name="Image 0" descr="Search">    </p:cNvPr>
          <p:cNvPicPr>
            <a:picLocks noChangeAspect="1"/>
          </p:cNvPicPr>
          <p:nvPr/>
        </p:nvPicPr>
        <p:blipFill>
          <a:blip r:embed="rId1"/>
          <a:srcRect l="0" r="0" t="0" b="0"/>
          <a:stretch/>
        </p:blipFill>
        <p:spPr>
          <a:xfrm>
            <a:off x="1231900" y="2313880"/>
            <a:ext cx="355600" cy="355600"/>
          </a:xfrm>
          <a:prstGeom prst="rect">
            <a:avLst/>
          </a:prstGeom>
        </p:spPr>
      </p:pic>
      <p:sp>
        <p:nvSpPr>
          <p:cNvPr id="7" name="Text 4"/>
          <p:cNvSpPr/>
          <p:nvPr/>
        </p:nvSpPr>
        <p:spPr>
          <a:xfrm>
            <a:off x="1104900" y="2923480"/>
            <a:ext cx="4709160" cy="388541"/>
          </a:xfrm>
          <a:prstGeom prst="rect">
            <a:avLst/>
          </a:prstGeom>
          <a:noFill/>
          <a:ln/>
        </p:spPr>
        <p:txBody>
          <a:bodyPr wrap="square" lIns="0" tIns="0" rIns="0" bIns="0" rtlCol="0" anchor="t">
            <a:normAutofit/>
          </a:bodyPr>
          <a:lstStyle/>
          <a:p>
            <a:pPr algn="l" indent="0" marL="0">
              <a:lnSpc>
                <a:spcPts val="2860"/>
              </a:lnSpc>
              <a:buNone/>
            </a:pPr>
            <a:r>
              <a:rPr lang="en-US" sz="2200" b="1" dirty="0">
                <a:solidFill>
                  <a:srgbClr val="16233B"/>
                </a:solidFill>
                <a:latin typeface="Zen Maru Gothic" pitchFamily="34" charset="0"/>
                <a:ea typeface="Zen Maru Gothic" pitchFamily="34" charset="-122"/>
                <a:cs typeface="Zen Maru Gothic" pitchFamily="34" charset="-120"/>
              </a:rPr>
              <a:t>検索エンジン</a:t>
            </a:r>
            <a:endParaRPr lang="en-US" sz="2200" dirty="0"/>
          </a:p>
        </p:txBody>
      </p:sp>
      <p:sp>
        <p:nvSpPr>
          <p:cNvPr id="8" name="Text 5"/>
          <p:cNvSpPr/>
          <p:nvPr/>
        </p:nvSpPr>
        <p:spPr>
          <a:xfrm>
            <a:off x="1104900" y="3413621"/>
            <a:ext cx="4709160" cy="350441"/>
          </a:xfrm>
          <a:prstGeom prst="rect">
            <a:avLst/>
          </a:prstGeom>
          <a:noFill/>
          <a:ln/>
        </p:spPr>
        <p:txBody>
          <a:bodyPr wrap="square" lIns="0" tIns="0" rIns="0" bIns="0" rtlCol="0" anchor="t">
            <a:normAutofit/>
          </a:bodyPr>
          <a:lstStyle/>
          <a:p>
            <a:pPr algn="l" indent="0" marL="0">
              <a:lnSpc>
                <a:spcPts val="2560"/>
              </a:lnSpc>
              <a:buNone/>
            </a:pPr>
            <a:r>
              <a:rPr lang="en-US" sz="1600" dirty="0">
                <a:solidFill>
                  <a:srgbClr val="16233B"/>
                </a:solidFill>
                <a:latin typeface="BIZ UDPGothic" pitchFamily="34" charset="0"/>
                <a:ea typeface="BIZ UDPGothic" pitchFamily="34" charset="-122"/>
                <a:cs typeface="BIZ UDPGothic" pitchFamily="34" charset="-120"/>
              </a:rPr>
              <a:t>すでにあるページを</a:t>
            </a:r>
            <a:r>
              <a:rPr lang="en-US" sz="1600" b="1" dirty="0">
                <a:solidFill>
                  <a:srgbClr val="16233B"/>
                </a:solidFill>
                <a:latin typeface="BIZ UDPGothic" pitchFamily="34" charset="0"/>
                <a:ea typeface="BIZ UDPGothic" pitchFamily="34" charset="-122"/>
                <a:cs typeface="BIZ UDPGothic" pitchFamily="34" charset="-120"/>
              </a:rPr>
              <a:t>探して</a:t>
            </a:r>
            <a:r>
              <a:rPr lang="en-US" sz="1600" dirty="0">
                <a:solidFill>
                  <a:srgbClr val="16233B"/>
                </a:solidFill>
                <a:latin typeface="BIZ UDPGothic" pitchFamily="34" charset="0"/>
                <a:ea typeface="BIZ UDPGothic" pitchFamily="34" charset="-122"/>
                <a:cs typeface="BIZ UDPGothic" pitchFamily="34" charset="-120"/>
              </a:rPr>
              <a:t>、見せてくれる。</a:t>
            </a:r>
            <a:endParaRPr lang="en-US" sz="1600" dirty="0"/>
          </a:p>
        </p:txBody>
      </p:sp>
      <p:sp>
        <p:nvSpPr>
          <p:cNvPr id="9" name="Text 6"/>
          <p:cNvSpPr/>
          <p:nvPr/>
        </p:nvSpPr>
        <p:spPr>
          <a:xfrm>
            <a:off x="1104900" y="3865662"/>
            <a:ext cx="4709160" cy="30986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56647E"/>
                </a:solidFill>
                <a:latin typeface="BIZ UDPGothic" pitchFamily="34" charset="0"/>
                <a:ea typeface="BIZ UDPGothic" pitchFamily="34" charset="-122"/>
                <a:cs typeface="BIZ UDPGothic" pitchFamily="34" charset="-120"/>
              </a:rPr>
              <a:t>答え：だれかが書いたものが、そのまま出る</a:t>
            </a:r>
            <a:endParaRPr lang="en-US" sz="1400" dirty="0"/>
          </a:p>
        </p:txBody>
      </p:sp>
      <p:sp>
        <p:nvSpPr>
          <p:cNvPr id="10" name="Shape 7"/>
          <p:cNvSpPr/>
          <p:nvPr/>
        </p:nvSpPr>
        <p:spPr>
          <a:xfrm>
            <a:off x="6229350" y="1901130"/>
            <a:ext cx="5143500" cy="3350320"/>
          </a:xfrm>
          <a:prstGeom prst="roundRect">
            <a:avLst>
              <a:gd name="adj" fmla="val 5117"/>
            </a:avLst>
          </a:prstGeom>
          <a:solidFill>
            <a:srgbClr val="2F62E6"/>
          </a:solidFill>
          <a:ln w="12700">
            <a:solidFill>
              <a:srgbClr val="2F62E6"/>
            </a:solidFill>
            <a:prstDash val="solid"/>
          </a:ln>
        </p:spPr>
      </p:sp>
      <p:sp>
        <p:nvSpPr>
          <p:cNvPr id="11" name="Shape 8"/>
          <p:cNvSpPr/>
          <p:nvPr/>
        </p:nvSpPr>
        <p:spPr>
          <a:xfrm>
            <a:off x="6515100" y="2186880"/>
            <a:ext cx="609600" cy="609600"/>
          </a:xfrm>
          <a:prstGeom prst="roundRect">
            <a:avLst>
              <a:gd name="adj" fmla="val 25000"/>
            </a:avLst>
          </a:prstGeom>
          <a:solidFill>
            <a:srgbClr val="FFC83D"/>
          </a:solidFill>
          <a:ln/>
        </p:spPr>
      </p:sp>
      <p:pic>
        <p:nvPicPr>
          <p:cNvPr id="12" name="Image 1" descr="Lightbulb">    </p:cNvPr>
          <p:cNvPicPr>
            <a:picLocks noChangeAspect="1"/>
          </p:cNvPicPr>
          <p:nvPr/>
        </p:nvPicPr>
        <p:blipFill>
          <a:blip r:embed="rId2"/>
          <a:srcRect l="0" r="0" t="0" b="0"/>
          <a:stretch/>
        </p:blipFill>
        <p:spPr>
          <a:xfrm>
            <a:off x="6642100" y="2313880"/>
            <a:ext cx="355600" cy="355600"/>
          </a:xfrm>
          <a:prstGeom prst="rect">
            <a:avLst/>
          </a:prstGeom>
        </p:spPr>
      </p:pic>
      <p:sp>
        <p:nvSpPr>
          <p:cNvPr id="13" name="Text 9"/>
          <p:cNvSpPr/>
          <p:nvPr/>
        </p:nvSpPr>
        <p:spPr>
          <a:xfrm>
            <a:off x="6515100" y="2923480"/>
            <a:ext cx="4709160" cy="388541"/>
          </a:xfrm>
          <a:prstGeom prst="rect">
            <a:avLst/>
          </a:prstGeom>
          <a:noFill/>
          <a:ln/>
        </p:spPr>
        <p:txBody>
          <a:bodyPr wrap="square" lIns="0" tIns="0" rIns="0" bIns="0" rtlCol="0" anchor="t">
            <a:normAutofit/>
          </a:bodyPr>
          <a:lstStyle/>
          <a:p>
            <a:pPr algn="l" indent="0" marL="0">
              <a:lnSpc>
                <a:spcPts val="2860"/>
              </a:lnSpc>
              <a:buNone/>
            </a:pPr>
            <a:r>
              <a:rPr lang="en-US" sz="2200" b="1" dirty="0">
                <a:solidFill>
                  <a:srgbClr val="FFFFFF"/>
                </a:solidFill>
                <a:latin typeface="Zen Maru Gothic" pitchFamily="34" charset="0"/>
                <a:ea typeface="Zen Maru Gothic" pitchFamily="34" charset="-122"/>
                <a:cs typeface="Zen Maru Gothic" pitchFamily="34" charset="-120"/>
              </a:rPr>
              <a:t>生成AI</a:t>
            </a:r>
            <a:endParaRPr lang="en-US" sz="2200" dirty="0"/>
          </a:p>
        </p:txBody>
      </p:sp>
      <p:sp>
        <p:nvSpPr>
          <p:cNvPr id="14" name="Text 10"/>
          <p:cNvSpPr/>
          <p:nvPr/>
        </p:nvSpPr>
        <p:spPr>
          <a:xfrm>
            <a:off x="6515100" y="3413621"/>
            <a:ext cx="4709160" cy="350441"/>
          </a:xfrm>
          <a:prstGeom prst="rect">
            <a:avLst/>
          </a:prstGeom>
          <a:noFill/>
          <a:ln/>
        </p:spPr>
        <p:txBody>
          <a:bodyPr wrap="square" lIns="0" tIns="0" rIns="0" bIns="0" rtlCol="0" anchor="t">
            <a:normAutofit/>
          </a:bodyPr>
          <a:lstStyle/>
          <a:p>
            <a:pPr algn="l" indent="0" marL="0">
              <a:lnSpc>
                <a:spcPts val="2560"/>
              </a:lnSpc>
              <a:buNone/>
            </a:pPr>
            <a:r>
              <a:rPr lang="en-US" sz="1600" dirty="0">
                <a:solidFill>
                  <a:srgbClr val="FFFFFF"/>
                </a:solidFill>
                <a:latin typeface="BIZ UDPGothic" pitchFamily="34" charset="0"/>
                <a:ea typeface="BIZ UDPGothic" pitchFamily="34" charset="-122"/>
                <a:cs typeface="BIZ UDPGothic" pitchFamily="34" charset="-120"/>
              </a:rPr>
              <a:t>質問に合わせて、文章を</a:t>
            </a:r>
            <a:r>
              <a:rPr lang="en-US" sz="1600" b="1" dirty="0">
                <a:solidFill>
                  <a:srgbClr val="FFFFFF"/>
                </a:solidFill>
                <a:latin typeface="BIZ UDPGothic" pitchFamily="34" charset="0"/>
                <a:ea typeface="BIZ UDPGothic" pitchFamily="34" charset="-122"/>
                <a:cs typeface="BIZ UDPGothic" pitchFamily="34" charset="-120"/>
              </a:rPr>
              <a:t>その場で作り出す</a:t>
            </a:r>
            <a:r>
              <a:rPr lang="en-US" sz="1600" dirty="0">
                <a:solidFill>
                  <a:srgbClr val="FFFFFF"/>
                </a:solidFill>
                <a:latin typeface="BIZ UDPGothic" pitchFamily="34" charset="0"/>
                <a:ea typeface="BIZ UDPGothic" pitchFamily="34" charset="-122"/>
                <a:cs typeface="BIZ UDPGothic" pitchFamily="34" charset="-120"/>
              </a:rPr>
              <a:t>。</a:t>
            </a:r>
            <a:endParaRPr lang="en-US" sz="1600" dirty="0"/>
          </a:p>
        </p:txBody>
      </p:sp>
      <p:sp>
        <p:nvSpPr>
          <p:cNvPr id="15" name="Text 11"/>
          <p:cNvSpPr/>
          <p:nvPr/>
        </p:nvSpPr>
        <p:spPr>
          <a:xfrm>
            <a:off x="6515100" y="3865662"/>
            <a:ext cx="4709160" cy="30986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E8EEFF"/>
                </a:solidFill>
                <a:latin typeface="BIZ UDPGothic" pitchFamily="34" charset="0"/>
                <a:ea typeface="BIZ UDPGothic" pitchFamily="34" charset="-122"/>
                <a:cs typeface="BIZ UDPGothic" pitchFamily="34" charset="-120"/>
              </a:rPr>
              <a:t>答え：世界に1つだけの文章が、毎回できる</a:t>
            </a:r>
            <a:endParaRPr lang="en-US" sz="1400" dirty="0"/>
          </a:p>
        </p:txBody>
      </p:sp>
      <p:sp>
        <p:nvSpPr>
          <p:cNvPr id="16" name="Text 12"/>
          <p:cNvSpPr/>
          <p:nvPr/>
        </p:nvSpPr>
        <p:spPr>
          <a:xfrm>
            <a:off x="812800" y="5537200"/>
            <a:ext cx="10883392" cy="330200"/>
          </a:xfrm>
          <a:prstGeom prst="rect">
            <a:avLst/>
          </a:prstGeom>
          <a:noFill/>
          <a:ln/>
        </p:spPr>
        <p:txBody>
          <a:bodyPr wrap="square" lIns="0" tIns="0" rIns="0" bIns="0" rtlCol="0" anchor="t">
            <a:normAutofit/>
          </a:bodyPr>
          <a:lstStyle/>
          <a:p>
            <a:pPr algn="l" indent="0" marL="0">
              <a:lnSpc>
                <a:spcPts val="2400"/>
              </a:lnSpc>
              <a:buNone/>
            </a:pPr>
            <a:r>
              <a:rPr lang="en-US" sz="1500" dirty="0">
                <a:solidFill>
                  <a:srgbClr val="56647E"/>
                </a:solidFill>
                <a:latin typeface="BIZ UDPGothic" pitchFamily="34" charset="0"/>
                <a:ea typeface="BIZ UDPGothic" pitchFamily="34" charset="-122"/>
                <a:cs typeface="BIZ UDPGothic" pitchFamily="34" charset="-120"/>
              </a:rPr>
              <a:t>ChatGPT・Claude・Gemini などが、ここに入ります。</a:t>
            </a:r>
            <a:endParaRPr lang="en-US" sz="1500" dirty="0"/>
          </a:p>
        </p:txBody>
      </p:sp>
      <p:sp>
        <p:nvSpPr>
          <p:cNvPr id="17" name="Text 1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18" name="Text 14"/>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11 / 40</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2 ／ AIのしくみ</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中身は、「次のことば」の予想</a:t>
            </a:r>
            <a:endParaRPr lang="en-US" sz="3200" dirty="0"/>
          </a:p>
        </p:txBody>
      </p:sp>
      <p:sp>
        <p:nvSpPr>
          <p:cNvPr id="4" name="Text 2"/>
          <p:cNvSpPr/>
          <p:nvPr/>
        </p:nvSpPr>
        <p:spPr>
          <a:xfrm>
            <a:off x="812800" y="1894780"/>
            <a:ext cx="4028948" cy="350441"/>
          </a:xfrm>
          <a:prstGeom prst="rect">
            <a:avLst/>
          </a:prstGeom>
          <a:noFill/>
          <a:ln/>
        </p:spPr>
        <p:txBody>
          <a:bodyPr wrap="square" lIns="0" tIns="0" rIns="0" bIns="0" rtlCol="0" anchor="t">
            <a:normAutofit/>
          </a:bodyPr>
          <a:lstStyle/>
          <a:p>
            <a:pPr algn="l" indent="0" marL="0">
              <a:lnSpc>
                <a:spcPts val="2560"/>
              </a:lnSpc>
              <a:buNone/>
            </a:pPr>
            <a:r>
              <a:rPr lang="en-US" sz="1600" dirty="0">
                <a:solidFill>
                  <a:srgbClr val="56647E"/>
                </a:solidFill>
                <a:latin typeface="BIZ UDPGothic" pitchFamily="34" charset="0"/>
                <a:ea typeface="BIZ UDPGothic" pitchFamily="34" charset="-122"/>
                <a:cs typeface="BIZ UDPGothic" pitchFamily="34" charset="-120"/>
              </a:rPr>
              <a:t>たとえば、この続きは？</a:t>
            </a:r>
            <a:endParaRPr lang="en-US" sz="1600" dirty="0"/>
          </a:p>
        </p:txBody>
      </p:sp>
      <p:sp>
        <p:nvSpPr>
          <p:cNvPr id="5" name="Text 3"/>
          <p:cNvSpPr/>
          <p:nvPr/>
        </p:nvSpPr>
        <p:spPr>
          <a:xfrm>
            <a:off x="812800" y="2321421"/>
            <a:ext cx="4028948" cy="619720"/>
          </a:xfrm>
          <a:prstGeom prst="rect">
            <a:avLst/>
          </a:prstGeom>
          <a:noFill/>
          <a:ln/>
        </p:spPr>
        <p:txBody>
          <a:bodyPr wrap="square" lIns="0" tIns="0" rIns="0" bIns="0" rtlCol="0" anchor="t">
            <a:normAutofit/>
          </a:bodyPr>
          <a:lstStyle/>
          <a:p>
            <a:pPr algn="l" indent="0" marL="0">
              <a:lnSpc>
                <a:spcPts val="4680"/>
              </a:lnSpc>
              <a:buNone/>
            </a:pPr>
            <a:r>
              <a:rPr lang="en-US" sz="3600" b="1" dirty="0">
                <a:solidFill>
                  <a:srgbClr val="16233B"/>
                </a:solidFill>
                <a:latin typeface="Zen Maru Gothic" pitchFamily="34" charset="0"/>
                <a:ea typeface="Zen Maru Gothic" pitchFamily="34" charset="-122"/>
                <a:cs typeface="Zen Maru Gothic" pitchFamily="34" charset="-120"/>
              </a:rPr>
              <a:t>明日の天気は、</a:t>
            </a:r>
            <a:endParaRPr lang="en-US" sz="3600" dirty="0"/>
          </a:p>
        </p:txBody>
      </p:sp>
      <p:sp>
        <p:nvSpPr>
          <p:cNvPr id="6" name="Text 4"/>
          <p:cNvSpPr/>
          <p:nvPr/>
        </p:nvSpPr>
        <p:spPr>
          <a:xfrm>
            <a:off x="812800" y="3118941"/>
            <a:ext cx="4028948" cy="675481"/>
          </a:xfrm>
          <a:prstGeom prst="rect">
            <a:avLst/>
          </a:prstGeom>
          <a:noFill/>
          <a:ln/>
        </p:spPr>
        <p:txBody>
          <a:bodyPr wrap="square" lIns="0" tIns="0" rIns="0" bIns="0" rtlCol="0" anchor="t">
            <a:normAutofit/>
          </a:bodyPr>
          <a:lstStyle/>
          <a:p>
            <a:pPr algn="l" indent="0" marL="0">
              <a:lnSpc>
                <a:spcPts val="2560"/>
              </a:lnSpc>
              <a:buNone/>
            </a:pPr>
            <a:r>
              <a:rPr lang="en-US" sz="1600" dirty="0">
                <a:solidFill>
                  <a:srgbClr val="16233B"/>
                </a:solidFill>
                <a:latin typeface="BIZ UDPGothic" pitchFamily="34" charset="0"/>
                <a:ea typeface="BIZ UDPGothic" pitchFamily="34" charset="-122"/>
                <a:cs typeface="BIZ UDPGothic" pitchFamily="34" charset="-120"/>
              </a:rPr>
              <a:t>スマホの「予測変換」を、とてつもなく大きくしたもの。</a:t>
            </a:r>
            <a:endParaRPr lang="en-US" sz="1600" dirty="0"/>
          </a:p>
        </p:txBody>
      </p:sp>
      <p:sp>
        <p:nvSpPr>
          <p:cNvPr id="7" name="Shape 5"/>
          <p:cNvSpPr/>
          <p:nvPr/>
        </p:nvSpPr>
        <p:spPr>
          <a:xfrm>
            <a:off x="819150" y="3876973"/>
            <a:ext cx="3898900" cy="1455341"/>
          </a:xfrm>
          <a:prstGeom prst="roundRect">
            <a:avLst>
              <a:gd name="adj" fmla="val 11781"/>
            </a:avLst>
          </a:prstGeom>
          <a:solidFill>
            <a:srgbClr val="FFF0BD"/>
          </a:solidFill>
          <a:ln w="12700">
            <a:solidFill>
              <a:srgbClr val="FFC83D"/>
            </a:solidFill>
            <a:prstDash val="solid"/>
          </a:ln>
        </p:spPr>
      </p:sp>
      <p:sp>
        <p:nvSpPr>
          <p:cNvPr id="8" name="Text 6"/>
          <p:cNvSpPr/>
          <p:nvPr/>
        </p:nvSpPr>
        <p:spPr>
          <a:xfrm>
            <a:off x="1028700" y="4035723"/>
            <a:ext cx="3584194" cy="1163241"/>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16233B"/>
                </a:solidFill>
                <a:latin typeface="BIZ UDPGothic" pitchFamily="34" charset="0"/>
                <a:ea typeface="BIZ UDPGothic" pitchFamily="34" charset="-122"/>
                <a:cs typeface="BIZ UDPGothic" pitchFamily="34" charset="-120"/>
              </a:rPr>
              <a:t>AIは、これまでに読んだ大量の文章をもとに、「次に来やすいことば」を数字にして並べる。いちばん出やすいことばを選ぶこともあれば、少し違うことばを選ぶこともある。</a:t>
            </a:r>
            <a:endParaRPr lang="en-US" sz="1400" dirty="0"/>
          </a:p>
        </p:txBody>
      </p:sp>
      <p:sp>
        <p:nvSpPr>
          <p:cNvPr id="9" name="Text 7"/>
          <p:cNvSpPr/>
          <p:nvPr/>
        </p:nvSpPr>
        <p:spPr>
          <a:xfrm>
            <a:off x="5029200" y="1894780"/>
            <a:ext cx="6540500" cy="309860"/>
          </a:xfrm>
          <a:prstGeom prst="rect">
            <a:avLst/>
          </a:prstGeom>
          <a:noFill/>
          <a:ln/>
        </p:spPr>
        <p:txBody>
          <a:bodyPr wrap="square" lIns="0" tIns="0" rIns="0" bIns="0" rtlCol="0" anchor="t">
            <a:normAutofit/>
          </a:bodyPr>
          <a:lstStyle/>
          <a:p>
            <a:pPr algn="l" indent="0" marL="0">
              <a:lnSpc>
                <a:spcPts val="2240"/>
              </a:lnSpc>
              <a:buNone/>
            </a:pPr>
            <a:r>
              <a:rPr lang="en-US" sz="1400" b="1" dirty="0">
                <a:solidFill>
                  <a:srgbClr val="2350C9"/>
                </a:solidFill>
                <a:latin typeface="BIZ UDPGothic" pitchFamily="34" charset="0"/>
                <a:ea typeface="BIZ UDPGothic" pitchFamily="34" charset="-122"/>
                <a:cs typeface="BIZ UDPGothic" pitchFamily="34" charset="-120"/>
              </a:rPr>
              <a:t>AIが並べた「次のことば」の予想</a:t>
            </a:r>
            <a:endParaRPr lang="en-US" sz="1400" dirty="0"/>
          </a:p>
        </p:txBody>
      </p:sp>
      <p:sp>
        <p:nvSpPr>
          <p:cNvPr id="10" name="Text 8"/>
          <p:cNvSpPr/>
          <p:nvPr/>
        </p:nvSpPr>
        <p:spPr>
          <a:xfrm>
            <a:off x="5029200" y="2331641"/>
            <a:ext cx="939800"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6233B"/>
                </a:solidFill>
                <a:latin typeface="Zen Maru Gothic" pitchFamily="34" charset="0"/>
                <a:ea typeface="Zen Maru Gothic" pitchFamily="34" charset="-122"/>
                <a:cs typeface="Zen Maru Gothic" pitchFamily="34" charset="-120"/>
              </a:rPr>
              <a:t>晴れ</a:t>
            </a:r>
            <a:endParaRPr lang="en-US" sz="2000" dirty="0"/>
          </a:p>
        </p:txBody>
      </p:sp>
      <p:sp>
        <p:nvSpPr>
          <p:cNvPr id="11" name="Shape 9"/>
          <p:cNvSpPr/>
          <p:nvPr/>
        </p:nvSpPr>
        <p:spPr>
          <a:xfrm>
            <a:off x="6070600" y="2318941"/>
            <a:ext cx="2895600" cy="355600"/>
          </a:xfrm>
          <a:prstGeom prst="roundRect">
            <a:avLst>
              <a:gd name="adj" fmla="val 25000"/>
            </a:avLst>
          </a:prstGeom>
          <a:solidFill>
            <a:srgbClr val="2F62E6"/>
          </a:solidFill>
          <a:ln/>
        </p:spPr>
      </p:sp>
      <p:sp>
        <p:nvSpPr>
          <p:cNvPr id="12" name="Text 10"/>
          <p:cNvSpPr/>
          <p:nvPr/>
        </p:nvSpPr>
        <p:spPr>
          <a:xfrm>
            <a:off x="9118600" y="2364680"/>
            <a:ext cx="562769"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233B"/>
                </a:solidFill>
                <a:latin typeface="BIZ UDPGothic" pitchFamily="34" charset="0"/>
                <a:ea typeface="BIZ UDPGothic" pitchFamily="34" charset="-122"/>
                <a:cs typeface="BIZ UDPGothic" pitchFamily="34" charset="-120"/>
              </a:rPr>
              <a:t>60%</a:t>
            </a:r>
            <a:endParaRPr lang="en-US" sz="1600" dirty="0"/>
          </a:p>
        </p:txBody>
      </p:sp>
      <p:sp>
        <p:nvSpPr>
          <p:cNvPr id="13" name="Text 11"/>
          <p:cNvSpPr/>
          <p:nvPr/>
        </p:nvSpPr>
        <p:spPr>
          <a:xfrm>
            <a:off x="5029200" y="2826941"/>
            <a:ext cx="939800"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6233B"/>
                </a:solidFill>
                <a:latin typeface="Zen Maru Gothic" pitchFamily="34" charset="0"/>
                <a:ea typeface="Zen Maru Gothic" pitchFamily="34" charset="-122"/>
                <a:cs typeface="Zen Maru Gothic" pitchFamily="34" charset="-120"/>
              </a:rPr>
              <a:t>曇り</a:t>
            </a:r>
            <a:endParaRPr lang="en-US" sz="2000" dirty="0"/>
          </a:p>
        </p:txBody>
      </p:sp>
      <p:sp>
        <p:nvSpPr>
          <p:cNvPr id="14" name="Shape 12"/>
          <p:cNvSpPr/>
          <p:nvPr/>
        </p:nvSpPr>
        <p:spPr>
          <a:xfrm>
            <a:off x="6070600" y="2814241"/>
            <a:ext cx="1206500" cy="355600"/>
          </a:xfrm>
          <a:prstGeom prst="roundRect">
            <a:avLst>
              <a:gd name="adj" fmla="val 25000"/>
            </a:avLst>
          </a:prstGeom>
          <a:solidFill>
            <a:srgbClr val="9DB4EE"/>
          </a:solidFill>
          <a:ln/>
        </p:spPr>
      </p:sp>
      <p:sp>
        <p:nvSpPr>
          <p:cNvPr id="15" name="Text 13"/>
          <p:cNvSpPr/>
          <p:nvPr/>
        </p:nvSpPr>
        <p:spPr>
          <a:xfrm>
            <a:off x="7429500" y="2859980"/>
            <a:ext cx="562769"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233B"/>
                </a:solidFill>
                <a:latin typeface="BIZ UDPGothic" pitchFamily="34" charset="0"/>
                <a:ea typeface="BIZ UDPGothic" pitchFamily="34" charset="-122"/>
                <a:cs typeface="BIZ UDPGothic" pitchFamily="34" charset="-120"/>
              </a:rPr>
              <a:t>25%</a:t>
            </a:r>
            <a:endParaRPr lang="en-US" sz="1600" dirty="0"/>
          </a:p>
        </p:txBody>
      </p:sp>
      <p:sp>
        <p:nvSpPr>
          <p:cNvPr id="16" name="Text 14"/>
          <p:cNvSpPr/>
          <p:nvPr/>
        </p:nvSpPr>
        <p:spPr>
          <a:xfrm>
            <a:off x="5029200" y="3322241"/>
            <a:ext cx="939800"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6233B"/>
                </a:solidFill>
                <a:latin typeface="Zen Maru Gothic" pitchFamily="34" charset="0"/>
                <a:ea typeface="Zen Maru Gothic" pitchFamily="34" charset="-122"/>
                <a:cs typeface="Zen Maru Gothic" pitchFamily="34" charset="-120"/>
              </a:rPr>
              <a:t>雨</a:t>
            </a:r>
            <a:endParaRPr lang="en-US" sz="2000" dirty="0"/>
          </a:p>
        </p:txBody>
      </p:sp>
      <p:sp>
        <p:nvSpPr>
          <p:cNvPr id="17" name="Shape 15"/>
          <p:cNvSpPr/>
          <p:nvPr/>
        </p:nvSpPr>
        <p:spPr>
          <a:xfrm>
            <a:off x="6070600" y="3309541"/>
            <a:ext cx="482600" cy="355600"/>
          </a:xfrm>
          <a:prstGeom prst="roundRect">
            <a:avLst>
              <a:gd name="adj" fmla="val 25000"/>
            </a:avLst>
          </a:prstGeom>
          <a:solidFill>
            <a:srgbClr val="9DB4EE"/>
          </a:solidFill>
          <a:ln/>
        </p:spPr>
      </p:sp>
      <p:sp>
        <p:nvSpPr>
          <p:cNvPr id="18" name="Text 16"/>
          <p:cNvSpPr/>
          <p:nvPr/>
        </p:nvSpPr>
        <p:spPr>
          <a:xfrm>
            <a:off x="6705600" y="3355280"/>
            <a:ext cx="536377"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233B"/>
                </a:solidFill>
                <a:latin typeface="BIZ UDPGothic" pitchFamily="34" charset="0"/>
                <a:ea typeface="BIZ UDPGothic" pitchFamily="34" charset="-122"/>
                <a:cs typeface="BIZ UDPGothic" pitchFamily="34" charset="-120"/>
              </a:rPr>
              <a:t>10%</a:t>
            </a:r>
            <a:endParaRPr lang="en-US" sz="1600" dirty="0"/>
          </a:p>
        </p:txBody>
      </p:sp>
      <p:sp>
        <p:nvSpPr>
          <p:cNvPr id="19" name="Text 17"/>
          <p:cNvSpPr/>
          <p:nvPr/>
        </p:nvSpPr>
        <p:spPr>
          <a:xfrm>
            <a:off x="5029200" y="3817541"/>
            <a:ext cx="939800"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6233B"/>
                </a:solidFill>
                <a:latin typeface="Zen Maru Gothic" pitchFamily="34" charset="0"/>
                <a:ea typeface="Zen Maru Gothic" pitchFamily="34" charset="-122"/>
                <a:cs typeface="Zen Maru Gothic" pitchFamily="34" charset="-120"/>
              </a:rPr>
              <a:t>ほか</a:t>
            </a:r>
            <a:endParaRPr lang="en-US" sz="2000" dirty="0"/>
          </a:p>
        </p:txBody>
      </p:sp>
      <p:sp>
        <p:nvSpPr>
          <p:cNvPr id="20" name="Shape 18"/>
          <p:cNvSpPr/>
          <p:nvPr/>
        </p:nvSpPr>
        <p:spPr>
          <a:xfrm>
            <a:off x="6070600" y="3804841"/>
            <a:ext cx="241300" cy="355600"/>
          </a:xfrm>
          <a:prstGeom prst="roundRect">
            <a:avLst>
              <a:gd name="adj" fmla="val 36842"/>
            </a:avLst>
          </a:prstGeom>
          <a:solidFill>
            <a:srgbClr val="9DB4EE"/>
          </a:solidFill>
          <a:ln/>
        </p:spPr>
      </p:sp>
      <p:sp>
        <p:nvSpPr>
          <p:cNvPr id="21" name="Text 19"/>
          <p:cNvSpPr/>
          <p:nvPr/>
        </p:nvSpPr>
        <p:spPr>
          <a:xfrm>
            <a:off x="6464300" y="3850580"/>
            <a:ext cx="408384"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233B"/>
                </a:solidFill>
                <a:latin typeface="BIZ UDPGothic" pitchFamily="34" charset="0"/>
                <a:ea typeface="BIZ UDPGothic" pitchFamily="34" charset="-122"/>
                <a:cs typeface="BIZ UDPGothic" pitchFamily="34" charset="-120"/>
              </a:rPr>
              <a:t>5%</a:t>
            </a:r>
            <a:endParaRPr lang="en-US" sz="1600" dirty="0"/>
          </a:p>
        </p:txBody>
      </p:sp>
      <p:sp>
        <p:nvSpPr>
          <p:cNvPr id="22" name="Text 20"/>
          <p:cNvSpPr/>
          <p:nvPr/>
        </p:nvSpPr>
        <p:spPr>
          <a:xfrm>
            <a:off x="5029200" y="4350941"/>
            <a:ext cx="6540500" cy="2691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56647E"/>
                </a:solidFill>
                <a:latin typeface="BIZ UDPGothic" pitchFamily="34" charset="0"/>
                <a:ea typeface="BIZ UDPGothic" pitchFamily="34" charset="-122"/>
                <a:cs typeface="BIZ UDPGothic" pitchFamily="34" charset="-120"/>
              </a:rPr>
              <a:t>数字はイメージです</a:t>
            </a:r>
            <a:endParaRPr lang="en-US" sz="1200" dirty="0"/>
          </a:p>
        </p:txBody>
      </p:sp>
      <p:sp>
        <p:nvSpPr>
          <p:cNvPr id="23" name="Text 21"/>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24" name="Text 22"/>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12 / 40</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2 ／ AIのしくみ</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1語ずつ書き足して、文章になる</a:t>
            </a:r>
            <a:endParaRPr lang="en-US" sz="3200" dirty="0"/>
          </a:p>
        </p:txBody>
      </p:sp>
      <p:sp>
        <p:nvSpPr>
          <p:cNvPr id="4" name="Shape 2"/>
          <p:cNvSpPr/>
          <p:nvPr/>
        </p:nvSpPr>
        <p:spPr>
          <a:xfrm>
            <a:off x="819150" y="1901130"/>
            <a:ext cx="10553700" cy="688280"/>
          </a:xfrm>
          <a:prstGeom prst="roundRect">
            <a:avLst>
              <a:gd name="adj" fmla="val 21220"/>
            </a:avLst>
          </a:prstGeom>
          <a:solidFill>
            <a:srgbClr val="FBFCFE"/>
          </a:solidFill>
          <a:ln w="12700">
            <a:solidFill>
              <a:srgbClr val="D3DBEA"/>
            </a:solidFill>
            <a:prstDash val="solid"/>
          </a:ln>
        </p:spPr>
      </p:sp>
      <p:sp>
        <p:nvSpPr>
          <p:cNvPr id="5" name="Text 3"/>
          <p:cNvSpPr/>
          <p:nvPr/>
        </p:nvSpPr>
        <p:spPr>
          <a:xfrm>
            <a:off x="1028700" y="2120801"/>
            <a:ext cx="13843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350C9"/>
                </a:solidFill>
                <a:latin typeface="BIZ UDPGothic" pitchFamily="34" charset="0"/>
                <a:ea typeface="BIZ UDPGothic" pitchFamily="34" charset="-122"/>
                <a:cs typeface="BIZ UDPGothic" pitchFamily="34" charset="-120"/>
              </a:rPr>
              <a:t>1回目の予想</a:t>
            </a:r>
            <a:endParaRPr lang="en-US" sz="1400" dirty="0"/>
          </a:p>
        </p:txBody>
      </p:sp>
      <p:sp>
        <p:nvSpPr>
          <p:cNvPr id="6" name="Text 4"/>
          <p:cNvSpPr/>
          <p:nvPr/>
        </p:nvSpPr>
        <p:spPr>
          <a:xfrm>
            <a:off x="2489200" y="2047180"/>
            <a:ext cx="1883664" cy="421580"/>
          </a:xfrm>
          <a:prstGeom prst="rect">
            <a:avLst/>
          </a:prstGeom>
          <a:noFill/>
          <a:ln/>
        </p:spPr>
        <p:txBody>
          <a:bodyPr wrap="square" lIns="0" tIns="0" rIns="0" bIns="0" rtlCol="0" anchor="t">
            <a:normAutofit/>
          </a:bodyPr>
          <a:lstStyle/>
          <a:p>
            <a:pPr algn="l" indent="0" marL="0">
              <a:lnSpc>
                <a:spcPts val="3120"/>
              </a:lnSpc>
              <a:buNone/>
            </a:pPr>
            <a:r>
              <a:rPr lang="en-US" sz="2400" b="1" dirty="0">
                <a:solidFill>
                  <a:srgbClr val="16233B"/>
                </a:solidFill>
                <a:latin typeface="Zen Maru Gothic" pitchFamily="34" charset="0"/>
                <a:ea typeface="Zen Maru Gothic" pitchFamily="34" charset="-122"/>
                <a:cs typeface="Zen Maru Gothic" pitchFamily="34" charset="-120"/>
              </a:rPr>
              <a:t>明日の天気は</a:t>
            </a:r>
            <a:endParaRPr lang="en-US" sz="2400" dirty="0"/>
          </a:p>
        </p:txBody>
      </p:sp>
      <p:sp>
        <p:nvSpPr>
          <p:cNvPr id="7" name="Shape 5"/>
          <p:cNvSpPr/>
          <p:nvPr/>
        </p:nvSpPr>
        <p:spPr>
          <a:xfrm>
            <a:off x="4445000" y="2034480"/>
            <a:ext cx="863600" cy="421580"/>
          </a:xfrm>
          <a:prstGeom prst="roundRect">
            <a:avLst>
              <a:gd name="adj" fmla="val 21087"/>
            </a:avLst>
          </a:prstGeom>
          <a:solidFill>
            <a:srgbClr val="FFC83D"/>
          </a:solidFill>
          <a:ln/>
        </p:spPr>
      </p:sp>
      <p:sp>
        <p:nvSpPr>
          <p:cNvPr id="8" name="Text 6"/>
          <p:cNvSpPr/>
          <p:nvPr/>
        </p:nvSpPr>
        <p:spPr>
          <a:xfrm>
            <a:off x="4572000" y="2047180"/>
            <a:ext cx="660400" cy="421580"/>
          </a:xfrm>
          <a:prstGeom prst="rect">
            <a:avLst/>
          </a:prstGeom>
          <a:noFill/>
          <a:ln/>
        </p:spPr>
        <p:txBody>
          <a:bodyPr wrap="square" lIns="0" tIns="0" rIns="0" bIns="0" rtlCol="0" anchor="t">
            <a:normAutofit/>
          </a:bodyPr>
          <a:lstStyle/>
          <a:p>
            <a:pPr algn="l" indent="0" marL="0">
              <a:lnSpc>
                <a:spcPts val="3120"/>
              </a:lnSpc>
              <a:buNone/>
            </a:pPr>
            <a:r>
              <a:rPr lang="en-US" sz="2400" b="1" dirty="0">
                <a:solidFill>
                  <a:srgbClr val="16233B"/>
                </a:solidFill>
                <a:latin typeface="Zen Maru Gothic" pitchFamily="34" charset="0"/>
                <a:ea typeface="Zen Maru Gothic" pitchFamily="34" charset="-122"/>
                <a:cs typeface="Zen Maru Gothic" pitchFamily="34" charset="-120"/>
              </a:rPr>
              <a:t>晴れ</a:t>
            </a:r>
            <a:endParaRPr lang="en-US" sz="2400" dirty="0"/>
          </a:p>
        </p:txBody>
      </p:sp>
      <p:sp>
        <p:nvSpPr>
          <p:cNvPr id="9" name="Shape 7"/>
          <p:cNvSpPr/>
          <p:nvPr/>
        </p:nvSpPr>
        <p:spPr>
          <a:xfrm>
            <a:off x="819150" y="2729111"/>
            <a:ext cx="10553700" cy="688280"/>
          </a:xfrm>
          <a:prstGeom prst="roundRect">
            <a:avLst>
              <a:gd name="adj" fmla="val 21220"/>
            </a:avLst>
          </a:prstGeom>
          <a:solidFill>
            <a:srgbClr val="FBFCFE"/>
          </a:solidFill>
          <a:ln w="12700">
            <a:solidFill>
              <a:srgbClr val="D3DBEA"/>
            </a:solidFill>
            <a:prstDash val="solid"/>
          </a:ln>
        </p:spPr>
      </p:sp>
      <p:sp>
        <p:nvSpPr>
          <p:cNvPr id="10" name="Text 8"/>
          <p:cNvSpPr/>
          <p:nvPr/>
        </p:nvSpPr>
        <p:spPr>
          <a:xfrm>
            <a:off x="1028700" y="2948781"/>
            <a:ext cx="13843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350C9"/>
                </a:solidFill>
                <a:latin typeface="BIZ UDPGothic" pitchFamily="34" charset="0"/>
                <a:ea typeface="BIZ UDPGothic" pitchFamily="34" charset="-122"/>
                <a:cs typeface="BIZ UDPGothic" pitchFamily="34" charset="-120"/>
              </a:rPr>
              <a:t>2回目の予想</a:t>
            </a:r>
            <a:endParaRPr lang="en-US" sz="1400" dirty="0"/>
          </a:p>
        </p:txBody>
      </p:sp>
      <p:sp>
        <p:nvSpPr>
          <p:cNvPr id="11" name="Text 9"/>
          <p:cNvSpPr/>
          <p:nvPr/>
        </p:nvSpPr>
        <p:spPr>
          <a:xfrm>
            <a:off x="2489200" y="2875161"/>
            <a:ext cx="2511552" cy="421580"/>
          </a:xfrm>
          <a:prstGeom prst="rect">
            <a:avLst/>
          </a:prstGeom>
          <a:noFill/>
          <a:ln/>
        </p:spPr>
        <p:txBody>
          <a:bodyPr wrap="square" lIns="0" tIns="0" rIns="0" bIns="0" rtlCol="0" anchor="t">
            <a:normAutofit/>
          </a:bodyPr>
          <a:lstStyle/>
          <a:p>
            <a:pPr algn="l" indent="0" marL="0">
              <a:lnSpc>
                <a:spcPts val="3120"/>
              </a:lnSpc>
              <a:buNone/>
            </a:pPr>
            <a:r>
              <a:rPr lang="en-US" sz="2400" b="1" dirty="0">
                <a:solidFill>
                  <a:srgbClr val="16233B"/>
                </a:solidFill>
                <a:latin typeface="Zen Maru Gothic" pitchFamily="34" charset="0"/>
                <a:ea typeface="Zen Maru Gothic" pitchFamily="34" charset="-122"/>
                <a:cs typeface="Zen Maru Gothic" pitchFamily="34" charset="-120"/>
              </a:rPr>
              <a:t>明日の天気は晴れ</a:t>
            </a:r>
            <a:endParaRPr lang="en-US" sz="2400" dirty="0"/>
          </a:p>
        </p:txBody>
      </p:sp>
      <p:sp>
        <p:nvSpPr>
          <p:cNvPr id="12" name="Shape 10"/>
          <p:cNvSpPr/>
          <p:nvPr/>
        </p:nvSpPr>
        <p:spPr>
          <a:xfrm>
            <a:off x="5054600" y="2862461"/>
            <a:ext cx="863600" cy="421580"/>
          </a:xfrm>
          <a:prstGeom prst="roundRect">
            <a:avLst>
              <a:gd name="adj" fmla="val 21087"/>
            </a:avLst>
          </a:prstGeom>
          <a:solidFill>
            <a:srgbClr val="FFC83D"/>
          </a:solidFill>
          <a:ln/>
        </p:spPr>
      </p:sp>
      <p:sp>
        <p:nvSpPr>
          <p:cNvPr id="13" name="Text 11"/>
          <p:cNvSpPr/>
          <p:nvPr/>
        </p:nvSpPr>
        <p:spPr>
          <a:xfrm>
            <a:off x="5181600" y="2875161"/>
            <a:ext cx="660400" cy="421580"/>
          </a:xfrm>
          <a:prstGeom prst="rect">
            <a:avLst/>
          </a:prstGeom>
          <a:noFill/>
          <a:ln/>
        </p:spPr>
        <p:txBody>
          <a:bodyPr wrap="square" lIns="0" tIns="0" rIns="0" bIns="0" rtlCol="0" anchor="t">
            <a:normAutofit/>
          </a:bodyPr>
          <a:lstStyle/>
          <a:p>
            <a:pPr algn="l" indent="0" marL="0">
              <a:lnSpc>
                <a:spcPts val="3120"/>
              </a:lnSpc>
              <a:buNone/>
            </a:pPr>
            <a:r>
              <a:rPr lang="en-US" sz="2400" b="1" dirty="0">
                <a:solidFill>
                  <a:srgbClr val="16233B"/>
                </a:solidFill>
                <a:latin typeface="Zen Maru Gothic" pitchFamily="34" charset="0"/>
                <a:ea typeface="Zen Maru Gothic" pitchFamily="34" charset="-122"/>
                <a:cs typeface="Zen Maru Gothic" pitchFamily="34" charset="-120"/>
              </a:rPr>
              <a:t>です</a:t>
            </a:r>
            <a:endParaRPr lang="en-US" sz="2400" dirty="0"/>
          </a:p>
        </p:txBody>
      </p:sp>
      <p:sp>
        <p:nvSpPr>
          <p:cNvPr id="14" name="Shape 12"/>
          <p:cNvSpPr/>
          <p:nvPr/>
        </p:nvSpPr>
        <p:spPr>
          <a:xfrm>
            <a:off x="819150" y="3557091"/>
            <a:ext cx="10553700" cy="688280"/>
          </a:xfrm>
          <a:prstGeom prst="roundRect">
            <a:avLst>
              <a:gd name="adj" fmla="val 21220"/>
            </a:avLst>
          </a:prstGeom>
          <a:solidFill>
            <a:srgbClr val="FBFCFE"/>
          </a:solidFill>
          <a:ln w="12700">
            <a:solidFill>
              <a:srgbClr val="D3DBEA"/>
            </a:solidFill>
            <a:prstDash val="solid"/>
          </a:ln>
        </p:spPr>
      </p:sp>
      <p:sp>
        <p:nvSpPr>
          <p:cNvPr id="15" name="Text 13"/>
          <p:cNvSpPr/>
          <p:nvPr/>
        </p:nvSpPr>
        <p:spPr>
          <a:xfrm>
            <a:off x="1028700" y="3776762"/>
            <a:ext cx="13843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350C9"/>
                </a:solidFill>
                <a:latin typeface="BIZ UDPGothic" pitchFamily="34" charset="0"/>
                <a:ea typeface="BIZ UDPGothic" pitchFamily="34" charset="-122"/>
                <a:cs typeface="BIZ UDPGothic" pitchFamily="34" charset="-120"/>
              </a:rPr>
              <a:t>3回目の予想</a:t>
            </a:r>
            <a:endParaRPr lang="en-US" sz="1400" dirty="0"/>
          </a:p>
        </p:txBody>
      </p:sp>
      <p:sp>
        <p:nvSpPr>
          <p:cNvPr id="16" name="Text 14"/>
          <p:cNvSpPr/>
          <p:nvPr/>
        </p:nvSpPr>
        <p:spPr>
          <a:xfrm>
            <a:off x="2489200" y="3703141"/>
            <a:ext cx="3139440" cy="421580"/>
          </a:xfrm>
          <a:prstGeom prst="rect">
            <a:avLst/>
          </a:prstGeom>
          <a:noFill/>
          <a:ln/>
        </p:spPr>
        <p:txBody>
          <a:bodyPr wrap="square" lIns="0" tIns="0" rIns="0" bIns="0" rtlCol="0" anchor="t">
            <a:normAutofit/>
          </a:bodyPr>
          <a:lstStyle/>
          <a:p>
            <a:pPr algn="l" indent="0" marL="0">
              <a:lnSpc>
                <a:spcPts val="3120"/>
              </a:lnSpc>
              <a:buNone/>
            </a:pPr>
            <a:r>
              <a:rPr lang="en-US" sz="2400" b="1" dirty="0">
                <a:solidFill>
                  <a:srgbClr val="16233B"/>
                </a:solidFill>
                <a:latin typeface="Zen Maru Gothic" pitchFamily="34" charset="0"/>
                <a:ea typeface="Zen Maru Gothic" pitchFamily="34" charset="-122"/>
                <a:cs typeface="Zen Maru Gothic" pitchFamily="34" charset="-120"/>
              </a:rPr>
              <a:t>明日の天気は晴れです</a:t>
            </a:r>
            <a:endParaRPr lang="en-US" sz="2400" dirty="0"/>
          </a:p>
        </p:txBody>
      </p:sp>
      <p:sp>
        <p:nvSpPr>
          <p:cNvPr id="17" name="Shape 15"/>
          <p:cNvSpPr/>
          <p:nvPr/>
        </p:nvSpPr>
        <p:spPr>
          <a:xfrm>
            <a:off x="5664200" y="3690441"/>
            <a:ext cx="558800" cy="421580"/>
          </a:xfrm>
          <a:prstGeom prst="roundRect">
            <a:avLst>
              <a:gd name="adj" fmla="val 21087"/>
            </a:avLst>
          </a:prstGeom>
          <a:solidFill>
            <a:srgbClr val="FFC83D"/>
          </a:solidFill>
          <a:ln/>
        </p:spPr>
      </p:sp>
      <p:sp>
        <p:nvSpPr>
          <p:cNvPr id="18" name="Text 16"/>
          <p:cNvSpPr/>
          <p:nvPr/>
        </p:nvSpPr>
        <p:spPr>
          <a:xfrm>
            <a:off x="5791200" y="3703141"/>
            <a:ext cx="355600" cy="421580"/>
          </a:xfrm>
          <a:prstGeom prst="rect">
            <a:avLst/>
          </a:prstGeom>
          <a:noFill/>
          <a:ln/>
        </p:spPr>
        <p:txBody>
          <a:bodyPr wrap="square" lIns="0" tIns="0" rIns="0" bIns="0" rtlCol="0" anchor="t">
            <a:normAutofit/>
          </a:bodyPr>
          <a:lstStyle/>
          <a:p>
            <a:pPr algn="l" indent="0" marL="0">
              <a:lnSpc>
                <a:spcPts val="3120"/>
              </a:lnSpc>
              <a:buNone/>
            </a:pPr>
            <a:r>
              <a:rPr lang="en-US" sz="2400" b="1" dirty="0">
                <a:solidFill>
                  <a:srgbClr val="16233B"/>
                </a:solidFill>
                <a:latin typeface="Zen Maru Gothic" pitchFamily="34" charset="0"/>
                <a:ea typeface="Zen Maru Gothic" pitchFamily="34" charset="-122"/>
                <a:cs typeface="Zen Maru Gothic" pitchFamily="34" charset="-120"/>
              </a:rPr>
              <a:t>。</a:t>
            </a:r>
            <a:endParaRPr lang="en-US" sz="2400" dirty="0"/>
          </a:p>
        </p:txBody>
      </p:sp>
      <p:sp>
        <p:nvSpPr>
          <p:cNvPr id="19" name="Shape 17"/>
          <p:cNvSpPr/>
          <p:nvPr/>
        </p:nvSpPr>
        <p:spPr>
          <a:xfrm>
            <a:off x="819150" y="4537472"/>
            <a:ext cx="10553700" cy="1018381"/>
          </a:xfrm>
          <a:prstGeom prst="roundRect">
            <a:avLst>
              <a:gd name="adj" fmla="val 16836"/>
            </a:avLst>
          </a:prstGeom>
          <a:solidFill>
            <a:srgbClr val="E1EAFF"/>
          </a:solidFill>
          <a:ln w="12700">
            <a:solidFill>
              <a:srgbClr val="E1EAFF"/>
            </a:solidFill>
            <a:prstDash val="solid"/>
          </a:ln>
        </p:spPr>
      </p:sp>
      <p:sp>
        <p:nvSpPr>
          <p:cNvPr id="20" name="Text 18"/>
          <p:cNvSpPr/>
          <p:nvPr/>
        </p:nvSpPr>
        <p:spPr>
          <a:xfrm>
            <a:off x="1054100" y="4721622"/>
            <a:ext cx="10386314" cy="675481"/>
          </a:xfrm>
          <a:prstGeom prst="rect">
            <a:avLst/>
          </a:prstGeom>
          <a:noFill/>
          <a:ln/>
        </p:spPr>
        <p:txBody>
          <a:bodyPr wrap="square" lIns="0" tIns="0" rIns="0" bIns="0" rtlCol="0" anchor="t">
            <a:normAutofit/>
          </a:bodyPr>
          <a:lstStyle/>
          <a:p>
            <a:pPr algn="l" indent="0" marL="0">
              <a:lnSpc>
                <a:spcPts val="2560"/>
              </a:lnSpc>
              <a:buNone/>
            </a:pPr>
            <a:r>
              <a:rPr lang="en-US" sz="1600" b="1" dirty="0">
                <a:solidFill>
                  <a:srgbClr val="16233B"/>
                </a:solidFill>
                <a:latin typeface="BIZ UDPGothic" pitchFamily="34" charset="0"/>
                <a:ea typeface="BIZ UDPGothic" pitchFamily="34" charset="-122"/>
                <a:cs typeface="BIZ UDPGothic" pitchFamily="34" charset="-120"/>
              </a:rPr>
              <a:t>答えを1語ずつ足しては、また予想する。</a:t>
            </a:r>
            <a:r>
              <a:rPr lang="en-US" sz="1600" dirty="0">
                <a:solidFill>
                  <a:srgbClr val="16233B"/>
                </a:solidFill>
                <a:latin typeface="BIZ UDPGothic" pitchFamily="34" charset="0"/>
                <a:ea typeface="BIZ UDPGothic" pitchFamily="34" charset="-122"/>
                <a:cs typeface="BIZ UDPGothic" pitchFamily="34" charset="-120"/>
              </a:rPr>
              <a:t>これを何百回もくりかえして、長い文章ができあがる。AIは、最初から全文を思い描いているわけではない。</a:t>
            </a:r>
            <a:endParaRPr lang="en-US" sz="1600" dirty="0"/>
          </a:p>
        </p:txBody>
      </p:sp>
      <p:sp>
        <p:nvSpPr>
          <p:cNvPr id="21" name="Text 1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22" name="Text 20"/>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13 / 40</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2 ／ AIのしくみ</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AIは文字を「トークン」に区切って読む</a:t>
            </a:r>
            <a:endParaRPr lang="en-US" sz="3200" dirty="0"/>
          </a:p>
        </p:txBody>
      </p:sp>
      <p:sp>
        <p:nvSpPr>
          <p:cNvPr id="4" name="Text 2"/>
          <p:cNvSpPr/>
          <p:nvPr/>
        </p:nvSpPr>
        <p:spPr>
          <a:xfrm>
            <a:off x="812800" y="1894780"/>
            <a:ext cx="10883392" cy="330200"/>
          </a:xfrm>
          <a:prstGeom prst="rect">
            <a:avLst/>
          </a:prstGeom>
          <a:noFill/>
          <a:ln/>
        </p:spPr>
        <p:txBody>
          <a:bodyPr wrap="square" lIns="0" tIns="0" rIns="0" bIns="0" rtlCol="0" anchor="t">
            <a:normAutofit/>
          </a:bodyPr>
          <a:lstStyle/>
          <a:p>
            <a:pPr algn="l" indent="0" marL="0">
              <a:lnSpc>
                <a:spcPts val="2400"/>
              </a:lnSpc>
              <a:buNone/>
            </a:pPr>
            <a:r>
              <a:rPr lang="en-US" sz="1500" dirty="0">
                <a:solidFill>
                  <a:srgbClr val="56647E"/>
                </a:solidFill>
                <a:latin typeface="BIZ UDPGothic" pitchFamily="34" charset="0"/>
                <a:ea typeface="BIZ UDPGothic" pitchFamily="34" charset="-122"/>
                <a:cs typeface="BIZ UDPGothic" pitchFamily="34" charset="-120"/>
              </a:rPr>
              <a:t>「生成AIは、明日から使える」を区切ると…</a:t>
            </a:r>
            <a:endParaRPr lang="en-US" sz="1500" dirty="0"/>
          </a:p>
        </p:txBody>
      </p:sp>
      <p:sp>
        <p:nvSpPr>
          <p:cNvPr id="5" name="Shape 3"/>
          <p:cNvSpPr/>
          <p:nvPr/>
        </p:nvSpPr>
        <p:spPr>
          <a:xfrm>
            <a:off x="819150" y="2320230"/>
            <a:ext cx="977900" cy="1064121"/>
          </a:xfrm>
          <a:prstGeom prst="roundRect">
            <a:avLst>
              <a:gd name="adj" fmla="val 17532"/>
            </a:avLst>
          </a:prstGeom>
          <a:solidFill>
            <a:srgbClr val="FBFCFE"/>
          </a:solidFill>
          <a:ln w="12700">
            <a:solidFill>
              <a:srgbClr val="D3DBEA"/>
            </a:solidFill>
            <a:prstDash val="solid"/>
          </a:ln>
        </p:spPr>
      </p:sp>
      <p:sp>
        <p:nvSpPr>
          <p:cNvPr id="6" name="Text 4"/>
          <p:cNvSpPr/>
          <p:nvPr/>
        </p:nvSpPr>
        <p:spPr>
          <a:xfrm>
            <a:off x="977900" y="2453580"/>
            <a:ext cx="660400" cy="421580"/>
          </a:xfrm>
          <a:prstGeom prst="rect">
            <a:avLst/>
          </a:prstGeom>
          <a:noFill/>
          <a:ln/>
        </p:spPr>
        <p:txBody>
          <a:bodyPr wrap="square" lIns="0" tIns="0" rIns="0" bIns="0" rtlCol="0" anchor="t">
            <a:normAutofit/>
          </a:bodyPr>
          <a:lstStyle/>
          <a:p>
            <a:pPr algn="ctr" indent="0" marL="0">
              <a:lnSpc>
                <a:spcPts val="3120"/>
              </a:lnSpc>
              <a:buNone/>
            </a:pPr>
            <a:r>
              <a:rPr lang="en-US" sz="2400" b="1" dirty="0">
                <a:solidFill>
                  <a:srgbClr val="16233B"/>
                </a:solidFill>
                <a:latin typeface="Zen Maru Gothic" pitchFamily="34" charset="0"/>
                <a:ea typeface="Zen Maru Gothic" pitchFamily="34" charset="-122"/>
                <a:cs typeface="Zen Maru Gothic" pitchFamily="34" charset="-120"/>
              </a:rPr>
              <a:t>生成</a:t>
            </a:r>
            <a:endParaRPr lang="en-US" sz="2400" dirty="0"/>
          </a:p>
        </p:txBody>
      </p:sp>
      <p:pic>
        <p:nvPicPr>
          <p:cNvPr id="7" name="Image 0" descr="line">    </p:cNvPr>
          <p:cNvPicPr>
            <a:picLocks noChangeAspect="1"/>
          </p:cNvPicPr>
          <p:nvPr/>
        </p:nvPicPr>
        <p:blipFill>
          <a:blip r:embed="rId1"/>
          <a:srcRect l="0" r="0" t="0" b="0"/>
          <a:stretch/>
        </p:blipFill>
        <p:spPr>
          <a:xfrm>
            <a:off x="1295400" y="2913261"/>
            <a:ext cx="25400" cy="25400"/>
          </a:xfrm>
          <a:prstGeom prst="rect">
            <a:avLst/>
          </a:prstGeom>
        </p:spPr>
      </p:pic>
      <p:sp>
        <p:nvSpPr>
          <p:cNvPr id="8" name="Text 5"/>
          <p:cNvSpPr/>
          <p:nvPr/>
        </p:nvSpPr>
        <p:spPr>
          <a:xfrm>
            <a:off x="1069280" y="3002161"/>
            <a:ext cx="477540" cy="274241"/>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2350C9"/>
                </a:solidFill>
                <a:latin typeface="Source Code Pro" pitchFamily="34" charset="0"/>
                <a:ea typeface="Source Code Pro" pitchFamily="34" charset="-122"/>
                <a:cs typeface="Source Code Pro" pitchFamily="34" charset="-120"/>
              </a:rPr>
              <a:t>4821</a:t>
            </a:r>
            <a:endParaRPr lang="en-US" sz="1400" dirty="0"/>
          </a:p>
        </p:txBody>
      </p:sp>
      <p:sp>
        <p:nvSpPr>
          <p:cNvPr id="9" name="Shape 6"/>
          <p:cNvSpPr/>
          <p:nvPr/>
        </p:nvSpPr>
        <p:spPr>
          <a:xfrm>
            <a:off x="1898650" y="2320230"/>
            <a:ext cx="688380" cy="1064121"/>
          </a:xfrm>
          <a:prstGeom prst="roundRect">
            <a:avLst>
              <a:gd name="adj" fmla="val 24906"/>
            </a:avLst>
          </a:prstGeom>
          <a:solidFill>
            <a:srgbClr val="FBFCFE"/>
          </a:solidFill>
          <a:ln w="12700">
            <a:solidFill>
              <a:srgbClr val="D3DBEA"/>
            </a:solidFill>
            <a:prstDash val="solid"/>
          </a:ln>
        </p:spPr>
      </p:sp>
      <p:sp>
        <p:nvSpPr>
          <p:cNvPr id="10" name="Text 7"/>
          <p:cNvSpPr/>
          <p:nvPr/>
        </p:nvSpPr>
        <p:spPr>
          <a:xfrm>
            <a:off x="2077045" y="2453580"/>
            <a:ext cx="331589" cy="421580"/>
          </a:xfrm>
          <a:prstGeom prst="rect">
            <a:avLst/>
          </a:prstGeom>
          <a:noFill/>
          <a:ln/>
        </p:spPr>
        <p:txBody>
          <a:bodyPr wrap="square" lIns="0" tIns="0" rIns="0" bIns="0" rtlCol="0" anchor="t">
            <a:normAutofit/>
          </a:bodyPr>
          <a:lstStyle/>
          <a:p>
            <a:pPr algn="ctr" indent="0" marL="0">
              <a:lnSpc>
                <a:spcPts val="3120"/>
              </a:lnSpc>
              <a:buNone/>
            </a:pPr>
            <a:r>
              <a:rPr lang="en-US" sz="2400" b="1" dirty="0">
                <a:solidFill>
                  <a:srgbClr val="16233B"/>
                </a:solidFill>
                <a:latin typeface="Zen Maru Gothic" pitchFamily="34" charset="0"/>
                <a:ea typeface="Zen Maru Gothic" pitchFamily="34" charset="-122"/>
                <a:cs typeface="Zen Maru Gothic" pitchFamily="34" charset="-120"/>
              </a:rPr>
              <a:t>AI</a:t>
            </a:r>
            <a:endParaRPr lang="en-US" sz="2400" dirty="0"/>
          </a:p>
        </p:txBody>
      </p:sp>
      <p:pic>
        <p:nvPicPr>
          <p:cNvPr id="11" name="Image 1" descr="line">    </p:cNvPr>
          <p:cNvPicPr>
            <a:picLocks noChangeAspect="1"/>
          </p:cNvPicPr>
          <p:nvPr/>
        </p:nvPicPr>
        <p:blipFill>
          <a:blip r:embed="rId2"/>
          <a:srcRect l="0" r="0" t="0" b="0"/>
          <a:stretch/>
        </p:blipFill>
        <p:spPr>
          <a:xfrm>
            <a:off x="2230140" y="2913261"/>
            <a:ext cx="25400" cy="25400"/>
          </a:xfrm>
          <a:prstGeom prst="rect">
            <a:avLst/>
          </a:prstGeom>
        </p:spPr>
      </p:pic>
      <p:sp>
        <p:nvSpPr>
          <p:cNvPr id="12" name="Text 8"/>
          <p:cNvSpPr/>
          <p:nvPr/>
        </p:nvSpPr>
        <p:spPr>
          <a:xfrm>
            <a:off x="2057400" y="3002161"/>
            <a:ext cx="370880" cy="274241"/>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2350C9"/>
                </a:solidFill>
                <a:latin typeface="Source Code Pro" pitchFamily="34" charset="0"/>
                <a:ea typeface="Source Code Pro" pitchFamily="34" charset="-122"/>
                <a:cs typeface="Source Code Pro" pitchFamily="34" charset="-120"/>
              </a:rPr>
              <a:t>907</a:t>
            </a:r>
            <a:endParaRPr lang="en-US" sz="1400" dirty="0"/>
          </a:p>
        </p:txBody>
      </p:sp>
      <p:sp>
        <p:nvSpPr>
          <p:cNvPr id="13" name="Shape 9"/>
          <p:cNvSpPr/>
          <p:nvPr/>
        </p:nvSpPr>
        <p:spPr>
          <a:xfrm>
            <a:off x="2688630" y="2320230"/>
            <a:ext cx="673100" cy="1064121"/>
          </a:xfrm>
          <a:prstGeom prst="roundRect">
            <a:avLst>
              <a:gd name="adj" fmla="val 25472"/>
            </a:avLst>
          </a:prstGeom>
          <a:solidFill>
            <a:srgbClr val="FBFCFE"/>
          </a:solidFill>
          <a:ln w="12700">
            <a:solidFill>
              <a:srgbClr val="D3DBEA"/>
            </a:solidFill>
            <a:prstDash val="solid"/>
          </a:ln>
        </p:spPr>
      </p:sp>
      <p:sp>
        <p:nvSpPr>
          <p:cNvPr id="14" name="Text 10"/>
          <p:cNvSpPr/>
          <p:nvPr/>
        </p:nvSpPr>
        <p:spPr>
          <a:xfrm>
            <a:off x="2847380" y="2453580"/>
            <a:ext cx="355600" cy="421580"/>
          </a:xfrm>
          <a:prstGeom prst="rect">
            <a:avLst/>
          </a:prstGeom>
          <a:noFill/>
          <a:ln/>
        </p:spPr>
        <p:txBody>
          <a:bodyPr wrap="square" lIns="0" tIns="0" rIns="0" bIns="0" rtlCol="0" anchor="t">
            <a:normAutofit/>
          </a:bodyPr>
          <a:lstStyle/>
          <a:p>
            <a:pPr algn="ctr" indent="0" marL="0">
              <a:lnSpc>
                <a:spcPts val="3120"/>
              </a:lnSpc>
              <a:buNone/>
            </a:pPr>
            <a:r>
              <a:rPr lang="en-US" sz="2400" b="1" dirty="0">
                <a:solidFill>
                  <a:srgbClr val="16233B"/>
                </a:solidFill>
                <a:latin typeface="Zen Maru Gothic" pitchFamily="34" charset="0"/>
                <a:ea typeface="Zen Maru Gothic" pitchFamily="34" charset="-122"/>
                <a:cs typeface="Zen Maru Gothic" pitchFamily="34" charset="-120"/>
              </a:rPr>
              <a:t>は</a:t>
            </a:r>
            <a:endParaRPr lang="en-US" sz="2400" dirty="0"/>
          </a:p>
        </p:txBody>
      </p:sp>
      <p:pic>
        <p:nvPicPr>
          <p:cNvPr id="15" name="Image 2" descr="line">    </p:cNvPr>
          <p:cNvPicPr>
            <a:picLocks noChangeAspect="1"/>
          </p:cNvPicPr>
          <p:nvPr/>
        </p:nvPicPr>
        <p:blipFill>
          <a:blip r:embed="rId3"/>
          <a:srcRect l="0" r="0" t="0" b="0"/>
          <a:stretch/>
        </p:blipFill>
        <p:spPr>
          <a:xfrm>
            <a:off x="3012480" y="2913261"/>
            <a:ext cx="25400" cy="25400"/>
          </a:xfrm>
          <a:prstGeom prst="rect">
            <a:avLst/>
          </a:prstGeom>
        </p:spPr>
      </p:pic>
      <p:sp>
        <p:nvSpPr>
          <p:cNvPr id="16" name="Text 11"/>
          <p:cNvSpPr/>
          <p:nvPr/>
        </p:nvSpPr>
        <p:spPr>
          <a:xfrm>
            <a:off x="2893020" y="3002161"/>
            <a:ext cx="264220" cy="274241"/>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2350C9"/>
                </a:solidFill>
                <a:latin typeface="Source Code Pro" pitchFamily="34" charset="0"/>
                <a:ea typeface="Source Code Pro" pitchFamily="34" charset="-122"/>
                <a:cs typeface="Source Code Pro" pitchFamily="34" charset="-120"/>
              </a:rPr>
              <a:t>12</a:t>
            </a:r>
            <a:endParaRPr lang="en-US" sz="1400" dirty="0"/>
          </a:p>
        </p:txBody>
      </p:sp>
      <p:sp>
        <p:nvSpPr>
          <p:cNvPr id="17" name="Shape 12"/>
          <p:cNvSpPr/>
          <p:nvPr/>
        </p:nvSpPr>
        <p:spPr>
          <a:xfrm>
            <a:off x="3463330" y="2320230"/>
            <a:ext cx="673100" cy="1064121"/>
          </a:xfrm>
          <a:prstGeom prst="roundRect">
            <a:avLst>
              <a:gd name="adj" fmla="val 25472"/>
            </a:avLst>
          </a:prstGeom>
          <a:solidFill>
            <a:srgbClr val="FBFCFE"/>
          </a:solidFill>
          <a:ln w="12700">
            <a:solidFill>
              <a:srgbClr val="D3DBEA"/>
            </a:solidFill>
            <a:prstDash val="solid"/>
          </a:ln>
        </p:spPr>
      </p:sp>
      <p:sp>
        <p:nvSpPr>
          <p:cNvPr id="18" name="Text 13"/>
          <p:cNvSpPr/>
          <p:nvPr/>
        </p:nvSpPr>
        <p:spPr>
          <a:xfrm>
            <a:off x="3622080" y="2453580"/>
            <a:ext cx="355600" cy="421580"/>
          </a:xfrm>
          <a:prstGeom prst="rect">
            <a:avLst/>
          </a:prstGeom>
          <a:noFill/>
          <a:ln/>
        </p:spPr>
        <p:txBody>
          <a:bodyPr wrap="square" lIns="0" tIns="0" rIns="0" bIns="0" rtlCol="0" anchor="t">
            <a:normAutofit/>
          </a:bodyPr>
          <a:lstStyle/>
          <a:p>
            <a:pPr algn="ctr" indent="0" marL="0">
              <a:lnSpc>
                <a:spcPts val="3120"/>
              </a:lnSpc>
              <a:buNone/>
            </a:pPr>
            <a:r>
              <a:rPr lang="en-US" sz="2400" b="1" dirty="0">
                <a:solidFill>
                  <a:srgbClr val="16233B"/>
                </a:solidFill>
                <a:latin typeface="Zen Maru Gothic" pitchFamily="34" charset="0"/>
                <a:ea typeface="Zen Maru Gothic" pitchFamily="34" charset="-122"/>
                <a:cs typeface="Zen Maru Gothic" pitchFamily="34" charset="-120"/>
              </a:rPr>
              <a:t>、</a:t>
            </a:r>
            <a:endParaRPr lang="en-US" sz="2400" dirty="0"/>
          </a:p>
        </p:txBody>
      </p:sp>
      <p:pic>
        <p:nvPicPr>
          <p:cNvPr id="19" name="Image 3" descr="line">    </p:cNvPr>
          <p:cNvPicPr>
            <a:picLocks noChangeAspect="1"/>
          </p:cNvPicPr>
          <p:nvPr/>
        </p:nvPicPr>
        <p:blipFill>
          <a:blip r:embed="rId4"/>
          <a:srcRect l="0" r="0" t="0" b="0"/>
          <a:stretch/>
        </p:blipFill>
        <p:spPr>
          <a:xfrm>
            <a:off x="3787180" y="2913261"/>
            <a:ext cx="25400" cy="25400"/>
          </a:xfrm>
          <a:prstGeom prst="rect">
            <a:avLst/>
          </a:prstGeom>
        </p:spPr>
      </p:pic>
      <p:sp>
        <p:nvSpPr>
          <p:cNvPr id="20" name="Text 14"/>
          <p:cNvSpPr/>
          <p:nvPr/>
        </p:nvSpPr>
        <p:spPr>
          <a:xfrm>
            <a:off x="3721100" y="3002161"/>
            <a:ext cx="157559" cy="274241"/>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2350C9"/>
                </a:solidFill>
                <a:latin typeface="Source Code Pro" pitchFamily="34" charset="0"/>
                <a:ea typeface="Source Code Pro" pitchFamily="34" charset="-122"/>
                <a:cs typeface="Source Code Pro" pitchFamily="34" charset="-120"/>
              </a:rPr>
              <a:t>6</a:t>
            </a:r>
            <a:endParaRPr lang="en-US" sz="1400" dirty="0"/>
          </a:p>
        </p:txBody>
      </p:sp>
      <p:sp>
        <p:nvSpPr>
          <p:cNvPr id="21" name="Shape 15"/>
          <p:cNvSpPr/>
          <p:nvPr/>
        </p:nvSpPr>
        <p:spPr>
          <a:xfrm>
            <a:off x="4238030" y="2320230"/>
            <a:ext cx="977900" cy="1064121"/>
          </a:xfrm>
          <a:prstGeom prst="roundRect">
            <a:avLst>
              <a:gd name="adj" fmla="val 17532"/>
            </a:avLst>
          </a:prstGeom>
          <a:solidFill>
            <a:srgbClr val="FBFCFE"/>
          </a:solidFill>
          <a:ln w="12700">
            <a:solidFill>
              <a:srgbClr val="D3DBEA"/>
            </a:solidFill>
            <a:prstDash val="solid"/>
          </a:ln>
        </p:spPr>
      </p:sp>
      <p:sp>
        <p:nvSpPr>
          <p:cNvPr id="22" name="Text 16"/>
          <p:cNvSpPr/>
          <p:nvPr/>
        </p:nvSpPr>
        <p:spPr>
          <a:xfrm>
            <a:off x="4396780" y="2453580"/>
            <a:ext cx="660400" cy="421580"/>
          </a:xfrm>
          <a:prstGeom prst="rect">
            <a:avLst/>
          </a:prstGeom>
          <a:noFill/>
          <a:ln/>
        </p:spPr>
        <p:txBody>
          <a:bodyPr wrap="square" lIns="0" tIns="0" rIns="0" bIns="0" rtlCol="0" anchor="t">
            <a:normAutofit/>
          </a:bodyPr>
          <a:lstStyle/>
          <a:p>
            <a:pPr algn="ctr" indent="0" marL="0">
              <a:lnSpc>
                <a:spcPts val="3120"/>
              </a:lnSpc>
              <a:buNone/>
            </a:pPr>
            <a:r>
              <a:rPr lang="en-US" sz="2400" b="1" dirty="0">
                <a:solidFill>
                  <a:srgbClr val="16233B"/>
                </a:solidFill>
                <a:latin typeface="Zen Maru Gothic" pitchFamily="34" charset="0"/>
                <a:ea typeface="Zen Maru Gothic" pitchFamily="34" charset="-122"/>
                <a:cs typeface="Zen Maru Gothic" pitchFamily="34" charset="-120"/>
              </a:rPr>
              <a:t>明日</a:t>
            </a:r>
            <a:endParaRPr lang="en-US" sz="2400" dirty="0"/>
          </a:p>
        </p:txBody>
      </p:sp>
      <p:pic>
        <p:nvPicPr>
          <p:cNvPr id="23" name="Image 4" descr="line">    </p:cNvPr>
          <p:cNvPicPr>
            <a:picLocks noChangeAspect="1"/>
          </p:cNvPicPr>
          <p:nvPr/>
        </p:nvPicPr>
        <p:blipFill>
          <a:blip r:embed="rId5"/>
          <a:srcRect l="0" r="0" t="0" b="0"/>
          <a:stretch/>
        </p:blipFill>
        <p:spPr>
          <a:xfrm>
            <a:off x="4714280" y="2913261"/>
            <a:ext cx="25400" cy="25400"/>
          </a:xfrm>
          <a:prstGeom prst="rect">
            <a:avLst/>
          </a:prstGeom>
        </p:spPr>
      </p:pic>
      <p:sp>
        <p:nvSpPr>
          <p:cNvPr id="24" name="Text 17"/>
          <p:cNvSpPr/>
          <p:nvPr/>
        </p:nvSpPr>
        <p:spPr>
          <a:xfrm>
            <a:off x="4488160" y="3002161"/>
            <a:ext cx="477540" cy="274241"/>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2350C9"/>
                </a:solidFill>
                <a:latin typeface="Source Code Pro" pitchFamily="34" charset="0"/>
                <a:ea typeface="Source Code Pro" pitchFamily="34" charset="-122"/>
                <a:cs typeface="Source Code Pro" pitchFamily="34" charset="-120"/>
              </a:rPr>
              <a:t>2210</a:t>
            </a:r>
            <a:endParaRPr lang="en-US" sz="1400" dirty="0"/>
          </a:p>
        </p:txBody>
      </p:sp>
      <p:sp>
        <p:nvSpPr>
          <p:cNvPr id="25" name="Shape 18"/>
          <p:cNvSpPr/>
          <p:nvPr/>
        </p:nvSpPr>
        <p:spPr>
          <a:xfrm>
            <a:off x="5317530" y="2320230"/>
            <a:ext cx="977900" cy="1064121"/>
          </a:xfrm>
          <a:prstGeom prst="roundRect">
            <a:avLst>
              <a:gd name="adj" fmla="val 17532"/>
            </a:avLst>
          </a:prstGeom>
          <a:solidFill>
            <a:srgbClr val="FBFCFE"/>
          </a:solidFill>
          <a:ln w="12700">
            <a:solidFill>
              <a:srgbClr val="D3DBEA"/>
            </a:solidFill>
            <a:prstDash val="solid"/>
          </a:ln>
        </p:spPr>
      </p:sp>
      <p:sp>
        <p:nvSpPr>
          <p:cNvPr id="26" name="Text 19"/>
          <p:cNvSpPr/>
          <p:nvPr/>
        </p:nvSpPr>
        <p:spPr>
          <a:xfrm>
            <a:off x="5476280" y="2453580"/>
            <a:ext cx="660400" cy="421580"/>
          </a:xfrm>
          <a:prstGeom prst="rect">
            <a:avLst/>
          </a:prstGeom>
          <a:noFill/>
          <a:ln/>
        </p:spPr>
        <p:txBody>
          <a:bodyPr wrap="square" lIns="0" tIns="0" rIns="0" bIns="0" rtlCol="0" anchor="t">
            <a:normAutofit/>
          </a:bodyPr>
          <a:lstStyle/>
          <a:p>
            <a:pPr algn="ctr" indent="0" marL="0">
              <a:lnSpc>
                <a:spcPts val="3120"/>
              </a:lnSpc>
              <a:buNone/>
            </a:pPr>
            <a:r>
              <a:rPr lang="en-US" sz="2400" b="1" dirty="0">
                <a:solidFill>
                  <a:srgbClr val="16233B"/>
                </a:solidFill>
                <a:latin typeface="Zen Maru Gothic" pitchFamily="34" charset="0"/>
                <a:ea typeface="Zen Maru Gothic" pitchFamily="34" charset="-122"/>
                <a:cs typeface="Zen Maru Gothic" pitchFamily="34" charset="-120"/>
              </a:rPr>
              <a:t>から</a:t>
            </a:r>
            <a:endParaRPr lang="en-US" sz="2400" dirty="0"/>
          </a:p>
        </p:txBody>
      </p:sp>
      <p:pic>
        <p:nvPicPr>
          <p:cNvPr id="27" name="Image 5" descr="line">    </p:cNvPr>
          <p:cNvPicPr>
            <a:picLocks noChangeAspect="1"/>
          </p:cNvPicPr>
          <p:nvPr/>
        </p:nvPicPr>
        <p:blipFill>
          <a:blip r:embed="rId6"/>
          <a:srcRect l="0" r="0" t="0" b="0"/>
          <a:stretch/>
        </p:blipFill>
        <p:spPr>
          <a:xfrm>
            <a:off x="5793780" y="2913261"/>
            <a:ext cx="25400" cy="25400"/>
          </a:xfrm>
          <a:prstGeom prst="rect">
            <a:avLst/>
          </a:prstGeom>
        </p:spPr>
      </p:pic>
      <p:sp>
        <p:nvSpPr>
          <p:cNvPr id="28" name="Text 20"/>
          <p:cNvSpPr/>
          <p:nvPr/>
        </p:nvSpPr>
        <p:spPr>
          <a:xfrm>
            <a:off x="5674320" y="3002161"/>
            <a:ext cx="264220" cy="274241"/>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2350C9"/>
                </a:solidFill>
                <a:latin typeface="Source Code Pro" pitchFamily="34" charset="0"/>
                <a:ea typeface="Source Code Pro" pitchFamily="34" charset="-122"/>
                <a:cs typeface="Source Code Pro" pitchFamily="34" charset="-120"/>
              </a:rPr>
              <a:t>35</a:t>
            </a:r>
            <a:endParaRPr lang="en-US" sz="1400" dirty="0"/>
          </a:p>
        </p:txBody>
      </p:sp>
      <p:sp>
        <p:nvSpPr>
          <p:cNvPr id="29" name="Shape 21"/>
          <p:cNvSpPr/>
          <p:nvPr/>
        </p:nvSpPr>
        <p:spPr>
          <a:xfrm>
            <a:off x="6397030" y="2320230"/>
            <a:ext cx="1282700" cy="1064121"/>
          </a:xfrm>
          <a:prstGeom prst="roundRect">
            <a:avLst>
              <a:gd name="adj" fmla="val 16112"/>
            </a:avLst>
          </a:prstGeom>
          <a:solidFill>
            <a:srgbClr val="FBFCFE"/>
          </a:solidFill>
          <a:ln w="12700">
            <a:solidFill>
              <a:srgbClr val="D3DBEA"/>
            </a:solidFill>
            <a:prstDash val="solid"/>
          </a:ln>
        </p:spPr>
      </p:sp>
      <p:sp>
        <p:nvSpPr>
          <p:cNvPr id="30" name="Text 22"/>
          <p:cNvSpPr/>
          <p:nvPr/>
        </p:nvSpPr>
        <p:spPr>
          <a:xfrm>
            <a:off x="6555780" y="2453580"/>
            <a:ext cx="965200" cy="421580"/>
          </a:xfrm>
          <a:prstGeom prst="rect">
            <a:avLst/>
          </a:prstGeom>
          <a:noFill/>
          <a:ln/>
        </p:spPr>
        <p:txBody>
          <a:bodyPr wrap="square" lIns="0" tIns="0" rIns="0" bIns="0" rtlCol="0" anchor="t">
            <a:normAutofit/>
          </a:bodyPr>
          <a:lstStyle/>
          <a:p>
            <a:pPr algn="ctr" indent="0" marL="0">
              <a:lnSpc>
                <a:spcPts val="3120"/>
              </a:lnSpc>
              <a:buNone/>
            </a:pPr>
            <a:r>
              <a:rPr lang="en-US" sz="2400" b="1" dirty="0">
                <a:solidFill>
                  <a:srgbClr val="16233B"/>
                </a:solidFill>
                <a:latin typeface="Zen Maru Gothic" pitchFamily="34" charset="0"/>
                <a:ea typeface="Zen Maru Gothic" pitchFamily="34" charset="-122"/>
                <a:cs typeface="Zen Maru Gothic" pitchFamily="34" charset="-120"/>
              </a:rPr>
              <a:t>使える</a:t>
            </a:r>
            <a:endParaRPr lang="en-US" sz="2400" dirty="0"/>
          </a:p>
        </p:txBody>
      </p:sp>
      <p:pic>
        <p:nvPicPr>
          <p:cNvPr id="31" name="Image 6" descr="line">    </p:cNvPr>
          <p:cNvPicPr>
            <a:picLocks noChangeAspect="1"/>
          </p:cNvPicPr>
          <p:nvPr/>
        </p:nvPicPr>
        <p:blipFill>
          <a:blip r:embed="rId7"/>
          <a:srcRect l="0" r="0" t="0" b="0"/>
          <a:stretch/>
        </p:blipFill>
        <p:spPr>
          <a:xfrm>
            <a:off x="7025680" y="2913261"/>
            <a:ext cx="25400" cy="25400"/>
          </a:xfrm>
          <a:prstGeom prst="rect">
            <a:avLst/>
          </a:prstGeom>
        </p:spPr>
      </p:pic>
      <p:sp>
        <p:nvSpPr>
          <p:cNvPr id="32" name="Text 23"/>
          <p:cNvSpPr/>
          <p:nvPr/>
        </p:nvSpPr>
        <p:spPr>
          <a:xfrm>
            <a:off x="6799560" y="3002161"/>
            <a:ext cx="477540" cy="274241"/>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2350C9"/>
                </a:solidFill>
                <a:latin typeface="Source Code Pro" pitchFamily="34" charset="0"/>
                <a:ea typeface="Source Code Pro" pitchFamily="34" charset="-122"/>
                <a:cs typeface="Source Code Pro" pitchFamily="34" charset="-120"/>
              </a:rPr>
              <a:t>3077</a:t>
            </a:r>
            <a:endParaRPr lang="en-US" sz="1400" dirty="0"/>
          </a:p>
        </p:txBody>
      </p:sp>
      <p:sp>
        <p:nvSpPr>
          <p:cNvPr id="33" name="Text 24"/>
          <p:cNvSpPr/>
          <p:nvPr/>
        </p:nvSpPr>
        <p:spPr>
          <a:xfrm>
            <a:off x="812800" y="3505002"/>
            <a:ext cx="10883392" cy="269180"/>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56647E"/>
                </a:solidFill>
                <a:latin typeface="BIZ UDPGothic" pitchFamily="34" charset="0"/>
                <a:ea typeface="BIZ UDPGothic" pitchFamily="34" charset="-122"/>
                <a:cs typeface="BIZ UDPGothic" pitchFamily="34" charset="-120"/>
              </a:rPr>
              <a:t>上：ことばのかたまり（トークン）　下：AIが使う番号　※区切り方と番号は例です</a:t>
            </a:r>
            <a:endParaRPr lang="en-US" sz="1200" dirty="0"/>
          </a:p>
        </p:txBody>
      </p:sp>
      <p:sp>
        <p:nvSpPr>
          <p:cNvPr id="34" name="Shape 25"/>
          <p:cNvSpPr/>
          <p:nvPr/>
        </p:nvSpPr>
        <p:spPr>
          <a:xfrm>
            <a:off x="819150" y="4034532"/>
            <a:ext cx="5168900" cy="1325860"/>
          </a:xfrm>
          <a:prstGeom prst="roundRect">
            <a:avLst>
              <a:gd name="adj" fmla="val 12931"/>
            </a:avLst>
          </a:prstGeom>
          <a:solidFill>
            <a:srgbClr val="FBFCFE"/>
          </a:solidFill>
          <a:ln w="12700">
            <a:solidFill>
              <a:srgbClr val="D3DBEA"/>
            </a:solidFill>
            <a:prstDash val="solid"/>
          </a:ln>
        </p:spPr>
      </p:sp>
      <p:sp>
        <p:nvSpPr>
          <p:cNvPr id="35" name="Text 26"/>
          <p:cNvSpPr/>
          <p:nvPr/>
        </p:nvSpPr>
        <p:spPr>
          <a:xfrm>
            <a:off x="1054100" y="4218682"/>
            <a:ext cx="4839970"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2350C9"/>
                </a:solidFill>
                <a:latin typeface="Zen Maru Gothic" pitchFamily="34" charset="0"/>
                <a:ea typeface="Zen Maru Gothic" pitchFamily="34" charset="-122"/>
                <a:cs typeface="Zen Maru Gothic" pitchFamily="34" charset="-120"/>
              </a:rPr>
              <a:t>文字ではなく数字で計算</a:t>
            </a:r>
            <a:endParaRPr lang="en-US" sz="1800" dirty="0"/>
          </a:p>
        </p:txBody>
      </p:sp>
      <p:sp>
        <p:nvSpPr>
          <p:cNvPr id="36" name="Text 27"/>
          <p:cNvSpPr/>
          <p:nvPr/>
        </p:nvSpPr>
        <p:spPr>
          <a:xfrm>
            <a:off x="1054100" y="4566642"/>
            <a:ext cx="4839970" cy="635000"/>
          </a:xfrm>
          <a:prstGeom prst="rect">
            <a:avLst/>
          </a:prstGeom>
          <a:noFill/>
          <a:ln/>
        </p:spPr>
        <p:txBody>
          <a:bodyPr wrap="square" lIns="0" tIns="0" rIns="0" bIns="0" rtlCol="0" anchor="t">
            <a:normAutofit/>
          </a:bodyPr>
          <a:lstStyle/>
          <a:p>
            <a:pPr algn="l" indent="0" marL="0">
              <a:lnSpc>
                <a:spcPts val="2400"/>
              </a:lnSpc>
              <a:buNone/>
            </a:pPr>
            <a:r>
              <a:rPr lang="en-US" sz="1500" dirty="0">
                <a:solidFill>
                  <a:srgbClr val="16233B"/>
                </a:solidFill>
                <a:latin typeface="BIZ UDPGothic" pitchFamily="34" charset="0"/>
                <a:ea typeface="BIZ UDPGothic" pitchFamily="34" charset="-122"/>
                <a:cs typeface="BIZ UDPGothic" pitchFamily="34" charset="-120"/>
              </a:rPr>
              <a:t>AIの中は数字の世界。文章は、いったんトークンの番号に置きかえてから計算する。</a:t>
            </a:r>
            <a:endParaRPr lang="en-US" sz="1500" dirty="0"/>
          </a:p>
        </p:txBody>
      </p:sp>
      <p:sp>
        <p:nvSpPr>
          <p:cNvPr id="37" name="Shape 28"/>
          <p:cNvSpPr/>
          <p:nvPr/>
        </p:nvSpPr>
        <p:spPr>
          <a:xfrm>
            <a:off x="6203950" y="4034532"/>
            <a:ext cx="5168900" cy="1325860"/>
          </a:xfrm>
          <a:prstGeom prst="roundRect">
            <a:avLst>
              <a:gd name="adj" fmla="val 12931"/>
            </a:avLst>
          </a:prstGeom>
          <a:solidFill>
            <a:srgbClr val="FBFCFE"/>
          </a:solidFill>
          <a:ln w="12700">
            <a:solidFill>
              <a:srgbClr val="D3DBEA"/>
            </a:solidFill>
            <a:prstDash val="solid"/>
          </a:ln>
        </p:spPr>
      </p:sp>
      <p:sp>
        <p:nvSpPr>
          <p:cNvPr id="38" name="Text 29"/>
          <p:cNvSpPr/>
          <p:nvPr/>
        </p:nvSpPr>
        <p:spPr>
          <a:xfrm>
            <a:off x="6438900" y="4218682"/>
            <a:ext cx="4839970"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2350C9"/>
                </a:solidFill>
                <a:latin typeface="Zen Maru Gothic" pitchFamily="34" charset="0"/>
                <a:ea typeface="Zen Maru Gothic" pitchFamily="34" charset="-122"/>
                <a:cs typeface="Zen Maru Gothic" pitchFamily="34" charset="-120"/>
              </a:rPr>
              <a:t>読める量も、料金も、これで数える</a:t>
            </a:r>
            <a:endParaRPr lang="en-US" sz="1800" dirty="0"/>
          </a:p>
        </p:txBody>
      </p:sp>
      <p:sp>
        <p:nvSpPr>
          <p:cNvPr id="39" name="Text 30"/>
          <p:cNvSpPr/>
          <p:nvPr/>
        </p:nvSpPr>
        <p:spPr>
          <a:xfrm>
            <a:off x="6438900" y="4566642"/>
            <a:ext cx="4839970" cy="330200"/>
          </a:xfrm>
          <a:prstGeom prst="rect">
            <a:avLst/>
          </a:prstGeom>
          <a:noFill/>
          <a:ln/>
        </p:spPr>
        <p:txBody>
          <a:bodyPr wrap="square" lIns="0" tIns="0" rIns="0" bIns="0" rtlCol="0" anchor="t">
            <a:normAutofit/>
          </a:bodyPr>
          <a:lstStyle/>
          <a:p>
            <a:pPr algn="l" indent="0" marL="0">
              <a:lnSpc>
                <a:spcPts val="2400"/>
              </a:lnSpc>
              <a:buNone/>
            </a:pPr>
            <a:r>
              <a:rPr lang="en-US" sz="1500" dirty="0">
                <a:solidFill>
                  <a:srgbClr val="16233B"/>
                </a:solidFill>
                <a:latin typeface="BIZ UDPGothic" pitchFamily="34" charset="0"/>
                <a:ea typeface="BIZ UDPGothic" pitchFamily="34" charset="-122"/>
                <a:cs typeface="BIZ UDPGothic" pitchFamily="34" charset="-120"/>
              </a:rPr>
              <a:t>「一度に読める量」や利用料金は、トークンの数で決まる。</a:t>
            </a:r>
            <a:endParaRPr lang="en-US" sz="1500" dirty="0"/>
          </a:p>
        </p:txBody>
      </p:sp>
      <p:sp>
        <p:nvSpPr>
          <p:cNvPr id="40" name="Text 31"/>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41" name="Text 32"/>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14 / 40</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2 ／ AIのしくみ</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AIは、こうして賢くなる</a:t>
            </a:r>
            <a:endParaRPr lang="en-US" sz="3200" dirty="0"/>
          </a:p>
        </p:txBody>
      </p:sp>
      <p:sp>
        <p:nvSpPr>
          <p:cNvPr id="4" name="Shape 2"/>
          <p:cNvSpPr/>
          <p:nvPr/>
        </p:nvSpPr>
        <p:spPr>
          <a:xfrm>
            <a:off x="819150" y="1901130"/>
            <a:ext cx="3136900" cy="1983680"/>
          </a:xfrm>
          <a:prstGeom prst="roundRect">
            <a:avLst>
              <a:gd name="adj" fmla="val 8643"/>
            </a:avLst>
          </a:prstGeom>
          <a:solidFill>
            <a:srgbClr val="FBFCFE"/>
          </a:solidFill>
          <a:ln w="12700">
            <a:solidFill>
              <a:srgbClr val="D3DBEA"/>
            </a:solidFill>
            <a:prstDash val="solid"/>
          </a:ln>
        </p:spPr>
      </p:sp>
      <p:sp>
        <p:nvSpPr>
          <p:cNvPr id="5" name="Shape 3"/>
          <p:cNvSpPr/>
          <p:nvPr/>
        </p:nvSpPr>
        <p:spPr>
          <a:xfrm>
            <a:off x="1028700" y="2110680"/>
            <a:ext cx="558800" cy="558800"/>
          </a:xfrm>
          <a:prstGeom prst="roundRect">
            <a:avLst>
              <a:gd name="adj" fmla="val 27273"/>
            </a:avLst>
          </a:prstGeom>
          <a:solidFill>
            <a:srgbClr val="2F62E6"/>
          </a:solidFill>
          <a:ln/>
        </p:spPr>
      </p:sp>
      <p:pic>
        <p:nvPicPr>
          <p:cNvPr id="6" name="Image 0" descr="Book">    </p:cNvPr>
          <p:cNvPicPr>
            <a:picLocks noChangeAspect="1"/>
          </p:cNvPicPr>
          <p:nvPr/>
        </p:nvPicPr>
        <p:blipFill>
          <a:blip r:embed="rId1"/>
          <a:srcRect l="0" r="0" t="0" b="0"/>
          <a:stretch/>
        </p:blipFill>
        <p:spPr>
          <a:xfrm>
            <a:off x="1143000" y="2224980"/>
            <a:ext cx="330200" cy="330200"/>
          </a:xfrm>
          <a:prstGeom prst="rect">
            <a:avLst/>
          </a:prstGeom>
        </p:spPr>
      </p:pic>
      <p:sp>
        <p:nvSpPr>
          <p:cNvPr id="7" name="Text 4"/>
          <p:cNvSpPr/>
          <p:nvPr/>
        </p:nvSpPr>
        <p:spPr>
          <a:xfrm>
            <a:off x="1714500" y="2127845"/>
            <a:ext cx="1883664" cy="24001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2350C9"/>
                </a:solidFill>
                <a:latin typeface="BIZ UDPGothic" pitchFamily="34" charset="0"/>
                <a:ea typeface="BIZ UDPGothic" pitchFamily="34" charset="-122"/>
                <a:cs typeface="BIZ UDPGothic" pitchFamily="34" charset="-120"/>
              </a:rPr>
              <a:t>STEP 1</a:t>
            </a:r>
            <a:endParaRPr lang="en-US" sz="1300" dirty="0"/>
          </a:p>
        </p:txBody>
      </p:sp>
      <p:sp>
        <p:nvSpPr>
          <p:cNvPr id="8" name="Text 5"/>
          <p:cNvSpPr/>
          <p:nvPr/>
        </p:nvSpPr>
        <p:spPr>
          <a:xfrm>
            <a:off x="1714500" y="2355155"/>
            <a:ext cx="1883664"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233B"/>
                </a:solidFill>
                <a:latin typeface="Zen Maru Gothic" pitchFamily="34" charset="0"/>
                <a:ea typeface="Zen Maru Gothic" pitchFamily="34" charset="-122"/>
                <a:cs typeface="Zen Maru Gothic" pitchFamily="34" charset="-120"/>
              </a:rPr>
              <a:t>大量の文章を読む</a:t>
            </a:r>
            <a:endParaRPr lang="en-US" sz="1800" dirty="0"/>
          </a:p>
        </p:txBody>
      </p:sp>
      <p:sp>
        <p:nvSpPr>
          <p:cNvPr id="9" name="Text 6"/>
          <p:cNvSpPr/>
          <p:nvPr/>
        </p:nvSpPr>
        <p:spPr>
          <a:xfrm>
            <a:off x="1028700" y="2796480"/>
            <a:ext cx="2799334" cy="87878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16233B"/>
                </a:solidFill>
                <a:latin typeface="BIZ UDPGothic" pitchFamily="34" charset="0"/>
                <a:ea typeface="BIZ UDPGothic" pitchFamily="34" charset="-122"/>
                <a:cs typeface="BIZ UDPGothic" pitchFamily="34" charset="-120"/>
              </a:rPr>
              <a:t>本やWebの文章の一部を隠して、次に来ることばを当てる練習を、何度もくりかえす。</a:t>
            </a:r>
            <a:endParaRPr lang="en-US" sz="1400" dirty="0"/>
          </a:p>
        </p:txBody>
      </p:sp>
      <p:pic>
        <p:nvPicPr>
          <p:cNvPr id="10" name="Image 1" descr="arrow-right">    </p:cNvPr>
          <p:cNvPicPr>
            <a:picLocks noChangeAspect="1"/>
          </p:cNvPicPr>
          <p:nvPr/>
        </p:nvPicPr>
        <p:blipFill>
          <a:blip r:embed="rId2"/>
          <a:srcRect l="0" r="0" t="0" b="0"/>
          <a:stretch/>
        </p:blipFill>
        <p:spPr>
          <a:xfrm>
            <a:off x="4064000" y="2791321"/>
            <a:ext cx="355600" cy="203200"/>
          </a:xfrm>
          <a:prstGeom prst="rect">
            <a:avLst/>
          </a:prstGeom>
        </p:spPr>
      </p:pic>
      <p:sp>
        <p:nvSpPr>
          <p:cNvPr id="11" name="Shape 7"/>
          <p:cNvSpPr/>
          <p:nvPr/>
        </p:nvSpPr>
        <p:spPr>
          <a:xfrm>
            <a:off x="4527550" y="1901130"/>
            <a:ext cx="3136900" cy="1983680"/>
          </a:xfrm>
          <a:prstGeom prst="roundRect">
            <a:avLst>
              <a:gd name="adj" fmla="val 8643"/>
            </a:avLst>
          </a:prstGeom>
          <a:solidFill>
            <a:srgbClr val="FBFCFE"/>
          </a:solidFill>
          <a:ln w="12700">
            <a:solidFill>
              <a:srgbClr val="D3DBEA"/>
            </a:solidFill>
            <a:prstDash val="solid"/>
          </a:ln>
        </p:spPr>
      </p:sp>
      <p:sp>
        <p:nvSpPr>
          <p:cNvPr id="12" name="Shape 8"/>
          <p:cNvSpPr/>
          <p:nvPr/>
        </p:nvSpPr>
        <p:spPr>
          <a:xfrm>
            <a:off x="4737100" y="2110680"/>
            <a:ext cx="558800" cy="558800"/>
          </a:xfrm>
          <a:prstGeom prst="roundRect">
            <a:avLst>
              <a:gd name="adj" fmla="val 27273"/>
            </a:avLst>
          </a:prstGeom>
          <a:solidFill>
            <a:srgbClr val="2F62E6"/>
          </a:solidFill>
          <a:ln/>
        </p:spPr>
      </p:sp>
      <p:pic>
        <p:nvPicPr>
          <p:cNvPr id="13" name="Image 2" descr="GraduationCap">    </p:cNvPr>
          <p:cNvPicPr>
            <a:picLocks noChangeAspect="1"/>
          </p:cNvPicPr>
          <p:nvPr/>
        </p:nvPicPr>
        <p:blipFill>
          <a:blip r:embed="rId3"/>
          <a:srcRect l="0" r="0" t="0" b="0"/>
          <a:stretch/>
        </p:blipFill>
        <p:spPr>
          <a:xfrm>
            <a:off x="4851400" y="2224980"/>
            <a:ext cx="330200" cy="330200"/>
          </a:xfrm>
          <a:prstGeom prst="rect">
            <a:avLst/>
          </a:prstGeom>
        </p:spPr>
      </p:pic>
      <p:sp>
        <p:nvSpPr>
          <p:cNvPr id="14" name="Text 9"/>
          <p:cNvSpPr/>
          <p:nvPr/>
        </p:nvSpPr>
        <p:spPr>
          <a:xfrm>
            <a:off x="5422900" y="2127845"/>
            <a:ext cx="1651000" cy="24001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2350C9"/>
                </a:solidFill>
                <a:latin typeface="BIZ UDPGothic" pitchFamily="34" charset="0"/>
                <a:ea typeface="BIZ UDPGothic" pitchFamily="34" charset="-122"/>
                <a:cs typeface="BIZ UDPGothic" pitchFamily="34" charset="-120"/>
              </a:rPr>
              <a:t>STEP 2</a:t>
            </a:r>
            <a:endParaRPr lang="en-US" sz="1300" dirty="0"/>
          </a:p>
        </p:txBody>
      </p:sp>
      <p:sp>
        <p:nvSpPr>
          <p:cNvPr id="15" name="Text 10"/>
          <p:cNvSpPr/>
          <p:nvPr/>
        </p:nvSpPr>
        <p:spPr>
          <a:xfrm>
            <a:off x="5422900" y="2355155"/>
            <a:ext cx="1651000"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233B"/>
                </a:solidFill>
                <a:latin typeface="Zen Maru Gothic" pitchFamily="34" charset="0"/>
                <a:ea typeface="Zen Maru Gothic" pitchFamily="34" charset="-122"/>
                <a:cs typeface="Zen Maru Gothic" pitchFamily="34" charset="-120"/>
              </a:rPr>
              <a:t>答え方を教わる</a:t>
            </a:r>
            <a:endParaRPr lang="en-US" sz="1800" dirty="0"/>
          </a:p>
        </p:txBody>
      </p:sp>
      <p:sp>
        <p:nvSpPr>
          <p:cNvPr id="16" name="Text 11"/>
          <p:cNvSpPr/>
          <p:nvPr/>
        </p:nvSpPr>
        <p:spPr>
          <a:xfrm>
            <a:off x="4737100" y="2796480"/>
            <a:ext cx="2799334" cy="87878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16233B"/>
                </a:solidFill>
                <a:latin typeface="BIZ UDPGothic" pitchFamily="34" charset="0"/>
                <a:ea typeface="BIZ UDPGothic" pitchFamily="34" charset="-122"/>
                <a:cs typeface="BIZ UDPGothic" pitchFamily="34" charset="-120"/>
              </a:rPr>
              <a:t>人がお手本を見せたり、よい答えに点を付けたりして、役に立つ答え方を身につける。</a:t>
            </a:r>
            <a:endParaRPr lang="en-US" sz="1400" dirty="0"/>
          </a:p>
        </p:txBody>
      </p:sp>
      <p:pic>
        <p:nvPicPr>
          <p:cNvPr id="17" name="Image 3" descr="arrow-right">    </p:cNvPr>
          <p:cNvPicPr>
            <a:picLocks noChangeAspect="1"/>
          </p:cNvPicPr>
          <p:nvPr/>
        </p:nvPicPr>
        <p:blipFill>
          <a:blip r:embed="rId4"/>
          <a:srcRect l="0" r="0" t="0" b="0"/>
          <a:stretch/>
        </p:blipFill>
        <p:spPr>
          <a:xfrm>
            <a:off x="7772400" y="2791321"/>
            <a:ext cx="355600" cy="203200"/>
          </a:xfrm>
          <a:prstGeom prst="rect">
            <a:avLst/>
          </a:prstGeom>
        </p:spPr>
      </p:pic>
      <p:sp>
        <p:nvSpPr>
          <p:cNvPr id="18" name="Shape 12"/>
          <p:cNvSpPr/>
          <p:nvPr/>
        </p:nvSpPr>
        <p:spPr>
          <a:xfrm>
            <a:off x="8235950" y="1901130"/>
            <a:ext cx="3136900" cy="1983680"/>
          </a:xfrm>
          <a:prstGeom prst="roundRect">
            <a:avLst>
              <a:gd name="adj" fmla="val 8643"/>
            </a:avLst>
          </a:prstGeom>
          <a:solidFill>
            <a:srgbClr val="FBFCFE"/>
          </a:solidFill>
          <a:ln w="12700">
            <a:solidFill>
              <a:srgbClr val="D3DBEA"/>
            </a:solidFill>
            <a:prstDash val="solid"/>
          </a:ln>
        </p:spPr>
      </p:sp>
      <p:sp>
        <p:nvSpPr>
          <p:cNvPr id="19" name="Shape 13"/>
          <p:cNvSpPr/>
          <p:nvPr/>
        </p:nvSpPr>
        <p:spPr>
          <a:xfrm>
            <a:off x="8445500" y="2110680"/>
            <a:ext cx="558800" cy="558800"/>
          </a:xfrm>
          <a:prstGeom prst="roundRect">
            <a:avLst>
              <a:gd name="adj" fmla="val 27273"/>
            </a:avLst>
          </a:prstGeom>
          <a:solidFill>
            <a:srgbClr val="2F62E6"/>
          </a:solidFill>
          <a:ln/>
        </p:spPr>
      </p:sp>
      <p:pic>
        <p:nvPicPr>
          <p:cNvPr id="20" name="Image 4" descr="Chat">    </p:cNvPr>
          <p:cNvPicPr>
            <a:picLocks noChangeAspect="1"/>
          </p:cNvPicPr>
          <p:nvPr/>
        </p:nvPicPr>
        <p:blipFill>
          <a:blip r:embed="rId5"/>
          <a:srcRect l="0" r="0" t="0" b="0"/>
          <a:stretch/>
        </p:blipFill>
        <p:spPr>
          <a:xfrm>
            <a:off x="8559800" y="2224980"/>
            <a:ext cx="330200" cy="330200"/>
          </a:xfrm>
          <a:prstGeom prst="rect">
            <a:avLst/>
          </a:prstGeom>
        </p:spPr>
      </p:pic>
      <p:sp>
        <p:nvSpPr>
          <p:cNvPr id="21" name="Text 14"/>
          <p:cNvSpPr/>
          <p:nvPr/>
        </p:nvSpPr>
        <p:spPr>
          <a:xfrm>
            <a:off x="9131300" y="2127845"/>
            <a:ext cx="1422400" cy="24001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2350C9"/>
                </a:solidFill>
                <a:latin typeface="BIZ UDPGothic" pitchFamily="34" charset="0"/>
                <a:ea typeface="BIZ UDPGothic" pitchFamily="34" charset="-122"/>
                <a:cs typeface="BIZ UDPGothic" pitchFamily="34" charset="-120"/>
              </a:rPr>
              <a:t>STEP 3</a:t>
            </a:r>
            <a:endParaRPr lang="en-US" sz="1300" dirty="0"/>
          </a:p>
        </p:txBody>
      </p:sp>
      <p:sp>
        <p:nvSpPr>
          <p:cNvPr id="22" name="Text 15"/>
          <p:cNvSpPr/>
          <p:nvPr/>
        </p:nvSpPr>
        <p:spPr>
          <a:xfrm>
            <a:off x="9131300" y="2355155"/>
            <a:ext cx="1422400"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233B"/>
                </a:solidFill>
                <a:latin typeface="Zen Maru Gothic" pitchFamily="34" charset="0"/>
                <a:ea typeface="Zen Maru Gothic" pitchFamily="34" charset="-122"/>
                <a:cs typeface="Zen Maru Gothic" pitchFamily="34" charset="-120"/>
              </a:rPr>
              <a:t>質問に答える</a:t>
            </a:r>
            <a:endParaRPr lang="en-US" sz="1800" dirty="0"/>
          </a:p>
        </p:txBody>
      </p:sp>
      <p:sp>
        <p:nvSpPr>
          <p:cNvPr id="23" name="Text 16"/>
          <p:cNvSpPr/>
          <p:nvPr/>
        </p:nvSpPr>
        <p:spPr>
          <a:xfrm>
            <a:off x="8445500" y="2796480"/>
            <a:ext cx="2799334" cy="87878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16233B"/>
                </a:solidFill>
                <a:latin typeface="BIZ UDPGothic" pitchFamily="34" charset="0"/>
                <a:ea typeface="BIZ UDPGothic" pitchFamily="34" charset="-122"/>
                <a:cs typeface="BIZ UDPGothic" pitchFamily="34" charset="-120"/>
              </a:rPr>
              <a:t>学び終わったAIに、私たちが質問する。学んだ予想の力で文章を作る。</a:t>
            </a:r>
            <a:endParaRPr lang="en-US" sz="1400" dirty="0"/>
          </a:p>
        </p:txBody>
      </p:sp>
      <p:sp>
        <p:nvSpPr>
          <p:cNvPr id="24" name="Shape 17"/>
          <p:cNvSpPr/>
          <p:nvPr/>
        </p:nvSpPr>
        <p:spPr>
          <a:xfrm>
            <a:off x="819150" y="4176911"/>
            <a:ext cx="10553700" cy="667941"/>
          </a:xfrm>
          <a:prstGeom prst="roundRect">
            <a:avLst>
              <a:gd name="adj" fmla="val 25668"/>
            </a:avLst>
          </a:prstGeom>
          <a:solidFill>
            <a:srgbClr val="FFF0BD"/>
          </a:solidFill>
          <a:ln w="12700">
            <a:solidFill>
              <a:srgbClr val="FFC83D"/>
            </a:solidFill>
            <a:prstDash val="solid"/>
          </a:ln>
        </p:spPr>
      </p:sp>
      <p:sp>
        <p:nvSpPr>
          <p:cNvPr id="25" name="Text 18"/>
          <p:cNvSpPr/>
          <p:nvPr/>
        </p:nvSpPr>
        <p:spPr>
          <a:xfrm>
            <a:off x="1054100" y="4348361"/>
            <a:ext cx="10386314" cy="350441"/>
          </a:xfrm>
          <a:prstGeom prst="rect">
            <a:avLst/>
          </a:prstGeom>
          <a:noFill/>
          <a:ln/>
        </p:spPr>
        <p:txBody>
          <a:bodyPr wrap="square" lIns="0" tIns="0" rIns="0" bIns="0" rtlCol="0" anchor="t">
            <a:normAutofit/>
          </a:bodyPr>
          <a:lstStyle/>
          <a:p>
            <a:pPr algn="l" indent="0" marL="0">
              <a:lnSpc>
                <a:spcPts val="2560"/>
              </a:lnSpc>
              <a:buNone/>
            </a:pPr>
            <a:r>
              <a:rPr lang="en-US" sz="1600" dirty="0">
                <a:solidFill>
                  <a:srgbClr val="16233B"/>
                </a:solidFill>
                <a:latin typeface="BIZ UDPGothic" pitchFamily="34" charset="0"/>
                <a:ea typeface="BIZ UDPGothic" pitchFamily="34" charset="-122"/>
                <a:cs typeface="BIZ UDPGothic" pitchFamily="34" charset="-120"/>
              </a:rPr>
              <a:t>つまりAIは、</a:t>
            </a:r>
            <a:r>
              <a:rPr lang="en-US" sz="1600" b="1" dirty="0">
                <a:solidFill>
                  <a:srgbClr val="16233B"/>
                </a:solidFill>
                <a:latin typeface="BIZ UDPGothic" pitchFamily="34" charset="0"/>
                <a:ea typeface="BIZ UDPGothic" pitchFamily="34" charset="-122"/>
                <a:cs typeface="BIZ UDPGothic" pitchFamily="34" charset="-120"/>
              </a:rPr>
              <a:t>ことばの並びのパターン</a:t>
            </a:r>
            <a:r>
              <a:rPr lang="en-US" sz="1600" dirty="0">
                <a:solidFill>
                  <a:srgbClr val="16233B"/>
                </a:solidFill>
                <a:latin typeface="BIZ UDPGothic" pitchFamily="34" charset="0"/>
                <a:ea typeface="BIZ UDPGothic" pitchFamily="34" charset="-122"/>
                <a:cs typeface="BIZ UDPGothic" pitchFamily="34" charset="-120"/>
              </a:rPr>
              <a:t>を、人間が一生かけても読めない量の文章から身につけている。</a:t>
            </a:r>
            <a:endParaRPr lang="en-US" sz="1600" dirty="0"/>
          </a:p>
        </p:txBody>
      </p:sp>
      <p:sp>
        <p:nvSpPr>
          <p:cNvPr id="26" name="Text 1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27" name="Text 20"/>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15 / 40</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2 ／ AIのしくみ</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中身は、数字でできた巨大な網</a:t>
            </a:r>
            <a:endParaRPr lang="en-US" sz="3200" dirty="0"/>
          </a:p>
        </p:txBody>
      </p:sp>
      <p:pic>
        <p:nvPicPr>
          <p:cNvPr id="4" name="Image 0" descr="入力、2つの中間層、出力がつながった、ニューラルネットワークの図">    </p:cNvPr>
          <p:cNvPicPr>
            <a:picLocks noChangeAspect="1"/>
          </p:cNvPicPr>
          <p:nvPr/>
        </p:nvPicPr>
        <p:blipFill>
          <a:blip r:embed="rId1"/>
          <a:srcRect l="0" r="0" t="0" b="0"/>
          <a:stretch/>
        </p:blipFill>
        <p:spPr>
          <a:xfrm>
            <a:off x="812800" y="1894780"/>
            <a:ext cx="4826000" cy="3175000"/>
          </a:xfrm>
          <a:prstGeom prst="rect">
            <a:avLst/>
          </a:prstGeom>
        </p:spPr>
      </p:pic>
      <p:sp>
        <p:nvSpPr>
          <p:cNvPr id="5" name="Text 2"/>
          <p:cNvSpPr/>
          <p:nvPr/>
        </p:nvSpPr>
        <p:spPr>
          <a:xfrm>
            <a:off x="812800" y="5120580"/>
            <a:ext cx="1320800" cy="289520"/>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56647E"/>
                </a:solidFill>
                <a:latin typeface="BIZ UDPGothic" pitchFamily="34" charset="0"/>
                <a:ea typeface="BIZ UDPGothic" pitchFamily="34" charset="-122"/>
                <a:cs typeface="BIZ UDPGothic" pitchFamily="34" charset="-120"/>
              </a:rPr>
              <a:t>入力（文章）</a:t>
            </a:r>
            <a:endParaRPr lang="en-US" sz="1300" dirty="0"/>
          </a:p>
        </p:txBody>
      </p:sp>
      <p:sp>
        <p:nvSpPr>
          <p:cNvPr id="6" name="Text 3"/>
          <p:cNvSpPr/>
          <p:nvPr/>
        </p:nvSpPr>
        <p:spPr>
          <a:xfrm>
            <a:off x="2048510" y="5120580"/>
            <a:ext cx="2354580" cy="289520"/>
          </a:xfrm>
          <a:prstGeom prst="rect">
            <a:avLst/>
          </a:prstGeom>
          <a:noFill/>
          <a:ln/>
        </p:spPr>
        <p:txBody>
          <a:bodyPr wrap="square" lIns="0" tIns="0" rIns="0" bIns="0" rtlCol="0" anchor="t">
            <a:normAutofit/>
          </a:bodyPr>
          <a:lstStyle/>
          <a:p>
            <a:pPr algn="ctr" indent="0" marL="0">
              <a:lnSpc>
                <a:spcPts val="2080"/>
              </a:lnSpc>
              <a:buNone/>
            </a:pPr>
            <a:r>
              <a:rPr lang="en-US" sz="1300" b="1" dirty="0">
                <a:solidFill>
                  <a:srgbClr val="2350C9"/>
                </a:solidFill>
                <a:latin typeface="BIZ UDPGothic" pitchFamily="34" charset="0"/>
                <a:ea typeface="BIZ UDPGothic" pitchFamily="34" charset="-122"/>
                <a:cs typeface="BIZ UDPGothic" pitchFamily="34" charset="-120"/>
              </a:rPr>
              <a:t>つなぎ目の強さ＝数字</a:t>
            </a:r>
            <a:endParaRPr lang="en-US" sz="1300" dirty="0"/>
          </a:p>
        </p:txBody>
      </p:sp>
      <p:sp>
        <p:nvSpPr>
          <p:cNvPr id="7" name="Text 4"/>
          <p:cNvSpPr/>
          <p:nvPr/>
        </p:nvSpPr>
        <p:spPr>
          <a:xfrm>
            <a:off x="4318000" y="5120580"/>
            <a:ext cx="1320800" cy="289520"/>
          </a:xfrm>
          <a:prstGeom prst="rect">
            <a:avLst/>
          </a:prstGeom>
          <a:noFill/>
          <a:ln/>
        </p:spPr>
        <p:txBody>
          <a:bodyPr wrap="square" lIns="0" tIns="0" rIns="0" bIns="0" rtlCol="0" anchor="t">
            <a:normAutofit/>
          </a:bodyPr>
          <a:lstStyle/>
          <a:p>
            <a:pPr algn="r" indent="0" marL="0">
              <a:lnSpc>
                <a:spcPts val="2080"/>
              </a:lnSpc>
              <a:buNone/>
            </a:pPr>
            <a:r>
              <a:rPr lang="en-US" sz="1300" dirty="0">
                <a:solidFill>
                  <a:srgbClr val="56647E"/>
                </a:solidFill>
                <a:latin typeface="BIZ UDPGothic" pitchFamily="34" charset="0"/>
                <a:ea typeface="BIZ UDPGothic" pitchFamily="34" charset="-122"/>
                <a:cs typeface="BIZ UDPGothic" pitchFamily="34" charset="-120"/>
              </a:rPr>
              <a:t>出力（予想）</a:t>
            </a:r>
            <a:endParaRPr lang="en-US" sz="1300" dirty="0"/>
          </a:p>
        </p:txBody>
      </p:sp>
      <p:sp>
        <p:nvSpPr>
          <p:cNvPr id="8" name="Shape 5"/>
          <p:cNvSpPr/>
          <p:nvPr/>
        </p:nvSpPr>
        <p:spPr>
          <a:xfrm>
            <a:off x="5949950" y="1901130"/>
            <a:ext cx="5422900" cy="1235373"/>
          </a:xfrm>
          <a:prstGeom prst="roundRect">
            <a:avLst>
              <a:gd name="adj" fmla="val 13878"/>
            </a:avLst>
          </a:prstGeom>
          <a:solidFill>
            <a:srgbClr val="FBFCFE"/>
          </a:solidFill>
          <a:ln w="12700">
            <a:solidFill>
              <a:srgbClr val="D3DBEA"/>
            </a:solidFill>
            <a:prstDash val="solid"/>
          </a:ln>
        </p:spPr>
      </p:sp>
      <p:sp>
        <p:nvSpPr>
          <p:cNvPr id="9" name="Text 6"/>
          <p:cNvSpPr/>
          <p:nvPr/>
        </p:nvSpPr>
        <p:spPr>
          <a:xfrm>
            <a:off x="6159500" y="2085280"/>
            <a:ext cx="5153914" cy="292894"/>
          </a:xfrm>
          <a:prstGeom prst="rect">
            <a:avLst/>
          </a:prstGeom>
          <a:noFill/>
          <a:ln/>
        </p:spPr>
        <p:txBody>
          <a:bodyPr wrap="square" lIns="0" tIns="0" rIns="0" bIns="0" rtlCol="0" anchor="t">
            <a:normAutofit/>
          </a:bodyPr>
          <a:lstStyle/>
          <a:p>
            <a:pPr algn="l" indent="0" marL="0">
              <a:lnSpc>
                <a:spcPts val="2121"/>
              </a:lnSpc>
              <a:buNone/>
            </a:pPr>
            <a:r>
              <a:rPr lang="en-US" sz="1631" b="1" dirty="0">
                <a:solidFill>
                  <a:srgbClr val="2350C9"/>
                </a:solidFill>
                <a:latin typeface="Zen Maru Gothic" pitchFamily="34" charset="0"/>
                <a:ea typeface="Zen Maru Gothic" pitchFamily="34" charset="-122"/>
                <a:cs typeface="Zen Maru Gothic" pitchFamily="34" charset="-120"/>
              </a:rPr>
              <a:t>脳の仕組みをヒントにした計算</a:t>
            </a:r>
            <a:endParaRPr lang="en-US" sz="1631" dirty="0"/>
          </a:p>
        </p:txBody>
      </p:sp>
      <p:sp>
        <p:nvSpPr>
          <p:cNvPr id="10" name="Text 7"/>
          <p:cNvSpPr/>
          <p:nvPr/>
        </p:nvSpPr>
        <p:spPr>
          <a:xfrm>
            <a:off x="6159500" y="2403574"/>
            <a:ext cx="5153914" cy="574179"/>
          </a:xfrm>
          <a:prstGeom prst="rect">
            <a:avLst/>
          </a:prstGeom>
          <a:noFill/>
          <a:ln/>
        </p:spPr>
        <p:txBody>
          <a:bodyPr wrap="square" lIns="0" tIns="0" rIns="0" bIns="0" rtlCol="0" anchor="t">
            <a:normAutofit/>
          </a:bodyPr>
          <a:lstStyle/>
          <a:p>
            <a:pPr algn="l" indent="0" marL="0">
              <a:lnSpc>
                <a:spcPts val="2160"/>
              </a:lnSpc>
              <a:buNone/>
            </a:pPr>
            <a:r>
              <a:rPr lang="en-US" sz="1350" dirty="0">
                <a:solidFill>
                  <a:srgbClr val="16233B"/>
                </a:solidFill>
                <a:latin typeface="BIZ UDPGothic" pitchFamily="34" charset="0"/>
                <a:ea typeface="BIZ UDPGothic" pitchFamily="34" charset="-122"/>
                <a:cs typeface="BIZ UDPGothic" pitchFamily="34" charset="-120"/>
              </a:rPr>
              <a:t>神経細胞のつながりをまねた「ニューラルネットワーク」。丸が計算の部品で、線がつなぎ目。</a:t>
            </a:r>
            <a:endParaRPr lang="en-US" sz="1350" dirty="0"/>
          </a:p>
        </p:txBody>
      </p:sp>
      <p:sp>
        <p:nvSpPr>
          <p:cNvPr id="11" name="Shape 8"/>
          <p:cNvSpPr/>
          <p:nvPr/>
        </p:nvSpPr>
        <p:spPr>
          <a:xfrm>
            <a:off x="5949950" y="3250803"/>
            <a:ext cx="5422900" cy="1235273"/>
          </a:xfrm>
          <a:prstGeom prst="roundRect">
            <a:avLst>
              <a:gd name="adj" fmla="val 13880"/>
            </a:avLst>
          </a:prstGeom>
          <a:solidFill>
            <a:srgbClr val="FBFCFE"/>
          </a:solidFill>
          <a:ln w="12700">
            <a:solidFill>
              <a:srgbClr val="D3DBEA"/>
            </a:solidFill>
            <a:prstDash val="solid"/>
          </a:ln>
        </p:spPr>
      </p:sp>
      <p:sp>
        <p:nvSpPr>
          <p:cNvPr id="12" name="Text 9"/>
          <p:cNvSpPr/>
          <p:nvPr/>
        </p:nvSpPr>
        <p:spPr>
          <a:xfrm>
            <a:off x="6159500" y="3434953"/>
            <a:ext cx="5153914" cy="292894"/>
          </a:xfrm>
          <a:prstGeom prst="rect">
            <a:avLst/>
          </a:prstGeom>
          <a:noFill/>
          <a:ln/>
        </p:spPr>
        <p:txBody>
          <a:bodyPr wrap="square" lIns="0" tIns="0" rIns="0" bIns="0" rtlCol="0" anchor="t">
            <a:normAutofit/>
          </a:bodyPr>
          <a:lstStyle/>
          <a:p>
            <a:pPr algn="l" indent="0" marL="0">
              <a:lnSpc>
                <a:spcPts val="2121"/>
              </a:lnSpc>
              <a:buNone/>
            </a:pPr>
            <a:r>
              <a:rPr lang="en-US" sz="1631" b="1" dirty="0">
                <a:solidFill>
                  <a:srgbClr val="2350C9"/>
                </a:solidFill>
                <a:latin typeface="Zen Maru Gothic" pitchFamily="34" charset="0"/>
                <a:ea typeface="Zen Maru Gothic" pitchFamily="34" charset="-122"/>
                <a:cs typeface="Zen Maru Gothic" pitchFamily="34" charset="-120"/>
              </a:rPr>
              <a:t>学習 ＝ つなぎ目の数字を調整</a:t>
            </a:r>
            <a:endParaRPr lang="en-US" sz="1631" dirty="0"/>
          </a:p>
        </p:txBody>
      </p:sp>
      <p:sp>
        <p:nvSpPr>
          <p:cNvPr id="13" name="Text 10"/>
          <p:cNvSpPr/>
          <p:nvPr/>
        </p:nvSpPr>
        <p:spPr>
          <a:xfrm>
            <a:off x="6159500" y="3753247"/>
            <a:ext cx="5153914" cy="574080"/>
          </a:xfrm>
          <a:prstGeom prst="rect">
            <a:avLst/>
          </a:prstGeom>
          <a:noFill/>
          <a:ln/>
        </p:spPr>
        <p:txBody>
          <a:bodyPr wrap="square" lIns="0" tIns="0" rIns="0" bIns="0" rtlCol="0" anchor="t">
            <a:normAutofit/>
          </a:bodyPr>
          <a:lstStyle/>
          <a:p>
            <a:pPr algn="l" indent="0" marL="0">
              <a:lnSpc>
                <a:spcPts val="2160"/>
              </a:lnSpc>
              <a:buNone/>
            </a:pPr>
            <a:r>
              <a:rPr lang="en-US" sz="1350" dirty="0">
                <a:solidFill>
                  <a:srgbClr val="16233B"/>
                </a:solidFill>
                <a:latin typeface="BIZ UDPGothic" pitchFamily="34" charset="0"/>
                <a:ea typeface="BIZ UDPGothic" pitchFamily="34" charset="-122"/>
                <a:cs typeface="BIZ UDPGothic" pitchFamily="34" charset="-120"/>
              </a:rPr>
              <a:t>予想が外れたら、つなぎ目の強さを少しだけ直す。これを、とんでもない回数くりかえす。</a:t>
            </a:r>
            <a:endParaRPr lang="en-US" sz="1350" dirty="0"/>
          </a:p>
        </p:txBody>
      </p:sp>
      <p:sp>
        <p:nvSpPr>
          <p:cNvPr id="14" name="Shape 11"/>
          <p:cNvSpPr/>
          <p:nvPr/>
        </p:nvSpPr>
        <p:spPr>
          <a:xfrm>
            <a:off x="5949950" y="4600377"/>
            <a:ext cx="5422900" cy="1235273"/>
          </a:xfrm>
          <a:prstGeom prst="roundRect">
            <a:avLst>
              <a:gd name="adj" fmla="val 13880"/>
            </a:avLst>
          </a:prstGeom>
          <a:solidFill>
            <a:srgbClr val="2F62E6"/>
          </a:solidFill>
          <a:ln w="12700">
            <a:solidFill>
              <a:srgbClr val="2F62E6"/>
            </a:solidFill>
            <a:prstDash val="solid"/>
          </a:ln>
        </p:spPr>
      </p:sp>
      <p:sp>
        <p:nvSpPr>
          <p:cNvPr id="15" name="Text 12"/>
          <p:cNvSpPr/>
          <p:nvPr/>
        </p:nvSpPr>
        <p:spPr>
          <a:xfrm>
            <a:off x="6159500" y="4784527"/>
            <a:ext cx="5153914" cy="292894"/>
          </a:xfrm>
          <a:prstGeom prst="rect">
            <a:avLst/>
          </a:prstGeom>
          <a:noFill/>
          <a:ln/>
        </p:spPr>
        <p:txBody>
          <a:bodyPr wrap="square" lIns="0" tIns="0" rIns="0" bIns="0" rtlCol="0" anchor="t">
            <a:normAutofit/>
          </a:bodyPr>
          <a:lstStyle/>
          <a:p>
            <a:pPr algn="l" indent="0" marL="0">
              <a:lnSpc>
                <a:spcPts val="2121"/>
              </a:lnSpc>
              <a:buNone/>
            </a:pPr>
            <a:r>
              <a:rPr lang="en-US" sz="1631" b="1" dirty="0">
                <a:solidFill>
                  <a:srgbClr val="FFFFFF"/>
                </a:solidFill>
                <a:latin typeface="Zen Maru Gothic" pitchFamily="34" charset="0"/>
                <a:ea typeface="Zen Maru Gothic" pitchFamily="34" charset="-122"/>
                <a:cs typeface="Zen Maru Gothic" pitchFamily="34" charset="-120"/>
              </a:rPr>
              <a:t>知識の正体は、数字の表</a:t>
            </a:r>
            <a:endParaRPr lang="en-US" sz="1631" dirty="0"/>
          </a:p>
        </p:txBody>
      </p:sp>
      <p:sp>
        <p:nvSpPr>
          <p:cNvPr id="16" name="Text 13"/>
          <p:cNvSpPr/>
          <p:nvPr/>
        </p:nvSpPr>
        <p:spPr>
          <a:xfrm>
            <a:off x="6159500" y="5102820"/>
            <a:ext cx="5153914" cy="574080"/>
          </a:xfrm>
          <a:prstGeom prst="rect">
            <a:avLst/>
          </a:prstGeom>
          <a:noFill/>
          <a:ln/>
        </p:spPr>
        <p:txBody>
          <a:bodyPr wrap="square" lIns="0" tIns="0" rIns="0" bIns="0" rtlCol="0" anchor="t">
            <a:normAutofit/>
          </a:bodyPr>
          <a:lstStyle/>
          <a:p>
            <a:pPr algn="l" indent="0" marL="0">
              <a:lnSpc>
                <a:spcPts val="2160"/>
              </a:lnSpc>
              <a:buNone/>
            </a:pPr>
            <a:r>
              <a:rPr lang="en-US" sz="1350" dirty="0">
                <a:solidFill>
                  <a:srgbClr val="E8EEFF"/>
                </a:solidFill>
                <a:latin typeface="BIZ UDPGothic" pitchFamily="34" charset="0"/>
                <a:ea typeface="BIZ UDPGothic" pitchFamily="34" charset="-122"/>
                <a:cs typeface="BIZ UDPGothic" pitchFamily="34" charset="-120"/>
              </a:rPr>
              <a:t>調整された数字は、大きなAIでは何十億〜何千億個以上。これが「AIの頭の中」。</a:t>
            </a:r>
            <a:endParaRPr lang="en-US" sz="1350" dirty="0"/>
          </a:p>
        </p:txBody>
      </p:sp>
      <p:sp>
        <p:nvSpPr>
          <p:cNvPr id="17" name="Text 1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18" name="Text 15"/>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16 / 40</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2 ／ AIのしくみ</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プロンプトは、AIへの指示書</a:t>
            </a:r>
            <a:endParaRPr lang="en-US" sz="3200" dirty="0"/>
          </a:p>
        </p:txBody>
      </p:sp>
      <p:sp>
        <p:nvSpPr>
          <p:cNvPr id="4" name="Shape 2"/>
          <p:cNvSpPr/>
          <p:nvPr/>
        </p:nvSpPr>
        <p:spPr>
          <a:xfrm>
            <a:off x="819150" y="1901130"/>
            <a:ext cx="5156200" cy="3370659"/>
          </a:xfrm>
          <a:prstGeom prst="roundRect">
            <a:avLst>
              <a:gd name="adj" fmla="val 5087"/>
            </a:avLst>
          </a:prstGeom>
          <a:solidFill>
            <a:srgbClr val="FBFCFE"/>
          </a:solidFill>
          <a:ln w="12700">
            <a:solidFill>
              <a:srgbClr val="D3DBEA"/>
            </a:solidFill>
            <a:prstDash val="solid"/>
          </a:ln>
        </p:spPr>
      </p:sp>
      <p:sp>
        <p:nvSpPr>
          <p:cNvPr id="5" name="Shape 3"/>
          <p:cNvSpPr/>
          <p:nvPr/>
        </p:nvSpPr>
        <p:spPr>
          <a:xfrm>
            <a:off x="1079500" y="2136080"/>
            <a:ext cx="1113929" cy="307280"/>
          </a:xfrm>
          <a:prstGeom prst="roundRect">
            <a:avLst>
              <a:gd name="adj" fmla="val 50000"/>
            </a:avLst>
          </a:prstGeom>
          <a:solidFill>
            <a:srgbClr val="FCE3E1"/>
          </a:solidFill>
          <a:ln/>
        </p:spPr>
      </p:sp>
      <p:sp>
        <p:nvSpPr>
          <p:cNvPr id="6" name="Text 4"/>
          <p:cNvSpPr/>
          <p:nvPr/>
        </p:nvSpPr>
        <p:spPr>
          <a:xfrm>
            <a:off x="1231900" y="2174180"/>
            <a:ext cx="859929"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3B37"/>
                </a:solidFill>
                <a:latin typeface="BIZ UDPGothic" pitchFamily="34" charset="0"/>
                <a:ea typeface="BIZ UDPGothic" pitchFamily="34" charset="-122"/>
                <a:cs typeface="BIZ UDPGothic" pitchFamily="34" charset="-120"/>
              </a:rPr>
              <a:t>うすい指示</a:t>
            </a:r>
            <a:endParaRPr lang="en-US" sz="1300" dirty="0"/>
          </a:p>
        </p:txBody>
      </p:sp>
      <p:sp>
        <p:nvSpPr>
          <p:cNvPr id="7" name="Text 5"/>
          <p:cNvSpPr/>
          <p:nvPr/>
        </p:nvSpPr>
        <p:spPr>
          <a:xfrm>
            <a:off x="1079500" y="2570361"/>
            <a:ext cx="4774565"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6233B"/>
                </a:solidFill>
                <a:latin typeface="Zen Maru Gothic" pitchFamily="34" charset="0"/>
                <a:ea typeface="Zen Maru Gothic" pitchFamily="34" charset="-122"/>
                <a:cs typeface="Zen Maru Gothic" pitchFamily="34" charset="-120"/>
              </a:rPr>
              <a:t>ブログ記事を書いて</a:t>
            </a:r>
            <a:endParaRPr lang="en-US" sz="2200" dirty="0"/>
          </a:p>
        </p:txBody>
      </p:sp>
      <p:sp>
        <p:nvSpPr>
          <p:cNvPr id="8" name="Text 6"/>
          <p:cNvSpPr/>
          <p:nvPr/>
        </p:nvSpPr>
        <p:spPr>
          <a:xfrm>
            <a:off x="1079500" y="3088481"/>
            <a:ext cx="4774565" cy="635000"/>
          </a:xfrm>
          <a:prstGeom prst="rect">
            <a:avLst/>
          </a:prstGeom>
          <a:noFill/>
          <a:ln/>
        </p:spPr>
        <p:txBody>
          <a:bodyPr wrap="square" lIns="0" tIns="0" rIns="0" bIns="0" rtlCol="0" anchor="t">
            <a:normAutofit/>
          </a:bodyPr>
          <a:lstStyle/>
          <a:p>
            <a:pPr algn="l" indent="0" marL="0">
              <a:lnSpc>
                <a:spcPts val="2400"/>
              </a:lnSpc>
              <a:buNone/>
            </a:pPr>
            <a:r>
              <a:rPr lang="en-US" sz="1500" dirty="0">
                <a:solidFill>
                  <a:srgbClr val="56647E"/>
                </a:solidFill>
                <a:latin typeface="BIZ UDPGothic" pitchFamily="34" charset="0"/>
                <a:ea typeface="BIZ UDPGothic" pitchFamily="34" charset="-122"/>
                <a:cs typeface="BIZ UDPGothic" pitchFamily="34" charset="-120"/>
              </a:rPr>
              <a:t>だれに向けて？　どのくらい？　何について？　AIは、ふつうの文章を予想するしかない。</a:t>
            </a:r>
            <a:endParaRPr lang="en-US" sz="1500" dirty="0"/>
          </a:p>
        </p:txBody>
      </p:sp>
      <p:sp>
        <p:nvSpPr>
          <p:cNvPr id="9" name="Shape 7"/>
          <p:cNvSpPr/>
          <p:nvPr/>
        </p:nvSpPr>
        <p:spPr>
          <a:xfrm>
            <a:off x="6216650" y="1901130"/>
            <a:ext cx="5156200" cy="3370659"/>
          </a:xfrm>
          <a:prstGeom prst="roundRect">
            <a:avLst>
              <a:gd name="adj" fmla="val 5087"/>
            </a:avLst>
          </a:prstGeom>
          <a:solidFill>
            <a:srgbClr val="FBFCFE"/>
          </a:solidFill>
          <a:ln w="12700">
            <a:solidFill>
              <a:srgbClr val="157A4B"/>
            </a:solidFill>
            <a:prstDash val="solid"/>
          </a:ln>
        </p:spPr>
      </p:sp>
      <p:sp>
        <p:nvSpPr>
          <p:cNvPr id="10" name="Shape 8"/>
          <p:cNvSpPr/>
          <p:nvPr/>
        </p:nvSpPr>
        <p:spPr>
          <a:xfrm>
            <a:off x="6477000" y="2136080"/>
            <a:ext cx="1295400" cy="307280"/>
          </a:xfrm>
          <a:prstGeom prst="roundRect">
            <a:avLst>
              <a:gd name="adj" fmla="val 50000"/>
            </a:avLst>
          </a:prstGeom>
          <a:solidFill>
            <a:srgbClr val="DBF4E7"/>
          </a:solidFill>
          <a:ln/>
        </p:spPr>
      </p:sp>
      <p:sp>
        <p:nvSpPr>
          <p:cNvPr id="11" name="Text 9"/>
          <p:cNvSpPr/>
          <p:nvPr/>
        </p:nvSpPr>
        <p:spPr>
          <a:xfrm>
            <a:off x="6629400" y="2174180"/>
            <a:ext cx="104140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57A4B"/>
                </a:solidFill>
                <a:latin typeface="BIZ UDPGothic" pitchFamily="34" charset="0"/>
                <a:ea typeface="BIZ UDPGothic" pitchFamily="34" charset="-122"/>
                <a:cs typeface="BIZ UDPGothic" pitchFamily="34" charset="-120"/>
              </a:rPr>
              <a:t>具体的な指示</a:t>
            </a:r>
            <a:endParaRPr lang="en-US" sz="1300" dirty="0"/>
          </a:p>
        </p:txBody>
      </p:sp>
      <p:sp>
        <p:nvSpPr>
          <p:cNvPr id="12" name="Text 10"/>
          <p:cNvSpPr/>
          <p:nvPr/>
        </p:nvSpPr>
        <p:spPr>
          <a:xfrm>
            <a:off x="6477000" y="2570361"/>
            <a:ext cx="4774565" cy="1198761"/>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6233B"/>
                </a:solidFill>
                <a:latin typeface="Zen Maru Gothic" pitchFamily="34" charset="0"/>
                <a:ea typeface="Zen Maru Gothic" pitchFamily="34" charset="-122"/>
                <a:cs typeface="Zen Maru Gothic" pitchFamily="34" charset="-120"/>
              </a:rPr>
              <a:t>中学生向けに、たとえ話を1つ入れて、400字で、ChatGPTの使い方を書いて</a:t>
            </a:r>
            <a:endParaRPr lang="en-US" sz="2200" dirty="0"/>
          </a:p>
        </p:txBody>
      </p:sp>
      <p:sp>
        <p:nvSpPr>
          <p:cNvPr id="13" name="Text 11"/>
          <p:cNvSpPr/>
          <p:nvPr/>
        </p:nvSpPr>
        <p:spPr>
          <a:xfrm>
            <a:off x="6477000" y="3870722"/>
            <a:ext cx="4774565" cy="635000"/>
          </a:xfrm>
          <a:prstGeom prst="rect">
            <a:avLst/>
          </a:prstGeom>
          <a:noFill/>
          <a:ln/>
        </p:spPr>
        <p:txBody>
          <a:bodyPr wrap="square" lIns="0" tIns="0" rIns="0" bIns="0" rtlCol="0" anchor="t">
            <a:normAutofit/>
          </a:bodyPr>
          <a:lstStyle/>
          <a:p>
            <a:pPr algn="l" indent="0" marL="0">
              <a:lnSpc>
                <a:spcPts val="2400"/>
              </a:lnSpc>
              <a:buNone/>
            </a:pPr>
            <a:r>
              <a:rPr lang="en-US" sz="1500" dirty="0">
                <a:solidFill>
                  <a:srgbClr val="56647E"/>
                </a:solidFill>
                <a:latin typeface="BIZ UDPGothic" pitchFamily="34" charset="0"/>
                <a:ea typeface="BIZ UDPGothic" pitchFamily="34" charset="-122"/>
                <a:cs typeface="BIZ UDPGothic" pitchFamily="34" charset="-120"/>
              </a:rPr>
              <a:t>条件が多いほど、「次のことば」の候補がしぼられて、ねらった文章に近づく。</a:t>
            </a:r>
            <a:endParaRPr lang="en-US" sz="1500" dirty="0"/>
          </a:p>
        </p:txBody>
      </p:sp>
      <p:sp>
        <p:nvSpPr>
          <p:cNvPr id="14" name="Text 12"/>
          <p:cNvSpPr/>
          <p:nvPr/>
        </p:nvSpPr>
        <p:spPr>
          <a:xfrm>
            <a:off x="812800" y="5557540"/>
            <a:ext cx="10883392" cy="30986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56647E"/>
                </a:solidFill>
                <a:latin typeface="BIZ UDPGothic" pitchFamily="34" charset="0"/>
                <a:ea typeface="BIZ UDPGothic" pitchFamily="34" charset="-122"/>
                <a:cs typeface="BIZ UDPGothic" pitchFamily="34" charset="-120"/>
              </a:rPr>
              <a:t>AIに出す指示のことを「プロンプト」という。このブログには、その書き方を扱う「プロンプト設計」のカテゴリーがある。</a:t>
            </a:r>
            <a:endParaRPr lang="en-US" sz="1400" dirty="0"/>
          </a:p>
        </p:txBody>
      </p:sp>
      <p:sp>
        <p:nvSpPr>
          <p:cNvPr id="15" name="Text 1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16" name="Text 14"/>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17 / 40</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2 ／ AIのしくみ</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AIにも、苦手なことがある</a:t>
            </a:r>
            <a:endParaRPr lang="en-US" sz="3200" dirty="0"/>
          </a:p>
        </p:txBody>
      </p:sp>
      <p:sp>
        <p:nvSpPr>
          <p:cNvPr id="4" name="Shape 2"/>
          <p:cNvSpPr/>
          <p:nvPr/>
        </p:nvSpPr>
        <p:spPr>
          <a:xfrm>
            <a:off x="819150" y="1901130"/>
            <a:ext cx="3407767" cy="3020120"/>
          </a:xfrm>
          <a:prstGeom prst="roundRect">
            <a:avLst>
              <a:gd name="adj" fmla="val 5677"/>
            </a:avLst>
          </a:prstGeom>
          <a:solidFill>
            <a:srgbClr val="FBFCFE"/>
          </a:solidFill>
          <a:ln w="12700">
            <a:solidFill>
              <a:srgbClr val="D3DBEA"/>
            </a:solidFill>
            <a:prstDash val="solid"/>
          </a:ln>
        </p:spPr>
      </p:sp>
      <p:sp>
        <p:nvSpPr>
          <p:cNvPr id="5" name="Text 3"/>
          <p:cNvSpPr/>
          <p:nvPr/>
        </p:nvSpPr>
        <p:spPr>
          <a:xfrm>
            <a:off x="1028700" y="2136080"/>
            <a:ext cx="3078327"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2350C9"/>
                </a:solidFill>
                <a:latin typeface="Zen Maru Gothic" pitchFamily="34" charset="0"/>
                <a:ea typeface="Zen Maru Gothic" pitchFamily="34" charset="-122"/>
                <a:cs typeface="Zen Maru Gothic" pitchFamily="34" charset="-120"/>
              </a:rPr>
              <a:t>1</a:t>
            </a:r>
            <a:endParaRPr lang="en-US" sz="3200" dirty="0"/>
          </a:p>
        </p:txBody>
      </p:sp>
      <p:sp>
        <p:nvSpPr>
          <p:cNvPr id="6" name="Text 4"/>
          <p:cNvSpPr/>
          <p:nvPr/>
        </p:nvSpPr>
        <p:spPr>
          <a:xfrm>
            <a:off x="1028700" y="2631380"/>
            <a:ext cx="3078327"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233B"/>
                </a:solidFill>
                <a:latin typeface="Zen Maru Gothic" pitchFamily="34" charset="0"/>
                <a:ea typeface="Zen Maru Gothic" pitchFamily="34" charset="-122"/>
                <a:cs typeface="Zen Maru Gothic" pitchFamily="34" charset="-120"/>
              </a:rPr>
              <a:t>もっともらしい嘘</a:t>
            </a:r>
            <a:endParaRPr lang="en-US" sz="1800" dirty="0"/>
          </a:p>
        </p:txBody>
      </p:sp>
      <p:sp>
        <p:nvSpPr>
          <p:cNvPr id="7" name="Text 5"/>
          <p:cNvSpPr/>
          <p:nvPr/>
        </p:nvSpPr>
        <p:spPr>
          <a:xfrm>
            <a:off x="1028700" y="3017441"/>
            <a:ext cx="3078327" cy="87878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16233B"/>
                </a:solidFill>
                <a:latin typeface="BIZ UDPGothic" pitchFamily="34" charset="0"/>
                <a:ea typeface="BIZ UDPGothic" pitchFamily="34" charset="-122"/>
                <a:cs typeface="BIZ UDPGothic" pitchFamily="34" charset="-120"/>
              </a:rPr>
              <a:t>「次のことば」を予想して書くので、知らないことでも、自然な文で書いてしまう。</a:t>
            </a:r>
            <a:endParaRPr lang="en-US" sz="1400" dirty="0"/>
          </a:p>
        </p:txBody>
      </p:sp>
      <p:sp>
        <p:nvSpPr>
          <p:cNvPr id="8" name="Text 6"/>
          <p:cNvSpPr/>
          <p:nvPr/>
        </p:nvSpPr>
        <p:spPr>
          <a:xfrm>
            <a:off x="1028700" y="3959721"/>
            <a:ext cx="3078327" cy="289520"/>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56647E"/>
                </a:solidFill>
                <a:latin typeface="BIZ UDPGothic" pitchFamily="34" charset="0"/>
                <a:ea typeface="BIZ UDPGothic" pitchFamily="34" charset="-122"/>
                <a:cs typeface="BIZ UDPGothic" pitchFamily="34" charset="-120"/>
              </a:rPr>
              <a:t>ハルシネーションと呼ばれる</a:t>
            </a:r>
            <a:endParaRPr lang="en-US" sz="1300" dirty="0"/>
          </a:p>
        </p:txBody>
      </p:sp>
      <p:sp>
        <p:nvSpPr>
          <p:cNvPr id="9" name="Shape 7"/>
          <p:cNvSpPr/>
          <p:nvPr/>
        </p:nvSpPr>
        <p:spPr>
          <a:xfrm>
            <a:off x="4392017" y="1901130"/>
            <a:ext cx="3407866" cy="3020120"/>
          </a:xfrm>
          <a:prstGeom prst="roundRect">
            <a:avLst>
              <a:gd name="adj" fmla="val 5677"/>
            </a:avLst>
          </a:prstGeom>
          <a:solidFill>
            <a:srgbClr val="FBFCFE"/>
          </a:solidFill>
          <a:ln w="12700">
            <a:solidFill>
              <a:srgbClr val="D3DBEA"/>
            </a:solidFill>
            <a:prstDash val="solid"/>
          </a:ln>
        </p:spPr>
      </p:sp>
      <p:sp>
        <p:nvSpPr>
          <p:cNvPr id="10" name="Text 8"/>
          <p:cNvSpPr/>
          <p:nvPr/>
        </p:nvSpPr>
        <p:spPr>
          <a:xfrm>
            <a:off x="4601567" y="2136080"/>
            <a:ext cx="3078429"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2350C9"/>
                </a:solidFill>
                <a:latin typeface="Zen Maru Gothic" pitchFamily="34" charset="0"/>
                <a:ea typeface="Zen Maru Gothic" pitchFamily="34" charset="-122"/>
                <a:cs typeface="Zen Maru Gothic" pitchFamily="34" charset="-120"/>
              </a:rPr>
              <a:t>2</a:t>
            </a:r>
            <a:endParaRPr lang="en-US" sz="3200" dirty="0"/>
          </a:p>
        </p:txBody>
      </p:sp>
      <p:sp>
        <p:nvSpPr>
          <p:cNvPr id="11" name="Text 9"/>
          <p:cNvSpPr/>
          <p:nvPr/>
        </p:nvSpPr>
        <p:spPr>
          <a:xfrm>
            <a:off x="4601567" y="2631380"/>
            <a:ext cx="3078429"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233B"/>
                </a:solidFill>
                <a:latin typeface="Zen Maru Gothic" pitchFamily="34" charset="0"/>
                <a:ea typeface="Zen Maru Gothic" pitchFamily="34" charset="-122"/>
                <a:cs typeface="Zen Maru Gothic" pitchFamily="34" charset="-120"/>
              </a:rPr>
              <a:t>最新のことは知らない</a:t>
            </a:r>
            <a:endParaRPr lang="en-US" sz="1800" dirty="0"/>
          </a:p>
        </p:txBody>
      </p:sp>
      <p:sp>
        <p:nvSpPr>
          <p:cNvPr id="12" name="Text 10"/>
          <p:cNvSpPr/>
          <p:nvPr/>
        </p:nvSpPr>
        <p:spPr>
          <a:xfrm>
            <a:off x="4601567" y="3017441"/>
            <a:ext cx="3078429" cy="59432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16233B"/>
                </a:solidFill>
                <a:latin typeface="BIZ UDPGothic" pitchFamily="34" charset="0"/>
                <a:ea typeface="BIZ UDPGothic" pitchFamily="34" charset="-122"/>
                <a:cs typeface="BIZ UDPGothic" pitchFamily="34" charset="-120"/>
              </a:rPr>
              <a:t>学習した時点までの知識しか持っていない。</a:t>
            </a:r>
            <a:endParaRPr lang="en-US" sz="1400" dirty="0"/>
          </a:p>
        </p:txBody>
      </p:sp>
      <p:sp>
        <p:nvSpPr>
          <p:cNvPr id="13" name="Text 11"/>
          <p:cNvSpPr/>
          <p:nvPr/>
        </p:nvSpPr>
        <p:spPr>
          <a:xfrm>
            <a:off x="4601567" y="3675261"/>
            <a:ext cx="3078429" cy="289520"/>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56647E"/>
                </a:solidFill>
                <a:latin typeface="BIZ UDPGothic" pitchFamily="34" charset="0"/>
                <a:ea typeface="BIZ UDPGothic" pitchFamily="34" charset="-122"/>
                <a:cs typeface="BIZ UDPGothic" pitchFamily="34" charset="-120"/>
              </a:rPr>
              <a:t>検索ツールとつなぐと補える</a:t>
            </a:r>
            <a:endParaRPr lang="en-US" sz="1300" dirty="0"/>
          </a:p>
        </p:txBody>
      </p:sp>
      <p:sp>
        <p:nvSpPr>
          <p:cNvPr id="14" name="Shape 12"/>
          <p:cNvSpPr/>
          <p:nvPr/>
        </p:nvSpPr>
        <p:spPr>
          <a:xfrm>
            <a:off x="7964984" y="1901130"/>
            <a:ext cx="3407866" cy="3020120"/>
          </a:xfrm>
          <a:prstGeom prst="roundRect">
            <a:avLst>
              <a:gd name="adj" fmla="val 5677"/>
            </a:avLst>
          </a:prstGeom>
          <a:solidFill>
            <a:srgbClr val="FBFCFE"/>
          </a:solidFill>
          <a:ln w="12700">
            <a:solidFill>
              <a:srgbClr val="D3DBEA"/>
            </a:solidFill>
            <a:prstDash val="solid"/>
          </a:ln>
        </p:spPr>
      </p:sp>
      <p:sp>
        <p:nvSpPr>
          <p:cNvPr id="15" name="Text 13"/>
          <p:cNvSpPr/>
          <p:nvPr/>
        </p:nvSpPr>
        <p:spPr>
          <a:xfrm>
            <a:off x="8174534" y="2136080"/>
            <a:ext cx="3078429"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2350C9"/>
                </a:solidFill>
                <a:latin typeface="Zen Maru Gothic" pitchFamily="34" charset="0"/>
                <a:ea typeface="Zen Maru Gothic" pitchFamily="34" charset="-122"/>
                <a:cs typeface="Zen Maru Gothic" pitchFamily="34" charset="-120"/>
              </a:rPr>
              <a:t>3</a:t>
            </a:r>
            <a:endParaRPr lang="en-US" sz="3200" dirty="0"/>
          </a:p>
        </p:txBody>
      </p:sp>
      <p:sp>
        <p:nvSpPr>
          <p:cNvPr id="16" name="Text 14"/>
          <p:cNvSpPr/>
          <p:nvPr/>
        </p:nvSpPr>
        <p:spPr>
          <a:xfrm>
            <a:off x="8174534" y="2631380"/>
            <a:ext cx="3078429"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233B"/>
                </a:solidFill>
                <a:latin typeface="Zen Maru Gothic" pitchFamily="34" charset="0"/>
                <a:ea typeface="Zen Maru Gothic" pitchFamily="34" charset="-122"/>
                <a:cs typeface="Zen Maru Gothic" pitchFamily="34" charset="-120"/>
              </a:rPr>
              <a:t>一度に覚えられる量に限り</a:t>
            </a:r>
            <a:endParaRPr lang="en-US" sz="1800" dirty="0"/>
          </a:p>
        </p:txBody>
      </p:sp>
      <p:sp>
        <p:nvSpPr>
          <p:cNvPr id="17" name="Text 15"/>
          <p:cNvSpPr/>
          <p:nvPr/>
        </p:nvSpPr>
        <p:spPr>
          <a:xfrm>
            <a:off x="8174534" y="3017441"/>
            <a:ext cx="3078429" cy="87878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16233B"/>
                </a:solidFill>
                <a:latin typeface="BIZ UDPGothic" pitchFamily="34" charset="0"/>
                <a:ea typeface="BIZ UDPGothic" pitchFamily="34" charset="-122"/>
                <a:cs typeface="BIZ UDPGothic" pitchFamily="34" charset="-120"/>
              </a:rPr>
              <a:t>一度に読める量にはトークンの上限がある。長い会話の最初のほうは、忘れることがある。</a:t>
            </a:r>
            <a:endParaRPr lang="en-US" sz="1400" dirty="0"/>
          </a:p>
        </p:txBody>
      </p:sp>
      <p:sp>
        <p:nvSpPr>
          <p:cNvPr id="18" name="Text 16"/>
          <p:cNvSpPr/>
          <p:nvPr/>
        </p:nvSpPr>
        <p:spPr>
          <a:xfrm>
            <a:off x="8174534" y="3959721"/>
            <a:ext cx="3078429" cy="289520"/>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56647E"/>
                </a:solidFill>
                <a:latin typeface="BIZ UDPGothic" pitchFamily="34" charset="0"/>
                <a:ea typeface="BIZ UDPGothic" pitchFamily="34" charset="-122"/>
                <a:cs typeface="BIZ UDPGothic" pitchFamily="34" charset="-120"/>
              </a:rPr>
              <a:t>「コンテキスト」と呼ばれる</a:t>
            </a:r>
            <a:endParaRPr lang="en-US" sz="1300" dirty="0"/>
          </a:p>
        </p:txBody>
      </p:sp>
      <p:sp>
        <p:nvSpPr>
          <p:cNvPr id="19" name="Shape 17"/>
          <p:cNvSpPr/>
          <p:nvPr/>
        </p:nvSpPr>
        <p:spPr>
          <a:xfrm>
            <a:off x="819150" y="5213350"/>
            <a:ext cx="10553700" cy="622300"/>
          </a:xfrm>
          <a:prstGeom prst="roundRect">
            <a:avLst>
              <a:gd name="adj" fmla="val 27551"/>
            </a:avLst>
          </a:prstGeom>
          <a:solidFill>
            <a:srgbClr val="FFF0BD"/>
          </a:solidFill>
          <a:ln w="12700">
            <a:solidFill>
              <a:srgbClr val="FFC83D"/>
            </a:solidFill>
            <a:prstDash val="solid"/>
          </a:ln>
        </p:spPr>
      </p:sp>
      <p:sp>
        <p:nvSpPr>
          <p:cNvPr id="20" name="Text 18"/>
          <p:cNvSpPr/>
          <p:nvPr/>
        </p:nvSpPr>
        <p:spPr>
          <a:xfrm>
            <a:off x="1054100" y="5372100"/>
            <a:ext cx="10386314" cy="330200"/>
          </a:xfrm>
          <a:prstGeom prst="rect">
            <a:avLst/>
          </a:prstGeom>
          <a:noFill/>
          <a:ln/>
        </p:spPr>
        <p:txBody>
          <a:bodyPr wrap="square" lIns="0" tIns="0" rIns="0" bIns="0" rtlCol="0" anchor="t">
            <a:normAutofit/>
          </a:bodyPr>
          <a:lstStyle/>
          <a:p>
            <a:pPr algn="l" indent="0" marL="0">
              <a:lnSpc>
                <a:spcPts val="2400"/>
              </a:lnSpc>
              <a:buNone/>
            </a:pPr>
            <a:r>
              <a:rPr lang="en-US" sz="1500" b="1" dirty="0">
                <a:solidFill>
                  <a:srgbClr val="16233B"/>
                </a:solidFill>
                <a:latin typeface="BIZ UDPGothic" pitchFamily="34" charset="0"/>
                <a:ea typeface="BIZ UDPGothic" pitchFamily="34" charset="-122"/>
                <a:cs typeface="BIZ UDPGothic" pitchFamily="34" charset="-120"/>
              </a:rPr>
              <a:t>だからAIの答えは、人が確かめる。</a:t>
            </a:r>
            <a:r>
              <a:rPr lang="en-US" sz="1500" dirty="0">
                <a:solidFill>
                  <a:srgbClr val="16233B"/>
                </a:solidFill>
                <a:latin typeface="BIZ UDPGothic" pitchFamily="34" charset="0"/>
                <a:ea typeface="BIZ UDPGothic" pitchFamily="34" charset="-122"/>
                <a:cs typeface="BIZ UDPGothic" pitchFamily="34" charset="-120"/>
              </a:rPr>
              <a:t>使う側が弱点を知っていると、安心して任せられる部分が見えてくる。</a:t>
            </a:r>
            <a:endParaRPr lang="en-US" sz="1500" dirty="0"/>
          </a:p>
        </p:txBody>
      </p:sp>
      <p:sp>
        <p:nvSpPr>
          <p:cNvPr id="21" name="Text 1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22" name="Text 20"/>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18 / 40</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2 ／ AIのしくみ</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AIエージェントは、道具を使って作業する</a:t>
            </a:r>
            <a:endParaRPr lang="en-US" sz="3200" dirty="0"/>
          </a:p>
        </p:txBody>
      </p:sp>
      <p:sp>
        <p:nvSpPr>
          <p:cNvPr id="4" name="Shape 2"/>
          <p:cNvSpPr/>
          <p:nvPr/>
        </p:nvSpPr>
        <p:spPr>
          <a:xfrm>
            <a:off x="819150" y="1901130"/>
            <a:ext cx="2247900" cy="1767780"/>
          </a:xfrm>
          <a:prstGeom prst="roundRect">
            <a:avLst>
              <a:gd name="adj" fmla="val 9699"/>
            </a:avLst>
          </a:prstGeom>
          <a:solidFill>
            <a:srgbClr val="FBFCFE"/>
          </a:solidFill>
          <a:ln w="12700">
            <a:solidFill>
              <a:srgbClr val="D3DBEA"/>
            </a:solidFill>
            <a:prstDash val="solid"/>
          </a:ln>
        </p:spPr>
      </p:sp>
      <p:sp>
        <p:nvSpPr>
          <p:cNvPr id="5" name="Text 3"/>
          <p:cNvSpPr/>
          <p:nvPr/>
        </p:nvSpPr>
        <p:spPr>
          <a:xfrm>
            <a:off x="1003300" y="2085280"/>
            <a:ext cx="1935988"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2350C9"/>
                </a:solidFill>
                <a:latin typeface="Zen Maru Gothic" pitchFamily="34" charset="0"/>
                <a:ea typeface="Zen Maru Gothic" pitchFamily="34" charset="-122"/>
                <a:cs typeface="Zen Maru Gothic" pitchFamily="34" charset="-120"/>
              </a:rPr>
              <a:t>1</a:t>
            </a:r>
            <a:endParaRPr lang="en-US" sz="2800" dirty="0"/>
          </a:p>
        </p:txBody>
      </p:sp>
      <p:sp>
        <p:nvSpPr>
          <p:cNvPr id="6" name="Text 4"/>
          <p:cNvSpPr/>
          <p:nvPr/>
        </p:nvSpPr>
        <p:spPr>
          <a:xfrm>
            <a:off x="1003300" y="2517080"/>
            <a:ext cx="1935988"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233B"/>
                </a:solidFill>
                <a:latin typeface="Zen Maru Gothic" pitchFamily="34" charset="0"/>
                <a:ea typeface="Zen Maru Gothic" pitchFamily="34" charset="-122"/>
                <a:cs typeface="Zen Maru Gothic" pitchFamily="34" charset="-120"/>
              </a:rPr>
              <a:t>目的を受けとる</a:t>
            </a:r>
            <a:endParaRPr lang="en-US" sz="1800" dirty="0"/>
          </a:p>
        </p:txBody>
      </p:sp>
      <p:sp>
        <p:nvSpPr>
          <p:cNvPr id="7" name="Text 5"/>
          <p:cNvSpPr/>
          <p:nvPr/>
        </p:nvSpPr>
        <p:spPr>
          <a:xfrm>
            <a:off x="1003300" y="2890441"/>
            <a:ext cx="1935988" cy="59432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56647E"/>
                </a:solidFill>
                <a:latin typeface="BIZ UDPGothic" pitchFamily="34" charset="0"/>
                <a:ea typeface="BIZ UDPGothic" pitchFamily="34" charset="-122"/>
                <a:cs typeface="BIZ UDPGothic" pitchFamily="34" charset="-120"/>
              </a:rPr>
              <a:t>「この記事の下書きを作って」</a:t>
            </a:r>
            <a:endParaRPr lang="en-US" sz="1400" dirty="0"/>
          </a:p>
        </p:txBody>
      </p:sp>
      <p:pic>
        <p:nvPicPr>
          <p:cNvPr id="8" name="Image 0" descr="arrow-right">    </p:cNvPr>
          <p:cNvPicPr>
            <a:picLocks noChangeAspect="1"/>
          </p:cNvPicPr>
          <p:nvPr/>
        </p:nvPicPr>
        <p:blipFill>
          <a:blip r:embed="rId1"/>
          <a:srcRect l="0" r="0" t="0" b="0"/>
          <a:stretch/>
        </p:blipFill>
        <p:spPr>
          <a:xfrm>
            <a:off x="3149600" y="2683371"/>
            <a:ext cx="355600" cy="203200"/>
          </a:xfrm>
          <a:prstGeom prst="rect">
            <a:avLst/>
          </a:prstGeom>
        </p:spPr>
      </p:pic>
      <p:sp>
        <p:nvSpPr>
          <p:cNvPr id="9" name="Shape 6"/>
          <p:cNvSpPr/>
          <p:nvPr/>
        </p:nvSpPr>
        <p:spPr>
          <a:xfrm>
            <a:off x="3587750" y="1901130"/>
            <a:ext cx="2247900" cy="1767780"/>
          </a:xfrm>
          <a:prstGeom prst="roundRect">
            <a:avLst>
              <a:gd name="adj" fmla="val 9699"/>
            </a:avLst>
          </a:prstGeom>
          <a:solidFill>
            <a:srgbClr val="2F62E6"/>
          </a:solidFill>
          <a:ln w="12700">
            <a:solidFill>
              <a:srgbClr val="2F62E6"/>
            </a:solidFill>
            <a:prstDash val="solid"/>
          </a:ln>
        </p:spPr>
      </p:sp>
      <p:sp>
        <p:nvSpPr>
          <p:cNvPr id="10" name="Text 7"/>
          <p:cNvSpPr/>
          <p:nvPr/>
        </p:nvSpPr>
        <p:spPr>
          <a:xfrm>
            <a:off x="3771900" y="2085280"/>
            <a:ext cx="1935988"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FFFFF"/>
                </a:solidFill>
                <a:latin typeface="Zen Maru Gothic" pitchFamily="34" charset="0"/>
                <a:ea typeface="Zen Maru Gothic" pitchFamily="34" charset="-122"/>
                <a:cs typeface="Zen Maru Gothic" pitchFamily="34" charset="-120"/>
              </a:rPr>
              <a:t>2</a:t>
            </a:r>
            <a:endParaRPr lang="en-US" sz="2800" dirty="0"/>
          </a:p>
        </p:txBody>
      </p:sp>
      <p:sp>
        <p:nvSpPr>
          <p:cNvPr id="11" name="Text 8"/>
          <p:cNvSpPr/>
          <p:nvPr/>
        </p:nvSpPr>
        <p:spPr>
          <a:xfrm>
            <a:off x="3771900" y="2517080"/>
            <a:ext cx="1935988"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FFFFFF"/>
                </a:solidFill>
                <a:latin typeface="Zen Maru Gothic" pitchFamily="34" charset="0"/>
                <a:ea typeface="Zen Maru Gothic" pitchFamily="34" charset="-122"/>
                <a:cs typeface="Zen Maru Gothic" pitchFamily="34" charset="-120"/>
              </a:rPr>
              <a:t>考えて計画する</a:t>
            </a:r>
            <a:endParaRPr lang="en-US" sz="1800" dirty="0"/>
          </a:p>
        </p:txBody>
      </p:sp>
      <p:sp>
        <p:nvSpPr>
          <p:cNvPr id="12" name="Text 9"/>
          <p:cNvSpPr/>
          <p:nvPr/>
        </p:nvSpPr>
        <p:spPr>
          <a:xfrm>
            <a:off x="3771900" y="2890441"/>
            <a:ext cx="1935988" cy="59432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E8EEFF"/>
                </a:solidFill>
                <a:latin typeface="BIZ UDPGothic" pitchFamily="34" charset="0"/>
                <a:ea typeface="BIZ UDPGothic" pitchFamily="34" charset="-122"/>
                <a:cs typeface="BIZ UDPGothic" pitchFamily="34" charset="-120"/>
              </a:rPr>
              <a:t>まず何を読めばいいか、順番を考える</a:t>
            </a:r>
            <a:endParaRPr lang="en-US" sz="1400" dirty="0"/>
          </a:p>
        </p:txBody>
      </p:sp>
      <p:pic>
        <p:nvPicPr>
          <p:cNvPr id="13" name="Image 1" descr="arrow-right">    </p:cNvPr>
          <p:cNvPicPr>
            <a:picLocks noChangeAspect="1"/>
          </p:cNvPicPr>
          <p:nvPr/>
        </p:nvPicPr>
        <p:blipFill>
          <a:blip r:embed="rId2"/>
          <a:srcRect l="0" r="0" t="0" b="0"/>
          <a:stretch/>
        </p:blipFill>
        <p:spPr>
          <a:xfrm>
            <a:off x="5918200" y="2683371"/>
            <a:ext cx="355600" cy="203200"/>
          </a:xfrm>
          <a:prstGeom prst="rect">
            <a:avLst/>
          </a:prstGeom>
        </p:spPr>
      </p:pic>
      <p:sp>
        <p:nvSpPr>
          <p:cNvPr id="14" name="Shape 10"/>
          <p:cNvSpPr/>
          <p:nvPr/>
        </p:nvSpPr>
        <p:spPr>
          <a:xfrm>
            <a:off x="6356350" y="1901130"/>
            <a:ext cx="2247900" cy="1767780"/>
          </a:xfrm>
          <a:prstGeom prst="roundRect">
            <a:avLst>
              <a:gd name="adj" fmla="val 9699"/>
            </a:avLst>
          </a:prstGeom>
          <a:solidFill>
            <a:srgbClr val="FBFCFE"/>
          </a:solidFill>
          <a:ln w="12700">
            <a:solidFill>
              <a:srgbClr val="D3DBEA"/>
            </a:solidFill>
            <a:prstDash val="solid"/>
          </a:ln>
        </p:spPr>
      </p:sp>
      <p:sp>
        <p:nvSpPr>
          <p:cNvPr id="15" name="Text 11"/>
          <p:cNvSpPr/>
          <p:nvPr/>
        </p:nvSpPr>
        <p:spPr>
          <a:xfrm>
            <a:off x="6540500" y="2085280"/>
            <a:ext cx="1935988"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2350C9"/>
                </a:solidFill>
                <a:latin typeface="Zen Maru Gothic" pitchFamily="34" charset="0"/>
                <a:ea typeface="Zen Maru Gothic" pitchFamily="34" charset="-122"/>
                <a:cs typeface="Zen Maru Gothic" pitchFamily="34" charset="-120"/>
              </a:rPr>
              <a:t>3</a:t>
            </a:r>
            <a:endParaRPr lang="en-US" sz="2800" dirty="0"/>
          </a:p>
        </p:txBody>
      </p:sp>
      <p:sp>
        <p:nvSpPr>
          <p:cNvPr id="16" name="Text 12"/>
          <p:cNvSpPr/>
          <p:nvPr/>
        </p:nvSpPr>
        <p:spPr>
          <a:xfrm>
            <a:off x="6540500" y="2517080"/>
            <a:ext cx="1935988"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233B"/>
                </a:solidFill>
                <a:latin typeface="Zen Maru Gothic" pitchFamily="34" charset="0"/>
                <a:ea typeface="Zen Maru Gothic" pitchFamily="34" charset="-122"/>
                <a:cs typeface="Zen Maru Gothic" pitchFamily="34" charset="-120"/>
              </a:rPr>
              <a:t>道具を使う</a:t>
            </a:r>
            <a:endParaRPr lang="en-US" sz="1800" dirty="0"/>
          </a:p>
        </p:txBody>
      </p:sp>
      <p:sp>
        <p:nvSpPr>
          <p:cNvPr id="17" name="Text 13"/>
          <p:cNvSpPr/>
          <p:nvPr/>
        </p:nvSpPr>
        <p:spPr>
          <a:xfrm>
            <a:off x="6540500" y="2890441"/>
            <a:ext cx="1935988" cy="59432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56647E"/>
                </a:solidFill>
                <a:latin typeface="BIZ UDPGothic" pitchFamily="34" charset="0"/>
                <a:ea typeface="BIZ UDPGothic" pitchFamily="34" charset="-122"/>
                <a:cs typeface="BIZ UDPGothic" pitchFamily="34" charset="-120"/>
              </a:rPr>
              <a:t>ファイルを読む、書く、実行する</a:t>
            </a:r>
            <a:endParaRPr lang="en-US" sz="1400" dirty="0"/>
          </a:p>
        </p:txBody>
      </p:sp>
      <p:pic>
        <p:nvPicPr>
          <p:cNvPr id="18" name="Image 2" descr="arrow-right">    </p:cNvPr>
          <p:cNvPicPr>
            <a:picLocks noChangeAspect="1"/>
          </p:cNvPicPr>
          <p:nvPr/>
        </p:nvPicPr>
        <p:blipFill>
          <a:blip r:embed="rId3"/>
          <a:srcRect l="0" r="0" t="0" b="0"/>
          <a:stretch/>
        </p:blipFill>
        <p:spPr>
          <a:xfrm>
            <a:off x="8686800" y="2683371"/>
            <a:ext cx="355600" cy="203200"/>
          </a:xfrm>
          <a:prstGeom prst="rect">
            <a:avLst/>
          </a:prstGeom>
        </p:spPr>
      </p:pic>
      <p:sp>
        <p:nvSpPr>
          <p:cNvPr id="19" name="Shape 14"/>
          <p:cNvSpPr/>
          <p:nvPr/>
        </p:nvSpPr>
        <p:spPr>
          <a:xfrm>
            <a:off x="9124950" y="1901130"/>
            <a:ext cx="2247900" cy="1767780"/>
          </a:xfrm>
          <a:prstGeom prst="roundRect">
            <a:avLst>
              <a:gd name="adj" fmla="val 9699"/>
            </a:avLst>
          </a:prstGeom>
          <a:solidFill>
            <a:srgbClr val="2F62E6"/>
          </a:solidFill>
          <a:ln w="12700">
            <a:solidFill>
              <a:srgbClr val="2F62E6"/>
            </a:solidFill>
            <a:prstDash val="solid"/>
          </a:ln>
        </p:spPr>
      </p:sp>
      <p:sp>
        <p:nvSpPr>
          <p:cNvPr id="20" name="Text 15"/>
          <p:cNvSpPr/>
          <p:nvPr/>
        </p:nvSpPr>
        <p:spPr>
          <a:xfrm>
            <a:off x="9309100" y="2085280"/>
            <a:ext cx="1935988"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FFFFFF"/>
                </a:solidFill>
                <a:latin typeface="Zen Maru Gothic" pitchFamily="34" charset="0"/>
                <a:ea typeface="Zen Maru Gothic" pitchFamily="34" charset="-122"/>
                <a:cs typeface="Zen Maru Gothic" pitchFamily="34" charset="-120"/>
              </a:rPr>
              <a:t>4</a:t>
            </a:r>
            <a:endParaRPr lang="en-US" sz="2800" dirty="0"/>
          </a:p>
        </p:txBody>
      </p:sp>
      <p:sp>
        <p:nvSpPr>
          <p:cNvPr id="21" name="Text 16"/>
          <p:cNvSpPr/>
          <p:nvPr/>
        </p:nvSpPr>
        <p:spPr>
          <a:xfrm>
            <a:off x="9309100" y="2517080"/>
            <a:ext cx="1935988"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FFFFFF"/>
                </a:solidFill>
                <a:latin typeface="Zen Maru Gothic" pitchFamily="34" charset="0"/>
                <a:ea typeface="Zen Maru Gothic" pitchFamily="34" charset="-122"/>
                <a:cs typeface="Zen Maru Gothic" pitchFamily="34" charset="-120"/>
              </a:rPr>
              <a:t>結果を見て決める</a:t>
            </a:r>
            <a:endParaRPr lang="en-US" sz="1800" dirty="0"/>
          </a:p>
        </p:txBody>
      </p:sp>
      <p:sp>
        <p:nvSpPr>
          <p:cNvPr id="22" name="Text 17"/>
          <p:cNvSpPr/>
          <p:nvPr/>
        </p:nvSpPr>
        <p:spPr>
          <a:xfrm>
            <a:off x="9309100" y="2890441"/>
            <a:ext cx="1935988" cy="59432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E8EEFF"/>
                </a:solidFill>
                <a:latin typeface="BIZ UDPGothic" pitchFamily="34" charset="0"/>
                <a:ea typeface="BIZ UDPGothic" pitchFamily="34" charset="-122"/>
                <a:cs typeface="BIZ UDPGothic" pitchFamily="34" charset="-120"/>
              </a:rPr>
              <a:t>うまくいったか確認して、次の手を選ぶ</a:t>
            </a:r>
            <a:endParaRPr lang="en-US" sz="1400" dirty="0"/>
          </a:p>
        </p:txBody>
      </p:sp>
      <p:sp>
        <p:nvSpPr>
          <p:cNvPr id="23" name="Shape 18"/>
          <p:cNvSpPr/>
          <p:nvPr/>
        </p:nvSpPr>
        <p:spPr>
          <a:xfrm>
            <a:off x="822325" y="3964186"/>
            <a:ext cx="10547350" cy="532110"/>
          </a:xfrm>
          <a:prstGeom prst="roundRect">
            <a:avLst>
              <a:gd name="adj" fmla="val 26851"/>
            </a:avLst>
          </a:prstGeom>
          <a:noFill/>
          <a:ln w="19050">
            <a:solidFill>
              <a:srgbClr val="2F62E6"/>
            </a:solidFill>
            <a:prstDash val="dash"/>
          </a:ln>
        </p:spPr>
      </p:sp>
      <p:sp>
        <p:nvSpPr>
          <p:cNvPr id="24" name="Text 19"/>
          <p:cNvSpPr/>
          <p:nvPr/>
        </p:nvSpPr>
        <p:spPr>
          <a:xfrm>
            <a:off x="4067274" y="4088011"/>
            <a:ext cx="4179073"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350C9"/>
                </a:solidFill>
                <a:latin typeface="BIZ UDPGothic" pitchFamily="34" charset="0"/>
                <a:ea typeface="BIZ UDPGothic" pitchFamily="34" charset="-122"/>
                <a:cs typeface="BIZ UDPGothic" pitchFamily="34" charset="-120"/>
              </a:rPr>
              <a:t>ゴールに着くまで、2 → 3 → 4 をくりかえす</a:t>
            </a:r>
            <a:endParaRPr lang="en-US" sz="1600" dirty="0"/>
          </a:p>
        </p:txBody>
      </p:sp>
      <p:sp>
        <p:nvSpPr>
          <p:cNvPr id="25" name="Text 20"/>
          <p:cNvSpPr/>
          <p:nvPr/>
        </p:nvSpPr>
        <p:spPr>
          <a:xfrm>
            <a:off x="812800" y="4785221"/>
            <a:ext cx="10883392" cy="594320"/>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56647E"/>
                </a:solidFill>
                <a:latin typeface="BIZ UDPGothic" pitchFamily="34" charset="0"/>
                <a:ea typeface="BIZ UDPGothic" pitchFamily="34" charset="-122"/>
                <a:cs typeface="BIZ UDPGothic" pitchFamily="34" charset="-120"/>
              </a:rPr>
              <a:t>ふつうのチャットAIは「答える」まで。エージェントは、自分で道具を使って「やりとげる」まで。このブログの手伝いをしているのは Claude Code。</a:t>
            </a:r>
            <a:endParaRPr lang="en-US" sz="1400" dirty="0"/>
          </a:p>
        </p:txBody>
      </p:sp>
      <p:sp>
        <p:nvSpPr>
          <p:cNvPr id="26" name="Text 21"/>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27" name="Text 22"/>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19 / 40</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6233B"/>
        </a:solidFill>
      </p:bgPr>
    </p:bg>
    <p:spTree>
      <p:nvGrpSpPr>
        <p:cNvPr id="1" name=""/>
        <p:cNvGrpSpPr/>
        <p:nvPr/>
      </p:nvGrpSpPr>
      <p:grpSpPr>
        <a:xfrm>
          <a:off x="0" y="0"/>
          <a:ext cx="0" cy="0"/>
          <a:chOff x="0" y="0"/>
          <a:chExt cx="0" cy="0"/>
        </a:xfrm>
      </p:grpSpPr>
      <p:sp>
        <p:nvSpPr>
          <p:cNvPr id="2" name="Text 0"/>
          <p:cNvSpPr/>
          <p:nvPr/>
        </p:nvSpPr>
        <p:spPr>
          <a:xfrm>
            <a:off x="7193280" y="711200"/>
            <a:ext cx="4185920" cy="228600"/>
          </a:xfrm>
          <a:prstGeom prst="rect">
            <a:avLst/>
          </a:prstGeom>
          <a:noFill/>
          <a:ln/>
        </p:spPr>
        <p:txBody>
          <a:bodyPr wrap="square" lIns="0" tIns="0" rIns="0" bIns="0" rtlCol="0" anchor="t">
            <a:normAutofit/>
          </a:bodyPr>
          <a:lstStyle/>
          <a:p>
            <a:pPr algn="r" indent="0" marL="0">
              <a:lnSpc>
                <a:spcPts val="1600"/>
              </a:lnSpc>
              <a:buNone/>
            </a:pPr>
            <a:r>
              <a:rPr lang="en-US" sz="1600" b="1" dirty="0">
                <a:solidFill>
                  <a:srgbClr val="22355A"/>
                </a:solidFill>
                <a:latin typeface="Zen Maru Gothic" pitchFamily="34" charset="0"/>
                <a:ea typeface="Zen Maru Gothic" pitchFamily="34" charset="-122"/>
                <a:cs typeface="Zen Maru Gothic" pitchFamily="34" charset="-120"/>
              </a:rPr>
              <a:t>3</a:t>
            </a:r>
            <a:endParaRPr lang="en-US" sz="1600" dirty="0"/>
          </a:p>
        </p:txBody>
      </p:sp>
      <p:pic>
        <p:nvPicPr>
          <p:cNvPr id="3" name="Image 0" descr="ellipse">    </p:cNvPr>
          <p:cNvPicPr>
            <a:picLocks noChangeAspect="1"/>
          </p:cNvPicPr>
          <p:nvPr/>
        </p:nvPicPr>
        <p:blipFill>
          <a:blip r:embed="rId1"/>
          <a:srcRect l="0" r="0" t="0" b="0"/>
          <a:stretch/>
        </p:blipFill>
        <p:spPr>
          <a:xfrm>
            <a:off x="9906000" y="3810000"/>
            <a:ext cx="762000" cy="762000"/>
          </a:xfrm>
          <a:prstGeom prst="rect">
            <a:avLst/>
          </a:prstGeom>
        </p:spPr>
      </p:pic>
      <p:sp>
        <p:nvSpPr>
          <p:cNvPr id="4" name="Text 1"/>
          <p:cNvSpPr/>
          <p:nvPr/>
        </p:nvSpPr>
        <p:spPr>
          <a:xfrm>
            <a:off x="812800" y="812800"/>
            <a:ext cx="7521575" cy="350441"/>
          </a:xfrm>
          <a:prstGeom prst="rect">
            <a:avLst/>
          </a:prstGeom>
          <a:noFill/>
          <a:ln/>
        </p:spPr>
        <p:txBody>
          <a:bodyPr wrap="square" lIns="0" tIns="0" rIns="0" bIns="0" rtlCol="0" anchor="t">
            <a:normAutofit/>
          </a:bodyPr>
          <a:lstStyle/>
          <a:p>
            <a:pPr algn="l" indent="0" marL="0">
              <a:lnSpc>
                <a:spcPts val="2560"/>
              </a:lnSpc>
              <a:buNone/>
            </a:pPr>
            <a:r>
              <a:rPr lang="en-US" sz="1600" b="1" spc="200" kern="0" dirty="0">
                <a:solidFill>
                  <a:srgbClr val="86A8FF"/>
                </a:solidFill>
                <a:latin typeface="BIZ UDPGothic" pitchFamily="34" charset="0"/>
                <a:ea typeface="BIZ UDPGothic" pitchFamily="34" charset="-122"/>
                <a:cs typeface="BIZ UDPGothic" pitchFamily="34" charset="-120"/>
              </a:rPr>
              <a:t>PART 3 ／ 5</a:t>
            </a:r>
            <a:endParaRPr lang="en-US" sz="1600" dirty="0"/>
          </a:p>
        </p:txBody>
      </p:sp>
      <p:sp>
        <p:nvSpPr>
          <p:cNvPr id="5" name="Text 2"/>
          <p:cNvSpPr/>
          <p:nvPr/>
        </p:nvSpPr>
        <p:spPr>
          <a:xfrm>
            <a:off x="812800" y="1264841"/>
            <a:ext cx="7521575" cy="1549400"/>
          </a:xfrm>
          <a:prstGeom prst="rect">
            <a:avLst/>
          </a:prstGeom>
          <a:noFill/>
          <a:ln/>
        </p:spPr>
        <p:txBody>
          <a:bodyPr wrap="square" lIns="0" tIns="0" rIns="0" bIns="0" rtlCol="0" anchor="t">
            <a:normAutofit/>
          </a:bodyPr>
          <a:lstStyle/>
          <a:p>
            <a:pPr algn="l" indent="0" marL="0">
              <a:lnSpc>
                <a:spcPts val="6000"/>
              </a:lnSpc>
              <a:buNone/>
            </a:pPr>
            <a:r>
              <a:rPr lang="en-US" sz="4800" b="1" dirty="0">
                <a:solidFill>
                  <a:srgbClr val="F4F7FC"/>
                </a:solidFill>
                <a:latin typeface="Zen Maru Gothic" pitchFamily="34" charset="0"/>
                <a:ea typeface="Zen Maru Gothic" pitchFamily="34" charset="-122"/>
                <a:cs typeface="Zen Maru Gothic" pitchFamily="34" charset="-120"/>
              </a:rPr>
              <a:t>AIの助っ人①</a:t>
            </a:r>
            <a:endParaRPr lang="en-US" sz="4800" dirty="0"/>
          </a:p>
          <a:p>
            <a:pPr algn="l" indent="0" marL="0">
              <a:lnSpc>
                <a:spcPts val="6000"/>
              </a:lnSpc>
              <a:buNone/>
            </a:pPr>
            <a:r>
              <a:rPr lang="en-US" sz="4800" b="1" dirty="0">
                <a:solidFill>
                  <a:srgbClr val="FFC83D"/>
                </a:solidFill>
                <a:latin typeface="Zen Maru Gothic" pitchFamily="34" charset="0"/>
                <a:ea typeface="Zen Maru Gothic" pitchFamily="34" charset="-122"/>
                <a:cs typeface="Zen Maru Gothic" pitchFamily="34" charset="-120"/>
              </a:rPr>
              <a:t>スキル</a:t>
            </a:r>
            <a:endParaRPr lang="en-US" sz="4800" dirty="0"/>
          </a:p>
        </p:txBody>
      </p:sp>
      <p:sp>
        <p:nvSpPr>
          <p:cNvPr id="6" name="Text 3"/>
          <p:cNvSpPr/>
          <p:nvPr/>
        </p:nvSpPr>
        <p:spPr>
          <a:xfrm>
            <a:off x="812800" y="3017441"/>
            <a:ext cx="7521575" cy="391120"/>
          </a:xfrm>
          <a:prstGeom prst="rect">
            <a:avLst/>
          </a:prstGeom>
          <a:noFill/>
          <a:ln/>
        </p:spPr>
        <p:txBody>
          <a:bodyPr wrap="square" lIns="0" tIns="0" rIns="0" bIns="0" rtlCol="0" anchor="t">
            <a:normAutofit/>
          </a:bodyPr>
          <a:lstStyle/>
          <a:p>
            <a:pPr algn="l" indent="0" marL="0">
              <a:lnSpc>
                <a:spcPts val="2880"/>
              </a:lnSpc>
              <a:buNone/>
            </a:pPr>
            <a:r>
              <a:rPr lang="en-US" sz="1800" dirty="0">
                <a:solidFill>
                  <a:srgbClr val="A9B6D0"/>
                </a:solidFill>
                <a:latin typeface="BIZ UDPGothic" pitchFamily="34" charset="0"/>
                <a:ea typeface="BIZ UDPGothic" pitchFamily="34" charset="-122"/>
                <a:cs typeface="BIZ UDPGothic" pitchFamily="34" charset="-120"/>
              </a:rPr>
              <a:t>AIに渡す「手順書」。このブログでは3つ使っている。</a:t>
            </a:r>
            <a:endParaRPr lang="en-US" sz="1800" dirty="0"/>
          </a:p>
        </p:txBody>
      </p:sp>
      <p:sp>
        <p:nvSpPr>
          <p:cNvPr id="7" name="Shape 4"/>
          <p:cNvSpPr/>
          <p:nvPr/>
        </p:nvSpPr>
        <p:spPr>
          <a:xfrm>
            <a:off x="819150" y="5599509"/>
            <a:ext cx="2019300" cy="439341"/>
          </a:xfrm>
          <a:prstGeom prst="roundRect">
            <a:avLst>
              <a:gd name="adj" fmla="val 50000"/>
            </a:avLst>
          </a:prstGeom>
          <a:solidFill>
            <a:srgbClr val="1F3050"/>
          </a:solidFill>
          <a:ln w="12700">
            <a:solidFill>
              <a:srgbClr val="1F3050"/>
            </a:solidFill>
            <a:prstDash val="solid"/>
          </a:ln>
        </p:spPr>
      </p:sp>
      <p:sp>
        <p:nvSpPr>
          <p:cNvPr id="8" name="Text 5"/>
          <p:cNvSpPr/>
          <p:nvPr/>
        </p:nvSpPr>
        <p:spPr>
          <a:xfrm>
            <a:off x="847725" y="5694759"/>
            <a:ext cx="196215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F4F7FC"/>
                </a:solidFill>
                <a:latin typeface="BIZ UDPGothic" pitchFamily="34" charset="0"/>
                <a:ea typeface="BIZ UDPGothic" pitchFamily="34" charset="-122"/>
                <a:cs typeface="BIZ UDPGothic" pitchFamily="34" charset="-120"/>
              </a:rPr>
              <a:t>1 ブログのしくみ</a:t>
            </a:r>
            <a:endParaRPr lang="en-US" sz="1400" dirty="0"/>
          </a:p>
        </p:txBody>
      </p:sp>
      <p:sp>
        <p:nvSpPr>
          <p:cNvPr id="9" name="Shape 6"/>
          <p:cNvSpPr/>
          <p:nvPr/>
        </p:nvSpPr>
        <p:spPr>
          <a:xfrm>
            <a:off x="2952750" y="5599509"/>
            <a:ext cx="2019300" cy="439341"/>
          </a:xfrm>
          <a:prstGeom prst="roundRect">
            <a:avLst>
              <a:gd name="adj" fmla="val 50000"/>
            </a:avLst>
          </a:prstGeom>
          <a:solidFill>
            <a:srgbClr val="1F3050"/>
          </a:solidFill>
          <a:ln w="12700">
            <a:solidFill>
              <a:srgbClr val="1F3050"/>
            </a:solidFill>
            <a:prstDash val="solid"/>
          </a:ln>
        </p:spPr>
      </p:sp>
      <p:sp>
        <p:nvSpPr>
          <p:cNvPr id="10" name="Text 7"/>
          <p:cNvSpPr/>
          <p:nvPr/>
        </p:nvSpPr>
        <p:spPr>
          <a:xfrm>
            <a:off x="2981325" y="5694759"/>
            <a:ext cx="196215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F4F7FC"/>
                </a:solidFill>
                <a:latin typeface="BIZ UDPGothic" pitchFamily="34" charset="0"/>
                <a:ea typeface="BIZ UDPGothic" pitchFamily="34" charset="-122"/>
                <a:cs typeface="BIZ UDPGothic" pitchFamily="34" charset="-120"/>
              </a:rPr>
              <a:t>2 AIのしくみ</a:t>
            </a:r>
            <a:endParaRPr lang="en-US" sz="1400" dirty="0"/>
          </a:p>
        </p:txBody>
      </p:sp>
      <p:sp>
        <p:nvSpPr>
          <p:cNvPr id="11" name="Shape 8"/>
          <p:cNvSpPr/>
          <p:nvPr/>
        </p:nvSpPr>
        <p:spPr>
          <a:xfrm>
            <a:off x="5086350" y="5599509"/>
            <a:ext cx="2019300" cy="439341"/>
          </a:xfrm>
          <a:prstGeom prst="roundRect">
            <a:avLst>
              <a:gd name="adj" fmla="val 50000"/>
            </a:avLst>
          </a:prstGeom>
          <a:solidFill>
            <a:srgbClr val="FFC83D"/>
          </a:solidFill>
          <a:ln w="12700">
            <a:solidFill>
              <a:srgbClr val="FFC83D"/>
            </a:solidFill>
            <a:prstDash val="solid"/>
          </a:ln>
        </p:spPr>
      </p:sp>
      <p:sp>
        <p:nvSpPr>
          <p:cNvPr id="12" name="Text 9"/>
          <p:cNvSpPr/>
          <p:nvPr/>
        </p:nvSpPr>
        <p:spPr>
          <a:xfrm>
            <a:off x="5114925" y="5694759"/>
            <a:ext cx="196215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6233B"/>
                </a:solidFill>
                <a:latin typeface="BIZ UDPGothic" pitchFamily="34" charset="0"/>
                <a:ea typeface="BIZ UDPGothic" pitchFamily="34" charset="-122"/>
                <a:cs typeface="BIZ UDPGothic" pitchFamily="34" charset="-120"/>
              </a:rPr>
              <a:t>3 スキル</a:t>
            </a:r>
            <a:endParaRPr lang="en-US" sz="1400" dirty="0"/>
          </a:p>
        </p:txBody>
      </p:sp>
      <p:sp>
        <p:nvSpPr>
          <p:cNvPr id="13" name="Shape 10"/>
          <p:cNvSpPr/>
          <p:nvPr/>
        </p:nvSpPr>
        <p:spPr>
          <a:xfrm>
            <a:off x="7219950" y="5599509"/>
            <a:ext cx="2019300" cy="439341"/>
          </a:xfrm>
          <a:prstGeom prst="roundRect">
            <a:avLst>
              <a:gd name="adj" fmla="val 50000"/>
            </a:avLst>
          </a:prstGeom>
          <a:noFill/>
          <a:ln w="12700">
            <a:solidFill>
              <a:srgbClr val="34466B"/>
            </a:solidFill>
            <a:prstDash val="solid"/>
          </a:ln>
        </p:spPr>
      </p:sp>
      <p:sp>
        <p:nvSpPr>
          <p:cNvPr id="14" name="Text 11"/>
          <p:cNvSpPr/>
          <p:nvPr/>
        </p:nvSpPr>
        <p:spPr>
          <a:xfrm>
            <a:off x="7248525" y="5694759"/>
            <a:ext cx="196215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A9B6D0"/>
                </a:solidFill>
                <a:latin typeface="BIZ UDPGothic" pitchFamily="34" charset="0"/>
                <a:ea typeface="BIZ UDPGothic" pitchFamily="34" charset="-122"/>
                <a:cs typeface="BIZ UDPGothic" pitchFamily="34" charset="-120"/>
              </a:rPr>
              <a:t>4 サブエージェント</a:t>
            </a:r>
            <a:endParaRPr lang="en-US" sz="1400" dirty="0"/>
          </a:p>
        </p:txBody>
      </p:sp>
      <p:sp>
        <p:nvSpPr>
          <p:cNvPr id="15" name="Shape 12"/>
          <p:cNvSpPr/>
          <p:nvPr/>
        </p:nvSpPr>
        <p:spPr>
          <a:xfrm>
            <a:off x="9353550" y="5599509"/>
            <a:ext cx="2019300" cy="439341"/>
          </a:xfrm>
          <a:prstGeom prst="roundRect">
            <a:avLst>
              <a:gd name="adj" fmla="val 50000"/>
            </a:avLst>
          </a:prstGeom>
          <a:noFill/>
          <a:ln w="12700">
            <a:solidFill>
              <a:srgbClr val="34466B"/>
            </a:solidFill>
            <a:prstDash val="solid"/>
          </a:ln>
        </p:spPr>
      </p:sp>
      <p:sp>
        <p:nvSpPr>
          <p:cNvPr id="16" name="Text 13"/>
          <p:cNvSpPr/>
          <p:nvPr/>
        </p:nvSpPr>
        <p:spPr>
          <a:xfrm>
            <a:off x="9382125" y="5694759"/>
            <a:ext cx="196215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A9B6D0"/>
                </a:solidFill>
                <a:latin typeface="BIZ UDPGothic" pitchFamily="34" charset="0"/>
                <a:ea typeface="BIZ UDPGothic" pitchFamily="34" charset="-122"/>
                <a:cs typeface="BIZ UDPGothic" pitchFamily="34" charset="-120"/>
              </a:rPr>
              <a:t>5 人とAI</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3 ／ スキル</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ブログを手伝うAIに渡しているもの</a:t>
            </a:r>
            <a:endParaRPr lang="en-US" sz="3200" dirty="0"/>
          </a:p>
        </p:txBody>
      </p:sp>
      <p:sp>
        <p:nvSpPr>
          <p:cNvPr id="4" name="Shape 2"/>
          <p:cNvSpPr/>
          <p:nvPr/>
        </p:nvSpPr>
        <p:spPr>
          <a:xfrm>
            <a:off x="819150" y="1901130"/>
            <a:ext cx="3407767" cy="3934520"/>
          </a:xfrm>
          <a:prstGeom prst="roundRect">
            <a:avLst>
              <a:gd name="adj" fmla="val 5031"/>
            </a:avLst>
          </a:prstGeom>
          <a:solidFill>
            <a:srgbClr val="FBFCFE"/>
          </a:solidFill>
          <a:ln w="12700">
            <a:solidFill>
              <a:srgbClr val="D3DBEA"/>
            </a:solidFill>
            <a:prstDash val="solid"/>
          </a:ln>
        </p:spPr>
      </p:sp>
      <p:sp>
        <p:nvSpPr>
          <p:cNvPr id="5" name="Shape 3"/>
          <p:cNvSpPr/>
          <p:nvPr/>
        </p:nvSpPr>
        <p:spPr>
          <a:xfrm>
            <a:off x="1028700" y="2085280"/>
            <a:ext cx="1127026" cy="307280"/>
          </a:xfrm>
          <a:prstGeom prst="roundRect">
            <a:avLst>
              <a:gd name="adj" fmla="val 50000"/>
            </a:avLst>
          </a:prstGeom>
          <a:solidFill>
            <a:srgbClr val="FFFFFF"/>
          </a:solidFill>
          <a:ln/>
        </p:spPr>
      </p:sp>
      <p:sp>
        <p:nvSpPr>
          <p:cNvPr id="6" name="Text 4"/>
          <p:cNvSpPr/>
          <p:nvPr/>
        </p:nvSpPr>
        <p:spPr>
          <a:xfrm>
            <a:off x="1181100" y="2123380"/>
            <a:ext cx="873026"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350C9"/>
                </a:solidFill>
                <a:latin typeface="BIZ UDPGothic" pitchFamily="34" charset="0"/>
                <a:ea typeface="BIZ UDPGothic" pitchFamily="34" charset="-122"/>
                <a:cs typeface="BIZ UDPGothic" pitchFamily="34" charset="-120"/>
              </a:rPr>
              <a:t>人が決める</a:t>
            </a:r>
            <a:endParaRPr lang="en-US" sz="1300" dirty="0"/>
          </a:p>
        </p:txBody>
      </p:sp>
      <p:sp>
        <p:nvSpPr>
          <p:cNvPr id="7" name="Shape 5"/>
          <p:cNvSpPr/>
          <p:nvPr/>
        </p:nvSpPr>
        <p:spPr>
          <a:xfrm>
            <a:off x="1028700" y="2481461"/>
            <a:ext cx="508000" cy="508000"/>
          </a:xfrm>
          <a:prstGeom prst="roundRect">
            <a:avLst>
              <a:gd name="adj" fmla="val 30000"/>
            </a:avLst>
          </a:prstGeom>
          <a:solidFill>
            <a:srgbClr val="E1EAFF"/>
          </a:solidFill>
          <a:ln/>
        </p:spPr>
      </p:sp>
      <p:pic>
        <p:nvPicPr>
          <p:cNvPr id="8" name="Image 0" descr="Book">    </p:cNvPr>
          <p:cNvPicPr>
            <a:picLocks noChangeAspect="1"/>
          </p:cNvPicPr>
          <p:nvPr/>
        </p:nvPicPr>
        <p:blipFill>
          <a:blip r:embed="rId1"/>
          <a:srcRect l="0" r="0" t="0" b="0"/>
          <a:stretch/>
        </p:blipFill>
        <p:spPr>
          <a:xfrm>
            <a:off x="1130300" y="2583061"/>
            <a:ext cx="304800" cy="304800"/>
          </a:xfrm>
          <a:prstGeom prst="rect">
            <a:avLst/>
          </a:prstGeom>
        </p:spPr>
      </p:pic>
      <p:sp>
        <p:nvSpPr>
          <p:cNvPr id="9" name="Text 6"/>
          <p:cNvSpPr/>
          <p:nvPr/>
        </p:nvSpPr>
        <p:spPr>
          <a:xfrm>
            <a:off x="1028700" y="3078361"/>
            <a:ext cx="3078327"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6233B"/>
                </a:solidFill>
                <a:latin typeface="Zen Maru Gothic" pitchFamily="34" charset="0"/>
                <a:ea typeface="Zen Maru Gothic" pitchFamily="34" charset="-122"/>
                <a:cs typeface="Zen Maru Gothic" pitchFamily="34" charset="-120"/>
              </a:rPr>
              <a:t>ルールブック</a:t>
            </a:r>
            <a:endParaRPr lang="en-US" sz="2000" dirty="0"/>
          </a:p>
        </p:txBody>
      </p:sp>
      <p:sp>
        <p:nvSpPr>
          <p:cNvPr id="10" name="Text 7"/>
          <p:cNvSpPr/>
          <p:nvPr/>
        </p:nvSpPr>
        <p:spPr>
          <a:xfrm>
            <a:off x="1028700" y="3497461"/>
            <a:ext cx="3078327"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350C9"/>
                </a:solidFill>
                <a:latin typeface="BIZ UDPGothic" pitchFamily="34" charset="0"/>
                <a:ea typeface="BIZ UDPGothic" pitchFamily="34" charset="-122"/>
                <a:cs typeface="BIZ UDPGothic" pitchFamily="34" charset="-120"/>
              </a:rPr>
              <a:t>たとえるなら：校則</a:t>
            </a:r>
            <a:endParaRPr lang="en-US" sz="1400" dirty="0"/>
          </a:p>
        </p:txBody>
      </p:sp>
      <p:sp>
        <p:nvSpPr>
          <p:cNvPr id="11" name="Text 8"/>
          <p:cNvSpPr/>
          <p:nvPr/>
        </p:nvSpPr>
        <p:spPr>
          <a:xfrm>
            <a:off x="1028700" y="3835202"/>
            <a:ext cx="3078327"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56647E"/>
                </a:solidFill>
                <a:latin typeface="BIZ UDPGothic" pitchFamily="34" charset="0"/>
                <a:ea typeface="BIZ UDPGothic" pitchFamily="34" charset="-122"/>
                <a:cs typeface="BIZ UDPGothic" pitchFamily="34" charset="-120"/>
              </a:rPr>
              <a:t>何を、どんな方針で書くかの決まり。AIは毎回読み直す。</a:t>
            </a:r>
            <a:endParaRPr lang="en-US" sz="1400" dirty="0"/>
          </a:p>
        </p:txBody>
      </p:sp>
      <p:sp>
        <p:nvSpPr>
          <p:cNvPr id="12" name="Text 9"/>
          <p:cNvSpPr/>
          <p:nvPr/>
        </p:nvSpPr>
        <p:spPr>
          <a:xfrm>
            <a:off x="1028700" y="4457502"/>
            <a:ext cx="30783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233B"/>
                </a:solidFill>
                <a:latin typeface="Source Code Pro" pitchFamily="34" charset="0"/>
                <a:ea typeface="Source Code Pro" pitchFamily="34" charset="-122"/>
                <a:cs typeface="Source Code Pro" pitchFamily="34" charset="-120"/>
              </a:rPr>
              <a:t>docs/planning/ の3冊</a:t>
            </a:r>
            <a:endParaRPr lang="en-US" sz="1200" dirty="0"/>
          </a:p>
        </p:txBody>
      </p:sp>
      <p:sp>
        <p:nvSpPr>
          <p:cNvPr id="13" name="Shape 10"/>
          <p:cNvSpPr/>
          <p:nvPr/>
        </p:nvSpPr>
        <p:spPr>
          <a:xfrm>
            <a:off x="4392017" y="1901130"/>
            <a:ext cx="3407866" cy="3934520"/>
          </a:xfrm>
          <a:prstGeom prst="roundRect">
            <a:avLst>
              <a:gd name="adj" fmla="val 5031"/>
            </a:avLst>
          </a:prstGeom>
          <a:solidFill>
            <a:srgbClr val="FBFCFE"/>
          </a:solidFill>
          <a:ln w="12700">
            <a:solidFill>
              <a:srgbClr val="D3DBEA"/>
            </a:solidFill>
            <a:prstDash val="solid"/>
          </a:ln>
        </p:spPr>
      </p:sp>
      <p:sp>
        <p:nvSpPr>
          <p:cNvPr id="14" name="Shape 11"/>
          <p:cNvSpPr/>
          <p:nvPr/>
        </p:nvSpPr>
        <p:spPr>
          <a:xfrm>
            <a:off x="4601567" y="2085280"/>
            <a:ext cx="1323479" cy="307280"/>
          </a:xfrm>
          <a:prstGeom prst="roundRect">
            <a:avLst>
              <a:gd name="adj" fmla="val 50000"/>
            </a:avLst>
          </a:prstGeom>
          <a:solidFill>
            <a:srgbClr val="2F62E6"/>
          </a:solidFill>
          <a:ln/>
        </p:spPr>
      </p:sp>
      <p:sp>
        <p:nvSpPr>
          <p:cNvPr id="15" name="Text 12"/>
          <p:cNvSpPr/>
          <p:nvPr/>
        </p:nvSpPr>
        <p:spPr>
          <a:xfrm>
            <a:off x="4753967" y="2123380"/>
            <a:ext cx="1069479"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BIZ UDPGothic" pitchFamily="34" charset="0"/>
                <a:ea typeface="BIZ UDPGothic" pitchFamily="34" charset="-122"/>
                <a:cs typeface="BIZ UDPGothic" pitchFamily="34" charset="-120"/>
              </a:rPr>
              <a:t>AIが実行する</a:t>
            </a:r>
            <a:endParaRPr lang="en-US" sz="1300" dirty="0"/>
          </a:p>
        </p:txBody>
      </p:sp>
      <p:sp>
        <p:nvSpPr>
          <p:cNvPr id="16" name="Shape 13"/>
          <p:cNvSpPr/>
          <p:nvPr/>
        </p:nvSpPr>
        <p:spPr>
          <a:xfrm>
            <a:off x="4601567" y="2481461"/>
            <a:ext cx="508000" cy="508000"/>
          </a:xfrm>
          <a:prstGeom prst="roundRect">
            <a:avLst>
              <a:gd name="adj" fmla="val 30000"/>
            </a:avLst>
          </a:prstGeom>
          <a:solidFill>
            <a:srgbClr val="E1EAFF"/>
          </a:solidFill>
          <a:ln/>
        </p:spPr>
      </p:sp>
      <p:pic>
        <p:nvPicPr>
          <p:cNvPr id="17" name="Image 1" descr="CheckCircle">    </p:cNvPr>
          <p:cNvPicPr>
            <a:picLocks noChangeAspect="1"/>
          </p:cNvPicPr>
          <p:nvPr/>
        </p:nvPicPr>
        <p:blipFill>
          <a:blip r:embed="rId2"/>
          <a:srcRect l="0" r="0" t="0" b="0"/>
          <a:stretch/>
        </p:blipFill>
        <p:spPr>
          <a:xfrm>
            <a:off x="4703167" y="2583061"/>
            <a:ext cx="304800" cy="304800"/>
          </a:xfrm>
          <a:prstGeom prst="rect">
            <a:avLst/>
          </a:prstGeom>
        </p:spPr>
      </p:pic>
      <p:sp>
        <p:nvSpPr>
          <p:cNvPr id="18" name="Text 14"/>
          <p:cNvSpPr/>
          <p:nvPr/>
        </p:nvSpPr>
        <p:spPr>
          <a:xfrm>
            <a:off x="4601567" y="3078361"/>
            <a:ext cx="3078429"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6233B"/>
                </a:solidFill>
                <a:latin typeface="Zen Maru Gothic" pitchFamily="34" charset="0"/>
                <a:ea typeface="Zen Maru Gothic" pitchFamily="34" charset="-122"/>
                <a:cs typeface="Zen Maru Gothic" pitchFamily="34" charset="-120"/>
              </a:rPr>
              <a:t>スキル</a:t>
            </a:r>
            <a:endParaRPr lang="en-US" sz="2000" dirty="0"/>
          </a:p>
        </p:txBody>
      </p:sp>
      <p:sp>
        <p:nvSpPr>
          <p:cNvPr id="19" name="Text 15"/>
          <p:cNvSpPr/>
          <p:nvPr/>
        </p:nvSpPr>
        <p:spPr>
          <a:xfrm>
            <a:off x="4601567" y="3497461"/>
            <a:ext cx="307842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350C9"/>
                </a:solidFill>
                <a:latin typeface="BIZ UDPGothic" pitchFamily="34" charset="0"/>
                <a:ea typeface="BIZ UDPGothic" pitchFamily="34" charset="-122"/>
                <a:cs typeface="BIZ UDPGothic" pitchFamily="34" charset="-120"/>
              </a:rPr>
              <a:t>たとえるなら：レシピ</a:t>
            </a:r>
            <a:endParaRPr lang="en-US" sz="1400" dirty="0"/>
          </a:p>
        </p:txBody>
      </p:sp>
      <p:sp>
        <p:nvSpPr>
          <p:cNvPr id="20" name="Text 16"/>
          <p:cNvSpPr/>
          <p:nvPr/>
        </p:nvSpPr>
        <p:spPr>
          <a:xfrm>
            <a:off x="4601567" y="3835202"/>
            <a:ext cx="3078429"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56647E"/>
                </a:solidFill>
                <a:latin typeface="BIZ UDPGothic" pitchFamily="34" charset="0"/>
                <a:ea typeface="BIZ UDPGothic" pitchFamily="34" charset="-122"/>
                <a:cs typeface="BIZ UDPGothic" pitchFamily="34" charset="-120"/>
              </a:rPr>
              <a:t>どう進めるかの手順書。今日の1つ目。</a:t>
            </a:r>
            <a:endParaRPr lang="en-US" sz="1400" dirty="0"/>
          </a:p>
        </p:txBody>
      </p:sp>
      <p:sp>
        <p:nvSpPr>
          <p:cNvPr id="21" name="Text 17"/>
          <p:cNvSpPr/>
          <p:nvPr/>
        </p:nvSpPr>
        <p:spPr>
          <a:xfrm>
            <a:off x="4601567" y="4190802"/>
            <a:ext cx="307842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233B"/>
                </a:solidFill>
                <a:latin typeface="Source Code Pro" pitchFamily="34" charset="0"/>
                <a:ea typeface="Source Code Pro" pitchFamily="34" charset="-122"/>
                <a:cs typeface="Source Code Pro" pitchFamily="34" charset="-120"/>
              </a:rPr>
              <a:t>.claude/skills/ に3つ</a:t>
            </a:r>
            <a:endParaRPr lang="en-US" sz="1200" dirty="0"/>
          </a:p>
        </p:txBody>
      </p:sp>
      <p:sp>
        <p:nvSpPr>
          <p:cNvPr id="22" name="Shape 18"/>
          <p:cNvSpPr/>
          <p:nvPr/>
        </p:nvSpPr>
        <p:spPr>
          <a:xfrm>
            <a:off x="7964984" y="1901130"/>
            <a:ext cx="3407866" cy="3934520"/>
          </a:xfrm>
          <a:prstGeom prst="roundRect">
            <a:avLst>
              <a:gd name="adj" fmla="val 5031"/>
            </a:avLst>
          </a:prstGeom>
          <a:solidFill>
            <a:srgbClr val="FBFCFE"/>
          </a:solidFill>
          <a:ln w="12700">
            <a:solidFill>
              <a:srgbClr val="D3DBEA"/>
            </a:solidFill>
            <a:prstDash val="solid"/>
          </a:ln>
        </p:spPr>
      </p:sp>
      <p:sp>
        <p:nvSpPr>
          <p:cNvPr id="23" name="Shape 19"/>
          <p:cNvSpPr/>
          <p:nvPr/>
        </p:nvSpPr>
        <p:spPr>
          <a:xfrm>
            <a:off x="8174534" y="2085280"/>
            <a:ext cx="1496814" cy="307280"/>
          </a:xfrm>
          <a:prstGeom prst="roundRect">
            <a:avLst>
              <a:gd name="adj" fmla="val 50000"/>
            </a:avLst>
          </a:prstGeom>
          <a:solidFill>
            <a:srgbClr val="FFC83D"/>
          </a:solidFill>
          <a:ln/>
        </p:spPr>
      </p:sp>
      <p:sp>
        <p:nvSpPr>
          <p:cNvPr id="24" name="Text 20"/>
          <p:cNvSpPr/>
          <p:nvPr/>
        </p:nvSpPr>
        <p:spPr>
          <a:xfrm>
            <a:off x="8326934" y="2123380"/>
            <a:ext cx="1242814"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233B"/>
                </a:solidFill>
                <a:latin typeface="BIZ UDPGothic" pitchFamily="34" charset="0"/>
                <a:ea typeface="BIZ UDPGothic" pitchFamily="34" charset="-122"/>
                <a:cs typeface="BIZ UDPGothic" pitchFamily="34" charset="-120"/>
              </a:rPr>
              <a:t>AIが別室で実行</a:t>
            </a:r>
            <a:endParaRPr lang="en-US" sz="1300" dirty="0"/>
          </a:p>
        </p:txBody>
      </p:sp>
      <p:sp>
        <p:nvSpPr>
          <p:cNvPr id="25" name="Shape 21"/>
          <p:cNvSpPr/>
          <p:nvPr/>
        </p:nvSpPr>
        <p:spPr>
          <a:xfrm>
            <a:off x="8174534" y="2481461"/>
            <a:ext cx="508000" cy="508000"/>
          </a:xfrm>
          <a:prstGeom prst="roundRect">
            <a:avLst>
              <a:gd name="adj" fmla="val 30000"/>
            </a:avLst>
          </a:prstGeom>
          <a:solidFill>
            <a:srgbClr val="E1EAFF"/>
          </a:solidFill>
          <a:ln/>
        </p:spPr>
      </p:sp>
      <p:pic>
        <p:nvPicPr>
          <p:cNvPr id="26" name="Image 2" descr="Users">    </p:cNvPr>
          <p:cNvPicPr>
            <a:picLocks noChangeAspect="1"/>
          </p:cNvPicPr>
          <p:nvPr/>
        </p:nvPicPr>
        <p:blipFill>
          <a:blip r:embed="rId3"/>
          <a:srcRect l="0" r="0" t="0" b="0"/>
          <a:stretch/>
        </p:blipFill>
        <p:spPr>
          <a:xfrm>
            <a:off x="8276134" y="2583061"/>
            <a:ext cx="304800" cy="304800"/>
          </a:xfrm>
          <a:prstGeom prst="rect">
            <a:avLst/>
          </a:prstGeom>
        </p:spPr>
      </p:pic>
      <p:sp>
        <p:nvSpPr>
          <p:cNvPr id="27" name="Text 22"/>
          <p:cNvSpPr/>
          <p:nvPr/>
        </p:nvSpPr>
        <p:spPr>
          <a:xfrm>
            <a:off x="8174534" y="3078361"/>
            <a:ext cx="3078429"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6233B"/>
                </a:solidFill>
                <a:latin typeface="Zen Maru Gothic" pitchFamily="34" charset="0"/>
                <a:ea typeface="Zen Maru Gothic" pitchFamily="34" charset="-122"/>
                <a:cs typeface="Zen Maru Gothic" pitchFamily="34" charset="-120"/>
              </a:rPr>
              <a:t>サブエージェント</a:t>
            </a:r>
            <a:endParaRPr lang="en-US" sz="2000" dirty="0"/>
          </a:p>
        </p:txBody>
      </p:sp>
      <p:sp>
        <p:nvSpPr>
          <p:cNvPr id="28" name="Text 23"/>
          <p:cNvSpPr/>
          <p:nvPr/>
        </p:nvSpPr>
        <p:spPr>
          <a:xfrm>
            <a:off x="8174534" y="3497461"/>
            <a:ext cx="307842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350C9"/>
                </a:solidFill>
                <a:latin typeface="BIZ UDPGothic" pitchFamily="34" charset="0"/>
                <a:ea typeface="BIZ UDPGothic" pitchFamily="34" charset="-122"/>
                <a:cs typeface="BIZ UDPGothic" pitchFamily="34" charset="-120"/>
              </a:rPr>
              <a:t>たとえるなら：専門の担当者</a:t>
            </a:r>
            <a:endParaRPr lang="en-US" sz="1400" dirty="0"/>
          </a:p>
        </p:txBody>
      </p:sp>
      <p:sp>
        <p:nvSpPr>
          <p:cNvPr id="29" name="Text 24"/>
          <p:cNvSpPr/>
          <p:nvPr/>
        </p:nvSpPr>
        <p:spPr>
          <a:xfrm>
            <a:off x="8174534" y="3835202"/>
            <a:ext cx="3078429"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56647E"/>
                </a:solidFill>
                <a:latin typeface="BIZ UDPGothic" pitchFamily="34" charset="0"/>
                <a:ea typeface="BIZ UDPGothic" pitchFamily="34" charset="-122"/>
                <a:cs typeface="BIZ UDPGothic" pitchFamily="34" charset="-120"/>
              </a:rPr>
              <a:t>頼まれた仕事だけをして、結果を返す。今日の2つ目。</a:t>
            </a:r>
            <a:endParaRPr lang="en-US" sz="1400" dirty="0"/>
          </a:p>
        </p:txBody>
      </p:sp>
      <p:sp>
        <p:nvSpPr>
          <p:cNvPr id="30" name="Text 25"/>
          <p:cNvSpPr/>
          <p:nvPr/>
        </p:nvSpPr>
        <p:spPr>
          <a:xfrm>
            <a:off x="8174534" y="4457502"/>
            <a:ext cx="307842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6233B"/>
                </a:solidFill>
                <a:latin typeface="Source Code Pro" pitchFamily="34" charset="0"/>
                <a:ea typeface="Source Code Pro" pitchFamily="34" charset="-122"/>
                <a:cs typeface="Source Code Pro" pitchFamily="34" charset="-120"/>
              </a:rPr>
              <a:t>.claude/agents/ に3人</a:t>
            </a:r>
            <a:endParaRPr lang="en-US" sz="1200" dirty="0"/>
          </a:p>
        </p:txBody>
      </p:sp>
      <p:sp>
        <p:nvSpPr>
          <p:cNvPr id="31" name="Text 26"/>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32" name="Text 27"/>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21 / 40</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3 ／ スキル</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スキルは、AIに渡す「手順書」</a:t>
            </a:r>
            <a:endParaRPr lang="en-US" sz="3200" dirty="0"/>
          </a:p>
        </p:txBody>
      </p:sp>
      <p:sp>
        <p:nvSpPr>
          <p:cNvPr id="4" name="Shape 2"/>
          <p:cNvSpPr/>
          <p:nvPr/>
        </p:nvSpPr>
        <p:spPr>
          <a:xfrm>
            <a:off x="812800" y="1894780"/>
            <a:ext cx="3810000" cy="3947220"/>
          </a:xfrm>
          <a:prstGeom prst="roundRect">
            <a:avLst>
              <a:gd name="adj" fmla="val 4667"/>
            </a:avLst>
          </a:prstGeom>
          <a:solidFill>
            <a:srgbClr val="2F62E6"/>
          </a:solidFill>
          <a:ln/>
        </p:spPr>
      </p:sp>
      <p:sp>
        <p:nvSpPr>
          <p:cNvPr id="5" name="Text 3"/>
          <p:cNvSpPr/>
          <p:nvPr/>
        </p:nvSpPr>
        <p:spPr>
          <a:xfrm>
            <a:off x="1092200" y="2174180"/>
            <a:ext cx="3348736" cy="309860"/>
          </a:xfrm>
          <a:prstGeom prst="rect">
            <a:avLst/>
          </a:prstGeom>
          <a:noFill/>
          <a:ln/>
        </p:spPr>
        <p:txBody>
          <a:bodyPr wrap="square" lIns="0" tIns="0" rIns="0" bIns="0" rtlCol="0" anchor="t">
            <a:normAutofit/>
          </a:bodyPr>
          <a:lstStyle/>
          <a:p>
            <a:pPr algn="l" indent="0" marL="0">
              <a:lnSpc>
                <a:spcPts val="2240"/>
              </a:lnSpc>
              <a:buNone/>
            </a:pPr>
            <a:r>
              <a:rPr lang="en-US" sz="1400" b="1" dirty="0">
                <a:solidFill>
                  <a:srgbClr val="E8EEFF"/>
                </a:solidFill>
                <a:latin typeface="BIZ UDPGothic" pitchFamily="34" charset="0"/>
                <a:ea typeface="BIZ UDPGothic" pitchFamily="34" charset="-122"/>
                <a:cs typeface="BIZ UDPGothic" pitchFamily="34" charset="-120"/>
              </a:rPr>
              <a:t>たとえるなら</a:t>
            </a:r>
            <a:endParaRPr lang="en-US" sz="1400" dirty="0"/>
          </a:p>
        </p:txBody>
      </p:sp>
      <p:sp>
        <p:nvSpPr>
          <p:cNvPr id="6" name="Text 4"/>
          <p:cNvSpPr/>
          <p:nvPr/>
        </p:nvSpPr>
        <p:spPr>
          <a:xfrm>
            <a:off x="1092200" y="2522141"/>
            <a:ext cx="3348736" cy="513060"/>
          </a:xfrm>
          <a:prstGeom prst="rect">
            <a:avLst/>
          </a:prstGeom>
          <a:noFill/>
          <a:ln/>
        </p:spPr>
        <p:txBody>
          <a:bodyPr wrap="square" lIns="0" tIns="0" rIns="0" bIns="0" rtlCol="0" anchor="t">
            <a:normAutofit/>
          </a:bodyPr>
          <a:lstStyle/>
          <a:p>
            <a:pPr algn="l" indent="0" marL="0">
              <a:lnSpc>
                <a:spcPts val="3840"/>
              </a:lnSpc>
              <a:buNone/>
            </a:pPr>
            <a:r>
              <a:rPr lang="en-US" sz="3200" b="1" dirty="0">
                <a:solidFill>
                  <a:srgbClr val="FFFFFF"/>
                </a:solidFill>
                <a:latin typeface="Zen Maru Gothic" pitchFamily="34" charset="0"/>
                <a:ea typeface="Zen Maru Gothic" pitchFamily="34" charset="-122"/>
                <a:cs typeface="Zen Maru Gothic" pitchFamily="34" charset="-120"/>
              </a:rPr>
              <a:t>料理のレシピ</a:t>
            </a:r>
            <a:endParaRPr lang="en-US" sz="3200" dirty="0"/>
          </a:p>
        </p:txBody>
      </p:sp>
      <p:sp>
        <p:nvSpPr>
          <p:cNvPr id="7" name="Text 5"/>
          <p:cNvSpPr/>
          <p:nvPr/>
        </p:nvSpPr>
        <p:spPr>
          <a:xfrm>
            <a:off x="1092200" y="3149501"/>
            <a:ext cx="3348736" cy="635000"/>
          </a:xfrm>
          <a:prstGeom prst="rect">
            <a:avLst/>
          </a:prstGeom>
          <a:noFill/>
          <a:ln/>
        </p:spPr>
        <p:txBody>
          <a:bodyPr wrap="square" lIns="0" tIns="0" rIns="0" bIns="0" rtlCol="0" anchor="t">
            <a:normAutofit/>
          </a:bodyPr>
          <a:lstStyle/>
          <a:p>
            <a:pPr algn="l" indent="0" marL="0">
              <a:lnSpc>
                <a:spcPts val="2400"/>
              </a:lnSpc>
              <a:buNone/>
            </a:pPr>
            <a:r>
              <a:rPr lang="en-US" sz="1500" dirty="0">
                <a:solidFill>
                  <a:srgbClr val="FFFFFF"/>
                </a:solidFill>
                <a:latin typeface="BIZ UDPGothic" pitchFamily="34" charset="0"/>
                <a:ea typeface="BIZ UDPGothic" pitchFamily="34" charset="-122"/>
                <a:cs typeface="BIZ UDPGothic" pitchFamily="34" charset="-120"/>
              </a:rPr>
              <a:t>レシピがあれば、初めて作る人でも、いつも同じ味に近づける。</a:t>
            </a:r>
            <a:endParaRPr lang="en-US" sz="1500" dirty="0"/>
          </a:p>
        </p:txBody>
      </p:sp>
      <p:sp>
        <p:nvSpPr>
          <p:cNvPr id="8" name="Text 6"/>
          <p:cNvSpPr/>
          <p:nvPr/>
        </p:nvSpPr>
        <p:spPr>
          <a:xfrm>
            <a:off x="1092200" y="3822601"/>
            <a:ext cx="3348736" cy="635000"/>
          </a:xfrm>
          <a:prstGeom prst="rect">
            <a:avLst/>
          </a:prstGeom>
          <a:noFill/>
          <a:ln/>
        </p:spPr>
        <p:txBody>
          <a:bodyPr wrap="square" lIns="0" tIns="0" rIns="0" bIns="0" rtlCol="0" anchor="t">
            <a:normAutofit/>
          </a:bodyPr>
          <a:lstStyle/>
          <a:p>
            <a:pPr algn="l" indent="0" marL="0">
              <a:lnSpc>
                <a:spcPts val="2400"/>
              </a:lnSpc>
              <a:buNone/>
            </a:pPr>
            <a:r>
              <a:rPr lang="en-US" sz="1500" dirty="0">
                <a:solidFill>
                  <a:srgbClr val="FFFFFF"/>
                </a:solidFill>
                <a:latin typeface="BIZ UDPGothic" pitchFamily="34" charset="0"/>
                <a:ea typeface="BIZ UDPGothic" pitchFamily="34" charset="-122"/>
                <a:cs typeface="BIZ UDPGothic" pitchFamily="34" charset="-120"/>
              </a:rPr>
              <a:t>手順書があれば、AIは毎回、同じ順番で仕事を進める。</a:t>
            </a:r>
            <a:endParaRPr lang="en-US" sz="1500" dirty="0"/>
          </a:p>
        </p:txBody>
      </p:sp>
      <p:sp>
        <p:nvSpPr>
          <p:cNvPr id="9" name="Shape 7"/>
          <p:cNvSpPr/>
          <p:nvPr/>
        </p:nvSpPr>
        <p:spPr>
          <a:xfrm>
            <a:off x="4883150" y="1901130"/>
            <a:ext cx="6489700" cy="1235273"/>
          </a:xfrm>
          <a:prstGeom prst="roundRect">
            <a:avLst>
              <a:gd name="adj" fmla="val 13880"/>
            </a:avLst>
          </a:prstGeom>
          <a:solidFill>
            <a:srgbClr val="FBFCFE"/>
          </a:solidFill>
          <a:ln w="12700">
            <a:solidFill>
              <a:srgbClr val="D3DBEA"/>
            </a:solidFill>
            <a:prstDash val="solid"/>
          </a:ln>
        </p:spPr>
      </p:sp>
      <p:sp>
        <p:nvSpPr>
          <p:cNvPr id="10" name="Text 8"/>
          <p:cNvSpPr/>
          <p:nvPr/>
        </p:nvSpPr>
        <p:spPr>
          <a:xfrm>
            <a:off x="5118100" y="2071688"/>
            <a:ext cx="6200394"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2350C9"/>
                </a:solidFill>
                <a:latin typeface="Zen Maru Gothic" pitchFamily="34" charset="0"/>
                <a:ea typeface="Zen Maru Gothic" pitchFamily="34" charset="-122"/>
                <a:cs typeface="Zen Maru Gothic" pitchFamily="34" charset="-120"/>
              </a:rPr>
              <a:t>日本語の文章で書く</a:t>
            </a:r>
            <a:endParaRPr lang="en-US" sz="1800" dirty="0"/>
          </a:p>
        </p:txBody>
      </p:sp>
      <p:sp>
        <p:nvSpPr>
          <p:cNvPr id="11" name="Text 9"/>
          <p:cNvSpPr/>
          <p:nvPr/>
        </p:nvSpPr>
        <p:spPr>
          <a:xfrm>
            <a:off x="5118100" y="2406948"/>
            <a:ext cx="6200394"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6233B"/>
                </a:solidFill>
                <a:latin typeface="BIZ UDPGothic" pitchFamily="34" charset="0"/>
                <a:ea typeface="BIZ UDPGothic" pitchFamily="34" charset="-122"/>
                <a:cs typeface="BIZ UDPGothic" pitchFamily="34" charset="-120"/>
              </a:rPr>
              <a:t>プログラムではなく、ふつうの文章で手順を書く。書き換えれば、AIの動きも変わる。</a:t>
            </a:r>
            <a:endParaRPr lang="en-US" sz="1400" dirty="0"/>
          </a:p>
        </p:txBody>
      </p:sp>
      <p:sp>
        <p:nvSpPr>
          <p:cNvPr id="12" name="Shape 10"/>
          <p:cNvSpPr/>
          <p:nvPr/>
        </p:nvSpPr>
        <p:spPr>
          <a:xfrm>
            <a:off x="4883150" y="3250704"/>
            <a:ext cx="6489700" cy="1235373"/>
          </a:xfrm>
          <a:prstGeom prst="roundRect">
            <a:avLst>
              <a:gd name="adj" fmla="val 13878"/>
            </a:avLst>
          </a:prstGeom>
          <a:solidFill>
            <a:srgbClr val="FBFCFE"/>
          </a:solidFill>
          <a:ln w="12700">
            <a:solidFill>
              <a:srgbClr val="D3DBEA"/>
            </a:solidFill>
            <a:prstDash val="solid"/>
          </a:ln>
        </p:spPr>
      </p:sp>
      <p:sp>
        <p:nvSpPr>
          <p:cNvPr id="13" name="Text 11"/>
          <p:cNvSpPr/>
          <p:nvPr/>
        </p:nvSpPr>
        <p:spPr>
          <a:xfrm>
            <a:off x="5118100" y="3421360"/>
            <a:ext cx="6200394"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2350C9"/>
                </a:solidFill>
                <a:latin typeface="Zen Maru Gothic" pitchFamily="34" charset="0"/>
                <a:ea typeface="Zen Maru Gothic" pitchFamily="34" charset="-122"/>
                <a:cs typeface="Zen Maru Gothic" pitchFamily="34" charset="-120"/>
              </a:rPr>
              <a:t>呼び方は2通り</a:t>
            </a:r>
            <a:endParaRPr lang="en-US" sz="1800" dirty="0"/>
          </a:p>
        </p:txBody>
      </p:sp>
      <p:sp>
        <p:nvSpPr>
          <p:cNvPr id="14" name="Text 12"/>
          <p:cNvSpPr/>
          <p:nvPr/>
        </p:nvSpPr>
        <p:spPr>
          <a:xfrm>
            <a:off x="5118100" y="3756620"/>
            <a:ext cx="6200394"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6233B"/>
                </a:solidFill>
                <a:latin typeface="BIZ UDPGothic" pitchFamily="34" charset="0"/>
                <a:ea typeface="BIZ UDPGothic" pitchFamily="34" charset="-122"/>
                <a:cs typeface="BIZ UDPGothic" pitchFamily="34" charset="-120"/>
              </a:rPr>
              <a:t>/write-post のように名前で呼ぶ。用件に合えば、AIが自分で選ぶこともある。</a:t>
            </a:r>
            <a:endParaRPr lang="en-US" sz="1400" dirty="0"/>
          </a:p>
        </p:txBody>
      </p:sp>
      <p:sp>
        <p:nvSpPr>
          <p:cNvPr id="15" name="Shape 13"/>
          <p:cNvSpPr/>
          <p:nvPr/>
        </p:nvSpPr>
        <p:spPr>
          <a:xfrm>
            <a:off x="4883150" y="4600377"/>
            <a:ext cx="6489700" cy="1235273"/>
          </a:xfrm>
          <a:prstGeom prst="roundRect">
            <a:avLst>
              <a:gd name="adj" fmla="val 13880"/>
            </a:avLst>
          </a:prstGeom>
          <a:solidFill>
            <a:srgbClr val="FBFCFE"/>
          </a:solidFill>
          <a:ln w="12700">
            <a:solidFill>
              <a:srgbClr val="D3DBEA"/>
            </a:solidFill>
            <a:prstDash val="solid"/>
          </a:ln>
        </p:spPr>
      </p:sp>
      <p:sp>
        <p:nvSpPr>
          <p:cNvPr id="16" name="Text 14"/>
          <p:cNvSpPr/>
          <p:nvPr/>
        </p:nvSpPr>
        <p:spPr>
          <a:xfrm>
            <a:off x="5118100" y="4904284"/>
            <a:ext cx="6200394"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2350C9"/>
                </a:solidFill>
                <a:latin typeface="Zen Maru Gothic" pitchFamily="34" charset="0"/>
                <a:ea typeface="Zen Maru Gothic" pitchFamily="34" charset="-122"/>
                <a:cs typeface="Zen Maru Gothic" pitchFamily="34" charset="-120"/>
              </a:rPr>
              <a:t>動く前に、必ず読む</a:t>
            </a:r>
            <a:endParaRPr lang="en-US" sz="1800" dirty="0"/>
          </a:p>
        </p:txBody>
      </p:sp>
      <p:sp>
        <p:nvSpPr>
          <p:cNvPr id="17" name="Text 15"/>
          <p:cNvSpPr/>
          <p:nvPr/>
        </p:nvSpPr>
        <p:spPr>
          <a:xfrm>
            <a:off x="5118100" y="5239544"/>
            <a:ext cx="6200394"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6233B"/>
                </a:solidFill>
                <a:latin typeface="BIZ UDPGothic" pitchFamily="34" charset="0"/>
                <a:ea typeface="BIZ UDPGothic" pitchFamily="34" charset="-122"/>
                <a:cs typeface="BIZ UDPGothic" pitchFamily="34" charset="-120"/>
              </a:rPr>
              <a:t>AIは手順書を読んでから動き出す。だから、同じ決まりを毎回守らせやすい。</a:t>
            </a:r>
            <a:endParaRPr lang="en-US" sz="1400" dirty="0"/>
          </a:p>
        </p:txBody>
      </p:sp>
      <p:sp>
        <p:nvSpPr>
          <p:cNvPr id="18" name="Text 16"/>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19" name="Text 17"/>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22 / 40</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3 ／ スキル</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スキルの中身は、1つの文書ファイル</a:t>
            </a:r>
            <a:endParaRPr lang="en-US" sz="3200" dirty="0"/>
          </a:p>
        </p:txBody>
      </p:sp>
      <p:sp>
        <p:nvSpPr>
          <p:cNvPr id="4" name="Shape 2"/>
          <p:cNvSpPr/>
          <p:nvPr/>
        </p:nvSpPr>
        <p:spPr>
          <a:xfrm>
            <a:off x="812800" y="1894780"/>
            <a:ext cx="5461000" cy="429716"/>
          </a:xfrm>
          <a:custGeom>
            <a:avLst/>
            <a:gdLst/>
            <a:ahLst/>
            <a:cxnLst/>
            <a:rect l="l" t="t" r="r" b="b"/>
            <a:pathLst>
              <a:path w="5461000" h="429716">
                <a:moveTo>
                  <a:pt x="127000" y="0"/>
                </a:moveTo>
                <a:lnTo>
                  <a:pt x="5334000" y="0"/>
                </a:lnTo>
                <a:arcTo hR="127000" wR="127000" stAng="16200000" swAng="5400000"/>
                <a:lnTo>
                  <a:pt x="5461000" y="429716"/>
                </a:lnTo>
                <a:lnTo>
                  <a:pt x="0" y="429716"/>
                </a:lnTo>
                <a:lnTo>
                  <a:pt x="0" y="127000"/>
                </a:lnTo>
                <a:arcTo hR="127000" wR="127000" stAng="10800000" swAng="5400000"/>
                <a:close/>
              </a:path>
            </a:pathLst>
          </a:custGeom>
          <a:solidFill>
            <a:srgbClr val="2F62E6"/>
          </a:solidFill>
          <a:ln/>
        </p:spPr>
      </p:sp>
      <p:sp>
        <p:nvSpPr>
          <p:cNvPr id="5" name="Text 3"/>
          <p:cNvSpPr/>
          <p:nvPr/>
        </p:nvSpPr>
        <p:spPr>
          <a:xfrm>
            <a:off x="1016000" y="1983680"/>
            <a:ext cx="5206238" cy="277316"/>
          </a:xfrm>
          <a:prstGeom prst="rect">
            <a:avLst/>
          </a:prstGeom>
          <a:noFill/>
          <a:ln/>
        </p:spPr>
        <p:txBody>
          <a:bodyPr wrap="square" lIns="0" tIns="0" rIns="0" bIns="0" rtlCol="0" anchor="t">
            <a:normAutofit/>
          </a:bodyPr>
          <a:lstStyle/>
          <a:p>
            <a:pPr algn="l" indent="0" marL="0">
              <a:lnSpc>
                <a:spcPts val="2022"/>
              </a:lnSpc>
              <a:buNone/>
            </a:pPr>
            <a:r>
              <a:rPr lang="en-US" sz="1263" dirty="0">
                <a:solidFill>
                  <a:srgbClr val="FFFFFF"/>
                </a:solidFill>
                <a:latin typeface="Source Code Pro" pitchFamily="34" charset="0"/>
                <a:ea typeface="Source Code Pro" pitchFamily="34" charset="-122"/>
                <a:cs typeface="Source Code Pro" pitchFamily="34" charset="-120"/>
              </a:rPr>
              <a:t>.claude/skills/write-post/SKILL.md</a:t>
            </a:r>
            <a:endParaRPr lang="en-US" sz="1263" dirty="0"/>
          </a:p>
        </p:txBody>
      </p:sp>
      <p:sp>
        <p:nvSpPr>
          <p:cNvPr id="6" name="Shape 4"/>
          <p:cNvSpPr/>
          <p:nvPr/>
        </p:nvSpPr>
        <p:spPr>
          <a:xfrm>
            <a:off x="812800" y="2324497"/>
            <a:ext cx="5461000" cy="3517503"/>
          </a:xfrm>
          <a:custGeom>
            <a:avLst/>
            <a:gdLst/>
            <a:ahLst/>
            <a:cxnLst/>
            <a:rect l="l" t="t" r="r" b="b"/>
            <a:pathLst>
              <a:path w="5461000" h="3517503">
                <a:moveTo>
                  <a:pt x="0" y="0"/>
                </a:moveTo>
                <a:lnTo>
                  <a:pt x="5461000" y="0"/>
                </a:lnTo>
                <a:lnTo>
                  <a:pt x="5461000" y="3390503"/>
                </a:lnTo>
                <a:arcTo hR="127000" wR="127000" stAng="0" swAng="5400000"/>
                <a:lnTo>
                  <a:pt x="127000" y="3517503"/>
                </a:lnTo>
                <a:arcTo hR="127000" wR="127000" stAng="5400000" swAng="5400000"/>
                <a:lnTo>
                  <a:pt x="0" y="0"/>
                </a:lnTo>
                <a:close/>
              </a:path>
            </a:pathLst>
          </a:custGeom>
          <a:solidFill>
            <a:srgbClr val="0F1B33"/>
          </a:solidFill>
          <a:ln/>
        </p:spPr>
      </p:sp>
      <p:sp>
        <p:nvSpPr>
          <p:cNvPr id="7" name="Text 5"/>
          <p:cNvSpPr/>
          <p:nvPr/>
        </p:nvSpPr>
        <p:spPr>
          <a:xfrm>
            <a:off x="1041400" y="2476897"/>
            <a:ext cx="5153914" cy="272554"/>
          </a:xfrm>
          <a:prstGeom prst="rect">
            <a:avLst/>
          </a:prstGeom>
          <a:noFill/>
          <a:ln/>
        </p:spPr>
        <p:txBody>
          <a:bodyPr wrap="none" lIns="0" tIns="0" rIns="0" bIns="0" rtlCol="0" anchor="t">
            <a:normAutofit/>
          </a:bodyPr>
          <a:lstStyle/>
          <a:p>
            <a:pPr algn="l" indent="0" marL="0">
              <a:lnSpc>
                <a:spcPts val="1970"/>
              </a:lnSpc>
              <a:buNone/>
            </a:pPr>
            <a:r>
              <a:rPr lang="en-US" sz="1159" dirty="0">
                <a:solidFill>
                  <a:srgbClr val="8A97B5"/>
                </a:solidFill>
                <a:latin typeface="Source Code Pro" pitchFamily="34" charset="0"/>
                <a:ea typeface="Source Code Pro" pitchFamily="34" charset="-122"/>
                <a:cs typeface="Source Code Pro" pitchFamily="34" charset="-120"/>
              </a:rPr>
              <a:t>---</a:t>
            </a:r>
            <a:endParaRPr lang="en-US" sz="1159" dirty="0"/>
          </a:p>
        </p:txBody>
      </p:sp>
      <p:sp>
        <p:nvSpPr>
          <p:cNvPr id="8" name="Text 6"/>
          <p:cNvSpPr/>
          <p:nvPr/>
        </p:nvSpPr>
        <p:spPr>
          <a:xfrm>
            <a:off x="1041400" y="2724051"/>
            <a:ext cx="5153914" cy="272455"/>
          </a:xfrm>
          <a:prstGeom prst="rect">
            <a:avLst/>
          </a:prstGeom>
          <a:noFill/>
          <a:ln/>
        </p:spPr>
        <p:txBody>
          <a:bodyPr wrap="none" lIns="0" tIns="0" rIns="0" bIns="0" rtlCol="0" anchor="t">
            <a:normAutofit/>
          </a:bodyPr>
          <a:lstStyle/>
          <a:p>
            <a:pPr algn="l" indent="0" marL="0">
              <a:lnSpc>
                <a:spcPts val="1970"/>
              </a:lnSpc>
              <a:buNone/>
            </a:pPr>
            <a:r>
              <a:rPr lang="en-US" sz="1159" dirty="0">
                <a:solidFill>
                  <a:srgbClr val="8FB4FF"/>
                </a:solidFill>
                <a:latin typeface="Source Code Pro" pitchFamily="34" charset="0"/>
                <a:ea typeface="Source Code Pro" pitchFamily="34" charset="-122"/>
                <a:cs typeface="Source Code Pro" pitchFamily="34" charset="-120"/>
              </a:rPr>
              <a:t>name:</a:t>
            </a:r>
            <a:r>
              <a:rPr lang="en-US" sz="1159" dirty="0">
                <a:solidFill>
                  <a:srgbClr val="E6EDFB"/>
                </a:solidFill>
                <a:latin typeface="Source Code Pro" pitchFamily="34" charset="0"/>
                <a:ea typeface="Source Code Pro" pitchFamily="34" charset="-122"/>
                <a:cs typeface="Source Code Pro" pitchFamily="34" charset="-120"/>
              </a:rPr>
              <a:t> write-post</a:t>
            </a:r>
            <a:endParaRPr lang="en-US" sz="1159" dirty="0"/>
          </a:p>
        </p:txBody>
      </p:sp>
      <p:sp>
        <p:nvSpPr>
          <p:cNvPr id="9" name="Text 7"/>
          <p:cNvSpPr/>
          <p:nvPr/>
        </p:nvSpPr>
        <p:spPr>
          <a:xfrm>
            <a:off x="1041400" y="2971105"/>
            <a:ext cx="5153914" cy="272554"/>
          </a:xfrm>
          <a:prstGeom prst="rect">
            <a:avLst/>
          </a:prstGeom>
          <a:noFill/>
          <a:ln/>
        </p:spPr>
        <p:txBody>
          <a:bodyPr wrap="none" lIns="0" tIns="0" rIns="0" bIns="0" rtlCol="0" anchor="t">
            <a:normAutofit/>
          </a:bodyPr>
          <a:lstStyle/>
          <a:p>
            <a:pPr algn="l" indent="0" marL="0">
              <a:lnSpc>
                <a:spcPts val="1970"/>
              </a:lnSpc>
              <a:buNone/>
            </a:pPr>
            <a:r>
              <a:rPr lang="en-US" sz="1159" dirty="0">
                <a:solidFill>
                  <a:srgbClr val="8FB4FF"/>
                </a:solidFill>
                <a:latin typeface="Source Code Pro" pitchFamily="34" charset="0"/>
                <a:ea typeface="Source Code Pro" pitchFamily="34" charset="-122"/>
                <a:cs typeface="Source Code Pro" pitchFamily="34" charset="-120"/>
              </a:rPr>
              <a:t>description:</a:t>
            </a:r>
            <a:r>
              <a:rPr lang="en-US" sz="1159" dirty="0">
                <a:solidFill>
                  <a:srgbClr val="E6EDFB"/>
                </a:solidFill>
                <a:latin typeface="Source Code Pro" pitchFamily="34" charset="0"/>
                <a:ea typeface="Source Code Pro" pitchFamily="34" charset="-122"/>
                <a:cs typeface="Source Code Pro" pitchFamily="34" charset="-120"/>
              </a:rPr>
              <a:t> 記事を書きたい・ネタを</a:t>
            </a:r>
            <a:endParaRPr lang="en-US" sz="1159" dirty="0"/>
          </a:p>
        </p:txBody>
      </p:sp>
      <p:sp>
        <p:nvSpPr>
          <p:cNvPr id="10" name="Text 8"/>
          <p:cNvSpPr/>
          <p:nvPr/>
        </p:nvSpPr>
        <p:spPr>
          <a:xfrm>
            <a:off x="1041400" y="3218259"/>
            <a:ext cx="5153914" cy="272455"/>
          </a:xfrm>
          <a:prstGeom prst="rect">
            <a:avLst/>
          </a:prstGeom>
          <a:noFill/>
          <a:ln/>
        </p:spPr>
        <p:txBody>
          <a:bodyPr wrap="none" lIns="0" tIns="0" rIns="0" bIns="0" rtlCol="0" anchor="t">
            <a:normAutofit/>
          </a:bodyPr>
          <a:lstStyle/>
          <a:p>
            <a:pPr algn="l" indent="0" marL="0">
              <a:lnSpc>
                <a:spcPts val="1970"/>
              </a:lnSpc>
              <a:buNone/>
            </a:pPr>
            <a:r>
              <a:rPr lang="en-US" sz="1159" dirty="0">
                <a:solidFill>
                  <a:srgbClr val="E6EDFB"/>
                </a:solidFill>
                <a:latin typeface="Source Code Pro" pitchFamily="34" charset="0"/>
                <a:ea typeface="Source Code Pro" pitchFamily="34" charset="-122"/>
                <a:cs typeface="Source Code Pro" pitchFamily="34" charset="-120"/>
              </a:rPr>
              <a:t>相談したい・書きかけを再開したい</a:t>
            </a:r>
            <a:endParaRPr lang="en-US" sz="1159" dirty="0"/>
          </a:p>
        </p:txBody>
      </p:sp>
      <p:sp>
        <p:nvSpPr>
          <p:cNvPr id="11" name="Text 9"/>
          <p:cNvSpPr/>
          <p:nvPr/>
        </p:nvSpPr>
        <p:spPr>
          <a:xfrm>
            <a:off x="1041400" y="3465314"/>
            <a:ext cx="5153914" cy="272554"/>
          </a:xfrm>
          <a:prstGeom prst="rect">
            <a:avLst/>
          </a:prstGeom>
          <a:noFill/>
          <a:ln/>
        </p:spPr>
        <p:txBody>
          <a:bodyPr wrap="none" lIns="0" tIns="0" rIns="0" bIns="0" rtlCol="0" anchor="t">
            <a:normAutofit/>
          </a:bodyPr>
          <a:lstStyle/>
          <a:p>
            <a:pPr algn="l" indent="0" marL="0">
              <a:lnSpc>
                <a:spcPts val="1970"/>
              </a:lnSpc>
              <a:buNone/>
            </a:pPr>
            <a:r>
              <a:rPr lang="en-US" sz="1159" dirty="0">
                <a:solidFill>
                  <a:srgbClr val="E6EDFB"/>
                </a:solidFill>
                <a:latin typeface="Source Code Pro" pitchFamily="34" charset="0"/>
                <a:ea typeface="Source Code Pro" pitchFamily="34" charset="-122"/>
                <a:cs typeface="Source Code Pro" pitchFamily="34" charset="-120"/>
              </a:rPr>
              <a:t>ときに使う。…</a:t>
            </a:r>
            <a:endParaRPr lang="en-US" sz="1159" dirty="0"/>
          </a:p>
        </p:txBody>
      </p:sp>
      <p:sp>
        <p:nvSpPr>
          <p:cNvPr id="12" name="Text 10"/>
          <p:cNvSpPr/>
          <p:nvPr/>
        </p:nvSpPr>
        <p:spPr>
          <a:xfrm>
            <a:off x="1041400" y="3712468"/>
            <a:ext cx="5153914" cy="272455"/>
          </a:xfrm>
          <a:prstGeom prst="rect">
            <a:avLst/>
          </a:prstGeom>
          <a:noFill/>
          <a:ln/>
        </p:spPr>
        <p:txBody>
          <a:bodyPr wrap="none" lIns="0" tIns="0" rIns="0" bIns="0" rtlCol="0" anchor="t">
            <a:normAutofit/>
          </a:bodyPr>
          <a:lstStyle/>
          <a:p>
            <a:pPr algn="l" indent="0" marL="0">
              <a:lnSpc>
                <a:spcPts val="1970"/>
              </a:lnSpc>
              <a:buNone/>
            </a:pPr>
            <a:r>
              <a:rPr lang="en-US" sz="1159" dirty="0">
                <a:solidFill>
                  <a:srgbClr val="8A97B5"/>
                </a:solidFill>
                <a:latin typeface="Source Code Pro" pitchFamily="34" charset="0"/>
                <a:ea typeface="Source Code Pro" pitchFamily="34" charset="-122"/>
                <a:cs typeface="Source Code Pro" pitchFamily="34" charset="-120"/>
              </a:rPr>
              <a:t>---</a:t>
            </a:r>
            <a:endParaRPr lang="en-US" sz="1159" dirty="0"/>
          </a:p>
        </p:txBody>
      </p:sp>
      <p:sp>
        <p:nvSpPr>
          <p:cNvPr id="13" name="Text 11"/>
          <p:cNvSpPr/>
          <p:nvPr/>
        </p:nvSpPr>
        <p:spPr>
          <a:xfrm>
            <a:off x="1041400" y="3959523"/>
            <a:ext cx="5153914" cy="272554"/>
          </a:xfrm>
          <a:prstGeom prst="rect">
            <a:avLst/>
          </a:prstGeom>
          <a:noFill/>
          <a:ln/>
        </p:spPr>
        <p:txBody>
          <a:bodyPr wrap="none" lIns="0" tIns="0" rIns="0" bIns="0" rtlCol="0" anchor="t">
            <a:normAutofit/>
          </a:bodyPr>
          <a:lstStyle/>
          <a:p>
            <a:pPr algn="l" indent="0" marL="0">
              <a:lnSpc>
                <a:spcPts val="1970"/>
              </a:lnSpc>
              <a:buNone/>
            </a:pPr>
            <a:r>
              <a:rPr lang="en-US" sz="1159" dirty="0">
                <a:solidFill>
                  <a:srgbClr val="8FB4FF"/>
                </a:solidFill>
                <a:latin typeface="Source Code Pro" pitchFamily="34" charset="0"/>
                <a:ea typeface="Source Code Pro" pitchFamily="34" charset="-122"/>
                <a:cs typeface="Source Code Pro" pitchFamily="34" charset="-120"/>
              </a:rPr>
              <a:t>#</a:t>
            </a:r>
            <a:r>
              <a:rPr lang="en-US" sz="1159" dirty="0">
                <a:solidFill>
                  <a:srgbClr val="E6EDFB"/>
                </a:solidFill>
                <a:latin typeface="Source Code Pro" pitchFamily="34" charset="0"/>
                <a:ea typeface="Source Code Pro" pitchFamily="34" charset="-122"/>
                <a:cs typeface="Source Code Pro" pitchFamily="34" charset="-120"/>
              </a:rPr>
              <a:t> 記事執筆アシスタント</a:t>
            </a:r>
            <a:endParaRPr lang="en-US" sz="1159" dirty="0"/>
          </a:p>
        </p:txBody>
      </p:sp>
      <p:sp>
        <p:nvSpPr>
          <p:cNvPr id="14" name="Text 12"/>
          <p:cNvSpPr/>
          <p:nvPr/>
        </p:nvSpPr>
        <p:spPr>
          <a:xfrm>
            <a:off x="1041400" y="4206677"/>
            <a:ext cx="5153914" cy="272554"/>
          </a:xfrm>
          <a:prstGeom prst="rect">
            <a:avLst/>
          </a:prstGeom>
          <a:noFill/>
          <a:ln/>
        </p:spPr>
        <p:txBody>
          <a:bodyPr wrap="none" lIns="0" tIns="0" rIns="0" bIns="0" rtlCol="0" anchor="t">
            <a:normAutofit/>
          </a:bodyPr>
          <a:lstStyle/>
          <a:p>
            <a:pPr algn="l" indent="0" marL="0">
              <a:lnSpc>
                <a:spcPts val="1970"/>
              </a:lnSpc>
              <a:buNone/>
            </a:pPr>
            <a:r>
              <a:rPr lang="en-US" sz="1159" dirty="0">
                <a:solidFill>
                  <a:srgbClr val="8FB4FF"/>
                </a:solidFill>
                <a:latin typeface="Source Code Pro" pitchFamily="34" charset="0"/>
                <a:ea typeface="Source Code Pro" pitchFamily="34" charset="-122"/>
                <a:cs typeface="Source Code Pro" pitchFamily="34" charset="-120"/>
              </a:rPr>
              <a:t>##</a:t>
            </a:r>
            <a:r>
              <a:rPr lang="en-US" sz="1159" dirty="0">
                <a:solidFill>
                  <a:srgbClr val="E6EDFB"/>
                </a:solidFill>
                <a:latin typeface="Source Code Pro" pitchFamily="34" charset="0"/>
                <a:ea typeface="Source Code Pro" pitchFamily="34" charset="-122"/>
                <a:cs typeface="Source Code Pro" pitchFamily="34" charset="-120"/>
              </a:rPr>
              <a:t> 設計書の扱い</a:t>
            </a:r>
            <a:endParaRPr lang="en-US" sz="1159" dirty="0"/>
          </a:p>
        </p:txBody>
      </p:sp>
      <p:sp>
        <p:nvSpPr>
          <p:cNvPr id="15" name="Text 13"/>
          <p:cNvSpPr/>
          <p:nvPr/>
        </p:nvSpPr>
        <p:spPr>
          <a:xfrm>
            <a:off x="1041400" y="4453830"/>
            <a:ext cx="5153914" cy="272554"/>
          </a:xfrm>
          <a:prstGeom prst="rect">
            <a:avLst/>
          </a:prstGeom>
          <a:noFill/>
          <a:ln/>
        </p:spPr>
        <p:txBody>
          <a:bodyPr wrap="none" lIns="0" tIns="0" rIns="0" bIns="0" rtlCol="0" anchor="t">
            <a:normAutofit/>
          </a:bodyPr>
          <a:lstStyle/>
          <a:p>
            <a:pPr algn="l" indent="0" marL="0">
              <a:lnSpc>
                <a:spcPts val="1970"/>
              </a:lnSpc>
              <a:buNone/>
            </a:pPr>
            <a:r>
              <a:rPr lang="en-US" sz="1159" dirty="0">
                <a:solidFill>
                  <a:srgbClr val="8FB4FF"/>
                </a:solidFill>
                <a:latin typeface="Source Code Pro" pitchFamily="34" charset="0"/>
                <a:ea typeface="Source Code Pro" pitchFamily="34" charset="-122"/>
                <a:cs typeface="Source Code Pro" pitchFamily="34" charset="-120"/>
              </a:rPr>
              <a:t>##</a:t>
            </a:r>
            <a:r>
              <a:rPr lang="en-US" sz="1159" dirty="0">
                <a:solidFill>
                  <a:srgbClr val="E6EDFB"/>
                </a:solidFill>
                <a:latin typeface="Source Code Pro" pitchFamily="34" charset="0"/>
                <a:ea typeface="Source Code Pro" pitchFamily="34" charset="-122"/>
                <a:cs typeface="Source Code Pro" pitchFamily="34" charset="-120"/>
              </a:rPr>
              <a:t> 会話のしかた</a:t>
            </a:r>
            <a:endParaRPr lang="en-US" sz="1159" dirty="0"/>
          </a:p>
        </p:txBody>
      </p:sp>
      <p:sp>
        <p:nvSpPr>
          <p:cNvPr id="16" name="Text 14"/>
          <p:cNvSpPr/>
          <p:nvPr/>
        </p:nvSpPr>
        <p:spPr>
          <a:xfrm>
            <a:off x="1041400" y="4700984"/>
            <a:ext cx="5153914" cy="272554"/>
          </a:xfrm>
          <a:prstGeom prst="rect">
            <a:avLst/>
          </a:prstGeom>
          <a:noFill/>
          <a:ln/>
        </p:spPr>
        <p:txBody>
          <a:bodyPr wrap="none" lIns="0" tIns="0" rIns="0" bIns="0" rtlCol="0" anchor="t">
            <a:normAutofit/>
          </a:bodyPr>
          <a:lstStyle/>
          <a:p>
            <a:pPr algn="l" indent="0" marL="0">
              <a:lnSpc>
                <a:spcPts val="1970"/>
              </a:lnSpc>
              <a:buNone/>
            </a:pPr>
            <a:r>
              <a:rPr lang="en-US" sz="1159" dirty="0">
                <a:solidFill>
                  <a:srgbClr val="8FB4FF"/>
                </a:solidFill>
                <a:latin typeface="Source Code Pro" pitchFamily="34" charset="0"/>
                <a:ea typeface="Source Code Pro" pitchFamily="34" charset="-122"/>
                <a:cs typeface="Source Code Pro" pitchFamily="34" charset="-120"/>
              </a:rPr>
              <a:t>##</a:t>
            </a:r>
            <a:r>
              <a:rPr lang="en-US" sz="1159" dirty="0">
                <a:solidFill>
                  <a:srgbClr val="E6EDFB"/>
                </a:solidFill>
                <a:latin typeface="Source Code Pro" pitchFamily="34" charset="0"/>
                <a:ea typeface="Source Code Pro" pitchFamily="34" charset="-122"/>
                <a:cs typeface="Source Code Pro" pitchFamily="34" charset="-120"/>
              </a:rPr>
              <a:t> フェーズ0: 状況確認</a:t>
            </a:r>
            <a:endParaRPr lang="en-US" sz="1159" dirty="0"/>
          </a:p>
        </p:txBody>
      </p:sp>
      <p:sp>
        <p:nvSpPr>
          <p:cNvPr id="17" name="Text 15"/>
          <p:cNvSpPr/>
          <p:nvPr/>
        </p:nvSpPr>
        <p:spPr>
          <a:xfrm>
            <a:off x="1041400" y="4948138"/>
            <a:ext cx="5153914" cy="272554"/>
          </a:xfrm>
          <a:prstGeom prst="rect">
            <a:avLst/>
          </a:prstGeom>
          <a:noFill/>
          <a:ln/>
        </p:spPr>
        <p:txBody>
          <a:bodyPr wrap="none" lIns="0" tIns="0" rIns="0" bIns="0" rtlCol="0" anchor="t">
            <a:normAutofit/>
          </a:bodyPr>
          <a:lstStyle/>
          <a:p>
            <a:pPr algn="l" indent="0" marL="0">
              <a:lnSpc>
                <a:spcPts val="1970"/>
              </a:lnSpc>
              <a:buNone/>
            </a:pPr>
            <a:r>
              <a:rPr lang="en-US" sz="1159" dirty="0">
                <a:solidFill>
                  <a:srgbClr val="8FB4FF"/>
                </a:solidFill>
                <a:latin typeface="Source Code Pro" pitchFamily="34" charset="0"/>
                <a:ea typeface="Source Code Pro" pitchFamily="34" charset="-122"/>
                <a:cs typeface="Source Code Pro" pitchFamily="34" charset="-120"/>
              </a:rPr>
              <a:t>##</a:t>
            </a:r>
            <a:r>
              <a:rPr lang="en-US" sz="1159" dirty="0">
                <a:solidFill>
                  <a:srgbClr val="E6EDFB"/>
                </a:solidFill>
                <a:latin typeface="Source Code Pro" pitchFamily="34" charset="0"/>
                <a:ea typeface="Source Code Pro" pitchFamily="34" charset="-122"/>
                <a:cs typeface="Source Code Pro" pitchFamily="34" charset="-120"/>
              </a:rPr>
              <a:t> フェーズ1: テーマを決める</a:t>
            </a:r>
            <a:endParaRPr lang="en-US" sz="1159" dirty="0"/>
          </a:p>
        </p:txBody>
      </p:sp>
      <p:sp>
        <p:nvSpPr>
          <p:cNvPr id="18" name="Text 16"/>
          <p:cNvSpPr/>
          <p:nvPr/>
        </p:nvSpPr>
        <p:spPr>
          <a:xfrm>
            <a:off x="1041400" y="5195292"/>
            <a:ext cx="5153914" cy="272554"/>
          </a:xfrm>
          <a:prstGeom prst="rect">
            <a:avLst/>
          </a:prstGeom>
          <a:noFill/>
          <a:ln/>
        </p:spPr>
        <p:txBody>
          <a:bodyPr wrap="none" lIns="0" tIns="0" rIns="0" bIns="0" rtlCol="0" anchor="t">
            <a:normAutofit/>
          </a:bodyPr>
          <a:lstStyle/>
          <a:p>
            <a:pPr algn="l" indent="0" marL="0">
              <a:lnSpc>
                <a:spcPts val="1970"/>
              </a:lnSpc>
              <a:buNone/>
            </a:pPr>
            <a:r>
              <a:rPr lang="en-US" sz="1159" dirty="0">
                <a:solidFill>
                  <a:srgbClr val="8A97B5"/>
                </a:solidFill>
                <a:latin typeface="Source Code Pro" pitchFamily="34" charset="0"/>
                <a:ea typeface="Source Code Pro" pitchFamily="34" charset="-122"/>
                <a:cs typeface="Source Code Pro" pitchFamily="34" charset="-120"/>
              </a:rPr>
              <a:t>　…</a:t>
            </a:r>
            <a:endParaRPr lang="en-US" sz="1159" dirty="0"/>
          </a:p>
        </p:txBody>
      </p:sp>
      <p:sp>
        <p:nvSpPr>
          <p:cNvPr id="19" name="Text 17"/>
          <p:cNvSpPr/>
          <p:nvPr/>
        </p:nvSpPr>
        <p:spPr>
          <a:xfrm>
            <a:off x="1041400" y="5442446"/>
            <a:ext cx="5153914" cy="272554"/>
          </a:xfrm>
          <a:prstGeom prst="rect">
            <a:avLst/>
          </a:prstGeom>
          <a:noFill/>
          <a:ln/>
        </p:spPr>
        <p:txBody>
          <a:bodyPr wrap="none" lIns="0" tIns="0" rIns="0" bIns="0" rtlCol="0" anchor="t">
            <a:normAutofit/>
          </a:bodyPr>
          <a:lstStyle/>
          <a:p>
            <a:pPr algn="l" indent="0" marL="0">
              <a:lnSpc>
                <a:spcPts val="1970"/>
              </a:lnSpc>
              <a:buNone/>
            </a:pPr>
            <a:r>
              <a:rPr lang="en-US" sz="1159" dirty="0">
                <a:solidFill>
                  <a:srgbClr val="8FB4FF"/>
                </a:solidFill>
                <a:latin typeface="Source Code Pro" pitchFamily="34" charset="0"/>
                <a:ea typeface="Source Code Pro" pitchFamily="34" charset="-122"/>
                <a:cs typeface="Source Code Pro" pitchFamily="34" charset="-120"/>
              </a:rPr>
              <a:t>##</a:t>
            </a:r>
            <a:r>
              <a:rPr lang="en-US" sz="1159" dirty="0">
                <a:solidFill>
                  <a:srgbClr val="E6EDFB"/>
                </a:solidFill>
                <a:latin typeface="Source Code Pro" pitchFamily="34" charset="0"/>
                <a:ea typeface="Source Code Pro" pitchFamily="34" charset="-122"/>
                <a:cs typeface="Source Code Pro" pitchFamily="34" charset="-120"/>
              </a:rPr>
              <a:t> フェーズ7: 後片付け</a:t>
            </a:r>
            <a:endParaRPr lang="en-US" sz="1159" dirty="0"/>
          </a:p>
        </p:txBody>
      </p:sp>
      <p:sp>
        <p:nvSpPr>
          <p:cNvPr id="20" name="Shape 18"/>
          <p:cNvSpPr/>
          <p:nvPr/>
        </p:nvSpPr>
        <p:spPr>
          <a:xfrm>
            <a:off x="6534150" y="1901130"/>
            <a:ext cx="4838700" cy="1235273"/>
          </a:xfrm>
          <a:prstGeom prst="roundRect">
            <a:avLst>
              <a:gd name="adj" fmla="val 13880"/>
            </a:avLst>
          </a:prstGeom>
          <a:solidFill>
            <a:srgbClr val="FBFCFE"/>
          </a:solidFill>
          <a:ln w="12700">
            <a:solidFill>
              <a:srgbClr val="D3DBEA"/>
            </a:solidFill>
            <a:prstDash val="solid"/>
          </a:ln>
        </p:spPr>
      </p:sp>
      <p:sp>
        <p:nvSpPr>
          <p:cNvPr id="21" name="Text 19"/>
          <p:cNvSpPr/>
          <p:nvPr/>
        </p:nvSpPr>
        <p:spPr>
          <a:xfrm>
            <a:off x="6743700" y="2080022"/>
            <a:ext cx="4552188" cy="305991"/>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2350C9"/>
                </a:solidFill>
                <a:latin typeface="Zen Maru Gothic" pitchFamily="34" charset="0"/>
                <a:ea typeface="Zen Maru Gothic" pitchFamily="34" charset="-122"/>
                <a:cs typeface="Zen Maru Gothic" pitchFamily="34" charset="-120"/>
              </a:rPr>
              <a:t>名札：name と description</a:t>
            </a:r>
            <a:endParaRPr lang="en-US" sz="1700" dirty="0"/>
          </a:p>
        </p:txBody>
      </p:sp>
      <p:sp>
        <p:nvSpPr>
          <p:cNvPr id="22" name="Text 20"/>
          <p:cNvSpPr/>
          <p:nvPr/>
        </p:nvSpPr>
        <p:spPr>
          <a:xfrm>
            <a:off x="6743700" y="2398713"/>
            <a:ext cx="4552188"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6233B"/>
                </a:solidFill>
                <a:latin typeface="BIZ UDPGothic" pitchFamily="34" charset="0"/>
                <a:ea typeface="BIZ UDPGothic" pitchFamily="34" charset="-122"/>
                <a:cs typeface="BIZ UDPGothic" pitchFamily="34" charset="-120"/>
              </a:rPr>
              <a:t>名前と、「いつ使うか」の説明。AIはこれを見て、使うかどうかを決める。</a:t>
            </a:r>
            <a:endParaRPr lang="en-US" sz="1400" dirty="0"/>
          </a:p>
        </p:txBody>
      </p:sp>
      <p:sp>
        <p:nvSpPr>
          <p:cNvPr id="23" name="Shape 21"/>
          <p:cNvSpPr/>
          <p:nvPr/>
        </p:nvSpPr>
        <p:spPr>
          <a:xfrm>
            <a:off x="6534150" y="3250704"/>
            <a:ext cx="4838700" cy="1235373"/>
          </a:xfrm>
          <a:prstGeom prst="roundRect">
            <a:avLst>
              <a:gd name="adj" fmla="val 13878"/>
            </a:avLst>
          </a:prstGeom>
          <a:solidFill>
            <a:srgbClr val="FBFCFE"/>
          </a:solidFill>
          <a:ln w="12700">
            <a:solidFill>
              <a:srgbClr val="D3DBEA"/>
            </a:solidFill>
            <a:prstDash val="solid"/>
          </a:ln>
        </p:spPr>
      </p:sp>
      <p:sp>
        <p:nvSpPr>
          <p:cNvPr id="24" name="Text 22"/>
          <p:cNvSpPr/>
          <p:nvPr/>
        </p:nvSpPr>
        <p:spPr>
          <a:xfrm>
            <a:off x="6743700" y="3429595"/>
            <a:ext cx="4552188" cy="305991"/>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2350C9"/>
                </a:solidFill>
                <a:latin typeface="Zen Maru Gothic" pitchFamily="34" charset="0"/>
                <a:ea typeface="Zen Maru Gothic" pitchFamily="34" charset="-122"/>
                <a:cs typeface="Zen Maru Gothic" pitchFamily="34" charset="-120"/>
              </a:rPr>
              <a:t>本文：役割 → 決まり → 手順</a:t>
            </a:r>
            <a:endParaRPr lang="en-US" sz="1700" dirty="0"/>
          </a:p>
        </p:txBody>
      </p:sp>
      <p:sp>
        <p:nvSpPr>
          <p:cNvPr id="25" name="Text 23"/>
          <p:cNvSpPr/>
          <p:nvPr/>
        </p:nvSpPr>
        <p:spPr>
          <a:xfrm>
            <a:off x="6743700" y="3748286"/>
            <a:ext cx="4552188"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6233B"/>
                </a:solidFill>
                <a:latin typeface="BIZ UDPGothic" pitchFamily="34" charset="0"/>
                <a:ea typeface="BIZ UDPGothic" pitchFamily="34" charset="-122"/>
                <a:cs typeface="BIZ UDPGothic" pitchFamily="34" charset="-120"/>
              </a:rPr>
              <a:t>最初に「あなたは何の役か」を書き、次に守ることを書き、最後に順番を書く。</a:t>
            </a:r>
            <a:endParaRPr lang="en-US" sz="1400" dirty="0"/>
          </a:p>
        </p:txBody>
      </p:sp>
      <p:sp>
        <p:nvSpPr>
          <p:cNvPr id="26" name="Shape 24"/>
          <p:cNvSpPr/>
          <p:nvPr/>
        </p:nvSpPr>
        <p:spPr>
          <a:xfrm>
            <a:off x="6534150" y="4600377"/>
            <a:ext cx="4838700" cy="1235273"/>
          </a:xfrm>
          <a:prstGeom prst="roundRect">
            <a:avLst>
              <a:gd name="adj" fmla="val 13880"/>
            </a:avLst>
          </a:prstGeom>
          <a:solidFill>
            <a:srgbClr val="2F62E6"/>
          </a:solidFill>
          <a:ln w="12700">
            <a:solidFill>
              <a:srgbClr val="2F62E6"/>
            </a:solidFill>
            <a:prstDash val="solid"/>
          </a:ln>
        </p:spPr>
      </p:sp>
      <p:sp>
        <p:nvSpPr>
          <p:cNvPr id="27" name="Text 25"/>
          <p:cNvSpPr/>
          <p:nvPr/>
        </p:nvSpPr>
        <p:spPr>
          <a:xfrm>
            <a:off x="6743700" y="4779268"/>
            <a:ext cx="4552188" cy="305991"/>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FFFFF"/>
                </a:solidFill>
                <a:latin typeface="Zen Maru Gothic" pitchFamily="34" charset="0"/>
                <a:ea typeface="Zen Maru Gothic" pitchFamily="34" charset="-122"/>
                <a:cs typeface="Zen Maru Gothic" pitchFamily="34" charset="-120"/>
              </a:rPr>
              <a:t>これだけで動く</a:t>
            </a:r>
            <a:endParaRPr lang="en-US" sz="1700" dirty="0"/>
          </a:p>
        </p:txBody>
      </p:sp>
      <p:sp>
        <p:nvSpPr>
          <p:cNvPr id="28" name="Text 26"/>
          <p:cNvSpPr/>
          <p:nvPr/>
        </p:nvSpPr>
        <p:spPr>
          <a:xfrm>
            <a:off x="6743700" y="5097959"/>
            <a:ext cx="4552188"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E8EEFF"/>
                </a:solidFill>
                <a:latin typeface="BIZ UDPGothic" pitchFamily="34" charset="0"/>
                <a:ea typeface="BIZ UDPGothic" pitchFamily="34" charset="-122"/>
                <a:cs typeface="BIZ UDPGothic" pitchFamily="34" charset="-120"/>
              </a:rPr>
              <a:t>特別なソフトは要らない。文書を1つ置けば、AIの新しい仕事ができる。</a:t>
            </a:r>
            <a:endParaRPr lang="en-US" sz="1400" dirty="0"/>
          </a:p>
        </p:txBody>
      </p:sp>
      <p:sp>
        <p:nvSpPr>
          <p:cNvPr id="29" name="Text 27"/>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30" name="Text 28"/>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23 / 40</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3 ／ スキル</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このブログにある、3つのスキル</a:t>
            </a:r>
            <a:endParaRPr lang="en-US" sz="3200" dirty="0"/>
          </a:p>
        </p:txBody>
      </p:sp>
      <p:sp>
        <p:nvSpPr>
          <p:cNvPr id="4" name="Shape 2"/>
          <p:cNvSpPr/>
          <p:nvPr/>
        </p:nvSpPr>
        <p:spPr>
          <a:xfrm>
            <a:off x="819150" y="1901130"/>
            <a:ext cx="3407767" cy="3934520"/>
          </a:xfrm>
          <a:prstGeom prst="roundRect">
            <a:avLst>
              <a:gd name="adj" fmla="val 5031"/>
            </a:avLst>
          </a:prstGeom>
          <a:solidFill>
            <a:srgbClr val="FBFCFE"/>
          </a:solidFill>
          <a:ln w="12700">
            <a:solidFill>
              <a:srgbClr val="D3DBEA"/>
            </a:solidFill>
            <a:prstDash val="solid"/>
          </a:ln>
        </p:spPr>
      </p:sp>
      <p:sp>
        <p:nvSpPr>
          <p:cNvPr id="5" name="Shape 3"/>
          <p:cNvSpPr/>
          <p:nvPr/>
        </p:nvSpPr>
        <p:spPr>
          <a:xfrm>
            <a:off x="1028700" y="2085280"/>
            <a:ext cx="1196380" cy="307280"/>
          </a:xfrm>
          <a:prstGeom prst="roundRect">
            <a:avLst>
              <a:gd name="adj" fmla="val 50000"/>
            </a:avLst>
          </a:prstGeom>
          <a:solidFill>
            <a:srgbClr val="2F62E6"/>
          </a:solidFill>
          <a:ln/>
        </p:spPr>
      </p:sp>
      <p:sp>
        <p:nvSpPr>
          <p:cNvPr id="6" name="Text 4"/>
          <p:cNvSpPr/>
          <p:nvPr/>
        </p:nvSpPr>
        <p:spPr>
          <a:xfrm>
            <a:off x="1181100" y="2123380"/>
            <a:ext cx="94238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Source Code Pro" pitchFamily="34" charset="0"/>
                <a:ea typeface="Source Code Pro" pitchFamily="34" charset="-122"/>
                <a:cs typeface="Source Code Pro" pitchFamily="34" charset="-120"/>
              </a:rPr>
              <a:t>/add-idea</a:t>
            </a:r>
            <a:endParaRPr lang="en-US" sz="1300" dirty="0"/>
          </a:p>
        </p:txBody>
      </p:sp>
      <p:sp>
        <p:nvSpPr>
          <p:cNvPr id="7" name="Text 5"/>
          <p:cNvSpPr/>
          <p:nvPr/>
        </p:nvSpPr>
        <p:spPr>
          <a:xfrm>
            <a:off x="1028700" y="2468761"/>
            <a:ext cx="3078327"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6233B"/>
                </a:solidFill>
                <a:latin typeface="Zen Maru Gothic" pitchFamily="34" charset="0"/>
                <a:ea typeface="Zen Maru Gothic" pitchFamily="34" charset="-122"/>
                <a:cs typeface="Zen Maru Gothic" pitchFamily="34" charset="-120"/>
              </a:rPr>
              <a:t>ネタを出す</a:t>
            </a:r>
            <a:endParaRPr lang="en-US" sz="2000" dirty="0"/>
          </a:p>
        </p:txBody>
      </p:sp>
      <p:sp>
        <p:nvSpPr>
          <p:cNvPr id="8" name="Text 6"/>
          <p:cNvSpPr/>
          <p:nvPr/>
        </p:nvSpPr>
        <p:spPr>
          <a:xfrm>
            <a:off x="1028700" y="2875161"/>
            <a:ext cx="3078327"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56647E"/>
                </a:solidFill>
                <a:latin typeface="BIZ UDPGothic" pitchFamily="34" charset="0"/>
                <a:ea typeface="BIZ UDPGothic" pitchFamily="34" charset="-122"/>
                <a:cs typeface="BIZ UDPGothic" pitchFamily="34" charset="-120"/>
              </a:rPr>
              <a:t>思いつきや今日の出来事を、記事のネタにする。</a:t>
            </a:r>
            <a:endParaRPr lang="en-US" sz="1300" dirty="0"/>
          </a:p>
        </p:txBody>
      </p:sp>
      <p:sp>
        <p:nvSpPr>
          <p:cNvPr id="9" name="Text 7"/>
          <p:cNvSpPr/>
          <p:nvPr/>
        </p:nvSpPr>
        <p:spPr>
          <a:xfrm>
            <a:off x="1028700" y="3446661"/>
            <a:ext cx="3078327" cy="26471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6233B"/>
                </a:solidFill>
                <a:latin typeface="BIZ UDPGothic" pitchFamily="34" charset="0"/>
                <a:ea typeface="BIZ UDPGothic" pitchFamily="34" charset="-122"/>
                <a:cs typeface="BIZ UDPGothic" pitchFamily="34" charset="-120"/>
              </a:rPr>
              <a:t>1　起点を見分ける</a:t>
            </a:r>
            <a:endParaRPr lang="en-US" sz="1300" dirty="0"/>
          </a:p>
        </p:txBody>
      </p:sp>
      <p:sp>
        <p:nvSpPr>
          <p:cNvPr id="10" name="Text 8"/>
          <p:cNvSpPr/>
          <p:nvPr/>
        </p:nvSpPr>
        <p:spPr>
          <a:xfrm>
            <a:off x="1028700" y="3685977"/>
            <a:ext cx="3078327" cy="26471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6233B"/>
                </a:solidFill>
                <a:latin typeface="BIZ UDPGothic" pitchFamily="34" charset="0"/>
                <a:ea typeface="BIZ UDPGothic" pitchFamily="34" charset="-122"/>
                <a:cs typeface="BIZ UDPGothic" pitchFamily="34" charset="-120"/>
              </a:rPr>
              <a:t>2　素材を掘る</a:t>
            </a:r>
            <a:endParaRPr lang="en-US" sz="1300" dirty="0"/>
          </a:p>
        </p:txBody>
      </p:sp>
      <p:sp>
        <p:nvSpPr>
          <p:cNvPr id="11" name="Text 9"/>
          <p:cNvSpPr/>
          <p:nvPr/>
        </p:nvSpPr>
        <p:spPr>
          <a:xfrm>
            <a:off x="1028700" y="3925292"/>
            <a:ext cx="3078327" cy="26471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6233B"/>
                </a:solidFill>
                <a:latin typeface="BIZ UDPGothic" pitchFamily="34" charset="0"/>
                <a:ea typeface="BIZ UDPGothic" pitchFamily="34" charset="-122"/>
                <a:cs typeface="BIZ UDPGothic" pitchFamily="34" charset="-120"/>
              </a:rPr>
              <a:t>3　切り口を立てる</a:t>
            </a:r>
            <a:endParaRPr lang="en-US" sz="1300" dirty="0"/>
          </a:p>
        </p:txBody>
      </p:sp>
      <p:sp>
        <p:nvSpPr>
          <p:cNvPr id="12" name="Text 10"/>
          <p:cNvSpPr/>
          <p:nvPr/>
        </p:nvSpPr>
        <p:spPr>
          <a:xfrm>
            <a:off x="1028700" y="4164608"/>
            <a:ext cx="3078327" cy="26471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6233B"/>
                </a:solidFill>
                <a:latin typeface="BIZ UDPGothic" pitchFamily="34" charset="0"/>
                <a:ea typeface="BIZ UDPGothic" pitchFamily="34" charset="-122"/>
                <a:cs typeface="BIZ UDPGothic" pitchFamily="34" charset="-120"/>
              </a:rPr>
              <a:t>4　1本に絞る</a:t>
            </a:r>
            <a:endParaRPr lang="en-US" sz="1300" dirty="0"/>
          </a:p>
        </p:txBody>
      </p:sp>
      <p:sp>
        <p:nvSpPr>
          <p:cNvPr id="13" name="Text 11"/>
          <p:cNvSpPr/>
          <p:nvPr/>
        </p:nvSpPr>
        <p:spPr>
          <a:xfrm>
            <a:off x="1028700" y="4403923"/>
            <a:ext cx="3078327" cy="26471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6233B"/>
                </a:solidFill>
                <a:latin typeface="BIZ UDPGothic" pitchFamily="34" charset="0"/>
                <a:ea typeface="BIZ UDPGothic" pitchFamily="34" charset="-122"/>
                <a:cs typeface="BIZ UDPGothic" pitchFamily="34" charset="-120"/>
              </a:rPr>
              <a:t>5　審査して書き込む</a:t>
            </a:r>
            <a:endParaRPr lang="en-US" sz="1300" dirty="0"/>
          </a:p>
        </p:txBody>
      </p:sp>
      <p:sp>
        <p:nvSpPr>
          <p:cNvPr id="14" name="Text 12"/>
          <p:cNvSpPr/>
          <p:nvPr/>
        </p:nvSpPr>
        <p:spPr>
          <a:xfrm>
            <a:off x="1028700" y="4719439"/>
            <a:ext cx="3078327" cy="711200"/>
          </a:xfrm>
          <a:prstGeom prst="rect">
            <a:avLst/>
          </a:prstGeom>
          <a:noFill/>
          <a:ln/>
        </p:spPr>
        <p:txBody>
          <a:bodyPr wrap="square" lIns="0" tIns="0" rIns="0" bIns="0" rtlCol="0" anchor="t">
            <a:normAutofit/>
          </a:bodyPr>
          <a:lstStyle/>
          <a:p>
            <a:pPr algn="l" indent="0" marL="0">
              <a:lnSpc>
                <a:spcPts val="1800"/>
              </a:lnSpc>
              <a:buNone/>
            </a:pPr>
            <a:r>
              <a:rPr lang="en-US" sz="1200" b="1" dirty="0">
                <a:solidFill>
                  <a:srgbClr val="2350C9"/>
                </a:solidFill>
                <a:latin typeface="Source Code Pro" pitchFamily="34" charset="0"/>
                <a:ea typeface="Source Code Pro" pitchFamily="34" charset="-122"/>
                <a:cs typeface="Source Code Pro" pitchFamily="34" charset="-120"/>
              </a:rPr>
              <a:t>呼ぶ担当：</a:t>
            </a:r>
            <a:endParaRPr lang="en-US" sz="1200" dirty="0"/>
          </a:p>
          <a:p>
            <a:pPr algn="l" indent="0" marL="0">
              <a:lnSpc>
                <a:spcPts val="1800"/>
              </a:lnSpc>
              <a:buNone/>
            </a:pPr>
            <a:r>
              <a:rPr lang="en-US" sz="1200" b="1" dirty="0">
                <a:solidFill>
                  <a:srgbClr val="2350C9"/>
                </a:solidFill>
                <a:latin typeface="Source Code Pro" pitchFamily="34" charset="0"/>
                <a:ea typeface="Source Code Pro" pitchFamily="34" charset="-122"/>
                <a:cs typeface="Source Code Pro" pitchFamily="34" charset="-120"/>
              </a:rPr>
              <a:t>💡 ヒラク</a:t>
            </a:r>
            <a:endParaRPr lang="en-US" sz="1200" dirty="0"/>
          </a:p>
          <a:p>
            <a:pPr algn="l" indent="0" marL="0">
              <a:lnSpc>
                <a:spcPts val="1800"/>
              </a:lnSpc>
              <a:buNone/>
            </a:pPr>
            <a:r>
              <a:rPr lang="en-US" sz="1200" b="1" dirty="0">
                <a:solidFill>
                  <a:srgbClr val="2350C9"/>
                </a:solidFill>
                <a:latin typeface="Source Code Pro" pitchFamily="34" charset="0"/>
                <a:ea typeface="Source Code Pro" pitchFamily="34" charset="-122"/>
                <a:cs typeface="Source Code Pro" pitchFamily="34" charset="-120"/>
              </a:rPr>
              <a:t>🗃️ クラ</a:t>
            </a:r>
            <a:endParaRPr lang="en-US" sz="1200" dirty="0"/>
          </a:p>
        </p:txBody>
      </p:sp>
      <p:sp>
        <p:nvSpPr>
          <p:cNvPr id="15" name="Shape 13"/>
          <p:cNvSpPr/>
          <p:nvPr/>
        </p:nvSpPr>
        <p:spPr>
          <a:xfrm>
            <a:off x="4392017" y="1901130"/>
            <a:ext cx="3407866" cy="3934520"/>
          </a:xfrm>
          <a:prstGeom prst="roundRect">
            <a:avLst>
              <a:gd name="adj" fmla="val 5031"/>
            </a:avLst>
          </a:prstGeom>
          <a:solidFill>
            <a:srgbClr val="FBFCFE"/>
          </a:solidFill>
          <a:ln w="12700">
            <a:solidFill>
              <a:srgbClr val="D3DBEA"/>
            </a:solidFill>
            <a:prstDash val="solid"/>
          </a:ln>
        </p:spPr>
      </p:sp>
      <p:sp>
        <p:nvSpPr>
          <p:cNvPr id="16" name="Shape 14"/>
          <p:cNvSpPr/>
          <p:nvPr/>
        </p:nvSpPr>
        <p:spPr>
          <a:xfrm>
            <a:off x="4601567" y="2085280"/>
            <a:ext cx="1394520" cy="307280"/>
          </a:xfrm>
          <a:prstGeom prst="roundRect">
            <a:avLst>
              <a:gd name="adj" fmla="val 50000"/>
            </a:avLst>
          </a:prstGeom>
          <a:solidFill>
            <a:srgbClr val="2F62E6"/>
          </a:solidFill>
          <a:ln/>
        </p:spPr>
      </p:sp>
      <p:sp>
        <p:nvSpPr>
          <p:cNvPr id="17" name="Text 15"/>
          <p:cNvSpPr/>
          <p:nvPr/>
        </p:nvSpPr>
        <p:spPr>
          <a:xfrm>
            <a:off x="4753967" y="2123380"/>
            <a:ext cx="114052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Source Code Pro" pitchFamily="34" charset="0"/>
                <a:ea typeface="Source Code Pro" pitchFamily="34" charset="-122"/>
                <a:cs typeface="Source Code Pro" pitchFamily="34" charset="-120"/>
              </a:rPr>
              <a:t>/write-post</a:t>
            </a:r>
            <a:endParaRPr lang="en-US" sz="1300" dirty="0"/>
          </a:p>
        </p:txBody>
      </p:sp>
      <p:sp>
        <p:nvSpPr>
          <p:cNvPr id="18" name="Text 16"/>
          <p:cNvSpPr/>
          <p:nvPr/>
        </p:nvSpPr>
        <p:spPr>
          <a:xfrm>
            <a:off x="4601567" y="2468761"/>
            <a:ext cx="3078429"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6233B"/>
                </a:solidFill>
                <a:latin typeface="Zen Maru Gothic" pitchFamily="34" charset="0"/>
                <a:ea typeface="Zen Maru Gothic" pitchFamily="34" charset="-122"/>
                <a:cs typeface="Zen Maru Gothic" pitchFamily="34" charset="-120"/>
              </a:rPr>
              <a:t>記事を書く</a:t>
            </a:r>
            <a:endParaRPr lang="en-US" sz="2000" dirty="0"/>
          </a:p>
        </p:txBody>
      </p:sp>
      <p:sp>
        <p:nvSpPr>
          <p:cNvPr id="19" name="Text 17"/>
          <p:cNvSpPr/>
          <p:nvPr/>
        </p:nvSpPr>
        <p:spPr>
          <a:xfrm>
            <a:off x="4601567" y="2875161"/>
            <a:ext cx="3078429"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56647E"/>
                </a:solidFill>
                <a:latin typeface="BIZ UDPGothic" pitchFamily="34" charset="0"/>
                <a:ea typeface="BIZ UDPGothic" pitchFamily="34" charset="-122"/>
                <a:cs typeface="BIZ UDPGothic" pitchFamily="34" charset="-120"/>
              </a:rPr>
              <a:t>テーマ決めから保存まで、質問しながら1本仕上げる。</a:t>
            </a:r>
            <a:endParaRPr lang="en-US" sz="1300" dirty="0"/>
          </a:p>
        </p:txBody>
      </p:sp>
      <p:sp>
        <p:nvSpPr>
          <p:cNvPr id="20" name="Text 18"/>
          <p:cNvSpPr/>
          <p:nvPr/>
        </p:nvSpPr>
        <p:spPr>
          <a:xfrm>
            <a:off x="4601567" y="3446661"/>
            <a:ext cx="3078429" cy="26471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6233B"/>
                </a:solidFill>
                <a:latin typeface="BIZ UDPGothic" pitchFamily="34" charset="0"/>
                <a:ea typeface="BIZ UDPGothic" pitchFamily="34" charset="-122"/>
                <a:cs typeface="BIZ UDPGothic" pitchFamily="34" charset="-120"/>
              </a:rPr>
              <a:t>0〜1　状況確認・テーマ</a:t>
            </a:r>
            <a:endParaRPr lang="en-US" sz="1300" dirty="0"/>
          </a:p>
        </p:txBody>
      </p:sp>
      <p:sp>
        <p:nvSpPr>
          <p:cNvPr id="21" name="Text 19"/>
          <p:cNvSpPr/>
          <p:nvPr/>
        </p:nvSpPr>
        <p:spPr>
          <a:xfrm>
            <a:off x="4601567" y="3685977"/>
            <a:ext cx="3078429" cy="26471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6233B"/>
                </a:solidFill>
                <a:latin typeface="BIZ UDPGothic" pitchFamily="34" charset="0"/>
                <a:ea typeface="BIZ UDPGothic" pitchFamily="34" charset="-122"/>
                <a:cs typeface="BIZ UDPGothic" pitchFamily="34" charset="-120"/>
              </a:rPr>
              <a:t>2　体験のヒアリング</a:t>
            </a:r>
            <a:endParaRPr lang="en-US" sz="1300" dirty="0"/>
          </a:p>
        </p:txBody>
      </p:sp>
      <p:sp>
        <p:nvSpPr>
          <p:cNvPr id="22" name="Text 20"/>
          <p:cNvSpPr/>
          <p:nvPr/>
        </p:nvSpPr>
        <p:spPr>
          <a:xfrm>
            <a:off x="4601567" y="3925292"/>
            <a:ext cx="3078429" cy="26471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6233B"/>
                </a:solidFill>
                <a:latin typeface="BIZ UDPGothic" pitchFamily="34" charset="0"/>
                <a:ea typeface="BIZ UDPGothic" pitchFamily="34" charset="-122"/>
                <a:cs typeface="BIZ UDPGothic" pitchFamily="34" charset="-120"/>
              </a:rPr>
              <a:t>3〜4　構成・下書き</a:t>
            </a:r>
            <a:endParaRPr lang="en-US" sz="1300" dirty="0"/>
          </a:p>
        </p:txBody>
      </p:sp>
      <p:sp>
        <p:nvSpPr>
          <p:cNvPr id="23" name="Text 21"/>
          <p:cNvSpPr/>
          <p:nvPr/>
        </p:nvSpPr>
        <p:spPr>
          <a:xfrm>
            <a:off x="4601567" y="4164608"/>
            <a:ext cx="3078429" cy="26471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6233B"/>
                </a:solidFill>
                <a:latin typeface="BIZ UDPGothic" pitchFamily="34" charset="0"/>
                <a:ea typeface="BIZ UDPGothic" pitchFamily="34" charset="-122"/>
                <a:cs typeface="BIZ UDPGothic" pitchFamily="34" charset="-120"/>
              </a:rPr>
              <a:t>5　校閲</a:t>
            </a:r>
            <a:endParaRPr lang="en-US" sz="1300" dirty="0"/>
          </a:p>
        </p:txBody>
      </p:sp>
      <p:sp>
        <p:nvSpPr>
          <p:cNvPr id="24" name="Text 22"/>
          <p:cNvSpPr/>
          <p:nvPr/>
        </p:nvSpPr>
        <p:spPr>
          <a:xfrm>
            <a:off x="4601567" y="4403923"/>
            <a:ext cx="3078429" cy="26471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6233B"/>
                </a:solidFill>
                <a:latin typeface="BIZ UDPGothic" pitchFamily="34" charset="0"/>
                <a:ea typeface="BIZ UDPGothic" pitchFamily="34" charset="-122"/>
                <a:cs typeface="BIZ UDPGothic" pitchFamily="34" charset="-120"/>
              </a:rPr>
              <a:t>6〜7　保存・後片付け</a:t>
            </a:r>
            <a:endParaRPr lang="en-US" sz="1300" dirty="0"/>
          </a:p>
        </p:txBody>
      </p:sp>
      <p:sp>
        <p:nvSpPr>
          <p:cNvPr id="25" name="Text 23"/>
          <p:cNvSpPr/>
          <p:nvPr/>
        </p:nvSpPr>
        <p:spPr>
          <a:xfrm>
            <a:off x="4601567" y="4719439"/>
            <a:ext cx="3078429" cy="482600"/>
          </a:xfrm>
          <a:prstGeom prst="rect">
            <a:avLst/>
          </a:prstGeom>
          <a:noFill/>
          <a:ln/>
        </p:spPr>
        <p:txBody>
          <a:bodyPr wrap="square" lIns="0" tIns="0" rIns="0" bIns="0" rtlCol="0" anchor="t">
            <a:normAutofit/>
          </a:bodyPr>
          <a:lstStyle/>
          <a:p>
            <a:pPr algn="l" indent="0" marL="0">
              <a:lnSpc>
                <a:spcPts val="1800"/>
              </a:lnSpc>
              <a:buNone/>
            </a:pPr>
            <a:r>
              <a:rPr lang="en-US" sz="1200" b="1" dirty="0">
                <a:solidFill>
                  <a:srgbClr val="2350C9"/>
                </a:solidFill>
                <a:latin typeface="Source Code Pro" pitchFamily="34" charset="0"/>
                <a:ea typeface="Source Code Pro" pitchFamily="34" charset="-122"/>
                <a:cs typeface="Source Code Pro" pitchFamily="34" charset="-120"/>
              </a:rPr>
              <a:t>呼ぶ担当：</a:t>
            </a:r>
            <a:endParaRPr lang="en-US" sz="1200" dirty="0"/>
          </a:p>
          <a:p>
            <a:pPr algn="l" indent="0" marL="0">
              <a:lnSpc>
                <a:spcPts val="1800"/>
              </a:lnSpc>
              <a:buNone/>
            </a:pPr>
            <a:r>
              <a:rPr lang="en-US" sz="1200" b="1" dirty="0">
                <a:solidFill>
                  <a:srgbClr val="2350C9"/>
                </a:solidFill>
                <a:latin typeface="Source Code Pro" pitchFamily="34" charset="0"/>
                <a:ea typeface="Source Code Pro" pitchFamily="34" charset="-122"/>
                <a:cs typeface="Source Code Pro" pitchFamily="34" charset="-120"/>
              </a:rPr>
              <a:t>🖍️ アカネ</a:t>
            </a:r>
            <a:endParaRPr lang="en-US" sz="1200" dirty="0"/>
          </a:p>
        </p:txBody>
      </p:sp>
      <p:sp>
        <p:nvSpPr>
          <p:cNvPr id="26" name="Shape 24"/>
          <p:cNvSpPr/>
          <p:nvPr/>
        </p:nvSpPr>
        <p:spPr>
          <a:xfrm>
            <a:off x="7964984" y="1901130"/>
            <a:ext cx="3407866" cy="3934520"/>
          </a:xfrm>
          <a:prstGeom prst="roundRect">
            <a:avLst>
              <a:gd name="adj" fmla="val 5031"/>
            </a:avLst>
          </a:prstGeom>
          <a:solidFill>
            <a:srgbClr val="FBFCFE"/>
          </a:solidFill>
          <a:ln w="12700">
            <a:solidFill>
              <a:srgbClr val="D3DBEA"/>
            </a:solidFill>
            <a:prstDash val="solid"/>
          </a:ln>
        </p:spPr>
      </p:sp>
      <p:sp>
        <p:nvSpPr>
          <p:cNvPr id="27" name="Shape 25"/>
          <p:cNvSpPr/>
          <p:nvPr/>
        </p:nvSpPr>
        <p:spPr>
          <a:xfrm>
            <a:off x="8174534" y="2085280"/>
            <a:ext cx="1889820" cy="307280"/>
          </a:xfrm>
          <a:prstGeom prst="roundRect">
            <a:avLst>
              <a:gd name="adj" fmla="val 50000"/>
            </a:avLst>
          </a:prstGeom>
          <a:solidFill>
            <a:srgbClr val="2F62E6"/>
          </a:solidFill>
          <a:ln/>
        </p:spPr>
      </p:sp>
      <p:sp>
        <p:nvSpPr>
          <p:cNvPr id="28" name="Text 26"/>
          <p:cNvSpPr/>
          <p:nvPr/>
        </p:nvSpPr>
        <p:spPr>
          <a:xfrm>
            <a:off x="8326934" y="2123380"/>
            <a:ext cx="163582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Source Code Pro" pitchFamily="34" charset="0"/>
                <a:ea typeface="Source Code Pro" pitchFamily="34" charset="-122"/>
                <a:cs typeface="Source Code Pro" pitchFamily="34" charset="-120"/>
              </a:rPr>
              <a:t>/add-infographic</a:t>
            </a:r>
            <a:endParaRPr lang="en-US" sz="1300" dirty="0"/>
          </a:p>
        </p:txBody>
      </p:sp>
      <p:sp>
        <p:nvSpPr>
          <p:cNvPr id="29" name="Text 27"/>
          <p:cNvSpPr/>
          <p:nvPr/>
        </p:nvSpPr>
        <p:spPr>
          <a:xfrm>
            <a:off x="8174534" y="2468761"/>
            <a:ext cx="3078429"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6233B"/>
                </a:solidFill>
                <a:latin typeface="Zen Maru Gothic" pitchFamily="34" charset="0"/>
                <a:ea typeface="Zen Maru Gothic" pitchFamily="34" charset="-122"/>
                <a:cs typeface="Zen Maru Gothic" pitchFamily="34" charset="-120"/>
              </a:rPr>
              <a:t>図解をつける</a:t>
            </a:r>
            <a:endParaRPr lang="en-US" sz="2000" dirty="0"/>
          </a:p>
        </p:txBody>
      </p:sp>
      <p:sp>
        <p:nvSpPr>
          <p:cNvPr id="30" name="Text 28"/>
          <p:cNvSpPr/>
          <p:nvPr/>
        </p:nvSpPr>
        <p:spPr>
          <a:xfrm>
            <a:off x="8174534" y="2875161"/>
            <a:ext cx="3078429"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56647E"/>
                </a:solidFill>
                <a:latin typeface="BIZ UDPGothic" pitchFamily="34" charset="0"/>
                <a:ea typeface="BIZ UDPGothic" pitchFamily="34" charset="-122"/>
                <a:cs typeface="BIZ UDPGothic" pitchFamily="34" charset="-120"/>
              </a:rPr>
              <a:t>記事の一番上に載せる、図解の画像を作る。</a:t>
            </a:r>
            <a:endParaRPr lang="en-US" sz="1300" dirty="0"/>
          </a:p>
        </p:txBody>
      </p:sp>
      <p:sp>
        <p:nvSpPr>
          <p:cNvPr id="31" name="Text 29"/>
          <p:cNvSpPr/>
          <p:nvPr/>
        </p:nvSpPr>
        <p:spPr>
          <a:xfrm>
            <a:off x="8174534" y="3446661"/>
            <a:ext cx="3078429" cy="26471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6233B"/>
                </a:solidFill>
                <a:latin typeface="BIZ UDPGothic" pitchFamily="34" charset="0"/>
                <a:ea typeface="BIZ UDPGothic" pitchFamily="34" charset="-122"/>
                <a:cs typeface="BIZ UDPGothic" pitchFamily="34" charset="-120"/>
              </a:rPr>
              <a:t>1　対象の記事を決める</a:t>
            </a:r>
            <a:endParaRPr lang="en-US" sz="1300" dirty="0"/>
          </a:p>
        </p:txBody>
      </p:sp>
      <p:sp>
        <p:nvSpPr>
          <p:cNvPr id="32" name="Text 30"/>
          <p:cNvSpPr/>
          <p:nvPr/>
        </p:nvSpPr>
        <p:spPr>
          <a:xfrm>
            <a:off x="8174534" y="3685977"/>
            <a:ext cx="3078429" cy="26471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6233B"/>
                </a:solidFill>
                <a:latin typeface="BIZ UDPGothic" pitchFamily="34" charset="0"/>
                <a:ea typeface="BIZ UDPGothic" pitchFamily="34" charset="-122"/>
                <a:cs typeface="BIZ UDPGothic" pitchFamily="34" charset="-120"/>
              </a:rPr>
              <a:t>2　載せる要素を決める</a:t>
            </a:r>
            <a:endParaRPr lang="en-US" sz="1300" dirty="0"/>
          </a:p>
        </p:txBody>
      </p:sp>
      <p:sp>
        <p:nvSpPr>
          <p:cNvPr id="33" name="Text 31"/>
          <p:cNvSpPr/>
          <p:nvPr/>
        </p:nvSpPr>
        <p:spPr>
          <a:xfrm>
            <a:off x="8174534" y="3925292"/>
            <a:ext cx="3078429" cy="26471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6233B"/>
                </a:solidFill>
                <a:latin typeface="BIZ UDPGothic" pitchFamily="34" charset="0"/>
                <a:ea typeface="BIZ UDPGothic" pitchFamily="34" charset="-122"/>
                <a:cs typeface="BIZ UDPGothic" pitchFamily="34" charset="-120"/>
              </a:rPr>
              <a:t>3　HTMLを作る</a:t>
            </a:r>
            <a:endParaRPr lang="en-US" sz="1300" dirty="0"/>
          </a:p>
        </p:txBody>
      </p:sp>
      <p:sp>
        <p:nvSpPr>
          <p:cNvPr id="34" name="Text 32"/>
          <p:cNvSpPr/>
          <p:nvPr/>
        </p:nvSpPr>
        <p:spPr>
          <a:xfrm>
            <a:off x="8174534" y="4164608"/>
            <a:ext cx="3078429" cy="26471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6233B"/>
                </a:solidFill>
                <a:latin typeface="BIZ UDPGothic" pitchFamily="34" charset="0"/>
                <a:ea typeface="BIZ UDPGothic" pitchFamily="34" charset="-122"/>
                <a:cs typeface="BIZ UDPGothic" pitchFamily="34" charset="-120"/>
              </a:rPr>
              <a:t>4　画像にして確認</a:t>
            </a:r>
            <a:endParaRPr lang="en-US" sz="1300" dirty="0"/>
          </a:p>
        </p:txBody>
      </p:sp>
      <p:sp>
        <p:nvSpPr>
          <p:cNvPr id="35" name="Text 33"/>
          <p:cNvSpPr/>
          <p:nvPr/>
        </p:nvSpPr>
        <p:spPr>
          <a:xfrm>
            <a:off x="8174534" y="4403923"/>
            <a:ext cx="3078429" cy="26471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6233B"/>
                </a:solidFill>
                <a:latin typeface="BIZ UDPGothic" pitchFamily="34" charset="0"/>
                <a:ea typeface="BIZ UDPGothic" pitchFamily="34" charset="-122"/>
                <a:cs typeface="BIZ UDPGothic" pitchFamily="34" charset="-120"/>
              </a:rPr>
              <a:t>5　記事に付ける</a:t>
            </a:r>
            <a:endParaRPr lang="en-US" sz="1300" dirty="0"/>
          </a:p>
        </p:txBody>
      </p:sp>
      <p:sp>
        <p:nvSpPr>
          <p:cNvPr id="36" name="Text 34"/>
          <p:cNvSpPr/>
          <p:nvPr/>
        </p:nvSpPr>
        <p:spPr>
          <a:xfrm>
            <a:off x="8174534" y="4719439"/>
            <a:ext cx="3078429" cy="482600"/>
          </a:xfrm>
          <a:prstGeom prst="rect">
            <a:avLst/>
          </a:prstGeom>
          <a:noFill/>
          <a:ln/>
        </p:spPr>
        <p:txBody>
          <a:bodyPr wrap="square" lIns="0" tIns="0" rIns="0" bIns="0" rtlCol="0" anchor="t">
            <a:normAutofit/>
          </a:bodyPr>
          <a:lstStyle/>
          <a:p>
            <a:pPr algn="l" indent="0" marL="0">
              <a:lnSpc>
                <a:spcPts val="1800"/>
              </a:lnSpc>
              <a:buNone/>
            </a:pPr>
            <a:r>
              <a:rPr lang="en-US" sz="1200" b="1" dirty="0">
                <a:solidFill>
                  <a:srgbClr val="2350C9"/>
                </a:solidFill>
                <a:latin typeface="Source Code Pro" pitchFamily="34" charset="0"/>
                <a:ea typeface="Source Code Pro" pitchFamily="34" charset="-122"/>
                <a:cs typeface="Source Code Pro" pitchFamily="34" charset="-120"/>
              </a:rPr>
              <a:t>呼ぶ担当：</a:t>
            </a:r>
            <a:endParaRPr lang="en-US" sz="1200" dirty="0"/>
          </a:p>
          <a:p>
            <a:pPr algn="l" indent="0" marL="0">
              <a:lnSpc>
                <a:spcPts val="1800"/>
              </a:lnSpc>
              <a:buNone/>
            </a:pPr>
            <a:r>
              <a:rPr lang="en-US" sz="1200" b="1" dirty="0">
                <a:solidFill>
                  <a:srgbClr val="2350C9"/>
                </a:solidFill>
                <a:latin typeface="Source Code Pro" pitchFamily="34" charset="0"/>
                <a:ea typeface="Source Code Pro" pitchFamily="34" charset="-122"/>
                <a:cs typeface="Source Code Pro" pitchFamily="34" charset="-120"/>
              </a:rPr>
              <a:t>なし</a:t>
            </a:r>
            <a:endParaRPr lang="en-US" sz="1200" dirty="0"/>
          </a:p>
        </p:txBody>
      </p:sp>
      <p:sp>
        <p:nvSpPr>
          <p:cNvPr id="37" name="Text 35"/>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38" name="Text 36"/>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24 / 40</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3 ／ スキル</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「記事を書く」スキルは、8つのステップ</a:t>
            </a:r>
            <a:endParaRPr lang="en-US" sz="3200" dirty="0"/>
          </a:p>
        </p:txBody>
      </p:sp>
      <p:sp>
        <p:nvSpPr>
          <p:cNvPr id="4" name="Shape 2"/>
          <p:cNvSpPr/>
          <p:nvPr/>
        </p:nvSpPr>
        <p:spPr>
          <a:xfrm>
            <a:off x="819150" y="1901130"/>
            <a:ext cx="2533650" cy="1604070"/>
          </a:xfrm>
          <a:prstGeom prst="roundRect">
            <a:avLst>
              <a:gd name="adj" fmla="val 10688"/>
            </a:avLst>
          </a:prstGeom>
          <a:solidFill>
            <a:srgbClr val="FBFCFE"/>
          </a:solidFill>
          <a:ln w="12700">
            <a:solidFill>
              <a:srgbClr val="D3DBEA"/>
            </a:solidFill>
            <a:prstDash val="solid"/>
          </a:ln>
        </p:spPr>
      </p:sp>
      <p:sp>
        <p:nvSpPr>
          <p:cNvPr id="5" name="Shape 3"/>
          <p:cNvSpPr/>
          <p:nvPr/>
        </p:nvSpPr>
        <p:spPr>
          <a:xfrm>
            <a:off x="977900" y="2047180"/>
            <a:ext cx="430312" cy="307280"/>
          </a:xfrm>
          <a:prstGeom prst="roundRect">
            <a:avLst>
              <a:gd name="adj" fmla="val 50000"/>
            </a:avLst>
          </a:prstGeom>
          <a:solidFill>
            <a:srgbClr val="2F62E6"/>
          </a:solidFill>
          <a:ln/>
        </p:spPr>
      </p:sp>
      <p:sp>
        <p:nvSpPr>
          <p:cNvPr id="6" name="Text 4"/>
          <p:cNvSpPr/>
          <p:nvPr/>
        </p:nvSpPr>
        <p:spPr>
          <a:xfrm>
            <a:off x="1130300" y="2085280"/>
            <a:ext cx="17631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BIZ UDPGothic" pitchFamily="34" charset="0"/>
                <a:ea typeface="BIZ UDPGothic" pitchFamily="34" charset="-122"/>
                <a:cs typeface="BIZ UDPGothic" pitchFamily="34" charset="-120"/>
              </a:rPr>
              <a:t>0</a:t>
            </a:r>
            <a:endParaRPr lang="en-US" sz="1300" dirty="0"/>
          </a:p>
        </p:txBody>
      </p:sp>
      <p:sp>
        <p:nvSpPr>
          <p:cNvPr id="7" name="Text 5"/>
          <p:cNvSpPr/>
          <p:nvPr/>
        </p:nvSpPr>
        <p:spPr>
          <a:xfrm>
            <a:off x="977900" y="2417961"/>
            <a:ext cx="2282635"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233B"/>
                </a:solidFill>
                <a:latin typeface="Zen Maru Gothic" pitchFamily="34" charset="0"/>
                <a:ea typeface="Zen Maru Gothic" pitchFamily="34" charset="-122"/>
                <a:cs typeface="Zen Maru Gothic" pitchFamily="34" charset="-120"/>
              </a:rPr>
              <a:t>状況確認</a:t>
            </a:r>
            <a:endParaRPr lang="en-US" sz="1600" dirty="0"/>
          </a:p>
        </p:txBody>
      </p:sp>
      <p:sp>
        <p:nvSpPr>
          <p:cNvPr id="8" name="Text 6"/>
          <p:cNvSpPr/>
          <p:nvPr/>
        </p:nvSpPr>
        <p:spPr>
          <a:xfrm>
            <a:off x="977900" y="2745581"/>
            <a:ext cx="2282635"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56647E"/>
                </a:solidFill>
                <a:latin typeface="BIZ UDPGothic" pitchFamily="34" charset="0"/>
                <a:ea typeface="BIZ UDPGothic" pitchFamily="34" charset="-122"/>
                <a:cs typeface="BIZ UDPGothic" pitchFamily="34" charset="-120"/>
              </a:rPr>
              <a:t>書きかけがないか、まず確認する</a:t>
            </a:r>
            <a:endParaRPr lang="en-US" sz="1300" dirty="0"/>
          </a:p>
        </p:txBody>
      </p:sp>
      <p:sp>
        <p:nvSpPr>
          <p:cNvPr id="9" name="Shape 7"/>
          <p:cNvSpPr/>
          <p:nvPr/>
        </p:nvSpPr>
        <p:spPr>
          <a:xfrm>
            <a:off x="3492500" y="1901130"/>
            <a:ext cx="2533650" cy="1604070"/>
          </a:xfrm>
          <a:prstGeom prst="roundRect">
            <a:avLst>
              <a:gd name="adj" fmla="val 10688"/>
            </a:avLst>
          </a:prstGeom>
          <a:solidFill>
            <a:srgbClr val="FBFCFE"/>
          </a:solidFill>
          <a:ln w="12700">
            <a:solidFill>
              <a:srgbClr val="D3DBEA"/>
            </a:solidFill>
            <a:prstDash val="solid"/>
          </a:ln>
        </p:spPr>
      </p:sp>
      <p:sp>
        <p:nvSpPr>
          <p:cNvPr id="10" name="Shape 8"/>
          <p:cNvSpPr/>
          <p:nvPr/>
        </p:nvSpPr>
        <p:spPr>
          <a:xfrm>
            <a:off x="3651250" y="2047180"/>
            <a:ext cx="408880" cy="307280"/>
          </a:xfrm>
          <a:prstGeom prst="roundRect">
            <a:avLst>
              <a:gd name="adj" fmla="val 50000"/>
            </a:avLst>
          </a:prstGeom>
          <a:solidFill>
            <a:srgbClr val="2F62E6"/>
          </a:solidFill>
          <a:ln/>
        </p:spPr>
      </p:sp>
      <p:sp>
        <p:nvSpPr>
          <p:cNvPr id="11" name="Text 9"/>
          <p:cNvSpPr/>
          <p:nvPr/>
        </p:nvSpPr>
        <p:spPr>
          <a:xfrm>
            <a:off x="3803650" y="2085280"/>
            <a:ext cx="15488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BIZ UDPGothic" pitchFamily="34" charset="0"/>
                <a:ea typeface="BIZ UDPGothic" pitchFamily="34" charset="-122"/>
                <a:cs typeface="BIZ UDPGothic" pitchFamily="34" charset="-120"/>
              </a:rPr>
              <a:t>1</a:t>
            </a:r>
            <a:endParaRPr lang="en-US" sz="1300" dirty="0"/>
          </a:p>
        </p:txBody>
      </p:sp>
      <p:sp>
        <p:nvSpPr>
          <p:cNvPr id="12" name="Text 10"/>
          <p:cNvSpPr/>
          <p:nvPr/>
        </p:nvSpPr>
        <p:spPr>
          <a:xfrm>
            <a:off x="3651250" y="2417961"/>
            <a:ext cx="2282635"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233B"/>
                </a:solidFill>
                <a:latin typeface="Zen Maru Gothic" pitchFamily="34" charset="0"/>
                <a:ea typeface="Zen Maru Gothic" pitchFamily="34" charset="-122"/>
                <a:cs typeface="Zen Maru Gothic" pitchFamily="34" charset="-120"/>
              </a:rPr>
              <a:t>テーマ決め</a:t>
            </a:r>
            <a:endParaRPr lang="en-US" sz="1600" dirty="0"/>
          </a:p>
        </p:txBody>
      </p:sp>
      <p:sp>
        <p:nvSpPr>
          <p:cNvPr id="13" name="Text 11"/>
          <p:cNvSpPr/>
          <p:nvPr/>
        </p:nvSpPr>
        <p:spPr>
          <a:xfrm>
            <a:off x="3651250" y="2745581"/>
            <a:ext cx="2282635"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56647E"/>
                </a:solidFill>
                <a:latin typeface="BIZ UDPGothic" pitchFamily="34" charset="0"/>
                <a:ea typeface="BIZ UDPGothic" pitchFamily="34" charset="-122"/>
                <a:cs typeface="BIZ UDPGothic" pitchFamily="34" charset="-120"/>
              </a:rPr>
              <a:t>次に書く候補を、理由つきで2〜3本出す</a:t>
            </a:r>
            <a:endParaRPr lang="en-US" sz="1300" dirty="0"/>
          </a:p>
        </p:txBody>
      </p:sp>
      <p:sp>
        <p:nvSpPr>
          <p:cNvPr id="14" name="Shape 12"/>
          <p:cNvSpPr/>
          <p:nvPr/>
        </p:nvSpPr>
        <p:spPr>
          <a:xfrm>
            <a:off x="6165850" y="1901130"/>
            <a:ext cx="2533650" cy="1604070"/>
          </a:xfrm>
          <a:prstGeom prst="roundRect">
            <a:avLst>
              <a:gd name="adj" fmla="val 10688"/>
            </a:avLst>
          </a:prstGeom>
          <a:solidFill>
            <a:srgbClr val="FFF0BD"/>
          </a:solidFill>
          <a:ln w="12700">
            <a:solidFill>
              <a:srgbClr val="FFC83D"/>
            </a:solidFill>
            <a:prstDash val="solid"/>
          </a:ln>
        </p:spPr>
      </p:sp>
      <p:sp>
        <p:nvSpPr>
          <p:cNvPr id="15" name="Shape 13"/>
          <p:cNvSpPr/>
          <p:nvPr/>
        </p:nvSpPr>
        <p:spPr>
          <a:xfrm>
            <a:off x="6324600" y="2047180"/>
            <a:ext cx="430312" cy="307280"/>
          </a:xfrm>
          <a:prstGeom prst="roundRect">
            <a:avLst>
              <a:gd name="adj" fmla="val 50000"/>
            </a:avLst>
          </a:prstGeom>
          <a:solidFill>
            <a:srgbClr val="FFC83D"/>
          </a:solidFill>
          <a:ln/>
        </p:spPr>
      </p:sp>
      <p:sp>
        <p:nvSpPr>
          <p:cNvPr id="16" name="Text 14"/>
          <p:cNvSpPr/>
          <p:nvPr/>
        </p:nvSpPr>
        <p:spPr>
          <a:xfrm>
            <a:off x="6477000" y="2085280"/>
            <a:ext cx="17631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233B"/>
                </a:solidFill>
                <a:latin typeface="BIZ UDPGothic" pitchFamily="34" charset="0"/>
                <a:ea typeface="BIZ UDPGothic" pitchFamily="34" charset="-122"/>
                <a:cs typeface="BIZ UDPGothic" pitchFamily="34" charset="-120"/>
              </a:rPr>
              <a:t>2</a:t>
            </a:r>
            <a:endParaRPr lang="en-US" sz="1300" dirty="0"/>
          </a:p>
        </p:txBody>
      </p:sp>
      <p:sp>
        <p:nvSpPr>
          <p:cNvPr id="17" name="Text 15"/>
          <p:cNvSpPr/>
          <p:nvPr/>
        </p:nvSpPr>
        <p:spPr>
          <a:xfrm>
            <a:off x="6324600" y="2417961"/>
            <a:ext cx="2282635"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233B"/>
                </a:solidFill>
                <a:latin typeface="Zen Maru Gothic" pitchFamily="34" charset="0"/>
                <a:ea typeface="Zen Maru Gothic" pitchFamily="34" charset="-122"/>
                <a:cs typeface="Zen Maru Gothic" pitchFamily="34" charset="-120"/>
              </a:rPr>
              <a:t>体験の聞き取り</a:t>
            </a:r>
            <a:endParaRPr lang="en-US" sz="1600" dirty="0"/>
          </a:p>
        </p:txBody>
      </p:sp>
      <p:sp>
        <p:nvSpPr>
          <p:cNvPr id="18" name="Text 16"/>
          <p:cNvSpPr/>
          <p:nvPr/>
        </p:nvSpPr>
        <p:spPr>
          <a:xfrm>
            <a:off x="6324600" y="2745581"/>
            <a:ext cx="2282635"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56647E"/>
                </a:solidFill>
                <a:latin typeface="BIZ UDPGothic" pitchFamily="34" charset="0"/>
                <a:ea typeface="BIZ UDPGothic" pitchFamily="34" charset="-122"/>
                <a:cs typeface="BIZ UDPGothic" pitchFamily="34" charset="-120"/>
              </a:rPr>
              <a:t>一番時間をかける。うまくいかなかった話を必ず聞く</a:t>
            </a:r>
            <a:endParaRPr lang="en-US" sz="1300" dirty="0"/>
          </a:p>
        </p:txBody>
      </p:sp>
      <p:sp>
        <p:nvSpPr>
          <p:cNvPr id="19" name="Shape 17"/>
          <p:cNvSpPr/>
          <p:nvPr/>
        </p:nvSpPr>
        <p:spPr>
          <a:xfrm>
            <a:off x="8839200" y="1901130"/>
            <a:ext cx="2533650" cy="1604070"/>
          </a:xfrm>
          <a:prstGeom prst="roundRect">
            <a:avLst>
              <a:gd name="adj" fmla="val 10688"/>
            </a:avLst>
          </a:prstGeom>
          <a:solidFill>
            <a:srgbClr val="FBFCFE"/>
          </a:solidFill>
          <a:ln w="12700">
            <a:solidFill>
              <a:srgbClr val="D3DBEA"/>
            </a:solidFill>
            <a:prstDash val="solid"/>
          </a:ln>
        </p:spPr>
      </p:sp>
      <p:sp>
        <p:nvSpPr>
          <p:cNvPr id="20" name="Shape 18"/>
          <p:cNvSpPr/>
          <p:nvPr/>
        </p:nvSpPr>
        <p:spPr>
          <a:xfrm>
            <a:off x="8997950" y="2047180"/>
            <a:ext cx="430312" cy="307280"/>
          </a:xfrm>
          <a:prstGeom prst="roundRect">
            <a:avLst>
              <a:gd name="adj" fmla="val 50000"/>
            </a:avLst>
          </a:prstGeom>
          <a:solidFill>
            <a:srgbClr val="2F62E6"/>
          </a:solidFill>
          <a:ln/>
        </p:spPr>
      </p:sp>
      <p:sp>
        <p:nvSpPr>
          <p:cNvPr id="21" name="Text 19"/>
          <p:cNvSpPr/>
          <p:nvPr/>
        </p:nvSpPr>
        <p:spPr>
          <a:xfrm>
            <a:off x="9150350" y="2085280"/>
            <a:ext cx="17631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BIZ UDPGothic" pitchFamily="34" charset="0"/>
                <a:ea typeface="BIZ UDPGothic" pitchFamily="34" charset="-122"/>
                <a:cs typeface="BIZ UDPGothic" pitchFamily="34" charset="-120"/>
              </a:rPr>
              <a:t>3</a:t>
            </a:r>
            <a:endParaRPr lang="en-US" sz="1300" dirty="0"/>
          </a:p>
        </p:txBody>
      </p:sp>
      <p:sp>
        <p:nvSpPr>
          <p:cNvPr id="22" name="Text 20"/>
          <p:cNvSpPr/>
          <p:nvPr/>
        </p:nvSpPr>
        <p:spPr>
          <a:xfrm>
            <a:off x="8997950" y="2417961"/>
            <a:ext cx="2282635"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233B"/>
                </a:solidFill>
                <a:latin typeface="Zen Maru Gothic" pitchFamily="34" charset="0"/>
                <a:ea typeface="Zen Maru Gothic" pitchFamily="34" charset="-122"/>
                <a:cs typeface="Zen Maru Gothic" pitchFamily="34" charset="-120"/>
              </a:rPr>
              <a:t>構成</a:t>
            </a:r>
            <a:endParaRPr lang="en-US" sz="1600" dirty="0"/>
          </a:p>
        </p:txBody>
      </p:sp>
      <p:sp>
        <p:nvSpPr>
          <p:cNvPr id="23" name="Text 21"/>
          <p:cNvSpPr/>
          <p:nvPr/>
        </p:nvSpPr>
        <p:spPr>
          <a:xfrm>
            <a:off x="8997950" y="2745581"/>
            <a:ext cx="2282635"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56647E"/>
                </a:solidFill>
                <a:latin typeface="BIZ UDPGothic" pitchFamily="34" charset="0"/>
                <a:ea typeface="BIZ UDPGothic" pitchFamily="34" charset="-122"/>
                <a:cs typeface="BIZ UDPGothic" pitchFamily="34" charset="-120"/>
              </a:rPr>
              <a:t>見出し案と、冒頭の2文を先に見せる</a:t>
            </a:r>
            <a:endParaRPr lang="en-US" sz="1300" dirty="0"/>
          </a:p>
        </p:txBody>
      </p:sp>
      <p:sp>
        <p:nvSpPr>
          <p:cNvPr id="24" name="Shape 22"/>
          <p:cNvSpPr/>
          <p:nvPr/>
        </p:nvSpPr>
        <p:spPr>
          <a:xfrm>
            <a:off x="819150" y="3644900"/>
            <a:ext cx="2533650" cy="1604070"/>
          </a:xfrm>
          <a:prstGeom prst="roundRect">
            <a:avLst>
              <a:gd name="adj" fmla="val 10688"/>
            </a:avLst>
          </a:prstGeom>
          <a:solidFill>
            <a:srgbClr val="FBFCFE"/>
          </a:solidFill>
          <a:ln w="12700">
            <a:solidFill>
              <a:srgbClr val="D3DBEA"/>
            </a:solidFill>
            <a:prstDash val="solid"/>
          </a:ln>
        </p:spPr>
      </p:sp>
      <p:sp>
        <p:nvSpPr>
          <p:cNvPr id="25" name="Shape 23"/>
          <p:cNvSpPr/>
          <p:nvPr/>
        </p:nvSpPr>
        <p:spPr>
          <a:xfrm>
            <a:off x="977900" y="3790950"/>
            <a:ext cx="430312" cy="307280"/>
          </a:xfrm>
          <a:prstGeom prst="roundRect">
            <a:avLst>
              <a:gd name="adj" fmla="val 50000"/>
            </a:avLst>
          </a:prstGeom>
          <a:solidFill>
            <a:srgbClr val="2F62E6"/>
          </a:solidFill>
          <a:ln/>
        </p:spPr>
      </p:sp>
      <p:sp>
        <p:nvSpPr>
          <p:cNvPr id="26" name="Text 24"/>
          <p:cNvSpPr/>
          <p:nvPr/>
        </p:nvSpPr>
        <p:spPr>
          <a:xfrm>
            <a:off x="1130300" y="3829050"/>
            <a:ext cx="17631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BIZ UDPGothic" pitchFamily="34" charset="0"/>
                <a:ea typeface="BIZ UDPGothic" pitchFamily="34" charset="-122"/>
                <a:cs typeface="BIZ UDPGothic" pitchFamily="34" charset="-120"/>
              </a:rPr>
              <a:t>4</a:t>
            </a:r>
            <a:endParaRPr lang="en-US" sz="1300" dirty="0"/>
          </a:p>
        </p:txBody>
      </p:sp>
      <p:sp>
        <p:nvSpPr>
          <p:cNvPr id="27" name="Text 25"/>
          <p:cNvSpPr/>
          <p:nvPr/>
        </p:nvSpPr>
        <p:spPr>
          <a:xfrm>
            <a:off x="977900" y="4161730"/>
            <a:ext cx="2282635"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233B"/>
                </a:solidFill>
                <a:latin typeface="Zen Maru Gothic" pitchFamily="34" charset="0"/>
                <a:ea typeface="Zen Maru Gothic" pitchFamily="34" charset="-122"/>
                <a:cs typeface="Zen Maru Gothic" pitchFamily="34" charset="-120"/>
              </a:rPr>
              <a:t>下書き</a:t>
            </a:r>
            <a:endParaRPr lang="en-US" sz="1600" dirty="0"/>
          </a:p>
        </p:txBody>
      </p:sp>
      <p:sp>
        <p:nvSpPr>
          <p:cNvPr id="28" name="Text 26"/>
          <p:cNvSpPr/>
          <p:nvPr/>
        </p:nvSpPr>
        <p:spPr>
          <a:xfrm>
            <a:off x="977900" y="4489351"/>
            <a:ext cx="2282635"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56647E"/>
                </a:solidFill>
                <a:latin typeface="BIZ UDPGothic" pitchFamily="34" charset="0"/>
                <a:ea typeface="BIZ UDPGothic" pitchFamily="34" charset="-122"/>
                <a:cs typeface="BIZ UDPGothic" pitchFamily="34" charset="-120"/>
              </a:rPr>
              <a:t>話してもらった言葉を、できるだけそのまま使う</a:t>
            </a:r>
            <a:endParaRPr lang="en-US" sz="1300" dirty="0"/>
          </a:p>
        </p:txBody>
      </p:sp>
      <p:sp>
        <p:nvSpPr>
          <p:cNvPr id="29" name="Shape 27"/>
          <p:cNvSpPr/>
          <p:nvPr/>
        </p:nvSpPr>
        <p:spPr>
          <a:xfrm>
            <a:off x="3492500" y="3644900"/>
            <a:ext cx="2533650" cy="1604070"/>
          </a:xfrm>
          <a:prstGeom prst="roundRect">
            <a:avLst>
              <a:gd name="adj" fmla="val 10688"/>
            </a:avLst>
          </a:prstGeom>
          <a:solidFill>
            <a:srgbClr val="2F62E6"/>
          </a:solidFill>
          <a:ln w="12700">
            <a:solidFill>
              <a:srgbClr val="2F62E6"/>
            </a:solidFill>
            <a:prstDash val="solid"/>
          </a:ln>
        </p:spPr>
      </p:sp>
      <p:sp>
        <p:nvSpPr>
          <p:cNvPr id="30" name="Shape 28"/>
          <p:cNvSpPr/>
          <p:nvPr/>
        </p:nvSpPr>
        <p:spPr>
          <a:xfrm>
            <a:off x="3651250" y="3790950"/>
            <a:ext cx="430312" cy="307280"/>
          </a:xfrm>
          <a:prstGeom prst="roundRect">
            <a:avLst>
              <a:gd name="adj" fmla="val 50000"/>
            </a:avLst>
          </a:prstGeom>
          <a:solidFill>
            <a:srgbClr val="FFFFFF"/>
          </a:solidFill>
          <a:ln/>
        </p:spPr>
      </p:sp>
      <p:sp>
        <p:nvSpPr>
          <p:cNvPr id="31" name="Text 29"/>
          <p:cNvSpPr/>
          <p:nvPr/>
        </p:nvSpPr>
        <p:spPr>
          <a:xfrm>
            <a:off x="3803650" y="3829050"/>
            <a:ext cx="17631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350C9"/>
                </a:solidFill>
                <a:latin typeface="BIZ UDPGothic" pitchFamily="34" charset="0"/>
                <a:ea typeface="BIZ UDPGothic" pitchFamily="34" charset="-122"/>
                <a:cs typeface="BIZ UDPGothic" pitchFamily="34" charset="-120"/>
              </a:rPr>
              <a:t>5</a:t>
            </a:r>
            <a:endParaRPr lang="en-US" sz="1300" dirty="0"/>
          </a:p>
        </p:txBody>
      </p:sp>
      <p:sp>
        <p:nvSpPr>
          <p:cNvPr id="32" name="Text 30"/>
          <p:cNvSpPr/>
          <p:nvPr/>
        </p:nvSpPr>
        <p:spPr>
          <a:xfrm>
            <a:off x="3651250" y="4161730"/>
            <a:ext cx="2282635"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FFFFFF"/>
                </a:solidFill>
                <a:latin typeface="Zen Maru Gothic" pitchFamily="34" charset="0"/>
                <a:ea typeface="Zen Maru Gothic" pitchFamily="34" charset="-122"/>
                <a:cs typeface="Zen Maru Gothic" pitchFamily="34" charset="-120"/>
              </a:rPr>
              <a:t>校閲</a:t>
            </a:r>
            <a:endParaRPr lang="en-US" sz="1600" dirty="0"/>
          </a:p>
        </p:txBody>
      </p:sp>
      <p:sp>
        <p:nvSpPr>
          <p:cNvPr id="33" name="Text 31"/>
          <p:cNvSpPr/>
          <p:nvPr/>
        </p:nvSpPr>
        <p:spPr>
          <a:xfrm>
            <a:off x="3651250" y="4489351"/>
            <a:ext cx="2282635"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E8EEFF"/>
                </a:solidFill>
                <a:latin typeface="BIZ UDPGothic" pitchFamily="34" charset="0"/>
                <a:ea typeface="BIZ UDPGothic" pitchFamily="34" charset="-122"/>
                <a:cs typeface="BIZ UDPGothic" pitchFamily="34" charset="-120"/>
              </a:rPr>
              <a:t>校閲担当のAIに、点検を任せる</a:t>
            </a:r>
            <a:endParaRPr lang="en-US" sz="1300" dirty="0"/>
          </a:p>
        </p:txBody>
      </p:sp>
      <p:sp>
        <p:nvSpPr>
          <p:cNvPr id="34" name="Shape 32"/>
          <p:cNvSpPr/>
          <p:nvPr/>
        </p:nvSpPr>
        <p:spPr>
          <a:xfrm>
            <a:off x="6165850" y="3644900"/>
            <a:ext cx="2533650" cy="1604070"/>
          </a:xfrm>
          <a:prstGeom prst="roundRect">
            <a:avLst>
              <a:gd name="adj" fmla="val 10688"/>
            </a:avLst>
          </a:prstGeom>
          <a:solidFill>
            <a:srgbClr val="FBFCFE"/>
          </a:solidFill>
          <a:ln w="12700">
            <a:solidFill>
              <a:srgbClr val="D3DBEA"/>
            </a:solidFill>
            <a:prstDash val="solid"/>
          </a:ln>
        </p:spPr>
      </p:sp>
      <p:sp>
        <p:nvSpPr>
          <p:cNvPr id="35" name="Shape 33"/>
          <p:cNvSpPr/>
          <p:nvPr/>
        </p:nvSpPr>
        <p:spPr>
          <a:xfrm>
            <a:off x="6324600" y="3790950"/>
            <a:ext cx="430312" cy="307280"/>
          </a:xfrm>
          <a:prstGeom prst="roundRect">
            <a:avLst>
              <a:gd name="adj" fmla="val 50000"/>
            </a:avLst>
          </a:prstGeom>
          <a:solidFill>
            <a:srgbClr val="2F62E6"/>
          </a:solidFill>
          <a:ln/>
        </p:spPr>
      </p:sp>
      <p:sp>
        <p:nvSpPr>
          <p:cNvPr id="36" name="Text 34"/>
          <p:cNvSpPr/>
          <p:nvPr/>
        </p:nvSpPr>
        <p:spPr>
          <a:xfrm>
            <a:off x="6477000" y="3829050"/>
            <a:ext cx="17631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BIZ UDPGothic" pitchFamily="34" charset="0"/>
                <a:ea typeface="BIZ UDPGothic" pitchFamily="34" charset="-122"/>
                <a:cs typeface="BIZ UDPGothic" pitchFamily="34" charset="-120"/>
              </a:rPr>
              <a:t>6</a:t>
            </a:r>
            <a:endParaRPr lang="en-US" sz="1300" dirty="0"/>
          </a:p>
        </p:txBody>
      </p:sp>
      <p:sp>
        <p:nvSpPr>
          <p:cNvPr id="37" name="Text 35"/>
          <p:cNvSpPr/>
          <p:nvPr/>
        </p:nvSpPr>
        <p:spPr>
          <a:xfrm>
            <a:off x="6324600" y="4161730"/>
            <a:ext cx="2282635"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233B"/>
                </a:solidFill>
                <a:latin typeface="Zen Maru Gothic" pitchFamily="34" charset="0"/>
                <a:ea typeface="Zen Maru Gothic" pitchFamily="34" charset="-122"/>
                <a:cs typeface="Zen Maru Gothic" pitchFamily="34" charset="-120"/>
              </a:rPr>
              <a:t>保存</a:t>
            </a:r>
            <a:endParaRPr lang="en-US" sz="1600" dirty="0"/>
          </a:p>
        </p:txBody>
      </p:sp>
      <p:sp>
        <p:nvSpPr>
          <p:cNvPr id="38" name="Text 36"/>
          <p:cNvSpPr/>
          <p:nvPr/>
        </p:nvSpPr>
        <p:spPr>
          <a:xfrm>
            <a:off x="6324600" y="4489351"/>
            <a:ext cx="2282635"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56647E"/>
                </a:solidFill>
                <a:latin typeface="BIZ UDPGothic" pitchFamily="34" charset="0"/>
                <a:ea typeface="BIZ UDPGothic" pitchFamily="34" charset="-122"/>
                <a:cs typeface="BIZ UDPGothic" pitchFamily="34" charset="-120"/>
              </a:rPr>
              <a:t>日付とカテゴリを決めて、ファイルにする</a:t>
            </a:r>
            <a:endParaRPr lang="en-US" sz="1300" dirty="0"/>
          </a:p>
        </p:txBody>
      </p:sp>
      <p:sp>
        <p:nvSpPr>
          <p:cNvPr id="39" name="Shape 37"/>
          <p:cNvSpPr/>
          <p:nvPr/>
        </p:nvSpPr>
        <p:spPr>
          <a:xfrm>
            <a:off x="8839200" y="3644900"/>
            <a:ext cx="2533650" cy="1604070"/>
          </a:xfrm>
          <a:prstGeom prst="roundRect">
            <a:avLst>
              <a:gd name="adj" fmla="val 10688"/>
            </a:avLst>
          </a:prstGeom>
          <a:solidFill>
            <a:srgbClr val="FBFCFE"/>
          </a:solidFill>
          <a:ln w="12700">
            <a:solidFill>
              <a:srgbClr val="D3DBEA"/>
            </a:solidFill>
            <a:prstDash val="solid"/>
          </a:ln>
        </p:spPr>
      </p:sp>
      <p:sp>
        <p:nvSpPr>
          <p:cNvPr id="40" name="Shape 38"/>
          <p:cNvSpPr/>
          <p:nvPr/>
        </p:nvSpPr>
        <p:spPr>
          <a:xfrm>
            <a:off x="8997950" y="3790950"/>
            <a:ext cx="430312" cy="307280"/>
          </a:xfrm>
          <a:prstGeom prst="roundRect">
            <a:avLst>
              <a:gd name="adj" fmla="val 50000"/>
            </a:avLst>
          </a:prstGeom>
          <a:solidFill>
            <a:srgbClr val="2F62E6"/>
          </a:solidFill>
          <a:ln/>
        </p:spPr>
      </p:sp>
      <p:sp>
        <p:nvSpPr>
          <p:cNvPr id="41" name="Text 39"/>
          <p:cNvSpPr/>
          <p:nvPr/>
        </p:nvSpPr>
        <p:spPr>
          <a:xfrm>
            <a:off x="9150350" y="3829050"/>
            <a:ext cx="17631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BIZ UDPGothic" pitchFamily="34" charset="0"/>
                <a:ea typeface="BIZ UDPGothic" pitchFamily="34" charset="-122"/>
                <a:cs typeface="BIZ UDPGothic" pitchFamily="34" charset="-120"/>
              </a:rPr>
              <a:t>7</a:t>
            </a:r>
            <a:endParaRPr lang="en-US" sz="1300" dirty="0"/>
          </a:p>
        </p:txBody>
      </p:sp>
      <p:sp>
        <p:nvSpPr>
          <p:cNvPr id="42" name="Text 40"/>
          <p:cNvSpPr/>
          <p:nvPr/>
        </p:nvSpPr>
        <p:spPr>
          <a:xfrm>
            <a:off x="8997950" y="4161730"/>
            <a:ext cx="2282635"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233B"/>
                </a:solidFill>
                <a:latin typeface="Zen Maru Gothic" pitchFamily="34" charset="0"/>
                <a:ea typeface="Zen Maru Gothic" pitchFamily="34" charset="-122"/>
                <a:cs typeface="Zen Maru Gothic" pitchFamily="34" charset="-120"/>
              </a:rPr>
              <a:t>後片付け</a:t>
            </a:r>
            <a:endParaRPr lang="en-US" sz="1600" dirty="0"/>
          </a:p>
        </p:txBody>
      </p:sp>
      <p:sp>
        <p:nvSpPr>
          <p:cNvPr id="43" name="Text 41"/>
          <p:cNvSpPr/>
          <p:nvPr/>
        </p:nvSpPr>
        <p:spPr>
          <a:xfrm>
            <a:off x="8997950" y="4489351"/>
            <a:ext cx="2282635"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56647E"/>
                </a:solidFill>
                <a:latin typeface="BIZ UDPGothic" pitchFamily="34" charset="0"/>
                <a:ea typeface="BIZ UDPGothic" pitchFamily="34" charset="-122"/>
                <a:cs typeface="BIZ UDPGothic" pitchFamily="34" charset="-120"/>
              </a:rPr>
              <a:t>ネタ帳を更新し、次に書く記事を提案する</a:t>
            </a:r>
            <a:endParaRPr lang="en-US" sz="1300" dirty="0"/>
          </a:p>
        </p:txBody>
      </p:sp>
      <p:sp>
        <p:nvSpPr>
          <p:cNvPr id="44" name="Shape 42"/>
          <p:cNvSpPr/>
          <p:nvPr/>
        </p:nvSpPr>
        <p:spPr>
          <a:xfrm>
            <a:off x="812800" y="5534720"/>
            <a:ext cx="2297609" cy="307280"/>
          </a:xfrm>
          <a:prstGeom prst="roundRect">
            <a:avLst>
              <a:gd name="adj" fmla="val 50000"/>
            </a:avLst>
          </a:prstGeom>
          <a:solidFill>
            <a:srgbClr val="FFC83D"/>
          </a:solidFill>
          <a:ln/>
        </p:spPr>
      </p:sp>
      <p:sp>
        <p:nvSpPr>
          <p:cNvPr id="45" name="Text 43"/>
          <p:cNvSpPr/>
          <p:nvPr/>
        </p:nvSpPr>
        <p:spPr>
          <a:xfrm>
            <a:off x="965200" y="5572820"/>
            <a:ext cx="2052593"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233B"/>
                </a:solidFill>
                <a:latin typeface="BIZ UDPGothic" pitchFamily="34" charset="0"/>
                <a:ea typeface="BIZ UDPGothic" pitchFamily="34" charset="-122"/>
                <a:cs typeface="BIZ UDPGothic" pitchFamily="34" charset="-120"/>
              </a:rPr>
              <a:t>黄色：一番の山場。人が話す</a:t>
            </a:r>
            <a:endParaRPr lang="en-US" sz="1300" dirty="0"/>
          </a:p>
        </p:txBody>
      </p:sp>
      <p:sp>
        <p:nvSpPr>
          <p:cNvPr id="46" name="Shape 44"/>
          <p:cNvSpPr/>
          <p:nvPr/>
        </p:nvSpPr>
        <p:spPr>
          <a:xfrm>
            <a:off x="3212009" y="5534720"/>
            <a:ext cx="1737916" cy="307280"/>
          </a:xfrm>
          <a:prstGeom prst="roundRect">
            <a:avLst>
              <a:gd name="adj" fmla="val 50000"/>
            </a:avLst>
          </a:prstGeom>
          <a:solidFill>
            <a:srgbClr val="2F62E6"/>
          </a:solidFill>
          <a:ln/>
        </p:spPr>
      </p:sp>
      <p:sp>
        <p:nvSpPr>
          <p:cNvPr id="47" name="Text 45"/>
          <p:cNvSpPr/>
          <p:nvPr/>
        </p:nvSpPr>
        <p:spPr>
          <a:xfrm>
            <a:off x="3364409" y="5572820"/>
            <a:ext cx="1483916"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BIZ UDPGothic" pitchFamily="34" charset="0"/>
                <a:ea typeface="BIZ UDPGothic" pitchFamily="34" charset="-122"/>
                <a:cs typeface="BIZ UDPGothic" pitchFamily="34" charset="-120"/>
              </a:rPr>
              <a:t>青：別のAIに任せる</a:t>
            </a:r>
            <a:endParaRPr lang="en-US" sz="1300" dirty="0"/>
          </a:p>
        </p:txBody>
      </p:sp>
      <p:sp>
        <p:nvSpPr>
          <p:cNvPr id="48" name="Text 46"/>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49" name="Text 47"/>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25 / 40</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3 ／ スキル</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手順書どおりに動くと、こんな会話になる</a:t>
            </a:r>
            <a:endParaRPr lang="en-US" sz="3200" dirty="0"/>
          </a:p>
        </p:txBody>
      </p:sp>
      <p:sp>
        <p:nvSpPr>
          <p:cNvPr id="4" name="Shape 2"/>
          <p:cNvSpPr/>
          <p:nvPr/>
        </p:nvSpPr>
        <p:spPr>
          <a:xfrm>
            <a:off x="819150" y="1901130"/>
            <a:ext cx="5194300" cy="794941"/>
          </a:xfrm>
          <a:prstGeom prst="roundRect">
            <a:avLst>
              <a:gd name="adj" fmla="val 18372"/>
            </a:avLst>
          </a:prstGeom>
          <a:solidFill>
            <a:srgbClr val="FBFCFE"/>
          </a:solidFill>
          <a:ln w="12700">
            <a:solidFill>
              <a:srgbClr val="D3DBEA"/>
            </a:solidFill>
            <a:prstDash val="solid"/>
          </a:ln>
        </p:spPr>
      </p:sp>
      <p:sp>
        <p:nvSpPr>
          <p:cNvPr id="5" name="Text 3"/>
          <p:cNvSpPr/>
          <p:nvPr/>
        </p:nvSpPr>
        <p:spPr>
          <a:xfrm>
            <a:off x="1003300" y="2034480"/>
            <a:ext cx="4970780" cy="553641"/>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16233B"/>
                </a:solidFill>
                <a:latin typeface="BIZ UDPGothic" pitchFamily="34" charset="0"/>
                <a:ea typeface="BIZ UDPGothic" pitchFamily="34" charset="-122"/>
                <a:cs typeface="BIZ UDPGothic" pitchFamily="34" charset="-120"/>
              </a:rPr>
              <a:t>[2/7 聞き取り] このツールを試したのは、いつですか。うまくいかなかったことや、期待と違ったことはありませんでしたか。</a:t>
            </a:r>
            <a:endParaRPr lang="en-US" sz="1300" dirty="0"/>
          </a:p>
        </p:txBody>
      </p:sp>
      <p:sp>
        <p:nvSpPr>
          <p:cNvPr id="6" name="Shape 4"/>
          <p:cNvSpPr/>
          <p:nvPr/>
        </p:nvSpPr>
        <p:spPr>
          <a:xfrm>
            <a:off x="1962150" y="2810371"/>
            <a:ext cx="4559300" cy="794941"/>
          </a:xfrm>
          <a:prstGeom prst="roundRect">
            <a:avLst>
              <a:gd name="adj" fmla="val 18372"/>
            </a:avLst>
          </a:prstGeom>
          <a:solidFill>
            <a:srgbClr val="E1EAFF"/>
          </a:solidFill>
          <a:ln w="12700">
            <a:solidFill>
              <a:srgbClr val="B9CBFA"/>
            </a:solidFill>
            <a:prstDash val="solid"/>
          </a:ln>
        </p:spPr>
      </p:sp>
      <p:sp>
        <p:nvSpPr>
          <p:cNvPr id="7" name="Text 5"/>
          <p:cNvSpPr/>
          <p:nvPr/>
        </p:nvSpPr>
        <p:spPr>
          <a:xfrm>
            <a:off x="2146300" y="2943721"/>
            <a:ext cx="4316730" cy="553641"/>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16233B"/>
                </a:solidFill>
                <a:latin typeface="BIZ UDPGothic" pitchFamily="34" charset="0"/>
                <a:ea typeface="BIZ UDPGothic" pitchFamily="34" charset="-122"/>
                <a:cs typeface="BIZ UDPGothic" pitchFamily="34" charset="-120"/>
              </a:rPr>
              <a:t>先週です。期待どおりに動かなくて、指示を3回書き直しました。</a:t>
            </a:r>
            <a:endParaRPr lang="en-US" sz="1300" dirty="0"/>
          </a:p>
        </p:txBody>
      </p:sp>
      <p:sp>
        <p:nvSpPr>
          <p:cNvPr id="8" name="Shape 6"/>
          <p:cNvSpPr/>
          <p:nvPr/>
        </p:nvSpPr>
        <p:spPr>
          <a:xfrm>
            <a:off x="819150" y="3719612"/>
            <a:ext cx="5194300" cy="794941"/>
          </a:xfrm>
          <a:prstGeom prst="roundRect">
            <a:avLst>
              <a:gd name="adj" fmla="val 18372"/>
            </a:avLst>
          </a:prstGeom>
          <a:solidFill>
            <a:srgbClr val="FBFCFE"/>
          </a:solidFill>
          <a:ln w="12700">
            <a:solidFill>
              <a:srgbClr val="D3DBEA"/>
            </a:solidFill>
            <a:prstDash val="solid"/>
          </a:ln>
        </p:spPr>
      </p:sp>
      <p:sp>
        <p:nvSpPr>
          <p:cNvPr id="9" name="Text 7"/>
          <p:cNvSpPr/>
          <p:nvPr/>
        </p:nvSpPr>
        <p:spPr>
          <a:xfrm>
            <a:off x="1003300" y="3852962"/>
            <a:ext cx="4970780" cy="553641"/>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16233B"/>
                </a:solidFill>
                <a:latin typeface="BIZ UDPGothic" pitchFamily="34" charset="0"/>
                <a:ea typeface="BIZ UDPGothic" pitchFamily="34" charset="-122"/>
                <a:cs typeface="BIZ UDPGothic" pitchFamily="34" charset="-120"/>
              </a:rPr>
              <a:t>その「期待どおりに動かなかった」話が、記事の芯になります。3回直したうち、最初の指示をそのまま教えてください。</a:t>
            </a:r>
            <a:endParaRPr lang="en-US" sz="1300" dirty="0"/>
          </a:p>
        </p:txBody>
      </p:sp>
      <p:sp>
        <p:nvSpPr>
          <p:cNvPr id="10" name="Text 8"/>
          <p:cNvSpPr/>
          <p:nvPr/>
        </p:nvSpPr>
        <p:spPr>
          <a:xfrm>
            <a:off x="812800" y="4622502"/>
            <a:ext cx="5886450"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56647E"/>
                </a:solidFill>
                <a:latin typeface="BIZ UDPGothic" pitchFamily="34" charset="0"/>
                <a:ea typeface="BIZ UDPGothic" pitchFamily="34" charset="-122"/>
                <a:cs typeface="BIZ UDPGothic" pitchFamily="34" charset="-120"/>
              </a:rPr>
              <a:t>※手順書に書かれた質問とほめ方から作ったイメージで、実際の会話の記録ではありません。</a:t>
            </a:r>
            <a:endParaRPr lang="en-US" sz="1200" dirty="0"/>
          </a:p>
        </p:txBody>
      </p:sp>
      <p:sp>
        <p:nvSpPr>
          <p:cNvPr id="11" name="Text 9"/>
          <p:cNvSpPr/>
          <p:nvPr/>
        </p:nvSpPr>
        <p:spPr>
          <a:xfrm>
            <a:off x="6807200" y="1894780"/>
            <a:ext cx="4709160" cy="330200"/>
          </a:xfrm>
          <a:prstGeom prst="rect">
            <a:avLst/>
          </a:prstGeom>
          <a:noFill/>
          <a:ln/>
        </p:spPr>
        <p:txBody>
          <a:bodyPr wrap="square" lIns="0" tIns="0" rIns="0" bIns="0" rtlCol="0" anchor="t">
            <a:normAutofit/>
          </a:bodyPr>
          <a:lstStyle/>
          <a:p>
            <a:pPr algn="l" indent="0" marL="0">
              <a:lnSpc>
                <a:spcPts val="2400"/>
              </a:lnSpc>
              <a:buNone/>
            </a:pPr>
            <a:r>
              <a:rPr lang="en-US" sz="1500" b="1" dirty="0">
                <a:solidFill>
                  <a:srgbClr val="2350C9"/>
                </a:solidFill>
                <a:latin typeface="BIZ UDPGothic" pitchFamily="34" charset="0"/>
                <a:ea typeface="BIZ UDPGothic" pitchFamily="34" charset="-122"/>
                <a:cs typeface="BIZ UDPGothic" pitchFamily="34" charset="-120"/>
              </a:rPr>
              <a:t>手順書に書いてある決まり</a:t>
            </a:r>
            <a:endParaRPr lang="en-US" sz="1500" dirty="0"/>
          </a:p>
        </p:txBody>
      </p:sp>
      <p:sp>
        <p:nvSpPr>
          <p:cNvPr id="12" name="Shape 10"/>
          <p:cNvSpPr/>
          <p:nvPr/>
        </p:nvSpPr>
        <p:spPr>
          <a:xfrm>
            <a:off x="6813550" y="2294830"/>
            <a:ext cx="4559300" cy="736600"/>
          </a:xfrm>
          <a:prstGeom prst="roundRect">
            <a:avLst>
              <a:gd name="adj" fmla="val 23276"/>
            </a:avLst>
          </a:prstGeom>
          <a:solidFill>
            <a:srgbClr val="FBFCFE"/>
          </a:solidFill>
          <a:ln w="12700">
            <a:solidFill>
              <a:srgbClr val="D3DBEA"/>
            </a:solidFill>
            <a:prstDash val="solid"/>
          </a:ln>
        </p:spPr>
      </p:sp>
      <p:sp>
        <p:nvSpPr>
          <p:cNvPr id="13" name="Text 11"/>
          <p:cNvSpPr/>
          <p:nvPr/>
        </p:nvSpPr>
        <p:spPr>
          <a:xfrm>
            <a:off x="6997700" y="2415480"/>
            <a:ext cx="4316730" cy="520700"/>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16233B"/>
                </a:solidFill>
                <a:latin typeface="BIZ UDPGothic" pitchFamily="34" charset="0"/>
                <a:ea typeface="BIZ UDPGothic" pitchFamily="34" charset="-122"/>
                <a:cs typeface="BIZ UDPGothic" pitchFamily="34" charset="-120"/>
              </a:rPr>
              <a:t>質問は1回に1〜2問まで</a:t>
            </a:r>
            <a:endParaRPr lang="en-US" sz="1300" dirty="0"/>
          </a:p>
          <a:p>
            <a:pPr algn="l" indent="0" marL="0">
              <a:lnSpc>
                <a:spcPts val="1950"/>
              </a:lnSpc>
              <a:buNone/>
            </a:pPr>
            <a:r>
              <a:rPr lang="en-US" sz="1300" dirty="0">
                <a:solidFill>
                  <a:srgbClr val="16233B"/>
                </a:solidFill>
                <a:latin typeface="BIZ UDPGothic" pitchFamily="34" charset="0"/>
                <a:ea typeface="BIZ UDPGothic" pitchFamily="34" charset="-122"/>
                <a:cs typeface="BIZ UDPGothic" pitchFamily="34" charset="-120"/>
              </a:rPr>
              <a:t>質問攻めにすると、書き手が疲れて続かない。</a:t>
            </a:r>
            <a:endParaRPr lang="en-US" sz="1300" dirty="0"/>
          </a:p>
        </p:txBody>
      </p:sp>
      <p:sp>
        <p:nvSpPr>
          <p:cNvPr id="14" name="Shape 12"/>
          <p:cNvSpPr/>
          <p:nvPr/>
        </p:nvSpPr>
        <p:spPr>
          <a:xfrm>
            <a:off x="6813550" y="3133030"/>
            <a:ext cx="4559300" cy="736600"/>
          </a:xfrm>
          <a:prstGeom prst="roundRect">
            <a:avLst>
              <a:gd name="adj" fmla="val 23276"/>
            </a:avLst>
          </a:prstGeom>
          <a:solidFill>
            <a:srgbClr val="FBFCFE"/>
          </a:solidFill>
          <a:ln w="12700">
            <a:solidFill>
              <a:srgbClr val="D3DBEA"/>
            </a:solidFill>
            <a:prstDash val="solid"/>
          </a:ln>
        </p:spPr>
      </p:sp>
      <p:sp>
        <p:nvSpPr>
          <p:cNvPr id="15" name="Text 13"/>
          <p:cNvSpPr/>
          <p:nvPr/>
        </p:nvSpPr>
        <p:spPr>
          <a:xfrm>
            <a:off x="6997700" y="3253680"/>
            <a:ext cx="4316730" cy="520700"/>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16233B"/>
                </a:solidFill>
                <a:latin typeface="BIZ UDPGothic" pitchFamily="34" charset="0"/>
                <a:ea typeface="BIZ UDPGothic" pitchFamily="34" charset="-122"/>
                <a:cs typeface="BIZ UDPGothic" pitchFamily="34" charset="-120"/>
              </a:rPr>
              <a:t>今の現在地を見せる</a:t>
            </a:r>
            <a:endParaRPr lang="en-US" sz="1300" dirty="0"/>
          </a:p>
          <a:p>
            <a:pPr algn="l" indent="0" marL="0">
              <a:lnSpc>
                <a:spcPts val="1950"/>
              </a:lnSpc>
              <a:buNone/>
            </a:pPr>
            <a:r>
              <a:rPr lang="en-US" sz="1300" dirty="0">
                <a:solidFill>
                  <a:srgbClr val="16233B"/>
                </a:solidFill>
                <a:latin typeface="BIZ UDPGothic" pitchFamily="34" charset="0"/>
                <a:ea typeface="BIZ UDPGothic" pitchFamily="34" charset="-122"/>
                <a:cs typeface="BIZ UDPGothic" pitchFamily="34" charset="-120"/>
              </a:rPr>
              <a:t>「2/7 聞き取り」のように、いま何番目かを毎回示す。</a:t>
            </a:r>
            <a:endParaRPr lang="en-US" sz="1300" dirty="0"/>
          </a:p>
        </p:txBody>
      </p:sp>
      <p:sp>
        <p:nvSpPr>
          <p:cNvPr id="16" name="Shape 14"/>
          <p:cNvSpPr/>
          <p:nvPr/>
        </p:nvSpPr>
        <p:spPr>
          <a:xfrm>
            <a:off x="6813550" y="3971230"/>
            <a:ext cx="4559300" cy="984250"/>
          </a:xfrm>
          <a:prstGeom prst="roundRect">
            <a:avLst>
              <a:gd name="adj" fmla="val 17419"/>
            </a:avLst>
          </a:prstGeom>
          <a:solidFill>
            <a:srgbClr val="FBFCFE"/>
          </a:solidFill>
          <a:ln w="12700">
            <a:solidFill>
              <a:srgbClr val="D3DBEA"/>
            </a:solidFill>
            <a:prstDash val="solid"/>
          </a:ln>
        </p:spPr>
      </p:sp>
      <p:sp>
        <p:nvSpPr>
          <p:cNvPr id="17" name="Text 15"/>
          <p:cNvSpPr/>
          <p:nvPr/>
        </p:nvSpPr>
        <p:spPr>
          <a:xfrm>
            <a:off x="6997700" y="4091880"/>
            <a:ext cx="4316730" cy="768350"/>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16233B"/>
                </a:solidFill>
                <a:latin typeface="BIZ UDPGothic" pitchFamily="34" charset="0"/>
                <a:ea typeface="BIZ UDPGothic" pitchFamily="34" charset="-122"/>
                <a:cs typeface="BIZ UDPGothic" pitchFamily="34" charset="-120"/>
              </a:rPr>
              <a:t>ほめるときは具体的に</a:t>
            </a:r>
            <a:endParaRPr lang="en-US" sz="1300" dirty="0"/>
          </a:p>
          <a:p>
            <a:pPr algn="l" indent="0" marL="0">
              <a:lnSpc>
                <a:spcPts val="1950"/>
              </a:lnSpc>
              <a:buNone/>
            </a:pPr>
            <a:r>
              <a:rPr lang="en-US" sz="1300" dirty="0">
                <a:solidFill>
                  <a:srgbClr val="16233B"/>
                </a:solidFill>
                <a:latin typeface="BIZ UDPGothic" pitchFamily="34" charset="0"/>
                <a:ea typeface="BIZ UDPGothic" pitchFamily="34" charset="-122"/>
                <a:cs typeface="BIZ UDPGothic" pitchFamily="34" charset="-120"/>
              </a:rPr>
              <a:t>「ありがとう」で終えず、どこが記事の武器になるかを言う。</a:t>
            </a:r>
            <a:endParaRPr lang="en-US" sz="1300" dirty="0"/>
          </a:p>
        </p:txBody>
      </p:sp>
      <p:sp>
        <p:nvSpPr>
          <p:cNvPr id="18" name="Text 16"/>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19" name="Text 17"/>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26 / 40</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3 ／ スキル</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図解のスキルには「破ってはいけない4つ」がある</a:t>
            </a:r>
            <a:endParaRPr lang="en-US" sz="3200" dirty="0"/>
          </a:p>
        </p:txBody>
      </p:sp>
      <p:sp>
        <p:nvSpPr>
          <p:cNvPr id="4" name="Shape 2"/>
          <p:cNvSpPr/>
          <p:nvPr/>
        </p:nvSpPr>
        <p:spPr>
          <a:xfrm>
            <a:off x="819150" y="1901130"/>
            <a:ext cx="5194300" cy="1467545"/>
          </a:xfrm>
          <a:prstGeom prst="roundRect">
            <a:avLst>
              <a:gd name="adj" fmla="val 11683"/>
            </a:avLst>
          </a:prstGeom>
          <a:solidFill>
            <a:srgbClr val="FBFCFE"/>
          </a:solidFill>
          <a:ln w="12700">
            <a:solidFill>
              <a:srgbClr val="D3DBEA"/>
            </a:solidFill>
            <a:prstDash val="solid"/>
          </a:ln>
        </p:spPr>
      </p:sp>
      <p:sp>
        <p:nvSpPr>
          <p:cNvPr id="5" name="Shape 3"/>
          <p:cNvSpPr/>
          <p:nvPr/>
        </p:nvSpPr>
        <p:spPr>
          <a:xfrm>
            <a:off x="1054100" y="2098973"/>
            <a:ext cx="406400" cy="406400"/>
          </a:xfrm>
          <a:prstGeom prst="roundRect">
            <a:avLst>
              <a:gd name="adj" fmla="val 50000"/>
            </a:avLst>
          </a:prstGeom>
          <a:solidFill>
            <a:srgbClr val="2F62E6"/>
          </a:solidFill>
          <a:ln/>
        </p:spPr>
      </p:sp>
      <p:sp>
        <p:nvSpPr>
          <p:cNvPr id="6" name="Text 4"/>
          <p:cNvSpPr/>
          <p:nvPr/>
        </p:nvSpPr>
        <p:spPr>
          <a:xfrm>
            <a:off x="1028700" y="2098973"/>
            <a:ext cx="457200" cy="431800"/>
          </a:xfrm>
          <a:prstGeom prst="rect">
            <a:avLst/>
          </a:prstGeom>
          <a:noFill/>
          <a:ln/>
        </p:spPr>
        <p:txBody>
          <a:bodyPr wrap="square" lIns="0" tIns="0" rIns="0" bIns="0" rtlCol="0" anchor="t">
            <a:normAutofit/>
          </a:bodyPr>
          <a:lstStyle/>
          <a:p>
            <a:pPr algn="ctr" indent="0" marL="0">
              <a:lnSpc>
                <a:spcPts val="3204"/>
              </a:lnSpc>
              <a:buNone/>
            </a:pPr>
            <a:r>
              <a:rPr lang="en-US" sz="1800" b="1" dirty="0">
                <a:solidFill>
                  <a:srgbClr val="FFFFFF"/>
                </a:solidFill>
                <a:latin typeface="Zen Maru Gothic" pitchFamily="34" charset="0"/>
                <a:ea typeface="Zen Maru Gothic" pitchFamily="34" charset="-122"/>
                <a:cs typeface="Zen Maru Gothic" pitchFamily="34" charset="-120"/>
              </a:rPr>
              <a:t>1</a:t>
            </a:r>
            <a:endParaRPr lang="en-US" sz="1800" dirty="0"/>
          </a:p>
        </p:txBody>
      </p:sp>
      <p:sp>
        <p:nvSpPr>
          <p:cNvPr id="7" name="Text 5"/>
          <p:cNvSpPr/>
          <p:nvPr/>
        </p:nvSpPr>
        <p:spPr>
          <a:xfrm>
            <a:off x="1587500" y="2153543"/>
            <a:ext cx="4316730"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233B"/>
                </a:solidFill>
                <a:latin typeface="Zen Maru Gothic" pitchFamily="34" charset="0"/>
                <a:ea typeface="Zen Maru Gothic" pitchFamily="34" charset="-122"/>
                <a:cs typeface="Zen Maru Gothic" pitchFamily="34" charset="-120"/>
              </a:rPr>
              <a:t>画角は 1600×840</a:t>
            </a:r>
            <a:endParaRPr lang="en-US" sz="1800" dirty="0"/>
          </a:p>
        </p:txBody>
      </p:sp>
      <p:sp>
        <p:nvSpPr>
          <p:cNvPr id="8" name="Text 6"/>
          <p:cNvSpPr/>
          <p:nvPr/>
        </p:nvSpPr>
        <p:spPr>
          <a:xfrm>
            <a:off x="1054100" y="2594273"/>
            <a:ext cx="4866132" cy="576461"/>
          </a:xfrm>
          <a:prstGeom prst="rect">
            <a:avLst/>
          </a:prstGeom>
          <a:noFill/>
          <a:ln/>
        </p:spPr>
        <p:txBody>
          <a:bodyPr wrap="square" lIns="0" tIns="0" rIns="0" bIns="0" rtlCol="0" anchor="t">
            <a:normAutofit/>
          </a:bodyPr>
          <a:lstStyle/>
          <a:p>
            <a:pPr algn="l" indent="0" marL="0">
              <a:lnSpc>
                <a:spcPts val="2170"/>
              </a:lnSpc>
              <a:buNone/>
            </a:pPr>
            <a:r>
              <a:rPr lang="en-US" sz="1400" dirty="0">
                <a:solidFill>
                  <a:srgbClr val="56647E"/>
                </a:solidFill>
                <a:latin typeface="BIZ UDPGothic" pitchFamily="34" charset="0"/>
                <a:ea typeface="BIZ UDPGothic" pitchFamily="34" charset="-122"/>
                <a:cs typeface="BIZ UDPGothic" pitchFamily="34" charset="-120"/>
              </a:rPr>
              <a:t>ブログの画像枠と同じ縦横比。ちがうと、上下が切れてしまう。</a:t>
            </a:r>
            <a:endParaRPr lang="en-US" sz="1400" dirty="0"/>
          </a:p>
        </p:txBody>
      </p:sp>
      <p:sp>
        <p:nvSpPr>
          <p:cNvPr id="9" name="Shape 7"/>
          <p:cNvSpPr/>
          <p:nvPr/>
        </p:nvSpPr>
        <p:spPr>
          <a:xfrm>
            <a:off x="6178550" y="1901130"/>
            <a:ext cx="5194300" cy="1467545"/>
          </a:xfrm>
          <a:prstGeom prst="roundRect">
            <a:avLst>
              <a:gd name="adj" fmla="val 11683"/>
            </a:avLst>
          </a:prstGeom>
          <a:solidFill>
            <a:srgbClr val="FBFCFE"/>
          </a:solidFill>
          <a:ln w="12700">
            <a:solidFill>
              <a:srgbClr val="D3DBEA"/>
            </a:solidFill>
            <a:prstDash val="solid"/>
          </a:ln>
        </p:spPr>
      </p:sp>
      <p:sp>
        <p:nvSpPr>
          <p:cNvPr id="10" name="Shape 8"/>
          <p:cNvSpPr/>
          <p:nvPr/>
        </p:nvSpPr>
        <p:spPr>
          <a:xfrm>
            <a:off x="6413500" y="2236788"/>
            <a:ext cx="406400" cy="406400"/>
          </a:xfrm>
          <a:prstGeom prst="roundRect">
            <a:avLst>
              <a:gd name="adj" fmla="val 50000"/>
            </a:avLst>
          </a:prstGeom>
          <a:solidFill>
            <a:srgbClr val="2F62E6"/>
          </a:solidFill>
          <a:ln/>
        </p:spPr>
      </p:sp>
      <p:sp>
        <p:nvSpPr>
          <p:cNvPr id="11" name="Text 9"/>
          <p:cNvSpPr/>
          <p:nvPr/>
        </p:nvSpPr>
        <p:spPr>
          <a:xfrm>
            <a:off x="6388100" y="2236788"/>
            <a:ext cx="457200" cy="431800"/>
          </a:xfrm>
          <a:prstGeom prst="rect">
            <a:avLst/>
          </a:prstGeom>
          <a:noFill/>
          <a:ln/>
        </p:spPr>
        <p:txBody>
          <a:bodyPr wrap="square" lIns="0" tIns="0" rIns="0" bIns="0" rtlCol="0" anchor="t">
            <a:normAutofit/>
          </a:bodyPr>
          <a:lstStyle/>
          <a:p>
            <a:pPr algn="ctr" indent="0" marL="0">
              <a:lnSpc>
                <a:spcPts val="3204"/>
              </a:lnSpc>
              <a:buNone/>
            </a:pPr>
            <a:r>
              <a:rPr lang="en-US" sz="1800" b="1" dirty="0">
                <a:solidFill>
                  <a:srgbClr val="FFFFFF"/>
                </a:solidFill>
                <a:latin typeface="Zen Maru Gothic" pitchFamily="34" charset="0"/>
                <a:ea typeface="Zen Maru Gothic" pitchFamily="34" charset="-122"/>
                <a:cs typeface="Zen Maru Gothic" pitchFamily="34" charset="-120"/>
              </a:rPr>
              <a:t>2</a:t>
            </a:r>
            <a:endParaRPr lang="en-US" sz="1800" dirty="0"/>
          </a:p>
        </p:txBody>
      </p:sp>
      <p:sp>
        <p:nvSpPr>
          <p:cNvPr id="12" name="Text 10"/>
          <p:cNvSpPr/>
          <p:nvPr/>
        </p:nvSpPr>
        <p:spPr>
          <a:xfrm>
            <a:off x="6946900" y="2291358"/>
            <a:ext cx="4316730"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233B"/>
                </a:solidFill>
                <a:latin typeface="Zen Maru Gothic" pitchFamily="34" charset="0"/>
                <a:ea typeface="Zen Maru Gothic" pitchFamily="34" charset="-122"/>
                <a:cs typeface="Zen Maru Gothic" pitchFamily="34" charset="-120"/>
              </a:rPr>
              <a:t>文字は19px以上</a:t>
            </a:r>
            <a:endParaRPr lang="en-US" sz="1800" dirty="0"/>
          </a:p>
        </p:txBody>
      </p:sp>
      <p:sp>
        <p:nvSpPr>
          <p:cNvPr id="13" name="Text 11"/>
          <p:cNvSpPr/>
          <p:nvPr/>
        </p:nvSpPr>
        <p:spPr>
          <a:xfrm>
            <a:off x="6413500" y="2732088"/>
            <a:ext cx="4866132" cy="300930"/>
          </a:xfrm>
          <a:prstGeom prst="rect">
            <a:avLst/>
          </a:prstGeom>
          <a:noFill/>
          <a:ln/>
        </p:spPr>
        <p:txBody>
          <a:bodyPr wrap="square" lIns="0" tIns="0" rIns="0" bIns="0" rtlCol="0" anchor="t">
            <a:normAutofit/>
          </a:bodyPr>
          <a:lstStyle/>
          <a:p>
            <a:pPr algn="l" indent="0" marL="0">
              <a:lnSpc>
                <a:spcPts val="2170"/>
              </a:lnSpc>
              <a:buNone/>
            </a:pPr>
            <a:r>
              <a:rPr lang="en-US" sz="1400" dirty="0">
                <a:solidFill>
                  <a:srgbClr val="56647E"/>
                </a:solidFill>
                <a:latin typeface="BIZ UDPGothic" pitchFamily="34" charset="0"/>
                <a:ea typeface="BIZ UDPGothic" pitchFamily="34" charset="-122"/>
                <a:cs typeface="BIZ UDPGothic" pitchFamily="34" charset="-120"/>
              </a:rPr>
              <a:t>本文の幅では約8pxまで縮む。それより小さいと読めない。</a:t>
            </a:r>
            <a:endParaRPr lang="en-US" sz="1400" dirty="0"/>
          </a:p>
        </p:txBody>
      </p:sp>
      <p:sp>
        <p:nvSpPr>
          <p:cNvPr id="14" name="Shape 12"/>
          <p:cNvSpPr/>
          <p:nvPr/>
        </p:nvSpPr>
        <p:spPr>
          <a:xfrm>
            <a:off x="819150" y="3533775"/>
            <a:ext cx="5194300" cy="1467545"/>
          </a:xfrm>
          <a:prstGeom prst="roundRect">
            <a:avLst>
              <a:gd name="adj" fmla="val 11683"/>
            </a:avLst>
          </a:prstGeom>
          <a:solidFill>
            <a:srgbClr val="FBFCFE"/>
          </a:solidFill>
          <a:ln w="12700">
            <a:solidFill>
              <a:srgbClr val="D3DBEA"/>
            </a:solidFill>
            <a:prstDash val="solid"/>
          </a:ln>
        </p:spPr>
      </p:sp>
      <p:sp>
        <p:nvSpPr>
          <p:cNvPr id="15" name="Shape 13"/>
          <p:cNvSpPr/>
          <p:nvPr/>
        </p:nvSpPr>
        <p:spPr>
          <a:xfrm>
            <a:off x="1054100" y="3869432"/>
            <a:ext cx="406400" cy="406400"/>
          </a:xfrm>
          <a:prstGeom prst="roundRect">
            <a:avLst>
              <a:gd name="adj" fmla="val 50000"/>
            </a:avLst>
          </a:prstGeom>
          <a:solidFill>
            <a:srgbClr val="2F62E6"/>
          </a:solidFill>
          <a:ln/>
        </p:spPr>
      </p:sp>
      <p:sp>
        <p:nvSpPr>
          <p:cNvPr id="16" name="Text 14"/>
          <p:cNvSpPr/>
          <p:nvPr/>
        </p:nvSpPr>
        <p:spPr>
          <a:xfrm>
            <a:off x="1028700" y="3869432"/>
            <a:ext cx="457200" cy="431800"/>
          </a:xfrm>
          <a:prstGeom prst="rect">
            <a:avLst/>
          </a:prstGeom>
          <a:noFill/>
          <a:ln/>
        </p:spPr>
        <p:txBody>
          <a:bodyPr wrap="square" lIns="0" tIns="0" rIns="0" bIns="0" rtlCol="0" anchor="t">
            <a:normAutofit/>
          </a:bodyPr>
          <a:lstStyle/>
          <a:p>
            <a:pPr algn="ctr" indent="0" marL="0">
              <a:lnSpc>
                <a:spcPts val="3204"/>
              </a:lnSpc>
              <a:buNone/>
            </a:pPr>
            <a:r>
              <a:rPr lang="en-US" sz="1800" b="1" dirty="0">
                <a:solidFill>
                  <a:srgbClr val="FFFFFF"/>
                </a:solidFill>
                <a:latin typeface="Zen Maru Gothic" pitchFamily="34" charset="0"/>
                <a:ea typeface="Zen Maru Gothic" pitchFamily="34" charset="-122"/>
                <a:cs typeface="Zen Maru Gothic" pitchFamily="34" charset="-120"/>
              </a:rPr>
              <a:t>3</a:t>
            </a:r>
            <a:endParaRPr lang="en-US" sz="1800" dirty="0"/>
          </a:p>
        </p:txBody>
      </p:sp>
      <p:sp>
        <p:nvSpPr>
          <p:cNvPr id="17" name="Text 15"/>
          <p:cNvSpPr/>
          <p:nvPr/>
        </p:nvSpPr>
        <p:spPr>
          <a:xfrm>
            <a:off x="1587500" y="3924002"/>
            <a:ext cx="4316730"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233B"/>
                </a:solidFill>
                <a:latin typeface="Zen Maru Gothic" pitchFamily="34" charset="0"/>
                <a:ea typeface="Zen Maru Gothic" pitchFamily="34" charset="-122"/>
                <a:cs typeface="Zen Maru Gothic" pitchFamily="34" charset="-120"/>
              </a:rPr>
              <a:t>収まらなければ、削る</a:t>
            </a:r>
            <a:endParaRPr lang="en-US" sz="1800" dirty="0"/>
          </a:p>
        </p:txBody>
      </p:sp>
      <p:sp>
        <p:nvSpPr>
          <p:cNvPr id="18" name="Text 16"/>
          <p:cNvSpPr/>
          <p:nvPr/>
        </p:nvSpPr>
        <p:spPr>
          <a:xfrm>
            <a:off x="1054100" y="4364732"/>
            <a:ext cx="4866132" cy="300930"/>
          </a:xfrm>
          <a:prstGeom prst="rect">
            <a:avLst/>
          </a:prstGeom>
          <a:noFill/>
          <a:ln/>
        </p:spPr>
        <p:txBody>
          <a:bodyPr wrap="square" lIns="0" tIns="0" rIns="0" bIns="0" rtlCol="0" anchor="t">
            <a:normAutofit/>
          </a:bodyPr>
          <a:lstStyle/>
          <a:p>
            <a:pPr algn="l" indent="0" marL="0">
              <a:lnSpc>
                <a:spcPts val="2170"/>
              </a:lnSpc>
              <a:buNone/>
            </a:pPr>
            <a:r>
              <a:rPr lang="en-US" sz="1400" dirty="0">
                <a:solidFill>
                  <a:srgbClr val="56647E"/>
                </a:solidFill>
                <a:latin typeface="BIZ UDPGothic" pitchFamily="34" charset="0"/>
                <a:ea typeface="BIZ UDPGothic" pitchFamily="34" charset="-122"/>
                <a:cs typeface="BIZ UDPGothic" pitchFamily="34" charset="-120"/>
              </a:rPr>
              <a:t>文字を小さくせず、載せる要素を減らす。</a:t>
            </a:r>
            <a:endParaRPr lang="en-US" sz="1400" dirty="0"/>
          </a:p>
        </p:txBody>
      </p:sp>
      <p:sp>
        <p:nvSpPr>
          <p:cNvPr id="19" name="Shape 17"/>
          <p:cNvSpPr/>
          <p:nvPr/>
        </p:nvSpPr>
        <p:spPr>
          <a:xfrm>
            <a:off x="6178550" y="3533775"/>
            <a:ext cx="5194300" cy="1467545"/>
          </a:xfrm>
          <a:prstGeom prst="roundRect">
            <a:avLst>
              <a:gd name="adj" fmla="val 11683"/>
            </a:avLst>
          </a:prstGeom>
          <a:solidFill>
            <a:srgbClr val="FBFCFE"/>
          </a:solidFill>
          <a:ln w="12700">
            <a:solidFill>
              <a:srgbClr val="D3DBEA"/>
            </a:solidFill>
            <a:prstDash val="solid"/>
          </a:ln>
        </p:spPr>
      </p:sp>
      <p:sp>
        <p:nvSpPr>
          <p:cNvPr id="20" name="Shape 18"/>
          <p:cNvSpPr/>
          <p:nvPr/>
        </p:nvSpPr>
        <p:spPr>
          <a:xfrm>
            <a:off x="6413500" y="3869432"/>
            <a:ext cx="406400" cy="406400"/>
          </a:xfrm>
          <a:prstGeom prst="roundRect">
            <a:avLst>
              <a:gd name="adj" fmla="val 50000"/>
            </a:avLst>
          </a:prstGeom>
          <a:solidFill>
            <a:srgbClr val="2F62E6"/>
          </a:solidFill>
          <a:ln/>
        </p:spPr>
      </p:sp>
      <p:sp>
        <p:nvSpPr>
          <p:cNvPr id="21" name="Text 19"/>
          <p:cNvSpPr/>
          <p:nvPr/>
        </p:nvSpPr>
        <p:spPr>
          <a:xfrm>
            <a:off x="6388100" y="3869432"/>
            <a:ext cx="457200" cy="431800"/>
          </a:xfrm>
          <a:prstGeom prst="rect">
            <a:avLst/>
          </a:prstGeom>
          <a:noFill/>
          <a:ln/>
        </p:spPr>
        <p:txBody>
          <a:bodyPr wrap="square" lIns="0" tIns="0" rIns="0" bIns="0" rtlCol="0" anchor="t">
            <a:normAutofit/>
          </a:bodyPr>
          <a:lstStyle/>
          <a:p>
            <a:pPr algn="ctr" indent="0" marL="0">
              <a:lnSpc>
                <a:spcPts val="3204"/>
              </a:lnSpc>
              <a:buNone/>
            </a:pPr>
            <a:r>
              <a:rPr lang="en-US" sz="1800" b="1" dirty="0">
                <a:solidFill>
                  <a:srgbClr val="FFFFFF"/>
                </a:solidFill>
                <a:latin typeface="Zen Maru Gothic" pitchFamily="34" charset="0"/>
                <a:ea typeface="Zen Maru Gothic" pitchFamily="34" charset="-122"/>
                <a:cs typeface="Zen Maru Gothic" pitchFamily="34" charset="-120"/>
              </a:rPr>
              <a:t>4</a:t>
            </a:r>
            <a:endParaRPr lang="en-US" sz="1800" dirty="0"/>
          </a:p>
        </p:txBody>
      </p:sp>
      <p:sp>
        <p:nvSpPr>
          <p:cNvPr id="22" name="Text 20"/>
          <p:cNvSpPr/>
          <p:nvPr/>
        </p:nvSpPr>
        <p:spPr>
          <a:xfrm>
            <a:off x="6946900" y="3924002"/>
            <a:ext cx="4316730"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233B"/>
                </a:solidFill>
                <a:latin typeface="Zen Maru Gothic" pitchFamily="34" charset="0"/>
                <a:ea typeface="Zen Maru Gothic" pitchFamily="34" charset="-122"/>
                <a:cs typeface="Zen Maru Gothic" pitchFamily="34" charset="-120"/>
              </a:rPr>
              <a:t>事実は、記事から取る</a:t>
            </a:r>
            <a:endParaRPr lang="en-US" sz="1800" dirty="0"/>
          </a:p>
        </p:txBody>
      </p:sp>
      <p:sp>
        <p:nvSpPr>
          <p:cNvPr id="23" name="Text 21"/>
          <p:cNvSpPr/>
          <p:nvPr/>
        </p:nvSpPr>
        <p:spPr>
          <a:xfrm>
            <a:off x="6413500" y="4364732"/>
            <a:ext cx="4866132" cy="300930"/>
          </a:xfrm>
          <a:prstGeom prst="rect">
            <a:avLst/>
          </a:prstGeom>
          <a:noFill/>
          <a:ln/>
        </p:spPr>
        <p:txBody>
          <a:bodyPr wrap="square" lIns="0" tIns="0" rIns="0" bIns="0" rtlCol="0" anchor="t">
            <a:normAutofit/>
          </a:bodyPr>
          <a:lstStyle/>
          <a:p>
            <a:pPr algn="l" indent="0" marL="0">
              <a:lnSpc>
                <a:spcPts val="2170"/>
              </a:lnSpc>
              <a:buNone/>
            </a:pPr>
            <a:r>
              <a:rPr lang="en-US" sz="1400" dirty="0">
                <a:solidFill>
                  <a:srgbClr val="56647E"/>
                </a:solidFill>
                <a:latin typeface="BIZ UDPGothic" pitchFamily="34" charset="0"/>
                <a:ea typeface="BIZ UDPGothic" pitchFamily="34" charset="-122"/>
                <a:cs typeface="BIZ UDPGothic" pitchFamily="34" charset="-120"/>
              </a:rPr>
              <a:t>記事に書いていない数字や断定を、図で足さない。</a:t>
            </a:r>
            <a:endParaRPr lang="en-US" sz="1400" dirty="0"/>
          </a:p>
        </p:txBody>
      </p:sp>
      <p:sp>
        <p:nvSpPr>
          <p:cNvPr id="24" name="Shape 22"/>
          <p:cNvSpPr/>
          <p:nvPr/>
        </p:nvSpPr>
        <p:spPr>
          <a:xfrm>
            <a:off x="819150" y="5293420"/>
            <a:ext cx="10553700" cy="542230"/>
          </a:xfrm>
          <a:prstGeom prst="roundRect">
            <a:avLst>
              <a:gd name="adj" fmla="val 31619"/>
            </a:avLst>
          </a:prstGeom>
          <a:solidFill>
            <a:srgbClr val="FFF0BD"/>
          </a:solidFill>
          <a:ln w="12700">
            <a:solidFill>
              <a:srgbClr val="FFC83D"/>
            </a:solidFill>
            <a:prstDash val="solid"/>
          </a:ln>
        </p:spPr>
      </p:sp>
      <p:sp>
        <p:nvSpPr>
          <p:cNvPr id="25" name="Text 23"/>
          <p:cNvSpPr/>
          <p:nvPr/>
        </p:nvSpPr>
        <p:spPr>
          <a:xfrm>
            <a:off x="1054100" y="5426770"/>
            <a:ext cx="10386314" cy="300930"/>
          </a:xfrm>
          <a:prstGeom prst="rect">
            <a:avLst/>
          </a:prstGeom>
          <a:noFill/>
          <a:ln/>
        </p:spPr>
        <p:txBody>
          <a:bodyPr wrap="square" lIns="0" tIns="0" rIns="0" bIns="0" rtlCol="0" anchor="t">
            <a:normAutofit/>
          </a:bodyPr>
          <a:lstStyle/>
          <a:p>
            <a:pPr algn="l" indent="0" marL="0">
              <a:lnSpc>
                <a:spcPts val="2170"/>
              </a:lnSpc>
              <a:buNone/>
            </a:pPr>
            <a:r>
              <a:rPr lang="en-US" sz="1400" b="1" dirty="0">
                <a:solidFill>
                  <a:srgbClr val="16233B"/>
                </a:solidFill>
                <a:latin typeface="BIZ UDPGothic" pitchFamily="34" charset="0"/>
                <a:ea typeface="BIZ UDPGothic" pitchFamily="34" charset="-122"/>
                <a:cs typeface="BIZ UDPGothic" pitchFamily="34" charset="-120"/>
              </a:rPr>
              <a:t>焼いたあと、AI自身が縮めた画像を見て、全部の文字が読めるかを確かめる。</a:t>
            </a:r>
            <a:r>
              <a:rPr lang="en-US" sz="1400" dirty="0">
                <a:solidFill>
                  <a:srgbClr val="16233B"/>
                </a:solidFill>
                <a:latin typeface="BIZ UDPGothic" pitchFamily="34" charset="0"/>
                <a:ea typeface="BIZ UDPGothic" pitchFamily="34" charset="-122"/>
                <a:cs typeface="BIZ UDPGothic" pitchFamily="34" charset="-120"/>
              </a:rPr>
              <a:t>読めなければ、要素を削ってやり直す。</a:t>
            </a:r>
            <a:endParaRPr lang="en-US" sz="1400" dirty="0"/>
          </a:p>
        </p:txBody>
      </p:sp>
      <p:sp>
        <p:nvSpPr>
          <p:cNvPr id="26" name="Text 2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27" name="Text 25"/>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27 / 40</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3 ／ スキル</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手順書を書くときの、4つの工夫</a:t>
            </a:r>
            <a:endParaRPr lang="en-US" sz="3200" dirty="0"/>
          </a:p>
        </p:txBody>
      </p:sp>
      <p:sp>
        <p:nvSpPr>
          <p:cNvPr id="4" name="Shape 2"/>
          <p:cNvSpPr/>
          <p:nvPr/>
        </p:nvSpPr>
        <p:spPr>
          <a:xfrm>
            <a:off x="819150" y="1901130"/>
            <a:ext cx="5194300" cy="1884660"/>
          </a:xfrm>
          <a:prstGeom prst="roundRect">
            <a:avLst>
              <a:gd name="adj" fmla="val 9097"/>
            </a:avLst>
          </a:prstGeom>
          <a:solidFill>
            <a:srgbClr val="FBFCFE"/>
          </a:solidFill>
          <a:ln w="12700">
            <a:solidFill>
              <a:srgbClr val="D3DBEA"/>
            </a:solidFill>
            <a:prstDash val="solid"/>
          </a:ln>
        </p:spPr>
      </p:sp>
      <p:sp>
        <p:nvSpPr>
          <p:cNvPr id="5" name="Shape 3"/>
          <p:cNvSpPr/>
          <p:nvPr/>
        </p:nvSpPr>
        <p:spPr>
          <a:xfrm>
            <a:off x="1054100" y="2307530"/>
            <a:ext cx="406400" cy="406400"/>
          </a:xfrm>
          <a:prstGeom prst="roundRect">
            <a:avLst>
              <a:gd name="adj" fmla="val 50000"/>
            </a:avLst>
          </a:prstGeom>
          <a:solidFill>
            <a:srgbClr val="2F62E6"/>
          </a:solidFill>
          <a:ln/>
        </p:spPr>
      </p:sp>
      <p:sp>
        <p:nvSpPr>
          <p:cNvPr id="6" name="Text 4"/>
          <p:cNvSpPr/>
          <p:nvPr/>
        </p:nvSpPr>
        <p:spPr>
          <a:xfrm>
            <a:off x="1028700" y="2307530"/>
            <a:ext cx="457200" cy="431800"/>
          </a:xfrm>
          <a:prstGeom prst="rect">
            <a:avLst/>
          </a:prstGeom>
          <a:noFill/>
          <a:ln/>
        </p:spPr>
        <p:txBody>
          <a:bodyPr wrap="square" lIns="0" tIns="0" rIns="0" bIns="0" rtlCol="0" anchor="t">
            <a:normAutofit/>
          </a:bodyPr>
          <a:lstStyle/>
          <a:p>
            <a:pPr algn="ctr" indent="0" marL="0">
              <a:lnSpc>
                <a:spcPts val="3204"/>
              </a:lnSpc>
              <a:buNone/>
            </a:pPr>
            <a:r>
              <a:rPr lang="en-US" sz="1800" b="1" dirty="0">
                <a:solidFill>
                  <a:srgbClr val="FFFFFF"/>
                </a:solidFill>
                <a:latin typeface="Zen Maru Gothic" pitchFamily="34" charset="0"/>
                <a:ea typeface="Zen Maru Gothic" pitchFamily="34" charset="-122"/>
                <a:cs typeface="Zen Maru Gothic" pitchFamily="34" charset="-120"/>
              </a:rPr>
              <a:t>1</a:t>
            </a:r>
            <a:endParaRPr lang="en-US" sz="1800" dirty="0"/>
          </a:p>
        </p:txBody>
      </p:sp>
      <p:sp>
        <p:nvSpPr>
          <p:cNvPr id="7" name="Text 5"/>
          <p:cNvSpPr/>
          <p:nvPr/>
        </p:nvSpPr>
        <p:spPr>
          <a:xfrm>
            <a:off x="1587500" y="2362101"/>
            <a:ext cx="4316730"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233B"/>
                </a:solidFill>
                <a:latin typeface="Zen Maru Gothic" pitchFamily="34" charset="0"/>
                <a:ea typeface="Zen Maru Gothic" pitchFamily="34" charset="-122"/>
                <a:cs typeface="Zen Maru Gothic" pitchFamily="34" charset="-120"/>
              </a:rPr>
              <a:t>役割と目的を、最初に書く</a:t>
            </a:r>
            <a:endParaRPr lang="en-US" sz="1800" dirty="0"/>
          </a:p>
        </p:txBody>
      </p:sp>
      <p:sp>
        <p:nvSpPr>
          <p:cNvPr id="8" name="Text 6"/>
          <p:cNvSpPr/>
          <p:nvPr/>
        </p:nvSpPr>
        <p:spPr>
          <a:xfrm>
            <a:off x="1054100" y="2802830"/>
            <a:ext cx="4866132" cy="576461"/>
          </a:xfrm>
          <a:prstGeom prst="rect">
            <a:avLst/>
          </a:prstGeom>
          <a:noFill/>
          <a:ln/>
        </p:spPr>
        <p:txBody>
          <a:bodyPr wrap="square" lIns="0" tIns="0" rIns="0" bIns="0" rtlCol="0" anchor="t">
            <a:normAutofit/>
          </a:bodyPr>
          <a:lstStyle/>
          <a:p>
            <a:pPr algn="l" indent="0" marL="0">
              <a:lnSpc>
                <a:spcPts val="2170"/>
              </a:lnSpc>
              <a:buNone/>
            </a:pPr>
            <a:r>
              <a:rPr lang="en-US" sz="1400" dirty="0">
                <a:solidFill>
                  <a:srgbClr val="56647E"/>
                </a:solidFill>
                <a:latin typeface="BIZ UDPGothic" pitchFamily="34" charset="0"/>
                <a:ea typeface="BIZ UDPGothic" pitchFamily="34" charset="-122"/>
                <a:cs typeface="BIZ UDPGothic" pitchFamily="34" charset="-120"/>
              </a:rPr>
              <a:t>「代筆ではなく、体験を引き出す役」と書いておくと、AIの動きがぶれない。</a:t>
            </a:r>
            <a:endParaRPr lang="en-US" sz="1400" dirty="0"/>
          </a:p>
        </p:txBody>
      </p:sp>
      <p:sp>
        <p:nvSpPr>
          <p:cNvPr id="9" name="Shape 7"/>
          <p:cNvSpPr/>
          <p:nvPr/>
        </p:nvSpPr>
        <p:spPr>
          <a:xfrm>
            <a:off x="6178550" y="1901130"/>
            <a:ext cx="5194300" cy="1884660"/>
          </a:xfrm>
          <a:prstGeom prst="roundRect">
            <a:avLst>
              <a:gd name="adj" fmla="val 9097"/>
            </a:avLst>
          </a:prstGeom>
          <a:solidFill>
            <a:srgbClr val="FBFCFE"/>
          </a:solidFill>
          <a:ln w="12700">
            <a:solidFill>
              <a:srgbClr val="D3DBEA"/>
            </a:solidFill>
            <a:prstDash val="solid"/>
          </a:ln>
        </p:spPr>
      </p:sp>
      <p:sp>
        <p:nvSpPr>
          <p:cNvPr id="10" name="Shape 8"/>
          <p:cNvSpPr/>
          <p:nvPr/>
        </p:nvSpPr>
        <p:spPr>
          <a:xfrm>
            <a:off x="6413500" y="2445345"/>
            <a:ext cx="406400" cy="406400"/>
          </a:xfrm>
          <a:prstGeom prst="roundRect">
            <a:avLst>
              <a:gd name="adj" fmla="val 50000"/>
            </a:avLst>
          </a:prstGeom>
          <a:solidFill>
            <a:srgbClr val="2F62E6"/>
          </a:solidFill>
          <a:ln/>
        </p:spPr>
      </p:sp>
      <p:sp>
        <p:nvSpPr>
          <p:cNvPr id="11" name="Text 9"/>
          <p:cNvSpPr/>
          <p:nvPr/>
        </p:nvSpPr>
        <p:spPr>
          <a:xfrm>
            <a:off x="6388100" y="2445345"/>
            <a:ext cx="457200" cy="431800"/>
          </a:xfrm>
          <a:prstGeom prst="rect">
            <a:avLst/>
          </a:prstGeom>
          <a:noFill/>
          <a:ln/>
        </p:spPr>
        <p:txBody>
          <a:bodyPr wrap="square" lIns="0" tIns="0" rIns="0" bIns="0" rtlCol="0" anchor="t">
            <a:normAutofit/>
          </a:bodyPr>
          <a:lstStyle/>
          <a:p>
            <a:pPr algn="ctr" indent="0" marL="0">
              <a:lnSpc>
                <a:spcPts val="3204"/>
              </a:lnSpc>
              <a:buNone/>
            </a:pPr>
            <a:r>
              <a:rPr lang="en-US" sz="1800" b="1" dirty="0">
                <a:solidFill>
                  <a:srgbClr val="FFFFFF"/>
                </a:solidFill>
                <a:latin typeface="Zen Maru Gothic" pitchFamily="34" charset="0"/>
                <a:ea typeface="Zen Maru Gothic" pitchFamily="34" charset="-122"/>
                <a:cs typeface="Zen Maru Gothic" pitchFamily="34" charset="-120"/>
              </a:rPr>
              <a:t>2</a:t>
            </a:r>
            <a:endParaRPr lang="en-US" sz="1800" dirty="0"/>
          </a:p>
        </p:txBody>
      </p:sp>
      <p:sp>
        <p:nvSpPr>
          <p:cNvPr id="12" name="Text 10"/>
          <p:cNvSpPr/>
          <p:nvPr/>
        </p:nvSpPr>
        <p:spPr>
          <a:xfrm>
            <a:off x="6946900" y="2499916"/>
            <a:ext cx="4316730"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233B"/>
                </a:solidFill>
                <a:latin typeface="Zen Maru Gothic" pitchFamily="34" charset="0"/>
                <a:ea typeface="Zen Maru Gothic" pitchFamily="34" charset="-122"/>
                <a:cs typeface="Zen Maru Gothic" pitchFamily="34" charset="-120"/>
              </a:rPr>
              <a:t>手順に番号をつけ、読む文書も決める</a:t>
            </a:r>
            <a:endParaRPr lang="en-US" sz="1800" dirty="0"/>
          </a:p>
        </p:txBody>
      </p:sp>
      <p:sp>
        <p:nvSpPr>
          <p:cNvPr id="13" name="Text 11"/>
          <p:cNvSpPr/>
          <p:nvPr/>
        </p:nvSpPr>
        <p:spPr>
          <a:xfrm>
            <a:off x="6413500" y="2940645"/>
            <a:ext cx="4866132" cy="300930"/>
          </a:xfrm>
          <a:prstGeom prst="rect">
            <a:avLst/>
          </a:prstGeom>
          <a:noFill/>
          <a:ln/>
        </p:spPr>
        <p:txBody>
          <a:bodyPr wrap="square" lIns="0" tIns="0" rIns="0" bIns="0" rtlCol="0" anchor="t">
            <a:normAutofit/>
          </a:bodyPr>
          <a:lstStyle/>
          <a:p>
            <a:pPr algn="l" indent="0" marL="0">
              <a:lnSpc>
                <a:spcPts val="2170"/>
              </a:lnSpc>
              <a:buNone/>
            </a:pPr>
            <a:r>
              <a:rPr lang="en-US" sz="1400" dirty="0">
                <a:solidFill>
                  <a:srgbClr val="56647E"/>
                </a:solidFill>
                <a:latin typeface="BIZ UDPGothic" pitchFamily="34" charset="0"/>
                <a:ea typeface="BIZ UDPGothic" pitchFamily="34" charset="-122"/>
                <a:cs typeface="BIZ UDPGothic" pitchFamily="34" charset="-120"/>
              </a:rPr>
              <a:t>段階ごとに「この文書を開く」と指定して、記憶で書かせない。</a:t>
            </a:r>
            <a:endParaRPr lang="en-US" sz="1400" dirty="0"/>
          </a:p>
        </p:txBody>
      </p:sp>
      <p:sp>
        <p:nvSpPr>
          <p:cNvPr id="14" name="Shape 12"/>
          <p:cNvSpPr/>
          <p:nvPr/>
        </p:nvSpPr>
        <p:spPr>
          <a:xfrm>
            <a:off x="819150" y="3950891"/>
            <a:ext cx="5194300" cy="1884759"/>
          </a:xfrm>
          <a:prstGeom prst="roundRect">
            <a:avLst>
              <a:gd name="adj" fmla="val 9097"/>
            </a:avLst>
          </a:prstGeom>
          <a:solidFill>
            <a:srgbClr val="FBFCFE"/>
          </a:solidFill>
          <a:ln w="12700">
            <a:solidFill>
              <a:srgbClr val="D3DBEA"/>
            </a:solidFill>
            <a:prstDash val="solid"/>
          </a:ln>
        </p:spPr>
      </p:sp>
      <p:sp>
        <p:nvSpPr>
          <p:cNvPr id="15" name="Shape 13"/>
          <p:cNvSpPr/>
          <p:nvPr/>
        </p:nvSpPr>
        <p:spPr>
          <a:xfrm>
            <a:off x="1054100" y="4495105"/>
            <a:ext cx="406400" cy="406400"/>
          </a:xfrm>
          <a:prstGeom prst="roundRect">
            <a:avLst>
              <a:gd name="adj" fmla="val 50000"/>
            </a:avLst>
          </a:prstGeom>
          <a:solidFill>
            <a:srgbClr val="2F62E6"/>
          </a:solidFill>
          <a:ln/>
        </p:spPr>
      </p:sp>
      <p:sp>
        <p:nvSpPr>
          <p:cNvPr id="16" name="Text 14"/>
          <p:cNvSpPr/>
          <p:nvPr/>
        </p:nvSpPr>
        <p:spPr>
          <a:xfrm>
            <a:off x="1028700" y="4495105"/>
            <a:ext cx="457200" cy="431800"/>
          </a:xfrm>
          <a:prstGeom prst="rect">
            <a:avLst/>
          </a:prstGeom>
          <a:noFill/>
          <a:ln/>
        </p:spPr>
        <p:txBody>
          <a:bodyPr wrap="square" lIns="0" tIns="0" rIns="0" bIns="0" rtlCol="0" anchor="t">
            <a:normAutofit/>
          </a:bodyPr>
          <a:lstStyle/>
          <a:p>
            <a:pPr algn="ctr" indent="0" marL="0">
              <a:lnSpc>
                <a:spcPts val="3204"/>
              </a:lnSpc>
              <a:buNone/>
            </a:pPr>
            <a:r>
              <a:rPr lang="en-US" sz="1800" b="1" dirty="0">
                <a:solidFill>
                  <a:srgbClr val="FFFFFF"/>
                </a:solidFill>
                <a:latin typeface="Zen Maru Gothic" pitchFamily="34" charset="0"/>
                <a:ea typeface="Zen Maru Gothic" pitchFamily="34" charset="-122"/>
                <a:cs typeface="Zen Maru Gothic" pitchFamily="34" charset="-120"/>
              </a:rPr>
              <a:t>3</a:t>
            </a:r>
            <a:endParaRPr lang="en-US" sz="1800" dirty="0"/>
          </a:p>
        </p:txBody>
      </p:sp>
      <p:sp>
        <p:nvSpPr>
          <p:cNvPr id="17" name="Text 15"/>
          <p:cNvSpPr/>
          <p:nvPr/>
        </p:nvSpPr>
        <p:spPr>
          <a:xfrm>
            <a:off x="1587500" y="4549676"/>
            <a:ext cx="4316730"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233B"/>
                </a:solidFill>
                <a:latin typeface="Zen Maru Gothic" pitchFamily="34" charset="0"/>
                <a:ea typeface="Zen Maru Gothic" pitchFamily="34" charset="-122"/>
                <a:cs typeface="Zen Maru Gothic" pitchFamily="34" charset="-120"/>
              </a:rPr>
              <a:t>質問は1回に1〜2問まで</a:t>
            </a:r>
            <a:endParaRPr lang="en-US" sz="1800" dirty="0"/>
          </a:p>
        </p:txBody>
      </p:sp>
      <p:sp>
        <p:nvSpPr>
          <p:cNvPr id="18" name="Text 16"/>
          <p:cNvSpPr/>
          <p:nvPr/>
        </p:nvSpPr>
        <p:spPr>
          <a:xfrm>
            <a:off x="1054100" y="4990405"/>
            <a:ext cx="4866132" cy="300930"/>
          </a:xfrm>
          <a:prstGeom prst="rect">
            <a:avLst/>
          </a:prstGeom>
          <a:noFill/>
          <a:ln/>
        </p:spPr>
        <p:txBody>
          <a:bodyPr wrap="square" lIns="0" tIns="0" rIns="0" bIns="0" rtlCol="0" anchor="t">
            <a:normAutofit/>
          </a:bodyPr>
          <a:lstStyle/>
          <a:p>
            <a:pPr algn="l" indent="0" marL="0">
              <a:lnSpc>
                <a:spcPts val="2170"/>
              </a:lnSpc>
              <a:buNone/>
            </a:pPr>
            <a:r>
              <a:rPr lang="en-US" sz="1400" dirty="0">
                <a:solidFill>
                  <a:srgbClr val="56647E"/>
                </a:solidFill>
                <a:latin typeface="BIZ UDPGothic" pitchFamily="34" charset="0"/>
                <a:ea typeface="BIZ UDPGothic" pitchFamily="34" charset="-122"/>
                <a:cs typeface="BIZ UDPGothic" pitchFamily="34" charset="-120"/>
              </a:rPr>
              <a:t>一度にたくさん聞くと、答える人が疲れて続かない。</a:t>
            </a:r>
            <a:endParaRPr lang="en-US" sz="1400" dirty="0"/>
          </a:p>
        </p:txBody>
      </p:sp>
      <p:sp>
        <p:nvSpPr>
          <p:cNvPr id="19" name="Shape 17"/>
          <p:cNvSpPr/>
          <p:nvPr/>
        </p:nvSpPr>
        <p:spPr>
          <a:xfrm>
            <a:off x="6178550" y="3950891"/>
            <a:ext cx="5194300" cy="1884759"/>
          </a:xfrm>
          <a:prstGeom prst="roundRect">
            <a:avLst>
              <a:gd name="adj" fmla="val 9097"/>
            </a:avLst>
          </a:prstGeom>
          <a:solidFill>
            <a:srgbClr val="FBFCFE"/>
          </a:solidFill>
          <a:ln w="12700">
            <a:solidFill>
              <a:srgbClr val="D3DBEA"/>
            </a:solidFill>
            <a:prstDash val="solid"/>
          </a:ln>
        </p:spPr>
      </p:sp>
      <p:sp>
        <p:nvSpPr>
          <p:cNvPr id="20" name="Shape 18"/>
          <p:cNvSpPr/>
          <p:nvPr/>
        </p:nvSpPr>
        <p:spPr>
          <a:xfrm>
            <a:off x="6413500" y="4357390"/>
            <a:ext cx="406400" cy="406400"/>
          </a:xfrm>
          <a:prstGeom prst="roundRect">
            <a:avLst>
              <a:gd name="adj" fmla="val 50000"/>
            </a:avLst>
          </a:prstGeom>
          <a:solidFill>
            <a:srgbClr val="2F62E6"/>
          </a:solidFill>
          <a:ln/>
        </p:spPr>
      </p:sp>
      <p:sp>
        <p:nvSpPr>
          <p:cNvPr id="21" name="Text 19"/>
          <p:cNvSpPr/>
          <p:nvPr/>
        </p:nvSpPr>
        <p:spPr>
          <a:xfrm>
            <a:off x="6388100" y="4357390"/>
            <a:ext cx="457200" cy="431800"/>
          </a:xfrm>
          <a:prstGeom prst="rect">
            <a:avLst/>
          </a:prstGeom>
          <a:noFill/>
          <a:ln/>
        </p:spPr>
        <p:txBody>
          <a:bodyPr wrap="square" lIns="0" tIns="0" rIns="0" bIns="0" rtlCol="0" anchor="t">
            <a:normAutofit/>
          </a:bodyPr>
          <a:lstStyle/>
          <a:p>
            <a:pPr algn="ctr" indent="0" marL="0">
              <a:lnSpc>
                <a:spcPts val="3204"/>
              </a:lnSpc>
              <a:buNone/>
            </a:pPr>
            <a:r>
              <a:rPr lang="en-US" sz="1800" b="1" dirty="0">
                <a:solidFill>
                  <a:srgbClr val="FFFFFF"/>
                </a:solidFill>
                <a:latin typeface="Zen Maru Gothic" pitchFamily="34" charset="0"/>
                <a:ea typeface="Zen Maru Gothic" pitchFamily="34" charset="-122"/>
                <a:cs typeface="Zen Maru Gothic" pitchFamily="34" charset="-120"/>
              </a:rPr>
              <a:t>4</a:t>
            </a:r>
            <a:endParaRPr lang="en-US" sz="1800" dirty="0"/>
          </a:p>
        </p:txBody>
      </p:sp>
      <p:sp>
        <p:nvSpPr>
          <p:cNvPr id="22" name="Text 20"/>
          <p:cNvSpPr/>
          <p:nvPr/>
        </p:nvSpPr>
        <p:spPr>
          <a:xfrm>
            <a:off x="6946900" y="4411960"/>
            <a:ext cx="4316730"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233B"/>
                </a:solidFill>
                <a:latin typeface="Zen Maru Gothic" pitchFamily="34" charset="0"/>
                <a:ea typeface="Zen Maru Gothic" pitchFamily="34" charset="-122"/>
                <a:cs typeface="Zen Maru Gothic" pitchFamily="34" charset="-120"/>
              </a:rPr>
              <a:t>やってはいけないことも書く</a:t>
            </a:r>
            <a:endParaRPr lang="en-US" sz="1800" dirty="0"/>
          </a:p>
        </p:txBody>
      </p:sp>
      <p:sp>
        <p:nvSpPr>
          <p:cNvPr id="23" name="Text 21"/>
          <p:cNvSpPr/>
          <p:nvPr/>
        </p:nvSpPr>
        <p:spPr>
          <a:xfrm>
            <a:off x="6413500" y="4852690"/>
            <a:ext cx="4866132" cy="576461"/>
          </a:xfrm>
          <a:prstGeom prst="rect">
            <a:avLst/>
          </a:prstGeom>
          <a:noFill/>
          <a:ln/>
        </p:spPr>
        <p:txBody>
          <a:bodyPr wrap="square" lIns="0" tIns="0" rIns="0" bIns="0" rtlCol="0" anchor="t">
            <a:normAutofit/>
          </a:bodyPr>
          <a:lstStyle/>
          <a:p>
            <a:pPr algn="l" indent="0" marL="0">
              <a:lnSpc>
                <a:spcPts val="2170"/>
              </a:lnSpc>
              <a:buNone/>
            </a:pPr>
            <a:r>
              <a:rPr lang="en-US" sz="1400" dirty="0">
                <a:solidFill>
                  <a:srgbClr val="56647E"/>
                </a:solidFill>
                <a:latin typeface="BIZ UDPGothic" pitchFamily="34" charset="0"/>
                <a:ea typeface="BIZ UDPGothic" pitchFamily="34" charset="-122"/>
                <a:cs typeface="BIZ UDPGothic" pitchFamily="34" charset="-120"/>
              </a:rPr>
              <a:t>「たぶんこうなるはず」で書かせない。中身のないお世辞は挟まない。</a:t>
            </a:r>
            <a:endParaRPr lang="en-US" sz="1400" dirty="0"/>
          </a:p>
        </p:txBody>
      </p:sp>
      <p:sp>
        <p:nvSpPr>
          <p:cNvPr id="24" name="Text 2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25" name="Text 23"/>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28 / 40</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6233B"/>
        </a:solidFill>
      </p:bgPr>
    </p:bg>
    <p:spTree>
      <p:nvGrpSpPr>
        <p:cNvPr id="1" name=""/>
        <p:cNvGrpSpPr/>
        <p:nvPr/>
      </p:nvGrpSpPr>
      <p:grpSpPr>
        <a:xfrm>
          <a:off x="0" y="0"/>
          <a:ext cx="0" cy="0"/>
          <a:chOff x="0" y="0"/>
          <a:chExt cx="0" cy="0"/>
        </a:xfrm>
      </p:grpSpPr>
      <p:sp>
        <p:nvSpPr>
          <p:cNvPr id="2" name="Text 0"/>
          <p:cNvSpPr/>
          <p:nvPr/>
        </p:nvSpPr>
        <p:spPr>
          <a:xfrm>
            <a:off x="7193280" y="711200"/>
            <a:ext cx="4185920" cy="228600"/>
          </a:xfrm>
          <a:prstGeom prst="rect">
            <a:avLst/>
          </a:prstGeom>
          <a:noFill/>
          <a:ln/>
        </p:spPr>
        <p:txBody>
          <a:bodyPr wrap="square" lIns="0" tIns="0" rIns="0" bIns="0" rtlCol="0" anchor="t">
            <a:normAutofit/>
          </a:bodyPr>
          <a:lstStyle/>
          <a:p>
            <a:pPr algn="r" indent="0" marL="0">
              <a:lnSpc>
                <a:spcPts val="1600"/>
              </a:lnSpc>
              <a:buNone/>
            </a:pPr>
            <a:r>
              <a:rPr lang="en-US" sz="1600" b="1" dirty="0">
                <a:solidFill>
                  <a:srgbClr val="22355A"/>
                </a:solidFill>
                <a:latin typeface="Zen Maru Gothic" pitchFamily="34" charset="0"/>
                <a:ea typeface="Zen Maru Gothic" pitchFamily="34" charset="-122"/>
                <a:cs typeface="Zen Maru Gothic" pitchFamily="34" charset="-120"/>
              </a:rPr>
              <a:t>4</a:t>
            </a:r>
            <a:endParaRPr lang="en-US" sz="1600" dirty="0"/>
          </a:p>
        </p:txBody>
      </p:sp>
      <p:pic>
        <p:nvPicPr>
          <p:cNvPr id="3" name="Image 0" descr="ellipse">    </p:cNvPr>
          <p:cNvPicPr>
            <a:picLocks noChangeAspect="1"/>
          </p:cNvPicPr>
          <p:nvPr/>
        </p:nvPicPr>
        <p:blipFill>
          <a:blip r:embed="rId1"/>
          <a:srcRect l="0" r="0" t="0" b="0"/>
          <a:stretch/>
        </p:blipFill>
        <p:spPr>
          <a:xfrm>
            <a:off x="9906000" y="3810000"/>
            <a:ext cx="762000" cy="762000"/>
          </a:xfrm>
          <a:prstGeom prst="rect">
            <a:avLst/>
          </a:prstGeom>
        </p:spPr>
      </p:pic>
      <p:sp>
        <p:nvSpPr>
          <p:cNvPr id="4" name="Text 1"/>
          <p:cNvSpPr/>
          <p:nvPr/>
        </p:nvSpPr>
        <p:spPr>
          <a:xfrm>
            <a:off x="812800" y="812800"/>
            <a:ext cx="7521575" cy="350441"/>
          </a:xfrm>
          <a:prstGeom prst="rect">
            <a:avLst/>
          </a:prstGeom>
          <a:noFill/>
          <a:ln/>
        </p:spPr>
        <p:txBody>
          <a:bodyPr wrap="square" lIns="0" tIns="0" rIns="0" bIns="0" rtlCol="0" anchor="t">
            <a:normAutofit/>
          </a:bodyPr>
          <a:lstStyle/>
          <a:p>
            <a:pPr algn="l" indent="0" marL="0">
              <a:lnSpc>
                <a:spcPts val="2560"/>
              </a:lnSpc>
              <a:buNone/>
            </a:pPr>
            <a:r>
              <a:rPr lang="en-US" sz="1600" b="1" spc="200" kern="0" dirty="0">
                <a:solidFill>
                  <a:srgbClr val="86A8FF"/>
                </a:solidFill>
                <a:latin typeface="BIZ UDPGothic" pitchFamily="34" charset="0"/>
                <a:ea typeface="BIZ UDPGothic" pitchFamily="34" charset="-122"/>
                <a:cs typeface="BIZ UDPGothic" pitchFamily="34" charset="-120"/>
              </a:rPr>
              <a:t>PART 4 ／ 5</a:t>
            </a:r>
            <a:endParaRPr lang="en-US" sz="1600" dirty="0"/>
          </a:p>
        </p:txBody>
      </p:sp>
      <p:sp>
        <p:nvSpPr>
          <p:cNvPr id="5" name="Text 2"/>
          <p:cNvSpPr/>
          <p:nvPr/>
        </p:nvSpPr>
        <p:spPr>
          <a:xfrm>
            <a:off x="812800" y="1264841"/>
            <a:ext cx="7521575" cy="1549400"/>
          </a:xfrm>
          <a:prstGeom prst="rect">
            <a:avLst/>
          </a:prstGeom>
          <a:noFill/>
          <a:ln/>
        </p:spPr>
        <p:txBody>
          <a:bodyPr wrap="square" lIns="0" tIns="0" rIns="0" bIns="0" rtlCol="0" anchor="t">
            <a:normAutofit/>
          </a:bodyPr>
          <a:lstStyle/>
          <a:p>
            <a:pPr algn="l" indent="0" marL="0">
              <a:lnSpc>
                <a:spcPts val="6000"/>
              </a:lnSpc>
              <a:buNone/>
            </a:pPr>
            <a:r>
              <a:rPr lang="en-US" sz="4800" b="1" dirty="0">
                <a:solidFill>
                  <a:srgbClr val="F4F7FC"/>
                </a:solidFill>
                <a:latin typeface="Zen Maru Gothic" pitchFamily="34" charset="0"/>
                <a:ea typeface="Zen Maru Gothic" pitchFamily="34" charset="-122"/>
                <a:cs typeface="Zen Maru Gothic" pitchFamily="34" charset="-120"/>
              </a:rPr>
              <a:t>AIの助っ人②</a:t>
            </a:r>
            <a:endParaRPr lang="en-US" sz="4800" dirty="0"/>
          </a:p>
          <a:p>
            <a:pPr algn="l" indent="0" marL="0">
              <a:lnSpc>
                <a:spcPts val="6000"/>
              </a:lnSpc>
              <a:buNone/>
            </a:pPr>
            <a:r>
              <a:rPr lang="en-US" sz="4800" b="1" dirty="0">
                <a:solidFill>
                  <a:srgbClr val="FFC83D"/>
                </a:solidFill>
                <a:latin typeface="Zen Maru Gothic" pitchFamily="34" charset="0"/>
                <a:ea typeface="Zen Maru Gothic" pitchFamily="34" charset="-122"/>
                <a:cs typeface="Zen Maru Gothic" pitchFamily="34" charset="-120"/>
              </a:rPr>
              <a:t>サブエージェント</a:t>
            </a:r>
            <a:endParaRPr lang="en-US" sz="4800" dirty="0"/>
          </a:p>
        </p:txBody>
      </p:sp>
      <p:sp>
        <p:nvSpPr>
          <p:cNvPr id="6" name="Text 3"/>
          <p:cNvSpPr/>
          <p:nvPr/>
        </p:nvSpPr>
        <p:spPr>
          <a:xfrm>
            <a:off x="812800" y="3017441"/>
            <a:ext cx="7521575" cy="391120"/>
          </a:xfrm>
          <a:prstGeom prst="rect">
            <a:avLst/>
          </a:prstGeom>
          <a:noFill/>
          <a:ln/>
        </p:spPr>
        <p:txBody>
          <a:bodyPr wrap="square" lIns="0" tIns="0" rIns="0" bIns="0" rtlCol="0" anchor="t">
            <a:normAutofit/>
          </a:bodyPr>
          <a:lstStyle/>
          <a:p>
            <a:pPr algn="l" indent="0" marL="0">
              <a:lnSpc>
                <a:spcPts val="2880"/>
              </a:lnSpc>
              <a:buNone/>
            </a:pPr>
            <a:r>
              <a:rPr lang="en-US" sz="1800" dirty="0">
                <a:solidFill>
                  <a:srgbClr val="A9B6D0"/>
                </a:solidFill>
                <a:latin typeface="BIZ UDPGothic" pitchFamily="34" charset="0"/>
                <a:ea typeface="BIZ UDPGothic" pitchFamily="34" charset="-122"/>
                <a:cs typeface="BIZ UDPGothic" pitchFamily="34" charset="-120"/>
              </a:rPr>
              <a:t>別の部屋で働く「専門担当」。このブログでは3人いる。</a:t>
            </a:r>
            <a:endParaRPr lang="en-US" sz="1800" dirty="0"/>
          </a:p>
        </p:txBody>
      </p:sp>
      <p:sp>
        <p:nvSpPr>
          <p:cNvPr id="7" name="Shape 4"/>
          <p:cNvSpPr/>
          <p:nvPr/>
        </p:nvSpPr>
        <p:spPr>
          <a:xfrm>
            <a:off x="819150" y="5599509"/>
            <a:ext cx="2019300" cy="439341"/>
          </a:xfrm>
          <a:prstGeom prst="roundRect">
            <a:avLst>
              <a:gd name="adj" fmla="val 50000"/>
            </a:avLst>
          </a:prstGeom>
          <a:solidFill>
            <a:srgbClr val="1F3050"/>
          </a:solidFill>
          <a:ln w="12700">
            <a:solidFill>
              <a:srgbClr val="1F3050"/>
            </a:solidFill>
            <a:prstDash val="solid"/>
          </a:ln>
        </p:spPr>
      </p:sp>
      <p:sp>
        <p:nvSpPr>
          <p:cNvPr id="8" name="Text 5"/>
          <p:cNvSpPr/>
          <p:nvPr/>
        </p:nvSpPr>
        <p:spPr>
          <a:xfrm>
            <a:off x="847725" y="5694759"/>
            <a:ext cx="196215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F4F7FC"/>
                </a:solidFill>
                <a:latin typeface="BIZ UDPGothic" pitchFamily="34" charset="0"/>
                <a:ea typeface="BIZ UDPGothic" pitchFamily="34" charset="-122"/>
                <a:cs typeface="BIZ UDPGothic" pitchFamily="34" charset="-120"/>
              </a:rPr>
              <a:t>1 ブログのしくみ</a:t>
            </a:r>
            <a:endParaRPr lang="en-US" sz="1400" dirty="0"/>
          </a:p>
        </p:txBody>
      </p:sp>
      <p:sp>
        <p:nvSpPr>
          <p:cNvPr id="9" name="Shape 6"/>
          <p:cNvSpPr/>
          <p:nvPr/>
        </p:nvSpPr>
        <p:spPr>
          <a:xfrm>
            <a:off x="2952750" y="5599509"/>
            <a:ext cx="2019300" cy="439341"/>
          </a:xfrm>
          <a:prstGeom prst="roundRect">
            <a:avLst>
              <a:gd name="adj" fmla="val 50000"/>
            </a:avLst>
          </a:prstGeom>
          <a:solidFill>
            <a:srgbClr val="1F3050"/>
          </a:solidFill>
          <a:ln w="12700">
            <a:solidFill>
              <a:srgbClr val="1F3050"/>
            </a:solidFill>
            <a:prstDash val="solid"/>
          </a:ln>
        </p:spPr>
      </p:sp>
      <p:sp>
        <p:nvSpPr>
          <p:cNvPr id="10" name="Text 7"/>
          <p:cNvSpPr/>
          <p:nvPr/>
        </p:nvSpPr>
        <p:spPr>
          <a:xfrm>
            <a:off x="2981325" y="5694759"/>
            <a:ext cx="196215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F4F7FC"/>
                </a:solidFill>
                <a:latin typeface="BIZ UDPGothic" pitchFamily="34" charset="0"/>
                <a:ea typeface="BIZ UDPGothic" pitchFamily="34" charset="-122"/>
                <a:cs typeface="BIZ UDPGothic" pitchFamily="34" charset="-120"/>
              </a:rPr>
              <a:t>2 AIのしくみ</a:t>
            </a:r>
            <a:endParaRPr lang="en-US" sz="1400" dirty="0"/>
          </a:p>
        </p:txBody>
      </p:sp>
      <p:sp>
        <p:nvSpPr>
          <p:cNvPr id="11" name="Shape 8"/>
          <p:cNvSpPr/>
          <p:nvPr/>
        </p:nvSpPr>
        <p:spPr>
          <a:xfrm>
            <a:off x="5086350" y="5599509"/>
            <a:ext cx="2019300" cy="439341"/>
          </a:xfrm>
          <a:prstGeom prst="roundRect">
            <a:avLst>
              <a:gd name="adj" fmla="val 50000"/>
            </a:avLst>
          </a:prstGeom>
          <a:solidFill>
            <a:srgbClr val="1F3050"/>
          </a:solidFill>
          <a:ln w="12700">
            <a:solidFill>
              <a:srgbClr val="1F3050"/>
            </a:solidFill>
            <a:prstDash val="solid"/>
          </a:ln>
        </p:spPr>
      </p:sp>
      <p:sp>
        <p:nvSpPr>
          <p:cNvPr id="12" name="Text 9"/>
          <p:cNvSpPr/>
          <p:nvPr/>
        </p:nvSpPr>
        <p:spPr>
          <a:xfrm>
            <a:off x="5114925" y="5694759"/>
            <a:ext cx="196215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F4F7FC"/>
                </a:solidFill>
                <a:latin typeface="BIZ UDPGothic" pitchFamily="34" charset="0"/>
                <a:ea typeface="BIZ UDPGothic" pitchFamily="34" charset="-122"/>
                <a:cs typeface="BIZ UDPGothic" pitchFamily="34" charset="-120"/>
              </a:rPr>
              <a:t>3 スキル</a:t>
            </a:r>
            <a:endParaRPr lang="en-US" sz="1400" dirty="0"/>
          </a:p>
        </p:txBody>
      </p:sp>
      <p:sp>
        <p:nvSpPr>
          <p:cNvPr id="13" name="Shape 10"/>
          <p:cNvSpPr/>
          <p:nvPr/>
        </p:nvSpPr>
        <p:spPr>
          <a:xfrm>
            <a:off x="7219950" y="5599509"/>
            <a:ext cx="2019300" cy="439341"/>
          </a:xfrm>
          <a:prstGeom prst="roundRect">
            <a:avLst>
              <a:gd name="adj" fmla="val 50000"/>
            </a:avLst>
          </a:prstGeom>
          <a:solidFill>
            <a:srgbClr val="FFC83D"/>
          </a:solidFill>
          <a:ln w="12700">
            <a:solidFill>
              <a:srgbClr val="FFC83D"/>
            </a:solidFill>
            <a:prstDash val="solid"/>
          </a:ln>
        </p:spPr>
      </p:sp>
      <p:sp>
        <p:nvSpPr>
          <p:cNvPr id="14" name="Text 11"/>
          <p:cNvSpPr/>
          <p:nvPr/>
        </p:nvSpPr>
        <p:spPr>
          <a:xfrm>
            <a:off x="7248525" y="5694759"/>
            <a:ext cx="196215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6233B"/>
                </a:solidFill>
                <a:latin typeface="BIZ UDPGothic" pitchFamily="34" charset="0"/>
                <a:ea typeface="BIZ UDPGothic" pitchFamily="34" charset="-122"/>
                <a:cs typeface="BIZ UDPGothic" pitchFamily="34" charset="-120"/>
              </a:rPr>
              <a:t>4 サブエージェント</a:t>
            </a:r>
            <a:endParaRPr lang="en-US" sz="1400" dirty="0"/>
          </a:p>
        </p:txBody>
      </p:sp>
      <p:sp>
        <p:nvSpPr>
          <p:cNvPr id="15" name="Shape 12"/>
          <p:cNvSpPr/>
          <p:nvPr/>
        </p:nvSpPr>
        <p:spPr>
          <a:xfrm>
            <a:off x="9353550" y="5599509"/>
            <a:ext cx="2019300" cy="439341"/>
          </a:xfrm>
          <a:prstGeom prst="roundRect">
            <a:avLst>
              <a:gd name="adj" fmla="val 50000"/>
            </a:avLst>
          </a:prstGeom>
          <a:noFill/>
          <a:ln w="12700">
            <a:solidFill>
              <a:srgbClr val="34466B"/>
            </a:solidFill>
            <a:prstDash val="solid"/>
          </a:ln>
        </p:spPr>
      </p:sp>
      <p:sp>
        <p:nvSpPr>
          <p:cNvPr id="16" name="Text 13"/>
          <p:cNvSpPr/>
          <p:nvPr/>
        </p:nvSpPr>
        <p:spPr>
          <a:xfrm>
            <a:off x="9382125" y="5694759"/>
            <a:ext cx="196215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A9B6D0"/>
                </a:solidFill>
                <a:latin typeface="BIZ UDPGothic" pitchFamily="34" charset="0"/>
                <a:ea typeface="BIZ UDPGothic" pitchFamily="34" charset="-122"/>
                <a:cs typeface="BIZ UDPGothic" pitchFamily="34" charset="-120"/>
              </a:rPr>
              <a:t>5 人とAI</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4 ／ サブエージェント</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サブエージェントは、別の部屋で働く専門担当</a:t>
            </a:r>
            <a:endParaRPr lang="en-US" sz="3200" dirty="0"/>
          </a:p>
        </p:txBody>
      </p:sp>
      <p:sp>
        <p:nvSpPr>
          <p:cNvPr id="4" name="Shape 2"/>
          <p:cNvSpPr/>
          <p:nvPr/>
        </p:nvSpPr>
        <p:spPr>
          <a:xfrm>
            <a:off x="819150" y="1901130"/>
            <a:ext cx="3543300" cy="1917700"/>
          </a:xfrm>
          <a:prstGeom prst="roundRect">
            <a:avLst>
              <a:gd name="adj" fmla="val 8940"/>
            </a:avLst>
          </a:prstGeom>
          <a:solidFill>
            <a:srgbClr val="FBFCFE"/>
          </a:solidFill>
          <a:ln w="12700">
            <a:solidFill>
              <a:srgbClr val="D3DBEA"/>
            </a:solidFill>
            <a:prstDash val="solid"/>
          </a:ln>
        </p:spPr>
      </p:sp>
      <p:sp>
        <p:nvSpPr>
          <p:cNvPr id="5" name="Shape 3"/>
          <p:cNvSpPr/>
          <p:nvPr/>
        </p:nvSpPr>
        <p:spPr>
          <a:xfrm>
            <a:off x="1028700" y="2085280"/>
            <a:ext cx="508000" cy="508000"/>
          </a:xfrm>
          <a:prstGeom prst="roundRect">
            <a:avLst>
              <a:gd name="adj" fmla="val 30000"/>
            </a:avLst>
          </a:prstGeom>
          <a:solidFill>
            <a:srgbClr val="2F62E6"/>
          </a:solidFill>
          <a:ln/>
        </p:spPr>
      </p:sp>
      <p:pic>
        <p:nvPicPr>
          <p:cNvPr id="6" name="Image 0" descr="Chat">    </p:cNvPr>
          <p:cNvPicPr>
            <a:picLocks noChangeAspect="1"/>
          </p:cNvPicPr>
          <p:nvPr/>
        </p:nvPicPr>
        <p:blipFill>
          <a:blip r:embed="rId1"/>
          <a:srcRect l="0" r="0" t="0" b="0"/>
          <a:stretch/>
        </p:blipFill>
        <p:spPr>
          <a:xfrm>
            <a:off x="1130300" y="2186880"/>
            <a:ext cx="304800" cy="304800"/>
          </a:xfrm>
          <a:prstGeom prst="rect">
            <a:avLst/>
          </a:prstGeom>
        </p:spPr>
      </p:pic>
      <p:sp>
        <p:nvSpPr>
          <p:cNvPr id="7" name="Text 4"/>
          <p:cNvSpPr/>
          <p:nvPr/>
        </p:nvSpPr>
        <p:spPr>
          <a:xfrm>
            <a:off x="1028700" y="2669480"/>
            <a:ext cx="3217926"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6233B"/>
                </a:solidFill>
                <a:latin typeface="Zen Maru Gothic" pitchFamily="34" charset="0"/>
                <a:ea typeface="Zen Maru Gothic" pitchFamily="34" charset="-122"/>
                <a:cs typeface="Zen Maru Gothic" pitchFamily="34" charset="-120"/>
              </a:rPr>
              <a:t>メインのAI</a:t>
            </a:r>
            <a:endParaRPr lang="en-US" sz="2000" dirty="0"/>
          </a:p>
        </p:txBody>
      </p:sp>
      <p:sp>
        <p:nvSpPr>
          <p:cNvPr id="8" name="Text 5"/>
          <p:cNvSpPr/>
          <p:nvPr/>
        </p:nvSpPr>
        <p:spPr>
          <a:xfrm>
            <a:off x="1028700" y="3075880"/>
            <a:ext cx="3217926"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56647E"/>
                </a:solidFill>
                <a:latin typeface="BIZ UDPGothic" pitchFamily="34" charset="0"/>
                <a:ea typeface="BIZ UDPGothic" pitchFamily="34" charset="-122"/>
                <a:cs typeface="BIZ UDPGothic" pitchFamily="34" charset="-120"/>
              </a:rPr>
              <a:t>書き手と会話しながら、仕事全体を進める。</a:t>
            </a:r>
            <a:endParaRPr lang="en-US" sz="1400" dirty="0"/>
          </a:p>
        </p:txBody>
      </p:sp>
      <p:sp>
        <p:nvSpPr>
          <p:cNvPr id="9" name="Text 6"/>
          <p:cNvSpPr/>
          <p:nvPr/>
        </p:nvSpPr>
        <p:spPr>
          <a:xfrm>
            <a:off x="4421632" y="2190750"/>
            <a:ext cx="3348736"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6233B"/>
                </a:solidFill>
                <a:latin typeface="BIZ UDPGothic" pitchFamily="34" charset="0"/>
                <a:ea typeface="BIZ UDPGothic" pitchFamily="34" charset="-122"/>
                <a:cs typeface="BIZ UDPGothic" pitchFamily="34" charset="-120"/>
              </a:rPr>
              <a:t>① お願いする</a:t>
            </a:r>
            <a:endParaRPr lang="en-US" sz="1400" dirty="0"/>
          </a:p>
        </p:txBody>
      </p:sp>
      <p:sp>
        <p:nvSpPr>
          <p:cNvPr id="10" name="Text 7"/>
          <p:cNvSpPr/>
          <p:nvPr/>
        </p:nvSpPr>
        <p:spPr>
          <a:xfrm>
            <a:off x="4421632" y="2490391"/>
            <a:ext cx="3348736" cy="256480"/>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56647E"/>
                </a:solidFill>
                <a:latin typeface="BIZ UDPGothic" pitchFamily="34" charset="0"/>
                <a:ea typeface="BIZ UDPGothic" pitchFamily="34" charset="-122"/>
                <a:cs typeface="BIZ UDPGothic" pitchFamily="34" charset="-120"/>
              </a:rPr>
              <a:t>「この下書きを点検して」</a:t>
            </a:r>
            <a:endParaRPr lang="en-US" sz="1300" dirty="0"/>
          </a:p>
        </p:txBody>
      </p:sp>
      <p:pic>
        <p:nvPicPr>
          <p:cNvPr id="11" name="Image 1" descr="arrow-right">    </p:cNvPr>
          <p:cNvPicPr>
            <a:picLocks noChangeAspect="1"/>
          </p:cNvPicPr>
          <p:nvPr/>
        </p:nvPicPr>
        <p:blipFill>
          <a:blip r:embed="rId2"/>
          <a:srcRect l="0" r="0" t="0" b="0"/>
          <a:stretch/>
        </p:blipFill>
        <p:spPr>
          <a:xfrm>
            <a:off x="5918200" y="2772271"/>
            <a:ext cx="355600" cy="203200"/>
          </a:xfrm>
          <a:prstGeom prst="rect">
            <a:avLst/>
          </a:prstGeom>
        </p:spPr>
      </p:pic>
      <p:pic>
        <p:nvPicPr>
          <p:cNvPr id="12" name="Image 2" descr="arrow-left">    </p:cNvPr>
          <p:cNvPicPr>
            <a:picLocks noChangeAspect="1"/>
          </p:cNvPicPr>
          <p:nvPr/>
        </p:nvPicPr>
        <p:blipFill>
          <a:blip r:embed="rId3"/>
          <a:srcRect l="0" r="0" t="0" b="0"/>
          <a:stretch/>
        </p:blipFill>
        <p:spPr>
          <a:xfrm>
            <a:off x="5918200" y="3026271"/>
            <a:ext cx="355600" cy="203200"/>
          </a:xfrm>
          <a:prstGeom prst="rect">
            <a:avLst/>
          </a:prstGeom>
        </p:spPr>
      </p:pic>
      <p:sp>
        <p:nvSpPr>
          <p:cNvPr id="13" name="Text 8"/>
          <p:cNvSpPr/>
          <p:nvPr/>
        </p:nvSpPr>
        <p:spPr>
          <a:xfrm>
            <a:off x="4421632" y="3280271"/>
            <a:ext cx="3348736"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6233B"/>
                </a:solidFill>
                <a:latin typeface="BIZ UDPGothic" pitchFamily="34" charset="0"/>
                <a:ea typeface="BIZ UDPGothic" pitchFamily="34" charset="-122"/>
                <a:cs typeface="BIZ UDPGothic" pitchFamily="34" charset="-120"/>
              </a:rPr>
              <a:t>② 結果だけを返す</a:t>
            </a:r>
            <a:endParaRPr lang="en-US" sz="1400" dirty="0"/>
          </a:p>
        </p:txBody>
      </p:sp>
      <p:sp>
        <p:nvSpPr>
          <p:cNvPr id="14" name="Shape 9"/>
          <p:cNvSpPr/>
          <p:nvPr/>
        </p:nvSpPr>
        <p:spPr>
          <a:xfrm>
            <a:off x="7829550" y="1901130"/>
            <a:ext cx="3543300" cy="1917700"/>
          </a:xfrm>
          <a:prstGeom prst="roundRect">
            <a:avLst>
              <a:gd name="adj" fmla="val 8940"/>
            </a:avLst>
          </a:prstGeom>
          <a:solidFill>
            <a:srgbClr val="FFF0BD"/>
          </a:solidFill>
          <a:ln w="12700">
            <a:solidFill>
              <a:srgbClr val="FFC83D"/>
            </a:solidFill>
            <a:prstDash val="solid"/>
          </a:ln>
        </p:spPr>
      </p:sp>
      <p:sp>
        <p:nvSpPr>
          <p:cNvPr id="15" name="Shape 10"/>
          <p:cNvSpPr/>
          <p:nvPr/>
        </p:nvSpPr>
        <p:spPr>
          <a:xfrm>
            <a:off x="8039100" y="2085280"/>
            <a:ext cx="508000" cy="508000"/>
          </a:xfrm>
          <a:prstGeom prst="roundRect">
            <a:avLst>
              <a:gd name="adj" fmla="val 30000"/>
            </a:avLst>
          </a:prstGeom>
          <a:solidFill>
            <a:srgbClr val="FFC83D"/>
          </a:solidFill>
          <a:ln/>
        </p:spPr>
      </p:sp>
      <p:pic>
        <p:nvPicPr>
          <p:cNvPr id="16" name="Image 3" descr="Search">    </p:cNvPr>
          <p:cNvPicPr>
            <a:picLocks noChangeAspect="1"/>
          </p:cNvPicPr>
          <p:nvPr/>
        </p:nvPicPr>
        <p:blipFill>
          <a:blip r:embed="rId4"/>
          <a:srcRect l="0" r="0" t="0" b="0"/>
          <a:stretch/>
        </p:blipFill>
        <p:spPr>
          <a:xfrm>
            <a:off x="8140700" y="2186880"/>
            <a:ext cx="304800" cy="304800"/>
          </a:xfrm>
          <a:prstGeom prst="rect">
            <a:avLst/>
          </a:prstGeom>
        </p:spPr>
      </p:pic>
      <p:sp>
        <p:nvSpPr>
          <p:cNvPr id="17" name="Text 11"/>
          <p:cNvSpPr/>
          <p:nvPr/>
        </p:nvSpPr>
        <p:spPr>
          <a:xfrm>
            <a:off x="8039100" y="2669480"/>
            <a:ext cx="3217926"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6233B"/>
                </a:solidFill>
                <a:latin typeface="Zen Maru Gothic" pitchFamily="34" charset="0"/>
                <a:ea typeface="Zen Maru Gothic" pitchFamily="34" charset="-122"/>
                <a:cs typeface="Zen Maru Gothic" pitchFamily="34" charset="-120"/>
              </a:rPr>
              <a:t>サブエージェント</a:t>
            </a:r>
            <a:endParaRPr lang="en-US" sz="2000" dirty="0"/>
          </a:p>
        </p:txBody>
      </p:sp>
      <p:sp>
        <p:nvSpPr>
          <p:cNvPr id="18" name="Text 12"/>
          <p:cNvSpPr/>
          <p:nvPr/>
        </p:nvSpPr>
        <p:spPr>
          <a:xfrm>
            <a:off x="8039100" y="3075880"/>
            <a:ext cx="3217926"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6233B"/>
                </a:solidFill>
                <a:latin typeface="BIZ UDPGothic" pitchFamily="34" charset="0"/>
                <a:ea typeface="BIZ UDPGothic" pitchFamily="34" charset="-122"/>
                <a:cs typeface="BIZ UDPGothic" pitchFamily="34" charset="-120"/>
              </a:rPr>
              <a:t>別の部屋で、頼まれた仕事だけをする専門担当。</a:t>
            </a:r>
            <a:endParaRPr lang="en-US" sz="1400" dirty="0"/>
          </a:p>
        </p:txBody>
      </p:sp>
      <p:sp>
        <p:nvSpPr>
          <p:cNvPr id="19" name="Shape 13"/>
          <p:cNvSpPr/>
          <p:nvPr/>
        </p:nvSpPr>
        <p:spPr>
          <a:xfrm>
            <a:off x="819150" y="4110930"/>
            <a:ext cx="3424734" cy="1131491"/>
          </a:xfrm>
          <a:prstGeom prst="roundRect">
            <a:avLst>
              <a:gd name="adj" fmla="val 15153"/>
            </a:avLst>
          </a:prstGeom>
          <a:solidFill>
            <a:srgbClr val="FBFCFE"/>
          </a:solidFill>
          <a:ln w="12700">
            <a:solidFill>
              <a:srgbClr val="D3DBEA"/>
            </a:solidFill>
            <a:prstDash val="solid"/>
          </a:ln>
        </p:spPr>
      </p:sp>
      <p:sp>
        <p:nvSpPr>
          <p:cNvPr id="20" name="Text 14"/>
          <p:cNvSpPr/>
          <p:nvPr/>
        </p:nvSpPr>
        <p:spPr>
          <a:xfrm>
            <a:off x="1003300" y="4256980"/>
            <a:ext cx="3148127" cy="305991"/>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2350C9"/>
                </a:solidFill>
                <a:latin typeface="Zen Maru Gothic" pitchFamily="34" charset="0"/>
                <a:ea typeface="Zen Maru Gothic" pitchFamily="34" charset="-122"/>
                <a:cs typeface="Zen Maru Gothic" pitchFamily="34" charset="-120"/>
              </a:rPr>
              <a:t>専門に集中できる</a:t>
            </a:r>
            <a:endParaRPr lang="en-US" sz="1700" dirty="0"/>
          </a:p>
        </p:txBody>
      </p:sp>
      <p:sp>
        <p:nvSpPr>
          <p:cNvPr id="21" name="Text 15"/>
          <p:cNvSpPr/>
          <p:nvPr/>
        </p:nvSpPr>
        <p:spPr>
          <a:xfrm>
            <a:off x="1003300" y="4575671"/>
            <a:ext cx="3148127"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6233B"/>
                </a:solidFill>
                <a:latin typeface="BIZ UDPGothic" pitchFamily="34" charset="0"/>
                <a:ea typeface="BIZ UDPGothic" pitchFamily="34" charset="-122"/>
                <a:cs typeface="BIZ UDPGothic" pitchFamily="34" charset="-120"/>
              </a:rPr>
              <a:t>「校閲だけ」「ネタ出しだけ」と、役割を絞れる。</a:t>
            </a:r>
            <a:endParaRPr lang="en-US" sz="1300" dirty="0"/>
          </a:p>
        </p:txBody>
      </p:sp>
      <p:sp>
        <p:nvSpPr>
          <p:cNvPr id="22" name="Shape 16"/>
          <p:cNvSpPr/>
          <p:nvPr/>
        </p:nvSpPr>
        <p:spPr>
          <a:xfrm>
            <a:off x="4383584" y="4110930"/>
            <a:ext cx="3424833" cy="1131491"/>
          </a:xfrm>
          <a:prstGeom prst="roundRect">
            <a:avLst>
              <a:gd name="adj" fmla="val 15153"/>
            </a:avLst>
          </a:prstGeom>
          <a:solidFill>
            <a:srgbClr val="FBFCFE"/>
          </a:solidFill>
          <a:ln w="12700">
            <a:solidFill>
              <a:srgbClr val="D3DBEA"/>
            </a:solidFill>
            <a:prstDash val="solid"/>
          </a:ln>
        </p:spPr>
      </p:sp>
      <p:sp>
        <p:nvSpPr>
          <p:cNvPr id="23" name="Text 17"/>
          <p:cNvSpPr/>
          <p:nvPr/>
        </p:nvSpPr>
        <p:spPr>
          <a:xfrm>
            <a:off x="4567734" y="4256980"/>
            <a:ext cx="3148229" cy="305991"/>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2350C9"/>
                </a:solidFill>
                <a:latin typeface="Zen Maru Gothic" pitchFamily="34" charset="0"/>
                <a:ea typeface="Zen Maru Gothic" pitchFamily="34" charset="-122"/>
                <a:cs typeface="Zen Maru Gothic" pitchFamily="34" charset="-120"/>
              </a:rPr>
              <a:t>持ち物を絞れる</a:t>
            </a:r>
            <a:endParaRPr lang="en-US" sz="1700" dirty="0"/>
          </a:p>
        </p:txBody>
      </p:sp>
      <p:sp>
        <p:nvSpPr>
          <p:cNvPr id="24" name="Text 18"/>
          <p:cNvSpPr/>
          <p:nvPr/>
        </p:nvSpPr>
        <p:spPr>
          <a:xfrm>
            <a:off x="4567734" y="4575671"/>
            <a:ext cx="3148229"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6233B"/>
                </a:solidFill>
                <a:latin typeface="BIZ UDPGothic" pitchFamily="34" charset="0"/>
                <a:ea typeface="BIZ UDPGothic" pitchFamily="34" charset="-122"/>
                <a:cs typeface="BIZ UDPGothic" pitchFamily="34" charset="-120"/>
              </a:rPr>
              <a:t>必要な道具だけ渡せる。書き換える道具は渡さない、もできる。</a:t>
            </a:r>
            <a:endParaRPr lang="en-US" sz="1300" dirty="0"/>
          </a:p>
        </p:txBody>
      </p:sp>
      <p:sp>
        <p:nvSpPr>
          <p:cNvPr id="25" name="Shape 19"/>
          <p:cNvSpPr/>
          <p:nvPr/>
        </p:nvSpPr>
        <p:spPr>
          <a:xfrm>
            <a:off x="7948116" y="4110930"/>
            <a:ext cx="3424734" cy="1131491"/>
          </a:xfrm>
          <a:prstGeom prst="roundRect">
            <a:avLst>
              <a:gd name="adj" fmla="val 15153"/>
            </a:avLst>
          </a:prstGeom>
          <a:solidFill>
            <a:srgbClr val="FBFCFE"/>
          </a:solidFill>
          <a:ln w="12700">
            <a:solidFill>
              <a:srgbClr val="D3DBEA"/>
            </a:solidFill>
            <a:prstDash val="solid"/>
          </a:ln>
        </p:spPr>
      </p:sp>
      <p:sp>
        <p:nvSpPr>
          <p:cNvPr id="26" name="Text 20"/>
          <p:cNvSpPr/>
          <p:nvPr/>
        </p:nvSpPr>
        <p:spPr>
          <a:xfrm>
            <a:off x="8132266" y="4256980"/>
            <a:ext cx="3148127" cy="305991"/>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2350C9"/>
                </a:solidFill>
                <a:latin typeface="Zen Maru Gothic" pitchFamily="34" charset="0"/>
                <a:ea typeface="Zen Maru Gothic" pitchFamily="34" charset="-122"/>
                <a:cs typeface="Zen Maru Gothic" pitchFamily="34" charset="-120"/>
              </a:rPr>
              <a:t>メインの頭が散らからない</a:t>
            </a:r>
            <a:endParaRPr lang="en-US" sz="1700" dirty="0"/>
          </a:p>
        </p:txBody>
      </p:sp>
      <p:sp>
        <p:nvSpPr>
          <p:cNvPr id="27" name="Text 21"/>
          <p:cNvSpPr/>
          <p:nvPr/>
        </p:nvSpPr>
        <p:spPr>
          <a:xfrm>
            <a:off x="8132266" y="4575671"/>
            <a:ext cx="3148127"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6233B"/>
                </a:solidFill>
                <a:latin typeface="BIZ UDPGothic" pitchFamily="34" charset="0"/>
                <a:ea typeface="BIZ UDPGothic" pitchFamily="34" charset="-122"/>
                <a:cs typeface="BIZ UDPGothic" pitchFamily="34" charset="-120"/>
              </a:rPr>
              <a:t>調べものの途中経過は持ち帰らず、結果だけ受け取る。</a:t>
            </a:r>
            <a:endParaRPr lang="en-US" sz="1300" dirty="0"/>
          </a:p>
        </p:txBody>
      </p:sp>
      <p:sp>
        <p:nvSpPr>
          <p:cNvPr id="28" name="Text 2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29" name="Text 23"/>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30 / 40</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4 ／ サブエージェント</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サブエージェントも、1つの文書ファイル</a:t>
            </a:r>
            <a:endParaRPr lang="en-US" sz="3200" dirty="0"/>
          </a:p>
        </p:txBody>
      </p:sp>
      <p:sp>
        <p:nvSpPr>
          <p:cNvPr id="4" name="Shape 2"/>
          <p:cNvSpPr/>
          <p:nvPr/>
        </p:nvSpPr>
        <p:spPr>
          <a:xfrm>
            <a:off x="812800" y="1894780"/>
            <a:ext cx="5461000" cy="441920"/>
          </a:xfrm>
          <a:custGeom>
            <a:avLst/>
            <a:gdLst/>
            <a:ahLst/>
            <a:cxnLst/>
            <a:rect l="l" t="t" r="r" b="b"/>
            <a:pathLst>
              <a:path w="5461000" h="441920">
                <a:moveTo>
                  <a:pt x="127000" y="0"/>
                </a:moveTo>
                <a:lnTo>
                  <a:pt x="5334000" y="0"/>
                </a:lnTo>
                <a:arcTo hR="127000" wR="127000" stAng="16200000" swAng="5400000"/>
                <a:lnTo>
                  <a:pt x="5461000" y="441920"/>
                </a:lnTo>
                <a:lnTo>
                  <a:pt x="0" y="441920"/>
                </a:lnTo>
                <a:lnTo>
                  <a:pt x="0" y="127000"/>
                </a:lnTo>
                <a:arcTo hR="127000" wR="127000" stAng="10800000" swAng="5400000"/>
                <a:close/>
              </a:path>
            </a:pathLst>
          </a:custGeom>
          <a:solidFill>
            <a:srgbClr val="2F62E6"/>
          </a:solidFill>
          <a:ln/>
        </p:spPr>
      </p:sp>
      <p:sp>
        <p:nvSpPr>
          <p:cNvPr id="5" name="Text 3"/>
          <p:cNvSpPr/>
          <p:nvPr/>
        </p:nvSpPr>
        <p:spPr>
          <a:xfrm>
            <a:off x="1016000" y="1983680"/>
            <a:ext cx="5206238" cy="289520"/>
          </a:xfrm>
          <a:prstGeom prst="rect">
            <a:avLst/>
          </a:prstGeom>
          <a:noFill/>
          <a:ln/>
        </p:spPr>
        <p:txBody>
          <a:bodyPr wrap="square" lIns="0" tIns="0" rIns="0" bIns="0" rtlCol="0" anchor="t">
            <a:normAutofit/>
          </a:bodyPr>
          <a:lstStyle/>
          <a:p>
            <a:pPr algn="l" indent="0" marL="0">
              <a:lnSpc>
                <a:spcPts val="2080"/>
              </a:lnSpc>
              <a:buNone/>
            </a:pPr>
            <a:r>
              <a:rPr lang="en-US" sz="1300" dirty="0">
                <a:solidFill>
                  <a:srgbClr val="FFFFFF"/>
                </a:solidFill>
                <a:latin typeface="Source Code Pro" pitchFamily="34" charset="0"/>
                <a:ea typeface="Source Code Pro" pitchFamily="34" charset="-122"/>
                <a:cs typeface="Source Code Pro" pitchFamily="34" charset="-120"/>
              </a:rPr>
              <a:t>.claude/agents/post-reviewer.md</a:t>
            </a:r>
            <a:endParaRPr lang="en-US" sz="1300" dirty="0"/>
          </a:p>
        </p:txBody>
      </p:sp>
      <p:sp>
        <p:nvSpPr>
          <p:cNvPr id="6" name="Shape 4"/>
          <p:cNvSpPr/>
          <p:nvPr/>
        </p:nvSpPr>
        <p:spPr>
          <a:xfrm>
            <a:off x="812800" y="2336701"/>
            <a:ext cx="5461000" cy="3413522"/>
          </a:xfrm>
          <a:custGeom>
            <a:avLst/>
            <a:gdLst/>
            <a:ahLst/>
            <a:cxnLst/>
            <a:rect l="l" t="t" r="r" b="b"/>
            <a:pathLst>
              <a:path w="5461000" h="3413522">
                <a:moveTo>
                  <a:pt x="0" y="0"/>
                </a:moveTo>
                <a:lnTo>
                  <a:pt x="5461000" y="0"/>
                </a:lnTo>
                <a:lnTo>
                  <a:pt x="5461000" y="3286522"/>
                </a:lnTo>
                <a:arcTo hR="127000" wR="127000" stAng="0" swAng="5400000"/>
                <a:lnTo>
                  <a:pt x="127000" y="3413522"/>
                </a:lnTo>
                <a:arcTo hR="127000" wR="127000" stAng="5400000" swAng="5400000"/>
                <a:lnTo>
                  <a:pt x="0" y="0"/>
                </a:lnTo>
                <a:close/>
              </a:path>
            </a:pathLst>
          </a:custGeom>
          <a:solidFill>
            <a:srgbClr val="0F1B33"/>
          </a:solidFill>
          <a:ln/>
        </p:spPr>
      </p:sp>
      <p:sp>
        <p:nvSpPr>
          <p:cNvPr id="7" name="Text 5"/>
          <p:cNvSpPr/>
          <p:nvPr/>
        </p:nvSpPr>
        <p:spPr>
          <a:xfrm>
            <a:off x="1041400" y="2489101"/>
            <a:ext cx="5153914" cy="284460"/>
          </a:xfrm>
          <a:prstGeom prst="rect">
            <a:avLst/>
          </a:prstGeom>
          <a:noFill/>
          <a:ln/>
        </p:spPr>
        <p:txBody>
          <a:bodyPr wrap="none" lIns="0" tIns="0" rIns="0" bIns="0" rtlCol="0" anchor="t">
            <a:normAutofit/>
          </a:bodyPr>
          <a:lstStyle/>
          <a:p>
            <a:pPr algn="l" indent="0" marL="0">
              <a:lnSpc>
                <a:spcPts val="2040"/>
              </a:lnSpc>
              <a:buNone/>
            </a:pPr>
            <a:r>
              <a:rPr lang="en-US" sz="1200" dirty="0">
                <a:solidFill>
                  <a:srgbClr val="8A97B5"/>
                </a:solidFill>
                <a:latin typeface="Source Code Pro" pitchFamily="34" charset="0"/>
                <a:ea typeface="Source Code Pro" pitchFamily="34" charset="-122"/>
                <a:cs typeface="Source Code Pro" pitchFamily="34" charset="-120"/>
              </a:rPr>
              <a:t>---</a:t>
            </a:r>
            <a:endParaRPr lang="en-US" sz="1200" dirty="0"/>
          </a:p>
        </p:txBody>
      </p:sp>
      <p:sp>
        <p:nvSpPr>
          <p:cNvPr id="8" name="Text 6"/>
          <p:cNvSpPr/>
          <p:nvPr/>
        </p:nvSpPr>
        <p:spPr>
          <a:xfrm>
            <a:off x="1041400" y="2748161"/>
            <a:ext cx="5153914" cy="284460"/>
          </a:xfrm>
          <a:prstGeom prst="rect">
            <a:avLst/>
          </a:prstGeom>
          <a:noFill/>
          <a:ln/>
        </p:spPr>
        <p:txBody>
          <a:bodyPr wrap="none" lIns="0" tIns="0" rIns="0" bIns="0" rtlCol="0" anchor="t">
            <a:normAutofit/>
          </a:bodyPr>
          <a:lstStyle/>
          <a:p>
            <a:pPr algn="l" indent="0" marL="0">
              <a:lnSpc>
                <a:spcPts val="2040"/>
              </a:lnSpc>
              <a:buNone/>
            </a:pPr>
            <a:r>
              <a:rPr lang="en-US" sz="1200" dirty="0">
                <a:solidFill>
                  <a:srgbClr val="8FB4FF"/>
                </a:solidFill>
                <a:latin typeface="Source Code Pro" pitchFamily="34" charset="0"/>
                <a:ea typeface="Source Code Pro" pitchFamily="34" charset="-122"/>
                <a:cs typeface="Source Code Pro" pitchFamily="34" charset="-120"/>
              </a:rPr>
              <a:t>name:</a:t>
            </a:r>
            <a:r>
              <a:rPr lang="en-US" sz="1200" dirty="0">
                <a:solidFill>
                  <a:srgbClr val="E6EDFB"/>
                </a:solidFill>
                <a:latin typeface="Source Code Pro" pitchFamily="34" charset="0"/>
                <a:ea typeface="Source Code Pro" pitchFamily="34" charset="-122"/>
                <a:cs typeface="Source Code Pro" pitchFamily="34" charset="-120"/>
              </a:rPr>
              <a:t> post-reviewer</a:t>
            </a:r>
            <a:endParaRPr lang="en-US" sz="1200" dirty="0"/>
          </a:p>
        </p:txBody>
      </p:sp>
      <p:sp>
        <p:nvSpPr>
          <p:cNvPr id="9" name="Text 7"/>
          <p:cNvSpPr/>
          <p:nvPr/>
        </p:nvSpPr>
        <p:spPr>
          <a:xfrm>
            <a:off x="1041400" y="3007221"/>
            <a:ext cx="5153914" cy="284460"/>
          </a:xfrm>
          <a:prstGeom prst="rect">
            <a:avLst/>
          </a:prstGeom>
          <a:noFill/>
          <a:ln/>
        </p:spPr>
        <p:txBody>
          <a:bodyPr wrap="none" lIns="0" tIns="0" rIns="0" bIns="0" rtlCol="0" anchor="t">
            <a:normAutofit/>
          </a:bodyPr>
          <a:lstStyle/>
          <a:p>
            <a:pPr algn="l" indent="0" marL="0">
              <a:lnSpc>
                <a:spcPts val="2040"/>
              </a:lnSpc>
              <a:buNone/>
            </a:pPr>
            <a:r>
              <a:rPr lang="en-US" sz="1200" dirty="0">
                <a:solidFill>
                  <a:srgbClr val="8FB4FF"/>
                </a:solidFill>
                <a:latin typeface="Source Code Pro" pitchFamily="34" charset="0"/>
                <a:ea typeface="Source Code Pro" pitchFamily="34" charset="-122"/>
                <a:cs typeface="Source Code Pro" pitchFamily="34" charset="-120"/>
              </a:rPr>
              <a:t>description:</a:t>
            </a:r>
            <a:r>
              <a:rPr lang="en-US" sz="1200" dirty="0">
                <a:solidFill>
                  <a:srgbClr val="E6EDFB"/>
                </a:solidFill>
                <a:latin typeface="Source Code Pro" pitchFamily="34" charset="0"/>
                <a:ea typeface="Source Code Pro" pitchFamily="34" charset="-122"/>
                <a:cs typeface="Source Code Pro" pitchFamily="34" charset="-120"/>
              </a:rPr>
              <a:t> 🖍️ アカネ。記事の下書きを、</a:t>
            </a:r>
            <a:endParaRPr lang="en-US" sz="1200" dirty="0"/>
          </a:p>
        </p:txBody>
      </p:sp>
      <p:sp>
        <p:nvSpPr>
          <p:cNvPr id="10" name="Text 8"/>
          <p:cNvSpPr/>
          <p:nvPr/>
        </p:nvSpPr>
        <p:spPr>
          <a:xfrm>
            <a:off x="1041400" y="3266281"/>
            <a:ext cx="5153914" cy="284460"/>
          </a:xfrm>
          <a:prstGeom prst="rect">
            <a:avLst/>
          </a:prstGeom>
          <a:noFill/>
          <a:ln/>
        </p:spPr>
        <p:txBody>
          <a:bodyPr wrap="none" lIns="0" tIns="0" rIns="0" bIns="0" rtlCol="0" anchor="t">
            <a:normAutofit/>
          </a:bodyPr>
          <a:lstStyle/>
          <a:p>
            <a:pPr algn="l" indent="0" marL="0">
              <a:lnSpc>
                <a:spcPts val="2040"/>
              </a:lnSpc>
              <a:buNone/>
            </a:pPr>
            <a:r>
              <a:rPr lang="en-US" sz="1200" dirty="0">
                <a:solidFill>
                  <a:srgbClr val="E6EDFB"/>
                </a:solidFill>
                <a:latin typeface="Source Code Pro" pitchFamily="34" charset="0"/>
                <a:ea typeface="Source Code Pro" pitchFamily="34" charset="-122"/>
                <a:cs typeface="Source Code Pro" pitchFamily="34" charset="-120"/>
              </a:rPr>
              <a:t>書き方のルールに照らして校閲する。…</a:t>
            </a:r>
            <a:endParaRPr lang="en-US" sz="1200" dirty="0"/>
          </a:p>
        </p:txBody>
      </p:sp>
      <p:sp>
        <p:nvSpPr>
          <p:cNvPr id="11" name="Text 9"/>
          <p:cNvSpPr/>
          <p:nvPr/>
        </p:nvSpPr>
        <p:spPr>
          <a:xfrm>
            <a:off x="1041400" y="3525341"/>
            <a:ext cx="5153914" cy="284460"/>
          </a:xfrm>
          <a:prstGeom prst="rect">
            <a:avLst/>
          </a:prstGeom>
          <a:noFill/>
          <a:ln/>
        </p:spPr>
        <p:txBody>
          <a:bodyPr wrap="none" lIns="0" tIns="0" rIns="0" bIns="0" rtlCol="0" anchor="t">
            <a:normAutofit/>
          </a:bodyPr>
          <a:lstStyle/>
          <a:p>
            <a:pPr algn="l" indent="0" marL="0">
              <a:lnSpc>
                <a:spcPts val="2040"/>
              </a:lnSpc>
              <a:buNone/>
            </a:pPr>
            <a:r>
              <a:rPr lang="en-US" sz="1200" dirty="0">
                <a:solidFill>
                  <a:srgbClr val="8FB4FF"/>
                </a:solidFill>
                <a:latin typeface="Source Code Pro" pitchFamily="34" charset="0"/>
                <a:ea typeface="Source Code Pro" pitchFamily="34" charset="-122"/>
                <a:cs typeface="Source Code Pro" pitchFamily="34" charset="-120"/>
              </a:rPr>
              <a:t>color:</a:t>
            </a:r>
            <a:r>
              <a:rPr lang="en-US" sz="1200" dirty="0">
                <a:solidFill>
                  <a:srgbClr val="E6EDFB"/>
                </a:solidFill>
                <a:latin typeface="Source Code Pro" pitchFamily="34" charset="0"/>
                <a:ea typeface="Source Code Pro" pitchFamily="34" charset="-122"/>
                <a:cs typeface="Source Code Pro" pitchFamily="34" charset="-120"/>
              </a:rPr>
              <a:t> red</a:t>
            </a:r>
            <a:endParaRPr lang="en-US" sz="1200" dirty="0"/>
          </a:p>
        </p:txBody>
      </p:sp>
      <p:sp>
        <p:nvSpPr>
          <p:cNvPr id="12" name="Text 10"/>
          <p:cNvSpPr/>
          <p:nvPr/>
        </p:nvSpPr>
        <p:spPr>
          <a:xfrm>
            <a:off x="1041400" y="3784402"/>
            <a:ext cx="5153914" cy="284460"/>
          </a:xfrm>
          <a:prstGeom prst="rect">
            <a:avLst/>
          </a:prstGeom>
          <a:noFill/>
          <a:ln/>
        </p:spPr>
        <p:txBody>
          <a:bodyPr wrap="none" lIns="0" tIns="0" rIns="0" bIns="0" rtlCol="0" anchor="t">
            <a:normAutofit/>
          </a:bodyPr>
          <a:lstStyle/>
          <a:p>
            <a:pPr algn="l" indent="0" marL="0">
              <a:lnSpc>
                <a:spcPts val="2040"/>
              </a:lnSpc>
              <a:buNone/>
            </a:pPr>
            <a:r>
              <a:rPr lang="en-US" sz="1200" dirty="0">
                <a:solidFill>
                  <a:srgbClr val="FFC83D"/>
                </a:solidFill>
                <a:latin typeface="Source Code Pro" pitchFamily="34" charset="0"/>
                <a:ea typeface="Source Code Pro" pitchFamily="34" charset="-122"/>
                <a:cs typeface="Source Code Pro" pitchFamily="34" charset="-120"/>
              </a:rPr>
              <a:t>tools: Read, Grep, Glob, Bash</a:t>
            </a:r>
            <a:endParaRPr lang="en-US" sz="1200" dirty="0"/>
          </a:p>
        </p:txBody>
      </p:sp>
      <p:sp>
        <p:nvSpPr>
          <p:cNvPr id="13" name="Text 11"/>
          <p:cNvSpPr/>
          <p:nvPr/>
        </p:nvSpPr>
        <p:spPr>
          <a:xfrm>
            <a:off x="1041400" y="4043462"/>
            <a:ext cx="5153914" cy="284460"/>
          </a:xfrm>
          <a:prstGeom prst="rect">
            <a:avLst/>
          </a:prstGeom>
          <a:noFill/>
          <a:ln/>
        </p:spPr>
        <p:txBody>
          <a:bodyPr wrap="none" lIns="0" tIns="0" rIns="0" bIns="0" rtlCol="0" anchor="t">
            <a:normAutofit/>
          </a:bodyPr>
          <a:lstStyle/>
          <a:p>
            <a:pPr algn="l" indent="0" marL="0">
              <a:lnSpc>
                <a:spcPts val="2040"/>
              </a:lnSpc>
              <a:buNone/>
            </a:pPr>
            <a:r>
              <a:rPr lang="en-US" sz="1200" dirty="0">
                <a:solidFill>
                  <a:srgbClr val="8A97B5"/>
                </a:solidFill>
                <a:latin typeface="Source Code Pro" pitchFamily="34" charset="0"/>
                <a:ea typeface="Source Code Pro" pitchFamily="34" charset="-122"/>
                <a:cs typeface="Source Code Pro" pitchFamily="34" charset="-120"/>
              </a:rPr>
              <a:t>---</a:t>
            </a:r>
            <a:endParaRPr lang="en-US" sz="1200" dirty="0"/>
          </a:p>
        </p:txBody>
      </p:sp>
      <p:sp>
        <p:nvSpPr>
          <p:cNvPr id="14" name="Text 12"/>
          <p:cNvSpPr/>
          <p:nvPr/>
        </p:nvSpPr>
        <p:spPr>
          <a:xfrm>
            <a:off x="1041400" y="4302522"/>
            <a:ext cx="5153914" cy="284460"/>
          </a:xfrm>
          <a:prstGeom prst="rect">
            <a:avLst/>
          </a:prstGeom>
          <a:noFill/>
          <a:ln/>
        </p:spPr>
        <p:txBody>
          <a:bodyPr wrap="none" lIns="0" tIns="0" rIns="0" bIns="0" rtlCol="0" anchor="t">
            <a:normAutofit/>
          </a:bodyPr>
          <a:lstStyle/>
          <a:p>
            <a:pPr algn="l" indent="0" marL="0">
              <a:lnSpc>
                <a:spcPts val="2040"/>
              </a:lnSpc>
              <a:buNone/>
            </a:pPr>
            <a:r>
              <a:rPr lang="en-US" sz="1200" dirty="0">
                <a:solidFill>
                  <a:srgbClr val="E6EDFB"/>
                </a:solidFill>
                <a:latin typeface="Source Code Pro" pitchFamily="34" charset="0"/>
                <a:ea typeface="Source Code Pro" pitchFamily="34" charset="-122"/>
                <a:cs typeface="Source Code Pro" pitchFamily="34" charset="-120"/>
              </a:rPr>
              <a:t>あなたはこのブログの校閲担当、</a:t>
            </a:r>
            <a:endParaRPr lang="en-US" sz="1200" dirty="0"/>
          </a:p>
        </p:txBody>
      </p:sp>
      <p:sp>
        <p:nvSpPr>
          <p:cNvPr id="15" name="Text 13"/>
          <p:cNvSpPr/>
          <p:nvPr/>
        </p:nvSpPr>
        <p:spPr>
          <a:xfrm>
            <a:off x="1041400" y="4561582"/>
            <a:ext cx="5153914" cy="284460"/>
          </a:xfrm>
          <a:prstGeom prst="rect">
            <a:avLst/>
          </a:prstGeom>
          <a:noFill/>
          <a:ln/>
        </p:spPr>
        <p:txBody>
          <a:bodyPr wrap="none" lIns="0" tIns="0" rIns="0" bIns="0" rtlCol="0" anchor="t">
            <a:normAutofit/>
          </a:bodyPr>
          <a:lstStyle/>
          <a:p>
            <a:pPr algn="l" indent="0" marL="0">
              <a:lnSpc>
                <a:spcPts val="2040"/>
              </a:lnSpc>
              <a:buNone/>
            </a:pPr>
            <a:r>
              <a:rPr lang="en-US" sz="1200" dirty="0">
                <a:solidFill>
                  <a:srgbClr val="E6EDFB"/>
                </a:solidFill>
                <a:latin typeface="Source Code Pro" pitchFamily="34" charset="0"/>
                <a:ea typeface="Source Code Pro" pitchFamily="34" charset="-122"/>
                <a:cs typeface="Source Code Pro" pitchFamily="34" charset="-120"/>
              </a:rPr>
              <a:t>アカネ🖍️です。</a:t>
            </a:r>
            <a:endParaRPr lang="en-US" sz="1200" dirty="0"/>
          </a:p>
        </p:txBody>
      </p:sp>
      <p:sp>
        <p:nvSpPr>
          <p:cNvPr id="16" name="Text 14"/>
          <p:cNvSpPr/>
          <p:nvPr/>
        </p:nvSpPr>
        <p:spPr>
          <a:xfrm>
            <a:off x="1041400" y="4820642"/>
            <a:ext cx="5153914" cy="284460"/>
          </a:xfrm>
          <a:prstGeom prst="rect">
            <a:avLst/>
          </a:prstGeom>
          <a:noFill/>
          <a:ln/>
        </p:spPr>
        <p:txBody>
          <a:bodyPr wrap="none" lIns="0" tIns="0" rIns="0" bIns="0" rtlCol="0" anchor="t">
            <a:normAutofit/>
          </a:bodyPr>
          <a:lstStyle/>
          <a:p>
            <a:pPr algn="l" indent="0" marL="0">
              <a:lnSpc>
                <a:spcPts val="2040"/>
              </a:lnSpc>
              <a:buNone/>
            </a:pPr>
            <a:r>
              <a:rPr lang="en-US" sz="1200" dirty="0">
                <a:solidFill>
                  <a:srgbClr val="E6EDFB"/>
                </a:solidFill>
                <a:latin typeface="Source Code Pro" pitchFamily="34" charset="0"/>
                <a:ea typeface="Source Code Pro" pitchFamily="34" charset="-122"/>
                <a:cs typeface="Source Code Pro" pitchFamily="34" charset="-120"/>
              </a:rPr>
              <a:t>下書きのパスを受け取り、</a:t>
            </a:r>
            <a:endParaRPr lang="en-US" sz="1200" dirty="0"/>
          </a:p>
        </p:txBody>
      </p:sp>
      <p:sp>
        <p:nvSpPr>
          <p:cNvPr id="17" name="Text 15"/>
          <p:cNvSpPr/>
          <p:nvPr/>
        </p:nvSpPr>
        <p:spPr>
          <a:xfrm>
            <a:off x="1041400" y="5079702"/>
            <a:ext cx="5153914" cy="284460"/>
          </a:xfrm>
          <a:prstGeom prst="rect">
            <a:avLst/>
          </a:prstGeom>
          <a:noFill/>
          <a:ln/>
        </p:spPr>
        <p:txBody>
          <a:bodyPr wrap="none" lIns="0" tIns="0" rIns="0" bIns="0" rtlCol="0" anchor="t">
            <a:normAutofit/>
          </a:bodyPr>
          <a:lstStyle/>
          <a:p>
            <a:pPr algn="l" indent="0" marL="0">
              <a:lnSpc>
                <a:spcPts val="2040"/>
              </a:lnSpc>
              <a:buNone/>
            </a:pPr>
            <a:r>
              <a:rPr lang="en-US" sz="1200" dirty="0">
                <a:solidFill>
                  <a:srgbClr val="E6EDFB"/>
                </a:solidFill>
                <a:latin typeface="Source Code Pro" pitchFamily="34" charset="0"/>
                <a:ea typeface="Source Code Pro" pitchFamily="34" charset="-122"/>
                <a:cs typeface="Source Code Pro" pitchFamily="34" charset="-120"/>
              </a:rPr>
              <a:t>照合結果だけを返します。</a:t>
            </a:r>
            <a:endParaRPr lang="en-US" sz="1200" dirty="0"/>
          </a:p>
        </p:txBody>
      </p:sp>
      <p:sp>
        <p:nvSpPr>
          <p:cNvPr id="18" name="Text 16"/>
          <p:cNvSpPr/>
          <p:nvPr/>
        </p:nvSpPr>
        <p:spPr>
          <a:xfrm>
            <a:off x="1041400" y="5338763"/>
            <a:ext cx="5153914" cy="284460"/>
          </a:xfrm>
          <a:prstGeom prst="rect">
            <a:avLst/>
          </a:prstGeom>
          <a:noFill/>
          <a:ln/>
        </p:spPr>
        <p:txBody>
          <a:bodyPr wrap="none" lIns="0" tIns="0" rIns="0" bIns="0" rtlCol="0" anchor="t">
            <a:normAutofit/>
          </a:bodyPr>
          <a:lstStyle/>
          <a:p>
            <a:pPr algn="l" indent="0" marL="0">
              <a:lnSpc>
                <a:spcPts val="2040"/>
              </a:lnSpc>
              <a:buNone/>
            </a:pPr>
            <a:r>
              <a:rPr lang="en-US" sz="1200" dirty="0">
                <a:solidFill>
                  <a:srgbClr val="E6EDFB"/>
                </a:solidFill>
                <a:latin typeface="Source Code Pro" pitchFamily="34" charset="0"/>
                <a:ea typeface="Source Code Pro" pitchFamily="34" charset="-122"/>
                <a:cs typeface="Source Code Pro" pitchFamily="34" charset="-120"/>
              </a:rPr>
              <a:t>ファイルは編集しません。</a:t>
            </a:r>
            <a:endParaRPr lang="en-US" sz="1200" dirty="0"/>
          </a:p>
        </p:txBody>
      </p:sp>
      <p:sp>
        <p:nvSpPr>
          <p:cNvPr id="19" name="Shape 17"/>
          <p:cNvSpPr/>
          <p:nvPr/>
        </p:nvSpPr>
        <p:spPr>
          <a:xfrm>
            <a:off x="6534150" y="1901130"/>
            <a:ext cx="4838700" cy="1235273"/>
          </a:xfrm>
          <a:prstGeom prst="roundRect">
            <a:avLst>
              <a:gd name="adj" fmla="val 13880"/>
            </a:avLst>
          </a:prstGeom>
          <a:solidFill>
            <a:srgbClr val="FBFCFE"/>
          </a:solidFill>
          <a:ln w="12700">
            <a:solidFill>
              <a:srgbClr val="D3DBEA"/>
            </a:solidFill>
            <a:prstDash val="solid"/>
          </a:ln>
        </p:spPr>
      </p:sp>
      <p:sp>
        <p:nvSpPr>
          <p:cNvPr id="20" name="Text 18"/>
          <p:cNvSpPr/>
          <p:nvPr/>
        </p:nvSpPr>
        <p:spPr>
          <a:xfrm>
            <a:off x="6743700" y="2080022"/>
            <a:ext cx="4552188" cy="305991"/>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2350C9"/>
                </a:solidFill>
                <a:latin typeface="Zen Maru Gothic" pitchFamily="34" charset="0"/>
                <a:ea typeface="Zen Maru Gothic" pitchFamily="34" charset="-122"/>
                <a:cs typeface="Zen Maru Gothic" pitchFamily="34" charset="-120"/>
              </a:rPr>
              <a:t>name と description</a:t>
            </a:r>
            <a:endParaRPr lang="en-US" sz="1700" dirty="0"/>
          </a:p>
        </p:txBody>
      </p:sp>
      <p:sp>
        <p:nvSpPr>
          <p:cNvPr id="21" name="Text 19"/>
          <p:cNvSpPr/>
          <p:nvPr/>
        </p:nvSpPr>
        <p:spPr>
          <a:xfrm>
            <a:off x="6743700" y="2398713"/>
            <a:ext cx="4552188"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6233B"/>
                </a:solidFill>
                <a:latin typeface="BIZ UDPGothic" pitchFamily="34" charset="0"/>
                <a:ea typeface="BIZ UDPGothic" pitchFamily="34" charset="-122"/>
                <a:cs typeface="BIZ UDPGothic" pitchFamily="34" charset="-120"/>
              </a:rPr>
              <a:t>name は呼び出しに使うID。人向けの名前「アカネ」と「いつ頼むか」は description に書く。</a:t>
            </a:r>
            <a:endParaRPr lang="en-US" sz="1400" dirty="0"/>
          </a:p>
        </p:txBody>
      </p:sp>
      <p:sp>
        <p:nvSpPr>
          <p:cNvPr id="22" name="Shape 20"/>
          <p:cNvSpPr/>
          <p:nvPr/>
        </p:nvSpPr>
        <p:spPr>
          <a:xfrm>
            <a:off x="6534150" y="3250704"/>
            <a:ext cx="4838700" cy="1235373"/>
          </a:xfrm>
          <a:prstGeom prst="roundRect">
            <a:avLst>
              <a:gd name="adj" fmla="val 13878"/>
            </a:avLst>
          </a:prstGeom>
          <a:solidFill>
            <a:srgbClr val="2F62E6"/>
          </a:solidFill>
          <a:ln w="12700">
            <a:solidFill>
              <a:srgbClr val="2F62E6"/>
            </a:solidFill>
            <a:prstDash val="solid"/>
          </a:ln>
        </p:spPr>
      </p:sp>
      <p:sp>
        <p:nvSpPr>
          <p:cNvPr id="23" name="Text 21"/>
          <p:cNvSpPr/>
          <p:nvPr/>
        </p:nvSpPr>
        <p:spPr>
          <a:xfrm>
            <a:off x="6743700" y="3429595"/>
            <a:ext cx="4552188" cy="305991"/>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FFFFF"/>
                </a:solidFill>
                <a:latin typeface="Zen Maru Gothic" pitchFamily="34" charset="0"/>
                <a:ea typeface="Zen Maru Gothic" pitchFamily="34" charset="-122"/>
                <a:cs typeface="Zen Maru Gothic" pitchFamily="34" charset="-120"/>
              </a:rPr>
              <a:t>tools：持ち物リスト</a:t>
            </a:r>
            <a:endParaRPr lang="en-US" sz="1700" dirty="0"/>
          </a:p>
        </p:txBody>
      </p:sp>
      <p:sp>
        <p:nvSpPr>
          <p:cNvPr id="24" name="Text 22"/>
          <p:cNvSpPr/>
          <p:nvPr/>
        </p:nvSpPr>
        <p:spPr>
          <a:xfrm>
            <a:off x="6743700" y="3748286"/>
            <a:ext cx="4552188"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E8EEFF"/>
                </a:solidFill>
                <a:latin typeface="BIZ UDPGothic" pitchFamily="34" charset="0"/>
                <a:ea typeface="BIZ UDPGothic" pitchFamily="34" charset="-122"/>
                <a:cs typeface="BIZ UDPGothic" pitchFamily="34" charset="-120"/>
              </a:rPr>
              <a:t>読む・探す・実行する道具はある。文章を直す道具（Edit・Write）は持たせていない。</a:t>
            </a:r>
            <a:endParaRPr lang="en-US" sz="1400" dirty="0"/>
          </a:p>
        </p:txBody>
      </p:sp>
      <p:sp>
        <p:nvSpPr>
          <p:cNvPr id="25" name="Shape 23"/>
          <p:cNvSpPr/>
          <p:nvPr/>
        </p:nvSpPr>
        <p:spPr>
          <a:xfrm>
            <a:off x="6534150" y="4600377"/>
            <a:ext cx="4838700" cy="1235273"/>
          </a:xfrm>
          <a:prstGeom prst="roundRect">
            <a:avLst>
              <a:gd name="adj" fmla="val 13880"/>
            </a:avLst>
          </a:prstGeom>
          <a:solidFill>
            <a:srgbClr val="FBFCFE"/>
          </a:solidFill>
          <a:ln w="12700">
            <a:solidFill>
              <a:srgbClr val="D3DBEA"/>
            </a:solidFill>
            <a:prstDash val="solid"/>
          </a:ln>
        </p:spPr>
      </p:sp>
      <p:sp>
        <p:nvSpPr>
          <p:cNvPr id="26" name="Text 24"/>
          <p:cNvSpPr/>
          <p:nvPr/>
        </p:nvSpPr>
        <p:spPr>
          <a:xfrm>
            <a:off x="6743700" y="4779268"/>
            <a:ext cx="4552188" cy="305991"/>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2350C9"/>
                </a:solidFill>
                <a:latin typeface="Zen Maru Gothic" pitchFamily="34" charset="0"/>
                <a:ea typeface="Zen Maru Gothic" pitchFamily="34" charset="-122"/>
                <a:cs typeface="Zen Maru Gothic" pitchFamily="34" charset="-120"/>
              </a:rPr>
              <a:t>本文：役割と、返すもの</a:t>
            </a:r>
            <a:endParaRPr lang="en-US" sz="1700" dirty="0"/>
          </a:p>
        </p:txBody>
      </p:sp>
      <p:sp>
        <p:nvSpPr>
          <p:cNvPr id="27" name="Text 25"/>
          <p:cNvSpPr/>
          <p:nvPr/>
        </p:nvSpPr>
        <p:spPr>
          <a:xfrm>
            <a:off x="6743700" y="5097959"/>
            <a:ext cx="4552188"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6233B"/>
                </a:solidFill>
                <a:latin typeface="BIZ UDPGothic" pitchFamily="34" charset="0"/>
                <a:ea typeface="BIZ UDPGothic" pitchFamily="34" charset="-122"/>
                <a:cs typeface="BIZ UDPGothic" pitchFamily="34" charset="-120"/>
              </a:rPr>
              <a:t>「あなたは校閲担当、アカネです」と役割を決め、何を返すかを書く。</a:t>
            </a:r>
            <a:endParaRPr lang="en-US" sz="1400" dirty="0"/>
          </a:p>
        </p:txBody>
      </p:sp>
      <p:sp>
        <p:nvSpPr>
          <p:cNvPr id="28" name="Text 26"/>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29" name="Text 27"/>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31 / 40</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4 ／ サブエージェント</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スキルとサブエージェントのちがい</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07480"/>
          <a:ext cx="10553700" cy="2635448"/>
        </p:xfrm>
        <a:graphic>
          <a:graphicData uri="http://schemas.openxmlformats.org/drawingml/2006/table">
            <a:tbl>
              <a:tblPr/>
              <a:tblGrid>
                <a:gridCol w="2532888"/>
                <a:gridCol w="4010406"/>
                <a:gridCol w="4010406"/>
              </a:tblGrid>
              <a:tr h="439241">
                <a:tc>
                  <a:txBody>
                    <a:bodyPr/>
                    <a:lstStyle/>
                    <a:p>
                      <a:pPr indent="0" marL="0">
                        <a:lnSpc>
                          <a:spcPts val="2240"/>
                        </a:lnSpc>
                        <a:buNone/>
                      </a:pPr>
                      <a:endParaRPr lang="en-US" sz="1600" dirty="0">
                        <a:latin typeface="BIZ UDPGothic" charset="0"/>
                        <a:ea typeface="BIZ UDPGothic" charset="0"/>
                        <a:cs typeface="BIZ UDPGothic" charset="0"/>
                      </a:endParaRPr>
                    </a:p>
                  </a:txBody>
                  <a:tcPr marL="71120" marR="71120" marT="71120" marB="71120" anchor="t">
                    <a:lnL w="12700" cap="flat" cmpd="sng" algn="ctr">
                      <a:solidFill>
                        <a:srgbClr val="C3C5C9"/>
                      </a:solidFill>
                      <a:prstDash val="solid"/>
                      <a:round/>
                      <a:headEnd type="none" w="med" len="med"/>
                      <a:tailEnd type="none" w="med" len="med"/>
                    </a:lnL>
                    <a:lnR w="12700" cap="flat" cmpd="sng" algn="ctr">
                      <a:solidFill>
                        <a:srgbClr val="2951B8"/>
                      </a:solidFill>
                      <a:prstDash val="solid"/>
                      <a:round/>
                      <a:headEnd type="none" w="med" len="med"/>
                      <a:tailEnd type="none" w="med" len="med"/>
                    </a:lnR>
                    <a:lnT w="12700" cap="flat" cmpd="sng" algn="ctr">
                      <a:solidFill>
                        <a:srgbClr val="C3C5C9"/>
                      </a:solidFill>
                      <a:prstDash val="solid"/>
                      <a:round/>
                      <a:headEnd type="none" w="med" len="med"/>
                      <a:tailEnd type="none" w="med" len="med"/>
                    </a:lnT>
                    <a:lnB w="12700" cap="flat" cmpd="sng" algn="ctr">
                      <a:solidFill>
                        <a:srgbClr val="2951B8"/>
                      </a:solidFill>
                      <a:prstDash val="solid"/>
                      <a:round/>
                      <a:headEnd type="none" w="med" len="med"/>
                      <a:tailEnd type="none" w="med" len="med"/>
                    </a:lnB>
                    <a:solidFill>
                      <a:srgbClr val="2F62E6"/>
                    </a:solidFill>
                  </a:tcPr>
                </a:tc>
                <a:tc>
                  <a:txBody>
                    <a:bodyPr/>
                    <a:lstStyle/>
                    <a:p>
                      <a:pPr indent="0" marL="0">
                        <a:lnSpc>
                          <a:spcPts val="2240"/>
                        </a:lnSpc>
                        <a:buNone/>
                      </a:pPr>
                      <a:r>
                        <a:rPr lang="en-US" sz="1600" b="1" dirty="0">
                          <a:solidFill>
                            <a:srgbClr val="FFFFFF"/>
                          </a:solidFill>
                          <a:latin typeface="BIZ UDPGothic" pitchFamily="34" charset="0"/>
                          <a:ea typeface="BIZ UDPGothic" pitchFamily="34" charset="-122"/>
                          <a:cs typeface="BIZ UDPGothic" pitchFamily="34" charset="-120"/>
                        </a:rPr>
                        <a:t>スキル</a:t>
                      </a:r>
                      <a:endParaRPr lang="en-US" sz="1600" dirty="0">
                        <a:latin typeface="BIZ UDPGothic" charset="0"/>
                        <a:ea typeface="BIZ UDPGothic" charset="0"/>
                        <a:cs typeface="BIZ UDPGothic" charset="0"/>
                      </a:endParaRPr>
                    </a:p>
                  </a:txBody>
                  <a:tcPr marL="71120" marR="71120" marT="71120" marB="71120" anchor="t">
                    <a:lnL w="12700" cap="flat" cmpd="sng" algn="ctr">
                      <a:solidFill>
                        <a:srgbClr val="2951B8"/>
                      </a:solidFill>
                      <a:prstDash val="solid"/>
                      <a:round/>
                      <a:headEnd type="none" w="med" len="med"/>
                      <a:tailEnd type="none" w="med" len="med"/>
                    </a:lnL>
                    <a:lnR w="12700" cap="flat" cmpd="sng" algn="ctr">
                      <a:solidFill>
                        <a:srgbClr val="2951B8"/>
                      </a:solidFill>
                      <a:prstDash val="solid"/>
                      <a:round/>
                      <a:headEnd type="none" w="med" len="med"/>
                      <a:tailEnd type="none" w="med" len="med"/>
                    </a:lnR>
                    <a:lnT w="12700" cap="flat" cmpd="sng" algn="ctr">
                      <a:solidFill>
                        <a:srgbClr val="C3C5C9"/>
                      </a:solidFill>
                      <a:prstDash val="solid"/>
                      <a:round/>
                      <a:headEnd type="none" w="med" len="med"/>
                      <a:tailEnd type="none" w="med" len="med"/>
                    </a:lnT>
                    <a:lnB w="12700" cap="flat" cmpd="sng" algn="ctr">
                      <a:solidFill>
                        <a:srgbClr val="2951B8"/>
                      </a:solidFill>
                      <a:prstDash val="solid"/>
                      <a:round/>
                      <a:headEnd type="none" w="med" len="med"/>
                      <a:tailEnd type="none" w="med" len="med"/>
                    </a:lnB>
                    <a:solidFill>
                      <a:srgbClr val="2F62E6"/>
                    </a:solidFill>
                  </a:tcPr>
                </a:tc>
                <a:tc>
                  <a:txBody>
                    <a:bodyPr/>
                    <a:lstStyle/>
                    <a:p>
                      <a:pPr indent="0" marL="0">
                        <a:lnSpc>
                          <a:spcPts val="2240"/>
                        </a:lnSpc>
                        <a:buNone/>
                      </a:pPr>
                      <a:r>
                        <a:rPr lang="en-US" sz="1600" b="1" dirty="0">
                          <a:solidFill>
                            <a:srgbClr val="FFFFFF"/>
                          </a:solidFill>
                          <a:latin typeface="BIZ UDPGothic" pitchFamily="34" charset="0"/>
                          <a:ea typeface="BIZ UDPGothic" pitchFamily="34" charset="-122"/>
                          <a:cs typeface="BIZ UDPGothic" pitchFamily="34" charset="-120"/>
                        </a:rPr>
                        <a:t>サブエージェント</a:t>
                      </a:r>
                      <a:endParaRPr lang="en-US" sz="1600" dirty="0">
                        <a:latin typeface="BIZ UDPGothic" charset="0"/>
                        <a:ea typeface="BIZ UDPGothic" charset="0"/>
                        <a:cs typeface="BIZ UDPGothic" charset="0"/>
                      </a:endParaRPr>
                    </a:p>
                  </a:txBody>
                  <a:tcPr marL="71120" marR="71120" marT="71120" marB="71120" anchor="t">
                    <a:lnL w="12700" cap="flat" cmpd="sng" algn="ctr">
                      <a:solidFill>
                        <a:srgbClr val="2951B8"/>
                      </a:solidFill>
                      <a:prstDash val="solid"/>
                      <a:round/>
                      <a:headEnd type="none" w="med" len="med"/>
                      <a:tailEnd type="none" w="med" len="med"/>
                    </a:lnL>
                    <a:lnR w="12700" cap="flat" cmpd="sng" algn="ctr">
                      <a:solidFill>
                        <a:srgbClr val="2951B8"/>
                      </a:solidFill>
                      <a:prstDash val="solid"/>
                      <a:round/>
                      <a:headEnd type="none" w="med" len="med"/>
                      <a:tailEnd type="none" w="med" len="med"/>
                    </a:lnR>
                    <a:lnT w="12700" cap="flat" cmpd="sng" algn="ctr">
                      <a:solidFill>
                        <a:srgbClr val="C3C5C9"/>
                      </a:solidFill>
                      <a:prstDash val="solid"/>
                      <a:round/>
                      <a:headEnd type="none" w="med" len="med"/>
                      <a:tailEnd type="none" w="med" len="med"/>
                    </a:lnT>
                    <a:lnB w="12700" cap="flat" cmpd="sng" algn="ctr">
                      <a:solidFill>
                        <a:srgbClr val="2951B8"/>
                      </a:solidFill>
                      <a:prstDash val="solid"/>
                      <a:round/>
                      <a:headEnd type="none" w="med" len="med"/>
                      <a:tailEnd type="none" w="med" len="med"/>
                    </a:lnB>
                    <a:solidFill>
                      <a:srgbClr val="2F62E6"/>
                    </a:solidFill>
                  </a:tcPr>
                </a:tc>
              </a:tr>
              <a:tr h="439241">
                <a:tc>
                  <a:txBody>
                    <a:bodyPr/>
                    <a:lstStyle/>
                    <a:p>
                      <a:pPr indent="0" marL="0">
                        <a:lnSpc>
                          <a:spcPts val="2240"/>
                        </a:lnSpc>
                        <a:buNone/>
                      </a:pPr>
                      <a:r>
                        <a:rPr lang="en-US" sz="1600" dirty="0">
                          <a:solidFill>
                            <a:srgbClr val="16233B"/>
                          </a:solidFill>
                          <a:latin typeface="BIZ UDPGothic" pitchFamily="34" charset="0"/>
                          <a:ea typeface="BIZ UDPGothic" pitchFamily="34" charset="-122"/>
                          <a:cs typeface="BIZ UDPGothic" pitchFamily="34" charset="-120"/>
                        </a:rPr>
                        <a:t>たとえ</a:t>
                      </a:r>
                      <a:endParaRPr lang="en-US" sz="1600" dirty="0">
                        <a:latin typeface="BIZ UDPGothic" charset="0"/>
                        <a:ea typeface="BIZ UDPGothic" charset="0"/>
                        <a:cs typeface="BIZ UDPGothic" charset="0"/>
                      </a:endParaRPr>
                    </a:p>
                  </a:txBody>
                  <a:tcPr marL="71120" marR="71120" marT="71120" marB="71120" anchor="t">
                    <a:lnL w="12700" cap="flat" cmpd="sng" algn="ctr">
                      <a:solidFill>
                        <a:srgbClr val="C3C5C9"/>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2951B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indent="0" marL="0">
                        <a:lnSpc>
                          <a:spcPts val="2240"/>
                        </a:lnSpc>
                        <a:buNone/>
                      </a:pPr>
                      <a:r>
                        <a:rPr lang="en-US" sz="1600" dirty="0">
                          <a:solidFill>
                            <a:srgbClr val="16233B"/>
                          </a:solidFill>
                          <a:latin typeface="BIZ UDPGothic" pitchFamily="34" charset="0"/>
                          <a:ea typeface="BIZ UDPGothic" pitchFamily="34" charset="-122"/>
                          <a:cs typeface="BIZ UDPGothic" pitchFamily="34" charset="-120"/>
                        </a:rPr>
                        <a:t>手順書（レシピ）</a:t>
                      </a:r>
                      <a:endParaRPr lang="en-US" sz="1600" dirty="0">
                        <a:latin typeface="BIZ UDPGothic" charset="0"/>
                        <a:ea typeface="BIZ UDPGothic" charset="0"/>
                        <a:cs typeface="BIZ UDPGothic" charset="0"/>
                      </a:endParaRPr>
                    </a:p>
                  </a:txBody>
                  <a:tcPr marL="71120" marR="71120" marT="71120" marB="71120"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2951B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indent="0" marL="0">
                        <a:lnSpc>
                          <a:spcPts val="2240"/>
                        </a:lnSpc>
                        <a:buNone/>
                      </a:pPr>
                      <a:r>
                        <a:rPr lang="en-US" sz="1600" dirty="0">
                          <a:solidFill>
                            <a:srgbClr val="16233B"/>
                          </a:solidFill>
                          <a:latin typeface="BIZ UDPGothic" pitchFamily="34" charset="0"/>
                          <a:ea typeface="BIZ UDPGothic" pitchFamily="34" charset="-122"/>
                          <a:cs typeface="BIZ UDPGothic" pitchFamily="34" charset="-120"/>
                        </a:rPr>
                        <a:t>専門の担当者</a:t>
                      </a:r>
                      <a:endParaRPr lang="en-US" sz="1600" dirty="0">
                        <a:latin typeface="BIZ UDPGothic" charset="0"/>
                        <a:ea typeface="BIZ UDPGothic" charset="0"/>
                        <a:cs typeface="BIZ UDPGothic" charset="0"/>
                      </a:endParaRPr>
                    </a:p>
                  </a:txBody>
                  <a:tcPr marL="71120" marR="71120" marT="71120" marB="71120"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2951B8"/>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r>
              <a:tr h="439241">
                <a:tc>
                  <a:txBody>
                    <a:bodyPr/>
                    <a:lstStyle/>
                    <a:p>
                      <a:pPr indent="0" marL="0">
                        <a:lnSpc>
                          <a:spcPts val="2240"/>
                        </a:lnSpc>
                        <a:buNone/>
                      </a:pPr>
                      <a:r>
                        <a:rPr lang="en-US" sz="1600" dirty="0">
                          <a:solidFill>
                            <a:srgbClr val="16233B"/>
                          </a:solidFill>
                          <a:latin typeface="BIZ UDPGothic" pitchFamily="34" charset="0"/>
                          <a:ea typeface="BIZ UDPGothic" pitchFamily="34" charset="-122"/>
                          <a:cs typeface="BIZ UDPGothic" pitchFamily="34" charset="-120"/>
                        </a:rPr>
                        <a:t>どこで動く</a:t>
                      </a:r>
                      <a:endParaRPr lang="en-US" sz="1600" dirty="0">
                        <a:latin typeface="BIZ UDPGothic" charset="0"/>
                        <a:ea typeface="BIZ UDPGothic" charset="0"/>
                        <a:cs typeface="BIZ UDPGothic" charset="0"/>
                      </a:endParaRPr>
                    </a:p>
                  </a:txBody>
                  <a:tcPr marL="71120" marR="71120" marT="71120" marB="71120" anchor="t">
                    <a:lnL w="12700" cap="flat" cmpd="sng" algn="ctr">
                      <a:solidFill>
                        <a:srgbClr val="C3C5C9"/>
                      </a:solidFill>
                      <a:prstDash val="solid"/>
                      <a:round/>
                      <a:headEnd type="none" w="med" len="med"/>
                      <a:tailEnd type="none" w="med" len="med"/>
                    </a:lnL>
                    <a:lnR w="12700" cap="flat" cmpd="sng" algn="ctr">
                      <a:solidFill>
                        <a:srgbClr val="B4BBCB"/>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B4BBCB"/>
                      </a:solidFill>
                      <a:prstDash val="solid"/>
                      <a:round/>
                      <a:headEnd type="none" w="med" len="med"/>
                      <a:tailEnd type="none" w="med" len="med"/>
                    </a:lnB>
                    <a:solidFill>
                      <a:srgbClr val="E1EAFF"/>
                    </a:solidFill>
                  </a:tcPr>
                </a:tc>
                <a:tc>
                  <a:txBody>
                    <a:bodyPr/>
                    <a:lstStyle/>
                    <a:p>
                      <a:pPr indent="0" marL="0">
                        <a:lnSpc>
                          <a:spcPts val="2240"/>
                        </a:lnSpc>
                        <a:buNone/>
                      </a:pPr>
                      <a:r>
                        <a:rPr lang="en-US" sz="1600" dirty="0">
                          <a:solidFill>
                            <a:srgbClr val="16233B"/>
                          </a:solidFill>
                          <a:latin typeface="BIZ UDPGothic" pitchFamily="34" charset="0"/>
                          <a:ea typeface="BIZ UDPGothic" pitchFamily="34" charset="-122"/>
                          <a:cs typeface="BIZ UDPGothic" pitchFamily="34" charset="-120"/>
                        </a:rPr>
                        <a:t>メインのAIが、会話しながら実行</a:t>
                      </a:r>
                      <a:endParaRPr lang="en-US" sz="1600" dirty="0">
                        <a:latin typeface="BIZ UDPGothic" charset="0"/>
                        <a:ea typeface="BIZ UDPGothic" charset="0"/>
                        <a:cs typeface="BIZ UDPGothic" charset="0"/>
                      </a:endParaRPr>
                    </a:p>
                  </a:txBody>
                  <a:tcPr marL="71120" marR="71120" marT="71120" marB="71120" anchor="t">
                    <a:lnL w="12700" cap="flat" cmpd="sng" algn="ctr">
                      <a:solidFill>
                        <a:srgbClr val="B4BBCB"/>
                      </a:solidFill>
                      <a:prstDash val="solid"/>
                      <a:round/>
                      <a:headEnd type="none" w="med" len="med"/>
                      <a:tailEnd type="none" w="med" len="med"/>
                    </a:lnL>
                    <a:lnR w="12700" cap="flat" cmpd="sng" algn="ctr">
                      <a:solidFill>
                        <a:srgbClr val="B4BBCB"/>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B4BBCB"/>
                      </a:solidFill>
                      <a:prstDash val="solid"/>
                      <a:round/>
                      <a:headEnd type="none" w="med" len="med"/>
                      <a:tailEnd type="none" w="med" len="med"/>
                    </a:lnB>
                    <a:solidFill>
                      <a:srgbClr val="E1EAFF"/>
                    </a:solidFill>
                  </a:tcPr>
                </a:tc>
                <a:tc>
                  <a:txBody>
                    <a:bodyPr/>
                    <a:lstStyle/>
                    <a:p>
                      <a:pPr indent="0" marL="0">
                        <a:lnSpc>
                          <a:spcPts val="2240"/>
                        </a:lnSpc>
                        <a:buNone/>
                      </a:pPr>
                      <a:r>
                        <a:rPr lang="en-US" sz="1600" dirty="0">
                          <a:solidFill>
                            <a:srgbClr val="16233B"/>
                          </a:solidFill>
                          <a:latin typeface="BIZ UDPGothic" pitchFamily="34" charset="0"/>
                          <a:ea typeface="BIZ UDPGothic" pitchFamily="34" charset="-122"/>
                          <a:cs typeface="BIZ UDPGothic" pitchFamily="34" charset="-120"/>
                        </a:rPr>
                        <a:t>別の部屋で、頼まれた仕事だけ</a:t>
                      </a:r>
                      <a:endParaRPr lang="en-US" sz="1600" dirty="0">
                        <a:latin typeface="BIZ UDPGothic" charset="0"/>
                        <a:ea typeface="BIZ UDPGothic" charset="0"/>
                        <a:cs typeface="BIZ UDPGothic" charset="0"/>
                      </a:endParaRPr>
                    </a:p>
                  </a:txBody>
                  <a:tcPr marL="71120" marR="71120" marT="71120" marB="71120" anchor="t">
                    <a:lnL w="12700" cap="flat" cmpd="sng" algn="ctr">
                      <a:solidFill>
                        <a:srgbClr val="B4BBCB"/>
                      </a:solidFill>
                      <a:prstDash val="solid"/>
                      <a:round/>
                      <a:headEnd type="none" w="med" len="med"/>
                      <a:tailEnd type="none" w="med" len="med"/>
                    </a:lnL>
                    <a:lnR w="12700" cap="flat" cmpd="sng" algn="ctr">
                      <a:solidFill>
                        <a:srgbClr val="B4BBCB"/>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B4BBCB"/>
                      </a:solidFill>
                      <a:prstDash val="solid"/>
                      <a:round/>
                      <a:headEnd type="none" w="med" len="med"/>
                      <a:tailEnd type="none" w="med" len="med"/>
                    </a:lnB>
                    <a:solidFill>
                      <a:srgbClr val="E1EAFF"/>
                    </a:solidFill>
                  </a:tcPr>
                </a:tc>
              </a:tr>
              <a:tr h="439241">
                <a:tc>
                  <a:txBody>
                    <a:bodyPr/>
                    <a:lstStyle/>
                    <a:p>
                      <a:pPr indent="0" marL="0">
                        <a:lnSpc>
                          <a:spcPts val="2240"/>
                        </a:lnSpc>
                        <a:buNone/>
                      </a:pPr>
                      <a:r>
                        <a:rPr lang="en-US" sz="1600" dirty="0">
                          <a:solidFill>
                            <a:srgbClr val="16233B"/>
                          </a:solidFill>
                          <a:latin typeface="BIZ UDPGothic" pitchFamily="34" charset="0"/>
                          <a:ea typeface="BIZ UDPGothic" pitchFamily="34" charset="-122"/>
                          <a:cs typeface="BIZ UDPGothic" pitchFamily="34" charset="-120"/>
                        </a:rPr>
                        <a:t>書き手と話す？</a:t>
                      </a:r>
                      <a:endParaRPr lang="en-US" sz="1600" dirty="0">
                        <a:latin typeface="BIZ UDPGothic" charset="0"/>
                        <a:ea typeface="BIZ UDPGothic" charset="0"/>
                        <a:cs typeface="BIZ UDPGothic" charset="0"/>
                      </a:endParaRPr>
                    </a:p>
                  </a:txBody>
                  <a:tcPr marL="71120" marR="71120" marT="71120" marB="71120" anchor="t">
                    <a:lnL w="12700" cap="flat" cmpd="sng" algn="ctr">
                      <a:solidFill>
                        <a:srgbClr val="C3C5C9"/>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B4BBCB"/>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indent="0" marL="0">
                        <a:lnSpc>
                          <a:spcPts val="2240"/>
                        </a:lnSpc>
                        <a:buNone/>
                      </a:pPr>
                      <a:r>
                        <a:rPr lang="en-US" sz="1600" dirty="0">
                          <a:solidFill>
                            <a:srgbClr val="16233B"/>
                          </a:solidFill>
                          <a:latin typeface="BIZ UDPGothic" pitchFamily="34" charset="0"/>
                          <a:ea typeface="BIZ UDPGothic" pitchFamily="34" charset="-122"/>
                          <a:cs typeface="BIZ UDPGothic" pitchFamily="34" charset="-120"/>
                        </a:rPr>
                        <a:t>話す。質問しながら進める</a:t>
                      </a:r>
                      <a:endParaRPr lang="en-US" sz="1600" dirty="0">
                        <a:latin typeface="BIZ UDPGothic" charset="0"/>
                        <a:ea typeface="BIZ UDPGothic" charset="0"/>
                        <a:cs typeface="BIZ UDPGothic" charset="0"/>
                      </a:endParaRPr>
                    </a:p>
                  </a:txBody>
                  <a:tcPr marL="71120" marR="71120" marT="71120" marB="71120"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B4BBCB"/>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indent="0" marL="0">
                        <a:lnSpc>
                          <a:spcPts val="2240"/>
                        </a:lnSpc>
                        <a:buNone/>
                      </a:pPr>
                      <a:r>
                        <a:rPr lang="en-US" sz="1600" dirty="0">
                          <a:solidFill>
                            <a:srgbClr val="16233B"/>
                          </a:solidFill>
                          <a:latin typeface="BIZ UDPGothic" pitchFamily="34" charset="0"/>
                          <a:ea typeface="BIZ UDPGothic" pitchFamily="34" charset="-122"/>
                          <a:cs typeface="BIZ UDPGothic" pitchFamily="34" charset="-120"/>
                        </a:rPr>
                        <a:t>話さない。結果を返すだけ</a:t>
                      </a:r>
                      <a:endParaRPr lang="en-US" sz="1600" dirty="0">
                        <a:latin typeface="BIZ UDPGothic" charset="0"/>
                        <a:ea typeface="BIZ UDPGothic" charset="0"/>
                        <a:cs typeface="BIZ UDPGothic" charset="0"/>
                      </a:endParaRPr>
                    </a:p>
                  </a:txBody>
                  <a:tcPr marL="71120" marR="71120" marT="71120" marB="71120"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B4BBCB"/>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r>
              <a:tr h="439241">
                <a:tc>
                  <a:txBody>
                    <a:bodyPr/>
                    <a:lstStyle/>
                    <a:p>
                      <a:pPr indent="0" marL="0">
                        <a:lnSpc>
                          <a:spcPts val="2240"/>
                        </a:lnSpc>
                        <a:buNone/>
                      </a:pPr>
                      <a:r>
                        <a:rPr lang="en-US" sz="1600" dirty="0">
                          <a:solidFill>
                            <a:srgbClr val="16233B"/>
                          </a:solidFill>
                          <a:latin typeface="BIZ UDPGothic" pitchFamily="34" charset="0"/>
                          <a:ea typeface="BIZ UDPGothic" pitchFamily="34" charset="-122"/>
                          <a:cs typeface="BIZ UDPGothic" pitchFamily="34" charset="-120"/>
                        </a:rPr>
                        <a:t>持ち物</a:t>
                      </a:r>
                      <a:endParaRPr lang="en-US" sz="1600" dirty="0">
                        <a:latin typeface="BIZ UDPGothic" charset="0"/>
                        <a:ea typeface="BIZ UDPGothic" charset="0"/>
                        <a:cs typeface="BIZ UDPGothic" charset="0"/>
                      </a:endParaRPr>
                    </a:p>
                  </a:txBody>
                  <a:tcPr marL="71120" marR="71120" marT="71120" marB="71120" anchor="t">
                    <a:lnL w="12700" cap="flat" cmpd="sng" algn="ctr">
                      <a:solidFill>
                        <a:srgbClr val="C3C5C9"/>
                      </a:solidFill>
                      <a:prstDash val="solid"/>
                      <a:round/>
                      <a:headEnd type="none" w="med" len="med"/>
                      <a:tailEnd type="none" w="med" len="med"/>
                    </a:lnL>
                    <a:lnR w="12700" cap="flat" cmpd="sng" algn="ctr">
                      <a:solidFill>
                        <a:srgbClr val="B4BBCB"/>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B4BBCB"/>
                      </a:solidFill>
                      <a:prstDash val="solid"/>
                      <a:round/>
                      <a:headEnd type="none" w="med" len="med"/>
                      <a:tailEnd type="none" w="med" len="med"/>
                    </a:lnB>
                    <a:solidFill>
                      <a:srgbClr val="E1EAFF"/>
                    </a:solidFill>
                  </a:tcPr>
                </a:tc>
                <a:tc>
                  <a:txBody>
                    <a:bodyPr/>
                    <a:lstStyle/>
                    <a:p>
                      <a:pPr indent="0" marL="0">
                        <a:lnSpc>
                          <a:spcPts val="2240"/>
                        </a:lnSpc>
                        <a:buNone/>
                      </a:pPr>
                      <a:r>
                        <a:rPr lang="en-US" sz="1600" dirty="0">
                          <a:solidFill>
                            <a:srgbClr val="16233B"/>
                          </a:solidFill>
                          <a:latin typeface="BIZ UDPGothic" pitchFamily="34" charset="0"/>
                          <a:ea typeface="BIZ UDPGothic" pitchFamily="34" charset="-122"/>
                          <a:cs typeface="BIZ UDPGothic" pitchFamily="34" charset="-120"/>
                        </a:rPr>
                        <a:t>メインのAIと同じ</a:t>
                      </a:r>
                      <a:endParaRPr lang="en-US" sz="1600" dirty="0">
                        <a:latin typeface="BIZ UDPGothic" charset="0"/>
                        <a:ea typeface="BIZ UDPGothic" charset="0"/>
                        <a:cs typeface="BIZ UDPGothic" charset="0"/>
                      </a:endParaRPr>
                    </a:p>
                  </a:txBody>
                  <a:tcPr marL="71120" marR="71120" marT="71120" marB="71120" anchor="t">
                    <a:lnL w="12700" cap="flat" cmpd="sng" algn="ctr">
                      <a:solidFill>
                        <a:srgbClr val="B4BBCB"/>
                      </a:solidFill>
                      <a:prstDash val="solid"/>
                      <a:round/>
                      <a:headEnd type="none" w="med" len="med"/>
                      <a:tailEnd type="none" w="med" len="med"/>
                    </a:lnL>
                    <a:lnR w="12700" cap="flat" cmpd="sng" algn="ctr">
                      <a:solidFill>
                        <a:srgbClr val="B4BBCB"/>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B4BBCB"/>
                      </a:solidFill>
                      <a:prstDash val="solid"/>
                      <a:round/>
                      <a:headEnd type="none" w="med" len="med"/>
                      <a:tailEnd type="none" w="med" len="med"/>
                    </a:lnB>
                    <a:solidFill>
                      <a:srgbClr val="E1EAFF"/>
                    </a:solidFill>
                  </a:tcPr>
                </a:tc>
                <a:tc>
                  <a:txBody>
                    <a:bodyPr/>
                    <a:lstStyle/>
                    <a:p>
                      <a:pPr indent="0" marL="0">
                        <a:lnSpc>
                          <a:spcPts val="2240"/>
                        </a:lnSpc>
                        <a:buNone/>
                      </a:pPr>
                      <a:r>
                        <a:rPr lang="en-US" sz="1600" dirty="0">
                          <a:solidFill>
                            <a:srgbClr val="16233B"/>
                          </a:solidFill>
                          <a:latin typeface="BIZ UDPGothic" pitchFamily="34" charset="0"/>
                          <a:ea typeface="BIZ UDPGothic" pitchFamily="34" charset="-122"/>
                          <a:cs typeface="BIZ UDPGothic" pitchFamily="34" charset="-120"/>
                        </a:rPr>
                        <a:t>役割に必要な道具だけ</a:t>
                      </a:r>
                      <a:endParaRPr lang="en-US" sz="1600" dirty="0">
                        <a:latin typeface="BIZ UDPGothic" charset="0"/>
                        <a:ea typeface="BIZ UDPGothic" charset="0"/>
                        <a:cs typeface="BIZ UDPGothic" charset="0"/>
                      </a:endParaRPr>
                    </a:p>
                  </a:txBody>
                  <a:tcPr marL="71120" marR="71120" marT="71120" marB="71120" anchor="t">
                    <a:lnL w="12700" cap="flat" cmpd="sng" algn="ctr">
                      <a:solidFill>
                        <a:srgbClr val="B4BBCB"/>
                      </a:solidFill>
                      <a:prstDash val="solid"/>
                      <a:round/>
                      <a:headEnd type="none" w="med" len="med"/>
                      <a:tailEnd type="none" w="med" len="med"/>
                    </a:lnL>
                    <a:lnR w="12700" cap="flat" cmpd="sng" algn="ctr">
                      <a:solidFill>
                        <a:srgbClr val="B4BBCB"/>
                      </a:solidFill>
                      <a:prstDash val="solid"/>
                      <a:round/>
                      <a:headEnd type="none" w="med" len="med"/>
                      <a:tailEnd type="none" w="med" len="med"/>
                    </a:lnR>
                    <a:lnT w="12700" cap="flat" cmpd="sng" algn="ctr">
                      <a:solidFill>
                        <a:srgbClr val="C8C9CA"/>
                      </a:solidFill>
                      <a:prstDash val="solid"/>
                      <a:round/>
                      <a:headEnd type="none" w="med" len="med"/>
                      <a:tailEnd type="none" w="med" len="med"/>
                    </a:lnT>
                    <a:lnB w="12700" cap="flat" cmpd="sng" algn="ctr">
                      <a:solidFill>
                        <a:srgbClr val="B4BBCB"/>
                      </a:solidFill>
                      <a:prstDash val="solid"/>
                      <a:round/>
                      <a:headEnd type="none" w="med" len="med"/>
                      <a:tailEnd type="none" w="med" len="med"/>
                    </a:lnB>
                    <a:solidFill>
                      <a:srgbClr val="E1EAFF"/>
                    </a:solidFill>
                  </a:tcPr>
                </a:tc>
              </a:tr>
              <a:tr h="439241">
                <a:tc>
                  <a:txBody>
                    <a:bodyPr/>
                    <a:lstStyle/>
                    <a:p>
                      <a:pPr indent="0" marL="0">
                        <a:lnSpc>
                          <a:spcPts val="2240"/>
                        </a:lnSpc>
                        <a:buNone/>
                      </a:pPr>
                      <a:r>
                        <a:rPr lang="en-US" sz="1600" dirty="0">
                          <a:solidFill>
                            <a:srgbClr val="16233B"/>
                          </a:solidFill>
                          <a:latin typeface="BIZ UDPGothic" pitchFamily="34" charset="0"/>
                          <a:ea typeface="BIZ UDPGothic" pitchFamily="34" charset="-122"/>
                          <a:cs typeface="BIZ UDPGothic" pitchFamily="34" charset="-120"/>
                        </a:rPr>
                        <a:t>このブログでは</a:t>
                      </a:r>
                      <a:endParaRPr lang="en-US" sz="1600" dirty="0">
                        <a:latin typeface="BIZ UDPGothic" charset="0"/>
                        <a:ea typeface="BIZ UDPGothic" charset="0"/>
                        <a:cs typeface="BIZ UDPGothic" charset="0"/>
                      </a:endParaRPr>
                    </a:p>
                  </a:txBody>
                  <a:tcPr marL="71120" marR="71120" marT="71120" marB="71120" anchor="t">
                    <a:lnL w="12700" cap="flat" cmpd="sng" algn="ctr">
                      <a:solidFill>
                        <a:srgbClr val="C3C5C9"/>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B4BBCB"/>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indent="0" marL="0">
                        <a:lnSpc>
                          <a:spcPts val="2240"/>
                        </a:lnSpc>
                        <a:buNone/>
                      </a:pPr>
                      <a:r>
                        <a:rPr lang="en-US" sz="1600" dirty="0">
                          <a:solidFill>
                            <a:srgbClr val="16233B"/>
                          </a:solidFill>
                          <a:latin typeface="BIZ UDPGothic" pitchFamily="34" charset="0"/>
                          <a:ea typeface="BIZ UDPGothic" pitchFamily="34" charset="-122"/>
                          <a:cs typeface="BIZ UDPGothic" pitchFamily="34" charset="-120"/>
                        </a:rPr>
                        <a:t>3つ（ネタ・記事・図解）</a:t>
                      </a:r>
                      <a:endParaRPr lang="en-US" sz="1600" dirty="0">
                        <a:latin typeface="BIZ UDPGothic" charset="0"/>
                        <a:ea typeface="BIZ UDPGothic" charset="0"/>
                        <a:cs typeface="BIZ UDPGothic" charset="0"/>
                      </a:endParaRPr>
                    </a:p>
                  </a:txBody>
                  <a:tcPr marL="71120" marR="71120" marT="71120" marB="71120"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B4BBCB"/>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c>
                  <a:txBody>
                    <a:bodyPr/>
                    <a:lstStyle/>
                    <a:p>
                      <a:pPr indent="0" marL="0">
                        <a:lnSpc>
                          <a:spcPts val="2240"/>
                        </a:lnSpc>
                        <a:buNone/>
                      </a:pPr>
                      <a:r>
                        <a:rPr lang="en-US" sz="1600" dirty="0">
                          <a:solidFill>
                            <a:srgbClr val="16233B"/>
                          </a:solidFill>
                          <a:latin typeface="BIZ UDPGothic" pitchFamily="34" charset="0"/>
                          <a:ea typeface="BIZ UDPGothic" pitchFamily="34" charset="-122"/>
                          <a:cs typeface="BIZ UDPGothic" pitchFamily="34" charset="-120"/>
                        </a:rPr>
                        <a:t>3人（ネタ出し・審査・校閲）</a:t>
                      </a:r>
                      <a:endParaRPr lang="en-US" sz="1600" dirty="0">
                        <a:latin typeface="BIZ UDPGothic" charset="0"/>
                        <a:ea typeface="BIZ UDPGothic" charset="0"/>
                        <a:cs typeface="BIZ UDPGothic" charset="0"/>
                      </a:endParaRPr>
                    </a:p>
                  </a:txBody>
                  <a:tcPr marL="71120" marR="71120" marT="71120" marB="71120" anchor="t">
                    <a:lnL w="12700" cap="flat" cmpd="sng" algn="ctr">
                      <a:solidFill>
                        <a:srgbClr val="C8C9CA"/>
                      </a:solidFill>
                      <a:prstDash val="solid"/>
                      <a:round/>
                      <a:headEnd type="none" w="med" len="med"/>
                      <a:tailEnd type="none" w="med" len="med"/>
                    </a:lnL>
                    <a:lnR w="12700" cap="flat" cmpd="sng" algn="ctr">
                      <a:solidFill>
                        <a:srgbClr val="C8C9CA"/>
                      </a:solidFill>
                      <a:prstDash val="solid"/>
                      <a:round/>
                      <a:headEnd type="none" w="med" len="med"/>
                      <a:tailEnd type="none" w="med" len="med"/>
                    </a:lnR>
                    <a:lnT w="12700" cap="flat" cmpd="sng" algn="ctr">
                      <a:solidFill>
                        <a:srgbClr val="B4BBCB"/>
                      </a:solidFill>
                      <a:prstDash val="solid"/>
                      <a:round/>
                      <a:headEnd type="none" w="med" len="med"/>
                      <a:tailEnd type="none" w="med" len="med"/>
                    </a:lnT>
                    <a:lnB w="12700" cap="flat" cmpd="sng" algn="ctr">
                      <a:solidFill>
                        <a:srgbClr val="C8C9CA"/>
                      </a:solidFill>
                      <a:prstDash val="solid"/>
                      <a:round/>
                      <a:headEnd type="none" w="med" len="med"/>
                      <a:tailEnd type="none" w="med" len="med"/>
                    </a:lnB>
                    <a:solidFill>
                      <a:srgbClr val="FBFCFE"/>
                    </a:solidFill>
                  </a:tcPr>
                </a:tc>
              </a:tr>
            </a:tbl>
          </a:graphicData>
        </a:graphic>
      </p:graphicFrame>
      <p:sp>
        <p:nvSpPr>
          <p:cNvPr id="5" name="Text 2"/>
          <p:cNvSpPr/>
          <p:nvPr/>
        </p:nvSpPr>
        <p:spPr>
          <a:xfrm>
            <a:off x="812800" y="4822329"/>
            <a:ext cx="10883392" cy="350441"/>
          </a:xfrm>
          <a:prstGeom prst="rect">
            <a:avLst/>
          </a:prstGeom>
          <a:noFill/>
          <a:ln/>
        </p:spPr>
        <p:txBody>
          <a:bodyPr wrap="square" lIns="0" tIns="0" rIns="0" bIns="0" rtlCol="0" anchor="t">
            <a:normAutofit/>
          </a:bodyPr>
          <a:lstStyle/>
          <a:p>
            <a:pPr algn="l" indent="0" marL="0">
              <a:lnSpc>
                <a:spcPts val="2560"/>
              </a:lnSpc>
              <a:buNone/>
            </a:pPr>
            <a:r>
              <a:rPr lang="en-US" sz="1600" dirty="0">
                <a:solidFill>
                  <a:srgbClr val="56647E"/>
                </a:solidFill>
                <a:latin typeface="BIZ UDPGothic" pitchFamily="34" charset="0"/>
                <a:ea typeface="BIZ UDPGothic" pitchFamily="34" charset="-122"/>
                <a:cs typeface="BIZ UDPGothic" pitchFamily="34" charset="-120"/>
              </a:rPr>
              <a:t>スキルが仕事の段取りを決め、途中で専門担当を呼ぶ。この組み合わせで動いている。</a:t>
            </a:r>
            <a:endParaRPr lang="en-US" sz="16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7" name="Text 4"/>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32 / 40</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4 ／ サブエージェント</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このブログで働く、3人の専門担当</a:t>
            </a:r>
            <a:endParaRPr lang="en-US" sz="3200" dirty="0"/>
          </a:p>
        </p:txBody>
      </p:sp>
      <p:sp>
        <p:nvSpPr>
          <p:cNvPr id="4" name="Shape 2"/>
          <p:cNvSpPr/>
          <p:nvPr/>
        </p:nvSpPr>
        <p:spPr>
          <a:xfrm>
            <a:off x="819150" y="1901130"/>
            <a:ext cx="3407767" cy="3934520"/>
          </a:xfrm>
          <a:prstGeom prst="roundRect">
            <a:avLst>
              <a:gd name="adj" fmla="val 5031"/>
            </a:avLst>
          </a:prstGeom>
          <a:solidFill>
            <a:srgbClr val="FBFCFE"/>
          </a:solidFill>
          <a:ln w="12700">
            <a:solidFill>
              <a:srgbClr val="D3DBEA"/>
            </a:solidFill>
            <a:prstDash val="solid"/>
          </a:ln>
        </p:spPr>
      </p:sp>
      <p:sp>
        <p:nvSpPr>
          <p:cNvPr id="5" name="Shape 3"/>
          <p:cNvSpPr/>
          <p:nvPr/>
        </p:nvSpPr>
        <p:spPr>
          <a:xfrm>
            <a:off x="1028700" y="2085280"/>
            <a:ext cx="1585020" cy="289520"/>
          </a:xfrm>
          <a:prstGeom prst="roundRect">
            <a:avLst>
              <a:gd name="adj" fmla="val 50000"/>
            </a:avLst>
          </a:prstGeom>
          <a:solidFill>
            <a:srgbClr val="2F62E6"/>
          </a:solidFill>
          <a:ln/>
        </p:spPr>
      </p:sp>
      <p:sp>
        <p:nvSpPr>
          <p:cNvPr id="6" name="Text 4"/>
          <p:cNvSpPr/>
          <p:nvPr/>
        </p:nvSpPr>
        <p:spPr>
          <a:xfrm>
            <a:off x="1181100" y="2123380"/>
            <a:ext cx="133102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Source Code Pro" pitchFamily="34" charset="0"/>
                <a:ea typeface="Source Code Pro" pitchFamily="34" charset="-122"/>
                <a:cs typeface="Source Code Pro" pitchFamily="34" charset="-120"/>
              </a:rPr>
              <a:t>idea-generator</a:t>
            </a:r>
            <a:endParaRPr lang="en-US" sz="1200" dirty="0"/>
          </a:p>
        </p:txBody>
      </p:sp>
      <p:sp>
        <p:nvSpPr>
          <p:cNvPr id="7" name="Text 5"/>
          <p:cNvSpPr/>
          <p:nvPr/>
        </p:nvSpPr>
        <p:spPr>
          <a:xfrm>
            <a:off x="1028700" y="2425601"/>
            <a:ext cx="1137940"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6233B"/>
                </a:solidFill>
                <a:latin typeface="Zen Maru Gothic" pitchFamily="34" charset="0"/>
                <a:ea typeface="Zen Maru Gothic" pitchFamily="34" charset="-122"/>
                <a:cs typeface="Zen Maru Gothic" pitchFamily="34" charset="-120"/>
              </a:rPr>
              <a:t>💡 ヒラク</a:t>
            </a:r>
            <a:endParaRPr lang="en-US" sz="2000" dirty="0"/>
          </a:p>
        </p:txBody>
      </p:sp>
      <p:sp>
        <p:nvSpPr>
          <p:cNvPr id="8" name="Text 6"/>
          <p:cNvSpPr/>
          <p:nvPr/>
        </p:nvSpPr>
        <p:spPr>
          <a:xfrm>
            <a:off x="2217440" y="2514501"/>
            <a:ext cx="1066105"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56647E"/>
                </a:solidFill>
                <a:latin typeface="BIZ UDPGothic" pitchFamily="34" charset="0"/>
                <a:ea typeface="BIZ UDPGothic" pitchFamily="34" charset="-122"/>
                <a:cs typeface="BIZ UDPGothic" pitchFamily="34" charset="-120"/>
              </a:rPr>
              <a:t>ネタ出し担当</a:t>
            </a:r>
            <a:endParaRPr lang="en-US" sz="1400" dirty="0"/>
          </a:p>
        </p:txBody>
      </p:sp>
      <p:sp>
        <p:nvSpPr>
          <p:cNvPr id="9" name="Text 7"/>
          <p:cNvSpPr/>
          <p:nvPr/>
        </p:nvSpPr>
        <p:spPr>
          <a:xfrm>
            <a:off x="1028700" y="2806601"/>
            <a:ext cx="307832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350C9"/>
                </a:solidFill>
                <a:latin typeface="BIZ UDPGothic" pitchFamily="34" charset="0"/>
                <a:ea typeface="BIZ UDPGothic" pitchFamily="34" charset="-122"/>
                <a:cs typeface="BIZ UDPGothic" pitchFamily="34" charset="-120"/>
              </a:rPr>
              <a:t>頼まれること</a:t>
            </a:r>
            <a:endParaRPr lang="en-US" sz="1200" dirty="0"/>
          </a:p>
        </p:txBody>
      </p:sp>
      <p:sp>
        <p:nvSpPr>
          <p:cNvPr id="10" name="Text 8"/>
          <p:cNvSpPr/>
          <p:nvPr/>
        </p:nvSpPr>
        <p:spPr>
          <a:xfrm>
            <a:off x="1028700" y="3070721"/>
            <a:ext cx="3078327"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6233B"/>
                </a:solidFill>
                <a:latin typeface="BIZ UDPGothic" pitchFamily="34" charset="0"/>
                <a:ea typeface="BIZ UDPGothic" pitchFamily="34" charset="-122"/>
                <a:cs typeface="BIZ UDPGothic" pitchFamily="34" charset="-120"/>
              </a:rPr>
              <a:t>思いつきや外部の記事から、記事ネタの切り口を3〜5案出す。</a:t>
            </a:r>
            <a:endParaRPr lang="en-US" sz="1300" dirty="0"/>
          </a:p>
        </p:txBody>
      </p:sp>
      <p:sp>
        <p:nvSpPr>
          <p:cNvPr id="11" name="Text 9"/>
          <p:cNvSpPr/>
          <p:nvPr/>
        </p:nvSpPr>
        <p:spPr>
          <a:xfrm>
            <a:off x="1028700" y="3667621"/>
            <a:ext cx="307832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350C9"/>
                </a:solidFill>
                <a:latin typeface="BIZ UDPGothic" pitchFamily="34" charset="0"/>
                <a:ea typeface="BIZ UDPGothic" pitchFamily="34" charset="-122"/>
                <a:cs typeface="BIZ UDPGothic" pitchFamily="34" charset="-120"/>
              </a:rPr>
              <a:t>守っていること</a:t>
            </a:r>
            <a:endParaRPr lang="en-US" sz="1200" dirty="0"/>
          </a:p>
        </p:txBody>
      </p:sp>
      <p:sp>
        <p:nvSpPr>
          <p:cNvPr id="12" name="Text 10"/>
          <p:cNvSpPr/>
          <p:nvPr/>
        </p:nvSpPr>
        <p:spPr>
          <a:xfrm>
            <a:off x="1028700" y="3931741"/>
            <a:ext cx="3078327" cy="7683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6233B"/>
                </a:solidFill>
                <a:latin typeface="BIZ UDPGothic" pitchFamily="34" charset="0"/>
                <a:ea typeface="BIZ UDPGothic" pitchFamily="34" charset="-122"/>
                <a:cs typeface="BIZ UDPGothic" pitchFamily="34" charset="-120"/>
              </a:rPr>
              <a:t>案ごとに「何で勝負するか」を名指しする。書き手が話していない体験は、でっち上げない。</a:t>
            </a:r>
            <a:endParaRPr lang="en-US" sz="1300" dirty="0"/>
          </a:p>
        </p:txBody>
      </p:sp>
      <p:sp>
        <p:nvSpPr>
          <p:cNvPr id="13" name="Shape 11"/>
          <p:cNvSpPr/>
          <p:nvPr/>
        </p:nvSpPr>
        <p:spPr>
          <a:xfrm>
            <a:off x="4392017" y="1901130"/>
            <a:ext cx="3407866" cy="3934520"/>
          </a:xfrm>
          <a:prstGeom prst="roundRect">
            <a:avLst>
              <a:gd name="adj" fmla="val 5031"/>
            </a:avLst>
          </a:prstGeom>
          <a:solidFill>
            <a:srgbClr val="FBFCFE"/>
          </a:solidFill>
          <a:ln w="12700">
            <a:solidFill>
              <a:srgbClr val="D3DBEA"/>
            </a:solidFill>
            <a:prstDash val="solid"/>
          </a:ln>
        </p:spPr>
      </p:sp>
      <p:sp>
        <p:nvSpPr>
          <p:cNvPr id="14" name="Shape 12"/>
          <p:cNvSpPr/>
          <p:nvPr/>
        </p:nvSpPr>
        <p:spPr>
          <a:xfrm>
            <a:off x="4601567" y="2085280"/>
            <a:ext cx="1493540" cy="289520"/>
          </a:xfrm>
          <a:prstGeom prst="roundRect">
            <a:avLst>
              <a:gd name="adj" fmla="val 50000"/>
            </a:avLst>
          </a:prstGeom>
          <a:solidFill>
            <a:srgbClr val="2F62E6"/>
          </a:solidFill>
          <a:ln/>
        </p:spPr>
      </p:sp>
      <p:sp>
        <p:nvSpPr>
          <p:cNvPr id="15" name="Text 13"/>
          <p:cNvSpPr/>
          <p:nvPr/>
        </p:nvSpPr>
        <p:spPr>
          <a:xfrm>
            <a:off x="4753967" y="2123380"/>
            <a:ext cx="123954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Source Code Pro" pitchFamily="34" charset="0"/>
                <a:ea typeface="Source Code Pro" pitchFamily="34" charset="-122"/>
                <a:cs typeface="Source Code Pro" pitchFamily="34" charset="-120"/>
              </a:rPr>
              <a:t>idea-reviewer</a:t>
            </a:r>
            <a:endParaRPr lang="en-US" sz="1200" dirty="0"/>
          </a:p>
        </p:txBody>
      </p:sp>
      <p:sp>
        <p:nvSpPr>
          <p:cNvPr id="16" name="Text 14"/>
          <p:cNvSpPr/>
          <p:nvPr/>
        </p:nvSpPr>
        <p:spPr>
          <a:xfrm>
            <a:off x="4601567" y="2425601"/>
            <a:ext cx="883940"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6233B"/>
                </a:solidFill>
                <a:latin typeface="Zen Maru Gothic" pitchFamily="34" charset="0"/>
                <a:ea typeface="Zen Maru Gothic" pitchFamily="34" charset="-122"/>
                <a:cs typeface="Zen Maru Gothic" pitchFamily="34" charset="-120"/>
              </a:rPr>
              <a:t>🗃️ クラ</a:t>
            </a:r>
            <a:endParaRPr lang="en-US" sz="2000" dirty="0"/>
          </a:p>
        </p:txBody>
      </p:sp>
      <p:sp>
        <p:nvSpPr>
          <p:cNvPr id="17" name="Text 15"/>
          <p:cNvSpPr/>
          <p:nvPr/>
        </p:nvSpPr>
        <p:spPr>
          <a:xfrm>
            <a:off x="5536307" y="2514501"/>
            <a:ext cx="1089124"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56647E"/>
                </a:solidFill>
                <a:latin typeface="BIZ UDPGothic" pitchFamily="34" charset="0"/>
                <a:ea typeface="BIZ UDPGothic" pitchFamily="34" charset="-122"/>
                <a:cs typeface="BIZ UDPGothic" pitchFamily="34" charset="-120"/>
              </a:rPr>
              <a:t>ネタ帳の門番</a:t>
            </a:r>
            <a:endParaRPr lang="en-US" sz="1400" dirty="0"/>
          </a:p>
        </p:txBody>
      </p:sp>
      <p:sp>
        <p:nvSpPr>
          <p:cNvPr id="18" name="Text 16"/>
          <p:cNvSpPr/>
          <p:nvPr/>
        </p:nvSpPr>
        <p:spPr>
          <a:xfrm>
            <a:off x="4601567" y="2806601"/>
            <a:ext cx="307842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350C9"/>
                </a:solidFill>
                <a:latin typeface="BIZ UDPGothic" pitchFamily="34" charset="0"/>
                <a:ea typeface="BIZ UDPGothic" pitchFamily="34" charset="-122"/>
                <a:cs typeface="BIZ UDPGothic" pitchFamily="34" charset="-120"/>
              </a:rPr>
              <a:t>頼まれること</a:t>
            </a:r>
            <a:endParaRPr lang="en-US" sz="1200" dirty="0"/>
          </a:p>
        </p:txBody>
      </p:sp>
      <p:sp>
        <p:nvSpPr>
          <p:cNvPr id="19" name="Text 17"/>
          <p:cNvSpPr/>
          <p:nvPr/>
        </p:nvSpPr>
        <p:spPr>
          <a:xfrm>
            <a:off x="4601567" y="3070721"/>
            <a:ext cx="3078429" cy="7683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6233B"/>
                </a:solidFill>
                <a:latin typeface="BIZ UDPGothic" pitchFamily="34" charset="0"/>
                <a:ea typeface="BIZ UDPGothic" pitchFamily="34" charset="-122"/>
                <a:cs typeface="BIZ UDPGothic" pitchFamily="34" charset="-120"/>
              </a:rPr>
              <a:t>ネタ帳に積んでよいか審査する。重複・分類・価値、ChatGPTで代わりが利かないかを見る。</a:t>
            </a:r>
            <a:endParaRPr lang="en-US" sz="1300" dirty="0"/>
          </a:p>
        </p:txBody>
      </p:sp>
      <p:sp>
        <p:nvSpPr>
          <p:cNvPr id="20" name="Text 18"/>
          <p:cNvSpPr/>
          <p:nvPr/>
        </p:nvSpPr>
        <p:spPr>
          <a:xfrm>
            <a:off x="4601567" y="3915271"/>
            <a:ext cx="307842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350C9"/>
                </a:solidFill>
                <a:latin typeface="BIZ UDPGothic" pitchFamily="34" charset="0"/>
                <a:ea typeface="BIZ UDPGothic" pitchFamily="34" charset="-122"/>
                <a:cs typeface="BIZ UDPGothic" pitchFamily="34" charset="-120"/>
              </a:rPr>
              <a:t>守っていること</a:t>
            </a:r>
            <a:endParaRPr lang="en-US" sz="1200" dirty="0"/>
          </a:p>
        </p:txBody>
      </p:sp>
      <p:sp>
        <p:nvSpPr>
          <p:cNvPr id="21" name="Text 19"/>
          <p:cNvSpPr/>
          <p:nvPr/>
        </p:nvSpPr>
        <p:spPr>
          <a:xfrm>
            <a:off x="4601567" y="4179391"/>
            <a:ext cx="3078429"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6233B"/>
                </a:solidFill>
                <a:latin typeface="BIZ UDPGothic" pitchFamily="34" charset="0"/>
                <a:ea typeface="BIZ UDPGothic" pitchFamily="34" charset="-122"/>
                <a:cs typeface="BIZ UDPGothic" pitchFamily="34" charset="-120"/>
              </a:rPr>
              <a:t>落とすときは、素材が活きる別の置き場所を必ず示す。</a:t>
            </a:r>
            <a:endParaRPr lang="en-US" sz="1300" dirty="0"/>
          </a:p>
        </p:txBody>
      </p:sp>
      <p:sp>
        <p:nvSpPr>
          <p:cNvPr id="22" name="Shape 20"/>
          <p:cNvSpPr/>
          <p:nvPr/>
        </p:nvSpPr>
        <p:spPr>
          <a:xfrm>
            <a:off x="7964984" y="1901130"/>
            <a:ext cx="3407866" cy="3934520"/>
          </a:xfrm>
          <a:prstGeom prst="roundRect">
            <a:avLst>
              <a:gd name="adj" fmla="val 5031"/>
            </a:avLst>
          </a:prstGeom>
          <a:solidFill>
            <a:srgbClr val="FBFCFE"/>
          </a:solidFill>
          <a:ln w="12700">
            <a:solidFill>
              <a:srgbClr val="D3DBEA"/>
            </a:solidFill>
            <a:prstDash val="solid"/>
          </a:ln>
        </p:spPr>
      </p:sp>
      <p:sp>
        <p:nvSpPr>
          <p:cNvPr id="23" name="Shape 21"/>
          <p:cNvSpPr/>
          <p:nvPr/>
        </p:nvSpPr>
        <p:spPr>
          <a:xfrm>
            <a:off x="8174534" y="2085280"/>
            <a:ext cx="1493540" cy="289520"/>
          </a:xfrm>
          <a:prstGeom prst="roundRect">
            <a:avLst>
              <a:gd name="adj" fmla="val 50000"/>
            </a:avLst>
          </a:prstGeom>
          <a:solidFill>
            <a:srgbClr val="2F62E6"/>
          </a:solidFill>
          <a:ln/>
        </p:spPr>
      </p:sp>
      <p:sp>
        <p:nvSpPr>
          <p:cNvPr id="24" name="Text 22"/>
          <p:cNvSpPr/>
          <p:nvPr/>
        </p:nvSpPr>
        <p:spPr>
          <a:xfrm>
            <a:off x="8326934" y="2123380"/>
            <a:ext cx="123954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Source Code Pro" pitchFamily="34" charset="0"/>
                <a:ea typeface="Source Code Pro" pitchFamily="34" charset="-122"/>
                <a:cs typeface="Source Code Pro" pitchFamily="34" charset="-120"/>
              </a:rPr>
              <a:t>post-reviewer</a:t>
            </a:r>
            <a:endParaRPr lang="en-US" sz="1200" dirty="0"/>
          </a:p>
        </p:txBody>
      </p:sp>
      <p:sp>
        <p:nvSpPr>
          <p:cNvPr id="25" name="Text 23"/>
          <p:cNvSpPr/>
          <p:nvPr/>
        </p:nvSpPr>
        <p:spPr>
          <a:xfrm>
            <a:off x="8174534" y="2425601"/>
            <a:ext cx="1137940"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16233B"/>
                </a:solidFill>
                <a:latin typeface="Zen Maru Gothic" pitchFamily="34" charset="0"/>
                <a:ea typeface="Zen Maru Gothic" pitchFamily="34" charset="-122"/>
                <a:cs typeface="Zen Maru Gothic" pitchFamily="34" charset="-120"/>
              </a:rPr>
              <a:t>🖍️ アカネ</a:t>
            </a:r>
            <a:endParaRPr lang="en-US" sz="2000" dirty="0"/>
          </a:p>
        </p:txBody>
      </p:sp>
      <p:sp>
        <p:nvSpPr>
          <p:cNvPr id="26" name="Text 24"/>
          <p:cNvSpPr/>
          <p:nvPr/>
        </p:nvSpPr>
        <p:spPr>
          <a:xfrm>
            <a:off x="9363273" y="2514501"/>
            <a:ext cx="762000" cy="2564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56647E"/>
                </a:solidFill>
                <a:latin typeface="BIZ UDPGothic" pitchFamily="34" charset="0"/>
                <a:ea typeface="BIZ UDPGothic" pitchFamily="34" charset="-122"/>
                <a:cs typeface="BIZ UDPGothic" pitchFamily="34" charset="-120"/>
              </a:rPr>
              <a:t>校閲担当</a:t>
            </a:r>
            <a:endParaRPr lang="en-US" sz="1400" dirty="0"/>
          </a:p>
        </p:txBody>
      </p:sp>
      <p:sp>
        <p:nvSpPr>
          <p:cNvPr id="27" name="Text 25"/>
          <p:cNvSpPr/>
          <p:nvPr/>
        </p:nvSpPr>
        <p:spPr>
          <a:xfrm>
            <a:off x="8174534" y="2806601"/>
            <a:ext cx="307842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350C9"/>
                </a:solidFill>
                <a:latin typeface="BIZ UDPGothic" pitchFamily="34" charset="0"/>
                <a:ea typeface="BIZ UDPGothic" pitchFamily="34" charset="-122"/>
                <a:cs typeface="BIZ UDPGothic" pitchFamily="34" charset="-120"/>
              </a:rPr>
              <a:t>頼まれること</a:t>
            </a:r>
            <a:endParaRPr lang="en-US" sz="1200" dirty="0"/>
          </a:p>
        </p:txBody>
      </p:sp>
      <p:sp>
        <p:nvSpPr>
          <p:cNvPr id="28" name="Text 26"/>
          <p:cNvSpPr/>
          <p:nvPr/>
        </p:nvSpPr>
        <p:spPr>
          <a:xfrm>
            <a:off x="8174534" y="3070721"/>
            <a:ext cx="3078429"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6233B"/>
                </a:solidFill>
                <a:latin typeface="BIZ UDPGothic" pitchFamily="34" charset="0"/>
                <a:ea typeface="BIZ UDPGothic" pitchFamily="34" charset="-122"/>
                <a:cs typeface="BIZ UDPGothic" pitchFamily="34" charset="-120"/>
              </a:rPr>
              <a:t>書き上がった下書きを、書き方のルールに照らして点検する。</a:t>
            </a:r>
            <a:endParaRPr lang="en-US" sz="1300" dirty="0"/>
          </a:p>
        </p:txBody>
      </p:sp>
      <p:sp>
        <p:nvSpPr>
          <p:cNvPr id="29" name="Text 27"/>
          <p:cNvSpPr/>
          <p:nvPr/>
        </p:nvSpPr>
        <p:spPr>
          <a:xfrm>
            <a:off x="8174534" y="3667621"/>
            <a:ext cx="307842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350C9"/>
                </a:solidFill>
                <a:latin typeface="BIZ UDPGothic" pitchFamily="34" charset="0"/>
                <a:ea typeface="BIZ UDPGothic" pitchFamily="34" charset="-122"/>
                <a:cs typeface="BIZ UDPGothic" pitchFamily="34" charset="-120"/>
              </a:rPr>
              <a:t>守っていること</a:t>
            </a:r>
            <a:endParaRPr lang="en-US" sz="1200" dirty="0"/>
          </a:p>
        </p:txBody>
      </p:sp>
      <p:sp>
        <p:nvSpPr>
          <p:cNvPr id="30" name="Text 28"/>
          <p:cNvSpPr/>
          <p:nvPr/>
        </p:nvSpPr>
        <p:spPr>
          <a:xfrm>
            <a:off x="8174534" y="3931741"/>
            <a:ext cx="3078429"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6233B"/>
                </a:solidFill>
                <a:latin typeface="BIZ UDPGothic" pitchFamily="34" charset="0"/>
                <a:ea typeface="BIZ UDPGothic" pitchFamily="34" charset="-122"/>
                <a:cs typeface="BIZ UDPGothic" pitchFamily="34" charset="-120"/>
              </a:rPr>
              <a:t>直す価値があるものだけを、直し文つきで返す。粗探しで件数を稼がない。</a:t>
            </a:r>
            <a:endParaRPr lang="en-US" sz="1300" dirty="0"/>
          </a:p>
        </p:txBody>
      </p:sp>
      <p:sp>
        <p:nvSpPr>
          <p:cNvPr id="31" name="Text 2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32" name="Text 30"/>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33 / 40</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4 ／ サブエージェント</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校閲担当のアカネは、6つの観点で下書きを点検する</a:t>
            </a:r>
            <a:endParaRPr lang="en-US" sz="3200" dirty="0"/>
          </a:p>
        </p:txBody>
      </p:sp>
      <p:sp>
        <p:nvSpPr>
          <p:cNvPr id="4" name="Shape 2"/>
          <p:cNvSpPr/>
          <p:nvPr/>
        </p:nvSpPr>
        <p:spPr>
          <a:xfrm>
            <a:off x="819150" y="1901130"/>
            <a:ext cx="5207000" cy="948730"/>
          </a:xfrm>
          <a:prstGeom prst="roundRect">
            <a:avLst>
              <a:gd name="adj" fmla="val 18072"/>
            </a:avLst>
          </a:prstGeom>
          <a:solidFill>
            <a:srgbClr val="FBFCFE"/>
          </a:solidFill>
          <a:ln w="12700">
            <a:solidFill>
              <a:srgbClr val="D3DBEA"/>
            </a:solidFill>
            <a:prstDash val="solid"/>
          </a:ln>
        </p:spPr>
      </p:sp>
      <p:sp>
        <p:nvSpPr>
          <p:cNvPr id="5" name="Shape 3"/>
          <p:cNvSpPr/>
          <p:nvPr/>
        </p:nvSpPr>
        <p:spPr>
          <a:xfrm>
            <a:off x="1003300" y="2021780"/>
            <a:ext cx="330200" cy="330200"/>
          </a:xfrm>
          <a:prstGeom prst="roundRect">
            <a:avLst>
              <a:gd name="adj" fmla="val 50000"/>
            </a:avLst>
          </a:prstGeom>
          <a:solidFill>
            <a:srgbClr val="2F62E6"/>
          </a:solidFill>
          <a:ln/>
        </p:spPr>
      </p:sp>
      <p:sp>
        <p:nvSpPr>
          <p:cNvPr id="6" name="Text 4"/>
          <p:cNvSpPr/>
          <p:nvPr/>
        </p:nvSpPr>
        <p:spPr>
          <a:xfrm>
            <a:off x="977900" y="2021780"/>
            <a:ext cx="381000" cy="355600"/>
          </a:xfrm>
          <a:prstGeom prst="rect">
            <a:avLst/>
          </a:prstGeom>
          <a:noFill/>
          <a:ln/>
        </p:spPr>
        <p:txBody>
          <a:bodyPr wrap="square" lIns="0" tIns="0" rIns="0" bIns="0" rtlCol="0" anchor="t">
            <a:normAutofit/>
          </a:bodyPr>
          <a:lstStyle/>
          <a:p>
            <a:pPr algn="ctr" indent="0" marL="0">
              <a:lnSpc>
                <a:spcPts val="2595"/>
              </a:lnSpc>
              <a:buNone/>
            </a:pPr>
            <a:r>
              <a:rPr lang="en-US" sz="1500" b="1" dirty="0">
                <a:solidFill>
                  <a:srgbClr val="FFFFFF"/>
                </a:solidFill>
                <a:latin typeface="Zen Maru Gothic" pitchFamily="34" charset="0"/>
                <a:ea typeface="Zen Maru Gothic" pitchFamily="34" charset="-122"/>
                <a:cs typeface="Zen Maru Gothic" pitchFamily="34" charset="-120"/>
              </a:rPr>
              <a:t>A</a:t>
            </a:r>
            <a:endParaRPr lang="en-US" sz="1500" dirty="0"/>
          </a:p>
        </p:txBody>
      </p:sp>
      <p:sp>
        <p:nvSpPr>
          <p:cNvPr id="7" name="Text 5"/>
          <p:cNvSpPr/>
          <p:nvPr/>
        </p:nvSpPr>
        <p:spPr>
          <a:xfrm>
            <a:off x="1435100" y="2054820"/>
            <a:ext cx="4539107"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233B"/>
                </a:solidFill>
                <a:latin typeface="Zen Maru Gothic" pitchFamily="34" charset="0"/>
                <a:ea typeface="Zen Maru Gothic" pitchFamily="34" charset="-122"/>
                <a:cs typeface="Zen Maru Gothic" pitchFamily="34" charset="-120"/>
              </a:rPr>
              <a:t>言い回し</a:t>
            </a:r>
            <a:endParaRPr lang="en-US" sz="1600" dirty="0"/>
          </a:p>
        </p:txBody>
      </p:sp>
      <p:sp>
        <p:nvSpPr>
          <p:cNvPr id="8" name="Text 6"/>
          <p:cNvSpPr/>
          <p:nvPr/>
        </p:nvSpPr>
        <p:spPr>
          <a:xfrm>
            <a:off x="1003300" y="2402780"/>
            <a:ext cx="4983861"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56647E"/>
                </a:solidFill>
                <a:latin typeface="BIZ UDPGothic" pitchFamily="34" charset="0"/>
                <a:ea typeface="BIZ UDPGothic" pitchFamily="34" charset="-122"/>
                <a:cs typeface="BIZ UDPGothic" pitchFamily="34" charset="-120"/>
              </a:rPr>
              <a:t>「〜と言えるでしょう」など、避ける表現がないか</a:t>
            </a:r>
            <a:endParaRPr lang="en-US" sz="1300" dirty="0"/>
          </a:p>
        </p:txBody>
      </p:sp>
      <p:sp>
        <p:nvSpPr>
          <p:cNvPr id="9" name="Shape 7"/>
          <p:cNvSpPr/>
          <p:nvPr/>
        </p:nvSpPr>
        <p:spPr>
          <a:xfrm>
            <a:off x="6165850" y="1901130"/>
            <a:ext cx="5207000" cy="948730"/>
          </a:xfrm>
          <a:prstGeom prst="roundRect">
            <a:avLst>
              <a:gd name="adj" fmla="val 18072"/>
            </a:avLst>
          </a:prstGeom>
          <a:solidFill>
            <a:srgbClr val="FFF0BD"/>
          </a:solidFill>
          <a:ln w="12700">
            <a:solidFill>
              <a:srgbClr val="FFC83D"/>
            </a:solidFill>
            <a:prstDash val="solid"/>
          </a:ln>
        </p:spPr>
      </p:sp>
      <p:sp>
        <p:nvSpPr>
          <p:cNvPr id="10" name="Shape 8"/>
          <p:cNvSpPr/>
          <p:nvPr/>
        </p:nvSpPr>
        <p:spPr>
          <a:xfrm>
            <a:off x="6350000" y="2021780"/>
            <a:ext cx="330200" cy="330200"/>
          </a:xfrm>
          <a:prstGeom prst="roundRect">
            <a:avLst>
              <a:gd name="adj" fmla="val 50000"/>
            </a:avLst>
          </a:prstGeom>
          <a:solidFill>
            <a:srgbClr val="FFC83D"/>
          </a:solidFill>
          <a:ln/>
        </p:spPr>
      </p:sp>
      <p:sp>
        <p:nvSpPr>
          <p:cNvPr id="11" name="Text 9"/>
          <p:cNvSpPr/>
          <p:nvPr/>
        </p:nvSpPr>
        <p:spPr>
          <a:xfrm>
            <a:off x="6324600" y="2021780"/>
            <a:ext cx="381000" cy="355600"/>
          </a:xfrm>
          <a:prstGeom prst="rect">
            <a:avLst/>
          </a:prstGeom>
          <a:noFill/>
          <a:ln/>
        </p:spPr>
        <p:txBody>
          <a:bodyPr wrap="square" lIns="0" tIns="0" rIns="0" bIns="0" rtlCol="0" anchor="t">
            <a:normAutofit/>
          </a:bodyPr>
          <a:lstStyle/>
          <a:p>
            <a:pPr algn="ctr" indent="0" marL="0">
              <a:lnSpc>
                <a:spcPts val="2595"/>
              </a:lnSpc>
              <a:buNone/>
            </a:pPr>
            <a:r>
              <a:rPr lang="en-US" sz="1500" b="1" dirty="0">
                <a:solidFill>
                  <a:srgbClr val="16233B"/>
                </a:solidFill>
                <a:latin typeface="Zen Maru Gothic" pitchFamily="34" charset="0"/>
                <a:ea typeface="Zen Maru Gothic" pitchFamily="34" charset="-122"/>
                <a:cs typeface="Zen Maru Gothic" pitchFamily="34" charset="-120"/>
              </a:rPr>
              <a:t>B</a:t>
            </a:r>
            <a:endParaRPr lang="en-US" sz="1500" dirty="0"/>
          </a:p>
        </p:txBody>
      </p:sp>
      <p:sp>
        <p:nvSpPr>
          <p:cNvPr id="12" name="Text 10"/>
          <p:cNvSpPr/>
          <p:nvPr/>
        </p:nvSpPr>
        <p:spPr>
          <a:xfrm>
            <a:off x="6781800" y="2054820"/>
            <a:ext cx="4539107"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233B"/>
                </a:solidFill>
                <a:latin typeface="Zen Maru Gothic" pitchFamily="34" charset="0"/>
                <a:ea typeface="Zen Maru Gothic" pitchFamily="34" charset="-122"/>
                <a:cs typeface="Zen Maru Gothic" pitchFamily="34" charset="-120"/>
              </a:rPr>
              <a:t>固有性（最重要）</a:t>
            </a:r>
            <a:endParaRPr lang="en-US" sz="1600" dirty="0"/>
          </a:p>
        </p:txBody>
      </p:sp>
      <p:sp>
        <p:nvSpPr>
          <p:cNvPr id="13" name="Text 11"/>
          <p:cNvSpPr/>
          <p:nvPr/>
        </p:nvSpPr>
        <p:spPr>
          <a:xfrm>
            <a:off x="6350000" y="2402780"/>
            <a:ext cx="4983861"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56647E"/>
                </a:solidFill>
                <a:latin typeface="BIZ UDPGothic" pitchFamily="34" charset="0"/>
                <a:ea typeface="BIZ UDPGothic" pitchFamily="34" charset="-122"/>
                <a:cs typeface="BIZ UDPGothic" pitchFamily="34" charset="-120"/>
              </a:rPr>
              <a:t>体験・失敗・実測の数字・判断の理由が入っているか</a:t>
            </a:r>
            <a:endParaRPr lang="en-US" sz="1300" dirty="0"/>
          </a:p>
        </p:txBody>
      </p:sp>
      <p:sp>
        <p:nvSpPr>
          <p:cNvPr id="14" name="Shape 12"/>
          <p:cNvSpPr/>
          <p:nvPr/>
        </p:nvSpPr>
        <p:spPr>
          <a:xfrm>
            <a:off x="819150" y="2989560"/>
            <a:ext cx="5207000" cy="948730"/>
          </a:xfrm>
          <a:prstGeom prst="roundRect">
            <a:avLst>
              <a:gd name="adj" fmla="val 18072"/>
            </a:avLst>
          </a:prstGeom>
          <a:solidFill>
            <a:srgbClr val="FBFCFE"/>
          </a:solidFill>
          <a:ln w="12700">
            <a:solidFill>
              <a:srgbClr val="D3DBEA"/>
            </a:solidFill>
            <a:prstDash val="solid"/>
          </a:ln>
        </p:spPr>
      </p:sp>
      <p:sp>
        <p:nvSpPr>
          <p:cNvPr id="15" name="Shape 13"/>
          <p:cNvSpPr/>
          <p:nvPr/>
        </p:nvSpPr>
        <p:spPr>
          <a:xfrm>
            <a:off x="1003300" y="3110210"/>
            <a:ext cx="330200" cy="330200"/>
          </a:xfrm>
          <a:prstGeom prst="roundRect">
            <a:avLst>
              <a:gd name="adj" fmla="val 50000"/>
            </a:avLst>
          </a:prstGeom>
          <a:solidFill>
            <a:srgbClr val="2F62E6"/>
          </a:solidFill>
          <a:ln/>
        </p:spPr>
      </p:sp>
      <p:sp>
        <p:nvSpPr>
          <p:cNvPr id="16" name="Text 14"/>
          <p:cNvSpPr/>
          <p:nvPr/>
        </p:nvSpPr>
        <p:spPr>
          <a:xfrm>
            <a:off x="977900" y="3110210"/>
            <a:ext cx="381000" cy="355600"/>
          </a:xfrm>
          <a:prstGeom prst="rect">
            <a:avLst/>
          </a:prstGeom>
          <a:noFill/>
          <a:ln/>
        </p:spPr>
        <p:txBody>
          <a:bodyPr wrap="square" lIns="0" tIns="0" rIns="0" bIns="0" rtlCol="0" anchor="t">
            <a:normAutofit/>
          </a:bodyPr>
          <a:lstStyle/>
          <a:p>
            <a:pPr algn="ctr" indent="0" marL="0">
              <a:lnSpc>
                <a:spcPts val="2595"/>
              </a:lnSpc>
              <a:buNone/>
            </a:pPr>
            <a:r>
              <a:rPr lang="en-US" sz="1500" b="1" dirty="0">
                <a:solidFill>
                  <a:srgbClr val="FFFFFF"/>
                </a:solidFill>
                <a:latin typeface="Zen Maru Gothic" pitchFamily="34" charset="0"/>
                <a:ea typeface="Zen Maru Gothic" pitchFamily="34" charset="-122"/>
                <a:cs typeface="Zen Maru Gothic" pitchFamily="34" charset="-120"/>
              </a:rPr>
              <a:t>C</a:t>
            </a:r>
            <a:endParaRPr lang="en-US" sz="1500" dirty="0"/>
          </a:p>
        </p:txBody>
      </p:sp>
      <p:sp>
        <p:nvSpPr>
          <p:cNvPr id="17" name="Text 15"/>
          <p:cNvSpPr/>
          <p:nvPr/>
        </p:nvSpPr>
        <p:spPr>
          <a:xfrm>
            <a:off x="1435100" y="3143250"/>
            <a:ext cx="4539107"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233B"/>
                </a:solidFill>
                <a:latin typeface="Zen Maru Gothic" pitchFamily="34" charset="0"/>
                <a:ea typeface="Zen Maru Gothic" pitchFamily="34" charset="-122"/>
                <a:cs typeface="Zen Maru Gothic" pitchFamily="34" charset="-120"/>
              </a:rPr>
              <a:t>守秘</a:t>
            </a:r>
            <a:endParaRPr lang="en-US" sz="1600" dirty="0"/>
          </a:p>
        </p:txBody>
      </p:sp>
      <p:sp>
        <p:nvSpPr>
          <p:cNvPr id="18" name="Text 16"/>
          <p:cNvSpPr/>
          <p:nvPr/>
        </p:nvSpPr>
        <p:spPr>
          <a:xfrm>
            <a:off x="1003300" y="3491210"/>
            <a:ext cx="4983861"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56647E"/>
                </a:solidFill>
                <a:latin typeface="BIZ UDPGothic" pitchFamily="34" charset="0"/>
                <a:ea typeface="BIZ UDPGothic" pitchFamily="34" charset="-122"/>
                <a:cs typeface="BIZ UDPGothic" pitchFamily="34" charset="-120"/>
              </a:rPr>
              <a:t>常駐先の人が読んで、自社だと分かる書き方でないか</a:t>
            </a:r>
            <a:endParaRPr lang="en-US" sz="1300" dirty="0"/>
          </a:p>
        </p:txBody>
      </p:sp>
      <p:sp>
        <p:nvSpPr>
          <p:cNvPr id="19" name="Shape 17"/>
          <p:cNvSpPr/>
          <p:nvPr/>
        </p:nvSpPr>
        <p:spPr>
          <a:xfrm>
            <a:off x="6165850" y="2989560"/>
            <a:ext cx="5207000" cy="948730"/>
          </a:xfrm>
          <a:prstGeom prst="roundRect">
            <a:avLst>
              <a:gd name="adj" fmla="val 18072"/>
            </a:avLst>
          </a:prstGeom>
          <a:solidFill>
            <a:srgbClr val="FBFCFE"/>
          </a:solidFill>
          <a:ln w="12700">
            <a:solidFill>
              <a:srgbClr val="D3DBEA"/>
            </a:solidFill>
            <a:prstDash val="solid"/>
          </a:ln>
        </p:spPr>
      </p:sp>
      <p:sp>
        <p:nvSpPr>
          <p:cNvPr id="20" name="Shape 18"/>
          <p:cNvSpPr/>
          <p:nvPr/>
        </p:nvSpPr>
        <p:spPr>
          <a:xfrm>
            <a:off x="6350000" y="3110210"/>
            <a:ext cx="330200" cy="330200"/>
          </a:xfrm>
          <a:prstGeom prst="roundRect">
            <a:avLst>
              <a:gd name="adj" fmla="val 50000"/>
            </a:avLst>
          </a:prstGeom>
          <a:solidFill>
            <a:srgbClr val="2F62E6"/>
          </a:solidFill>
          <a:ln/>
        </p:spPr>
      </p:sp>
      <p:sp>
        <p:nvSpPr>
          <p:cNvPr id="21" name="Text 19"/>
          <p:cNvSpPr/>
          <p:nvPr/>
        </p:nvSpPr>
        <p:spPr>
          <a:xfrm>
            <a:off x="6324600" y="3110210"/>
            <a:ext cx="381000" cy="355600"/>
          </a:xfrm>
          <a:prstGeom prst="rect">
            <a:avLst/>
          </a:prstGeom>
          <a:noFill/>
          <a:ln/>
        </p:spPr>
        <p:txBody>
          <a:bodyPr wrap="square" lIns="0" tIns="0" rIns="0" bIns="0" rtlCol="0" anchor="t">
            <a:normAutofit/>
          </a:bodyPr>
          <a:lstStyle/>
          <a:p>
            <a:pPr algn="ctr" indent="0" marL="0">
              <a:lnSpc>
                <a:spcPts val="2595"/>
              </a:lnSpc>
              <a:buNone/>
            </a:pPr>
            <a:r>
              <a:rPr lang="en-US" sz="1500" b="1" dirty="0">
                <a:solidFill>
                  <a:srgbClr val="FFFFFF"/>
                </a:solidFill>
                <a:latin typeface="Zen Maru Gothic" pitchFamily="34" charset="0"/>
                <a:ea typeface="Zen Maru Gothic" pitchFamily="34" charset="-122"/>
                <a:cs typeface="Zen Maru Gothic" pitchFamily="34" charset="-120"/>
              </a:rPr>
              <a:t>D</a:t>
            </a:r>
            <a:endParaRPr lang="en-US" sz="1500" dirty="0"/>
          </a:p>
        </p:txBody>
      </p:sp>
      <p:sp>
        <p:nvSpPr>
          <p:cNvPr id="22" name="Text 20"/>
          <p:cNvSpPr/>
          <p:nvPr/>
        </p:nvSpPr>
        <p:spPr>
          <a:xfrm>
            <a:off x="6781800" y="3143250"/>
            <a:ext cx="4539107"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233B"/>
                </a:solidFill>
                <a:latin typeface="Zen Maru Gothic" pitchFamily="34" charset="0"/>
                <a:ea typeface="Zen Maru Gothic" pitchFamily="34" charset="-122"/>
                <a:cs typeface="Zen Maru Gothic" pitchFamily="34" charset="-120"/>
              </a:rPr>
              <a:t>型と構成</a:t>
            </a:r>
            <a:endParaRPr lang="en-US" sz="1600" dirty="0"/>
          </a:p>
        </p:txBody>
      </p:sp>
      <p:sp>
        <p:nvSpPr>
          <p:cNvPr id="23" name="Text 21"/>
          <p:cNvSpPr/>
          <p:nvPr/>
        </p:nvSpPr>
        <p:spPr>
          <a:xfrm>
            <a:off x="6350000" y="3491210"/>
            <a:ext cx="4983861"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56647E"/>
                </a:solidFill>
                <a:latin typeface="BIZ UDPGothic" pitchFamily="34" charset="0"/>
                <a:ea typeface="BIZ UDPGothic" pitchFamily="34" charset="-122"/>
                <a:cs typeface="BIZ UDPGothic" pitchFamily="34" charset="-120"/>
              </a:rPr>
              <a:t>冒頭で「誰の悩みか」を示しているか</a:t>
            </a:r>
            <a:endParaRPr lang="en-US" sz="1300" dirty="0"/>
          </a:p>
        </p:txBody>
      </p:sp>
      <p:sp>
        <p:nvSpPr>
          <p:cNvPr id="24" name="Shape 22"/>
          <p:cNvSpPr/>
          <p:nvPr/>
        </p:nvSpPr>
        <p:spPr>
          <a:xfrm>
            <a:off x="819150" y="4077990"/>
            <a:ext cx="5207000" cy="948730"/>
          </a:xfrm>
          <a:prstGeom prst="roundRect">
            <a:avLst>
              <a:gd name="adj" fmla="val 18072"/>
            </a:avLst>
          </a:prstGeom>
          <a:solidFill>
            <a:srgbClr val="FBFCFE"/>
          </a:solidFill>
          <a:ln w="12700">
            <a:solidFill>
              <a:srgbClr val="D3DBEA"/>
            </a:solidFill>
            <a:prstDash val="solid"/>
          </a:ln>
        </p:spPr>
      </p:sp>
      <p:sp>
        <p:nvSpPr>
          <p:cNvPr id="25" name="Shape 23"/>
          <p:cNvSpPr/>
          <p:nvPr/>
        </p:nvSpPr>
        <p:spPr>
          <a:xfrm>
            <a:off x="1003300" y="4198640"/>
            <a:ext cx="330200" cy="330200"/>
          </a:xfrm>
          <a:prstGeom prst="roundRect">
            <a:avLst>
              <a:gd name="adj" fmla="val 50000"/>
            </a:avLst>
          </a:prstGeom>
          <a:solidFill>
            <a:srgbClr val="2F62E6"/>
          </a:solidFill>
          <a:ln/>
        </p:spPr>
      </p:sp>
      <p:sp>
        <p:nvSpPr>
          <p:cNvPr id="26" name="Text 24"/>
          <p:cNvSpPr/>
          <p:nvPr/>
        </p:nvSpPr>
        <p:spPr>
          <a:xfrm>
            <a:off x="977900" y="4198640"/>
            <a:ext cx="381000" cy="355600"/>
          </a:xfrm>
          <a:prstGeom prst="rect">
            <a:avLst/>
          </a:prstGeom>
          <a:noFill/>
          <a:ln/>
        </p:spPr>
        <p:txBody>
          <a:bodyPr wrap="square" lIns="0" tIns="0" rIns="0" bIns="0" rtlCol="0" anchor="t">
            <a:normAutofit/>
          </a:bodyPr>
          <a:lstStyle/>
          <a:p>
            <a:pPr algn="ctr" indent="0" marL="0">
              <a:lnSpc>
                <a:spcPts val="2595"/>
              </a:lnSpc>
              <a:buNone/>
            </a:pPr>
            <a:r>
              <a:rPr lang="en-US" sz="1500" b="1" dirty="0">
                <a:solidFill>
                  <a:srgbClr val="FFFFFF"/>
                </a:solidFill>
                <a:latin typeface="Zen Maru Gothic" pitchFamily="34" charset="0"/>
                <a:ea typeface="Zen Maru Gothic" pitchFamily="34" charset="-122"/>
                <a:cs typeface="Zen Maru Gothic" pitchFamily="34" charset="-120"/>
              </a:rPr>
              <a:t>E</a:t>
            </a:r>
            <a:endParaRPr lang="en-US" sz="1500" dirty="0"/>
          </a:p>
        </p:txBody>
      </p:sp>
      <p:sp>
        <p:nvSpPr>
          <p:cNvPr id="27" name="Text 25"/>
          <p:cNvSpPr/>
          <p:nvPr/>
        </p:nvSpPr>
        <p:spPr>
          <a:xfrm>
            <a:off x="1435100" y="4231680"/>
            <a:ext cx="4539107"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233B"/>
                </a:solidFill>
                <a:latin typeface="Zen Maru Gothic" pitchFamily="34" charset="0"/>
                <a:ea typeface="Zen Maru Gothic" pitchFamily="34" charset="-122"/>
                <a:cs typeface="Zen Maru Gothic" pitchFamily="34" charset="-120"/>
              </a:rPr>
              <a:t>構造の癖</a:t>
            </a:r>
            <a:endParaRPr lang="en-US" sz="1600" dirty="0"/>
          </a:p>
        </p:txBody>
      </p:sp>
      <p:sp>
        <p:nvSpPr>
          <p:cNvPr id="28" name="Text 26"/>
          <p:cNvSpPr/>
          <p:nvPr/>
        </p:nvSpPr>
        <p:spPr>
          <a:xfrm>
            <a:off x="1003300" y="4579640"/>
            <a:ext cx="4983861"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56647E"/>
                </a:solidFill>
                <a:latin typeface="BIZ UDPGothic" pitchFamily="34" charset="0"/>
                <a:ea typeface="BIZ UDPGothic" pitchFamily="34" charset="-122"/>
                <a:cs typeface="BIZ UDPGothic" pitchFamily="34" charset="-120"/>
              </a:rPr>
              <a:t>太字の連打や、機械的な長所・短所の対がないか</a:t>
            </a:r>
            <a:endParaRPr lang="en-US" sz="1300" dirty="0"/>
          </a:p>
        </p:txBody>
      </p:sp>
      <p:sp>
        <p:nvSpPr>
          <p:cNvPr id="29" name="Shape 27"/>
          <p:cNvSpPr/>
          <p:nvPr/>
        </p:nvSpPr>
        <p:spPr>
          <a:xfrm>
            <a:off x="6165850" y="4077990"/>
            <a:ext cx="5207000" cy="948730"/>
          </a:xfrm>
          <a:prstGeom prst="roundRect">
            <a:avLst>
              <a:gd name="adj" fmla="val 18072"/>
            </a:avLst>
          </a:prstGeom>
          <a:solidFill>
            <a:srgbClr val="FBFCFE"/>
          </a:solidFill>
          <a:ln w="12700">
            <a:solidFill>
              <a:srgbClr val="D3DBEA"/>
            </a:solidFill>
            <a:prstDash val="solid"/>
          </a:ln>
        </p:spPr>
      </p:sp>
      <p:sp>
        <p:nvSpPr>
          <p:cNvPr id="30" name="Shape 28"/>
          <p:cNvSpPr/>
          <p:nvPr/>
        </p:nvSpPr>
        <p:spPr>
          <a:xfrm>
            <a:off x="6350000" y="4198640"/>
            <a:ext cx="330200" cy="330200"/>
          </a:xfrm>
          <a:prstGeom prst="roundRect">
            <a:avLst>
              <a:gd name="adj" fmla="val 50000"/>
            </a:avLst>
          </a:prstGeom>
          <a:solidFill>
            <a:srgbClr val="2F62E6"/>
          </a:solidFill>
          <a:ln/>
        </p:spPr>
      </p:sp>
      <p:sp>
        <p:nvSpPr>
          <p:cNvPr id="31" name="Text 29"/>
          <p:cNvSpPr/>
          <p:nvPr/>
        </p:nvSpPr>
        <p:spPr>
          <a:xfrm>
            <a:off x="6324600" y="4198640"/>
            <a:ext cx="381000" cy="355600"/>
          </a:xfrm>
          <a:prstGeom prst="rect">
            <a:avLst/>
          </a:prstGeom>
          <a:noFill/>
          <a:ln/>
        </p:spPr>
        <p:txBody>
          <a:bodyPr wrap="square" lIns="0" tIns="0" rIns="0" bIns="0" rtlCol="0" anchor="t">
            <a:normAutofit/>
          </a:bodyPr>
          <a:lstStyle/>
          <a:p>
            <a:pPr algn="ctr" indent="0" marL="0">
              <a:lnSpc>
                <a:spcPts val="2595"/>
              </a:lnSpc>
              <a:buNone/>
            </a:pPr>
            <a:r>
              <a:rPr lang="en-US" sz="1500" b="1" dirty="0">
                <a:solidFill>
                  <a:srgbClr val="FFFFFF"/>
                </a:solidFill>
                <a:latin typeface="Zen Maru Gothic" pitchFamily="34" charset="0"/>
                <a:ea typeface="Zen Maru Gothic" pitchFamily="34" charset="-122"/>
                <a:cs typeface="Zen Maru Gothic" pitchFamily="34" charset="-120"/>
              </a:rPr>
              <a:t>F</a:t>
            </a:r>
            <a:endParaRPr lang="en-US" sz="1500" dirty="0"/>
          </a:p>
        </p:txBody>
      </p:sp>
      <p:sp>
        <p:nvSpPr>
          <p:cNvPr id="32" name="Text 30"/>
          <p:cNvSpPr/>
          <p:nvPr/>
        </p:nvSpPr>
        <p:spPr>
          <a:xfrm>
            <a:off x="6781800" y="4231680"/>
            <a:ext cx="4539107"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6233B"/>
                </a:solidFill>
                <a:latin typeface="Zen Maru Gothic" pitchFamily="34" charset="0"/>
                <a:ea typeface="Zen Maru Gothic" pitchFamily="34" charset="-122"/>
                <a:cs typeface="Zen Maru Gothic" pitchFamily="34" charset="-120"/>
              </a:rPr>
              <a:t>公開前の一問</a:t>
            </a:r>
            <a:endParaRPr lang="en-US" sz="1600" dirty="0"/>
          </a:p>
        </p:txBody>
      </p:sp>
      <p:sp>
        <p:nvSpPr>
          <p:cNvPr id="33" name="Text 31"/>
          <p:cNvSpPr/>
          <p:nvPr/>
        </p:nvSpPr>
        <p:spPr>
          <a:xfrm>
            <a:off x="6350000" y="4579640"/>
            <a:ext cx="4983861"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56647E"/>
                </a:solidFill>
                <a:latin typeface="BIZ UDPGothic" pitchFamily="34" charset="0"/>
                <a:ea typeface="BIZ UDPGothic" pitchFamily="34" charset="-122"/>
                <a:cs typeface="BIZ UDPGothic" pitchFamily="34" charset="-120"/>
              </a:rPr>
              <a:t>ChatGPTに聞けば、同じ答えが出ないか</a:t>
            </a:r>
            <a:endParaRPr lang="en-US" sz="1300" dirty="0"/>
          </a:p>
        </p:txBody>
      </p:sp>
      <p:sp>
        <p:nvSpPr>
          <p:cNvPr id="34" name="Shape 32"/>
          <p:cNvSpPr/>
          <p:nvPr/>
        </p:nvSpPr>
        <p:spPr>
          <a:xfrm>
            <a:off x="819150" y="5318820"/>
            <a:ext cx="10553700" cy="516830"/>
          </a:xfrm>
          <a:prstGeom prst="roundRect">
            <a:avLst>
              <a:gd name="adj" fmla="val 33173"/>
            </a:avLst>
          </a:prstGeom>
          <a:solidFill>
            <a:srgbClr val="E1EAFF"/>
          </a:solidFill>
          <a:ln w="12700">
            <a:solidFill>
              <a:srgbClr val="B9CBFA"/>
            </a:solidFill>
            <a:prstDash val="solid"/>
          </a:ln>
        </p:spPr>
      </p:sp>
      <p:sp>
        <p:nvSpPr>
          <p:cNvPr id="35" name="Text 33"/>
          <p:cNvSpPr/>
          <p:nvPr/>
        </p:nvSpPr>
        <p:spPr>
          <a:xfrm>
            <a:off x="1028700" y="5439470"/>
            <a:ext cx="10438638" cy="300930"/>
          </a:xfrm>
          <a:prstGeom prst="rect">
            <a:avLst/>
          </a:prstGeom>
          <a:noFill/>
          <a:ln/>
        </p:spPr>
        <p:txBody>
          <a:bodyPr wrap="square" lIns="0" tIns="0" rIns="0" bIns="0" rtlCol="0" anchor="t">
            <a:normAutofit/>
          </a:bodyPr>
          <a:lstStyle/>
          <a:p>
            <a:pPr algn="l" indent="0" marL="0">
              <a:lnSpc>
                <a:spcPts val="2170"/>
              </a:lnSpc>
              <a:buNone/>
            </a:pPr>
            <a:r>
              <a:rPr lang="en-US" sz="1400" b="1" dirty="0">
                <a:solidFill>
                  <a:srgbClr val="16233B"/>
                </a:solidFill>
                <a:latin typeface="BIZ UDPGothic" pitchFamily="34" charset="0"/>
                <a:ea typeface="BIZ UDPGothic" pitchFamily="34" charset="-122"/>
                <a:cs typeface="BIZ UDPGothic" pitchFamily="34" charset="-120"/>
              </a:rPr>
              <a:t>返すもの</a:t>
            </a:r>
            <a:r>
              <a:rPr lang="en-US" sz="1400" dirty="0">
                <a:solidFill>
                  <a:srgbClr val="16233B"/>
                </a:solidFill>
                <a:latin typeface="BIZ UDPGothic" pitchFamily="34" charset="0"/>
                <a:ea typeface="BIZ UDPGothic" pitchFamily="34" charset="-122"/>
                <a:cs typeface="BIZ UDPGothic" pitchFamily="34" charset="-120"/>
              </a:rPr>
              <a:t>：判定（公開可／要修正）と、直す箇所を「必須・推奨・好み」の3段階で。直し文と、良かった点もつける。</a:t>
            </a:r>
            <a:endParaRPr lang="en-US" sz="1400" dirty="0"/>
          </a:p>
        </p:txBody>
      </p:sp>
      <p:sp>
        <p:nvSpPr>
          <p:cNvPr id="36" name="Text 3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37" name="Text 35"/>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34 / 40</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6233B"/>
        </a:solidFill>
      </p:bgPr>
    </p:bg>
    <p:spTree>
      <p:nvGrpSpPr>
        <p:cNvPr id="1" name=""/>
        <p:cNvGrpSpPr/>
        <p:nvPr/>
      </p:nvGrpSpPr>
      <p:grpSpPr>
        <a:xfrm>
          <a:off x="0" y="0"/>
          <a:ext cx="0" cy="0"/>
          <a:chOff x="0" y="0"/>
          <a:chExt cx="0" cy="0"/>
        </a:xfrm>
      </p:grpSpPr>
      <p:sp>
        <p:nvSpPr>
          <p:cNvPr id="2" name="Text 0"/>
          <p:cNvSpPr/>
          <p:nvPr/>
        </p:nvSpPr>
        <p:spPr>
          <a:xfrm>
            <a:off x="7193280" y="711200"/>
            <a:ext cx="4185920" cy="228600"/>
          </a:xfrm>
          <a:prstGeom prst="rect">
            <a:avLst/>
          </a:prstGeom>
          <a:noFill/>
          <a:ln/>
        </p:spPr>
        <p:txBody>
          <a:bodyPr wrap="square" lIns="0" tIns="0" rIns="0" bIns="0" rtlCol="0" anchor="t">
            <a:normAutofit/>
          </a:bodyPr>
          <a:lstStyle/>
          <a:p>
            <a:pPr algn="r" indent="0" marL="0">
              <a:lnSpc>
                <a:spcPts val="1600"/>
              </a:lnSpc>
              <a:buNone/>
            </a:pPr>
            <a:r>
              <a:rPr lang="en-US" sz="1600" b="1" dirty="0">
                <a:solidFill>
                  <a:srgbClr val="22355A"/>
                </a:solidFill>
                <a:latin typeface="Zen Maru Gothic" pitchFamily="34" charset="0"/>
                <a:ea typeface="Zen Maru Gothic" pitchFamily="34" charset="-122"/>
                <a:cs typeface="Zen Maru Gothic" pitchFamily="34" charset="-120"/>
              </a:rPr>
              <a:t>5</a:t>
            </a:r>
            <a:endParaRPr lang="en-US" sz="1600" dirty="0"/>
          </a:p>
        </p:txBody>
      </p:sp>
      <p:pic>
        <p:nvPicPr>
          <p:cNvPr id="3" name="Image 0" descr="ellipse">    </p:cNvPr>
          <p:cNvPicPr>
            <a:picLocks noChangeAspect="1"/>
          </p:cNvPicPr>
          <p:nvPr/>
        </p:nvPicPr>
        <p:blipFill>
          <a:blip r:embed="rId1"/>
          <a:srcRect l="0" r="0" t="0" b="0"/>
          <a:stretch/>
        </p:blipFill>
        <p:spPr>
          <a:xfrm>
            <a:off x="9906000" y="3810000"/>
            <a:ext cx="762000" cy="762000"/>
          </a:xfrm>
          <a:prstGeom prst="rect">
            <a:avLst/>
          </a:prstGeom>
        </p:spPr>
      </p:pic>
      <p:sp>
        <p:nvSpPr>
          <p:cNvPr id="4" name="Text 1"/>
          <p:cNvSpPr/>
          <p:nvPr/>
        </p:nvSpPr>
        <p:spPr>
          <a:xfrm>
            <a:off x="812800" y="812800"/>
            <a:ext cx="7521575" cy="350441"/>
          </a:xfrm>
          <a:prstGeom prst="rect">
            <a:avLst/>
          </a:prstGeom>
          <a:noFill/>
          <a:ln/>
        </p:spPr>
        <p:txBody>
          <a:bodyPr wrap="square" lIns="0" tIns="0" rIns="0" bIns="0" rtlCol="0" anchor="t">
            <a:normAutofit/>
          </a:bodyPr>
          <a:lstStyle/>
          <a:p>
            <a:pPr algn="l" indent="0" marL="0">
              <a:lnSpc>
                <a:spcPts val="2560"/>
              </a:lnSpc>
              <a:buNone/>
            </a:pPr>
            <a:r>
              <a:rPr lang="en-US" sz="1600" b="1" spc="200" kern="0" dirty="0">
                <a:solidFill>
                  <a:srgbClr val="86A8FF"/>
                </a:solidFill>
                <a:latin typeface="BIZ UDPGothic" pitchFamily="34" charset="0"/>
                <a:ea typeface="BIZ UDPGothic" pitchFamily="34" charset="-122"/>
                <a:cs typeface="BIZ UDPGothic" pitchFamily="34" charset="-120"/>
              </a:rPr>
              <a:t>PART 5 ／ 5</a:t>
            </a:r>
            <a:endParaRPr lang="en-US" sz="1600" dirty="0"/>
          </a:p>
        </p:txBody>
      </p:sp>
      <p:sp>
        <p:nvSpPr>
          <p:cNvPr id="5" name="Text 2"/>
          <p:cNvSpPr/>
          <p:nvPr/>
        </p:nvSpPr>
        <p:spPr>
          <a:xfrm>
            <a:off x="812800" y="1264841"/>
            <a:ext cx="7521575" cy="787400"/>
          </a:xfrm>
          <a:prstGeom prst="rect">
            <a:avLst/>
          </a:prstGeom>
          <a:noFill/>
          <a:ln/>
        </p:spPr>
        <p:txBody>
          <a:bodyPr wrap="square" lIns="0" tIns="0" rIns="0" bIns="0" rtlCol="0" anchor="t">
            <a:normAutofit/>
          </a:bodyPr>
          <a:lstStyle/>
          <a:p>
            <a:pPr algn="l" indent="0" marL="0">
              <a:lnSpc>
                <a:spcPts val="6000"/>
              </a:lnSpc>
              <a:buNone/>
            </a:pPr>
            <a:r>
              <a:rPr lang="en-US" sz="4800" b="1" dirty="0">
                <a:solidFill>
                  <a:srgbClr val="FFC83D"/>
                </a:solidFill>
                <a:latin typeface="Zen Maru Gothic" pitchFamily="34" charset="0"/>
                <a:ea typeface="Zen Maru Gothic" pitchFamily="34" charset="-122"/>
                <a:cs typeface="Zen Maru Gothic" pitchFamily="34" charset="-120"/>
              </a:rPr>
              <a:t>人とAI</a:t>
            </a:r>
            <a:r>
              <a:rPr lang="en-US" sz="4800" b="1" dirty="0">
                <a:solidFill>
                  <a:srgbClr val="F4F7FC"/>
                </a:solidFill>
                <a:latin typeface="Zen Maru Gothic" pitchFamily="34" charset="0"/>
                <a:ea typeface="Zen Maru Gothic" pitchFamily="34" charset="-122"/>
                <a:cs typeface="Zen Maru Gothic" pitchFamily="34" charset="-120"/>
              </a:rPr>
              <a:t>の分担</a:t>
            </a:r>
            <a:endParaRPr lang="en-US" sz="4800" dirty="0"/>
          </a:p>
        </p:txBody>
      </p:sp>
      <p:sp>
        <p:nvSpPr>
          <p:cNvPr id="6" name="Text 3"/>
          <p:cNvSpPr/>
          <p:nvPr/>
        </p:nvSpPr>
        <p:spPr>
          <a:xfrm>
            <a:off x="812800" y="2255441"/>
            <a:ext cx="7521575" cy="391120"/>
          </a:xfrm>
          <a:prstGeom prst="rect">
            <a:avLst/>
          </a:prstGeom>
          <a:noFill/>
          <a:ln/>
        </p:spPr>
        <p:txBody>
          <a:bodyPr wrap="square" lIns="0" tIns="0" rIns="0" bIns="0" rtlCol="0" anchor="t">
            <a:normAutofit/>
          </a:bodyPr>
          <a:lstStyle/>
          <a:p>
            <a:pPr algn="l" indent="0" marL="0">
              <a:lnSpc>
                <a:spcPts val="2880"/>
              </a:lnSpc>
              <a:buNone/>
            </a:pPr>
            <a:r>
              <a:rPr lang="en-US" sz="1800" dirty="0">
                <a:solidFill>
                  <a:srgbClr val="A9B6D0"/>
                </a:solidFill>
                <a:latin typeface="BIZ UDPGothic" pitchFamily="34" charset="0"/>
                <a:ea typeface="BIZ UDPGothic" pitchFamily="34" charset="-122"/>
                <a:cs typeface="BIZ UDPGothic" pitchFamily="34" charset="-120"/>
              </a:rPr>
              <a:t>スキルとサブエージェントを、どうつなぐか。人が決めるのはどこか。</a:t>
            </a:r>
            <a:endParaRPr lang="en-US" sz="1800" dirty="0"/>
          </a:p>
        </p:txBody>
      </p:sp>
      <p:sp>
        <p:nvSpPr>
          <p:cNvPr id="7" name="Shape 4"/>
          <p:cNvSpPr/>
          <p:nvPr/>
        </p:nvSpPr>
        <p:spPr>
          <a:xfrm>
            <a:off x="819150" y="5599509"/>
            <a:ext cx="2019300" cy="439341"/>
          </a:xfrm>
          <a:prstGeom prst="roundRect">
            <a:avLst>
              <a:gd name="adj" fmla="val 50000"/>
            </a:avLst>
          </a:prstGeom>
          <a:solidFill>
            <a:srgbClr val="1F3050"/>
          </a:solidFill>
          <a:ln w="12700">
            <a:solidFill>
              <a:srgbClr val="1F3050"/>
            </a:solidFill>
            <a:prstDash val="solid"/>
          </a:ln>
        </p:spPr>
      </p:sp>
      <p:sp>
        <p:nvSpPr>
          <p:cNvPr id="8" name="Text 5"/>
          <p:cNvSpPr/>
          <p:nvPr/>
        </p:nvSpPr>
        <p:spPr>
          <a:xfrm>
            <a:off x="847725" y="5694759"/>
            <a:ext cx="196215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F4F7FC"/>
                </a:solidFill>
                <a:latin typeface="BIZ UDPGothic" pitchFamily="34" charset="0"/>
                <a:ea typeface="BIZ UDPGothic" pitchFamily="34" charset="-122"/>
                <a:cs typeface="BIZ UDPGothic" pitchFamily="34" charset="-120"/>
              </a:rPr>
              <a:t>1 ブログのしくみ</a:t>
            </a:r>
            <a:endParaRPr lang="en-US" sz="1400" dirty="0"/>
          </a:p>
        </p:txBody>
      </p:sp>
      <p:sp>
        <p:nvSpPr>
          <p:cNvPr id="9" name="Shape 6"/>
          <p:cNvSpPr/>
          <p:nvPr/>
        </p:nvSpPr>
        <p:spPr>
          <a:xfrm>
            <a:off x="2952750" y="5599509"/>
            <a:ext cx="2019300" cy="439341"/>
          </a:xfrm>
          <a:prstGeom prst="roundRect">
            <a:avLst>
              <a:gd name="adj" fmla="val 50000"/>
            </a:avLst>
          </a:prstGeom>
          <a:solidFill>
            <a:srgbClr val="1F3050"/>
          </a:solidFill>
          <a:ln w="12700">
            <a:solidFill>
              <a:srgbClr val="1F3050"/>
            </a:solidFill>
            <a:prstDash val="solid"/>
          </a:ln>
        </p:spPr>
      </p:sp>
      <p:sp>
        <p:nvSpPr>
          <p:cNvPr id="10" name="Text 7"/>
          <p:cNvSpPr/>
          <p:nvPr/>
        </p:nvSpPr>
        <p:spPr>
          <a:xfrm>
            <a:off x="2981325" y="5694759"/>
            <a:ext cx="196215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F4F7FC"/>
                </a:solidFill>
                <a:latin typeface="BIZ UDPGothic" pitchFamily="34" charset="0"/>
                <a:ea typeface="BIZ UDPGothic" pitchFamily="34" charset="-122"/>
                <a:cs typeface="BIZ UDPGothic" pitchFamily="34" charset="-120"/>
              </a:rPr>
              <a:t>2 AIのしくみ</a:t>
            </a:r>
            <a:endParaRPr lang="en-US" sz="1400" dirty="0"/>
          </a:p>
        </p:txBody>
      </p:sp>
      <p:sp>
        <p:nvSpPr>
          <p:cNvPr id="11" name="Shape 8"/>
          <p:cNvSpPr/>
          <p:nvPr/>
        </p:nvSpPr>
        <p:spPr>
          <a:xfrm>
            <a:off x="5086350" y="5599509"/>
            <a:ext cx="2019300" cy="439341"/>
          </a:xfrm>
          <a:prstGeom prst="roundRect">
            <a:avLst>
              <a:gd name="adj" fmla="val 50000"/>
            </a:avLst>
          </a:prstGeom>
          <a:solidFill>
            <a:srgbClr val="1F3050"/>
          </a:solidFill>
          <a:ln w="12700">
            <a:solidFill>
              <a:srgbClr val="1F3050"/>
            </a:solidFill>
            <a:prstDash val="solid"/>
          </a:ln>
        </p:spPr>
      </p:sp>
      <p:sp>
        <p:nvSpPr>
          <p:cNvPr id="12" name="Text 9"/>
          <p:cNvSpPr/>
          <p:nvPr/>
        </p:nvSpPr>
        <p:spPr>
          <a:xfrm>
            <a:off x="5114925" y="5694759"/>
            <a:ext cx="196215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F4F7FC"/>
                </a:solidFill>
                <a:latin typeface="BIZ UDPGothic" pitchFamily="34" charset="0"/>
                <a:ea typeface="BIZ UDPGothic" pitchFamily="34" charset="-122"/>
                <a:cs typeface="BIZ UDPGothic" pitchFamily="34" charset="-120"/>
              </a:rPr>
              <a:t>3 スキル</a:t>
            </a:r>
            <a:endParaRPr lang="en-US" sz="1400" dirty="0"/>
          </a:p>
        </p:txBody>
      </p:sp>
      <p:sp>
        <p:nvSpPr>
          <p:cNvPr id="13" name="Shape 10"/>
          <p:cNvSpPr/>
          <p:nvPr/>
        </p:nvSpPr>
        <p:spPr>
          <a:xfrm>
            <a:off x="7219950" y="5599509"/>
            <a:ext cx="2019300" cy="439341"/>
          </a:xfrm>
          <a:prstGeom prst="roundRect">
            <a:avLst>
              <a:gd name="adj" fmla="val 50000"/>
            </a:avLst>
          </a:prstGeom>
          <a:solidFill>
            <a:srgbClr val="1F3050"/>
          </a:solidFill>
          <a:ln w="12700">
            <a:solidFill>
              <a:srgbClr val="1F3050"/>
            </a:solidFill>
            <a:prstDash val="solid"/>
          </a:ln>
        </p:spPr>
      </p:sp>
      <p:sp>
        <p:nvSpPr>
          <p:cNvPr id="14" name="Text 11"/>
          <p:cNvSpPr/>
          <p:nvPr/>
        </p:nvSpPr>
        <p:spPr>
          <a:xfrm>
            <a:off x="7248525" y="5694759"/>
            <a:ext cx="196215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F4F7FC"/>
                </a:solidFill>
                <a:latin typeface="BIZ UDPGothic" pitchFamily="34" charset="0"/>
                <a:ea typeface="BIZ UDPGothic" pitchFamily="34" charset="-122"/>
                <a:cs typeface="BIZ UDPGothic" pitchFamily="34" charset="-120"/>
              </a:rPr>
              <a:t>4 サブエージェント</a:t>
            </a:r>
            <a:endParaRPr lang="en-US" sz="1400" dirty="0"/>
          </a:p>
        </p:txBody>
      </p:sp>
      <p:sp>
        <p:nvSpPr>
          <p:cNvPr id="15" name="Shape 12"/>
          <p:cNvSpPr/>
          <p:nvPr/>
        </p:nvSpPr>
        <p:spPr>
          <a:xfrm>
            <a:off x="9353550" y="5599509"/>
            <a:ext cx="2019300" cy="439341"/>
          </a:xfrm>
          <a:prstGeom prst="roundRect">
            <a:avLst>
              <a:gd name="adj" fmla="val 50000"/>
            </a:avLst>
          </a:prstGeom>
          <a:solidFill>
            <a:srgbClr val="FFC83D"/>
          </a:solidFill>
          <a:ln w="12700">
            <a:solidFill>
              <a:srgbClr val="FFC83D"/>
            </a:solidFill>
            <a:prstDash val="solid"/>
          </a:ln>
        </p:spPr>
      </p:sp>
      <p:sp>
        <p:nvSpPr>
          <p:cNvPr id="16" name="Text 13"/>
          <p:cNvSpPr/>
          <p:nvPr/>
        </p:nvSpPr>
        <p:spPr>
          <a:xfrm>
            <a:off x="9382125" y="5694759"/>
            <a:ext cx="1962150" cy="274241"/>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16233B"/>
                </a:solidFill>
                <a:latin typeface="BIZ UDPGothic" pitchFamily="34" charset="0"/>
                <a:ea typeface="BIZ UDPGothic" pitchFamily="34" charset="-122"/>
                <a:cs typeface="BIZ UDPGothic" pitchFamily="34" charset="-120"/>
              </a:rPr>
              <a:t>5 人とAI</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5 ／ 人とAIの分担</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スキルとサブエージェントは、こうつながる</a:t>
            </a:r>
            <a:endParaRPr lang="en-US" sz="3200" dirty="0"/>
          </a:p>
        </p:txBody>
      </p:sp>
      <p:sp>
        <p:nvSpPr>
          <p:cNvPr id="4" name="Text 2"/>
          <p:cNvSpPr/>
          <p:nvPr/>
        </p:nvSpPr>
        <p:spPr>
          <a:xfrm>
            <a:off x="812800" y="189478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350C9"/>
                </a:solidFill>
                <a:latin typeface="BIZ UDPGothic" pitchFamily="34" charset="0"/>
                <a:ea typeface="BIZ UDPGothic" pitchFamily="34" charset="-122"/>
                <a:cs typeface="BIZ UDPGothic" pitchFamily="34" charset="-120"/>
              </a:rPr>
              <a:t>ネタを積む</a:t>
            </a:r>
            <a:endParaRPr lang="en-US" sz="1400" dirty="0"/>
          </a:p>
        </p:txBody>
      </p:sp>
      <p:sp>
        <p:nvSpPr>
          <p:cNvPr id="5" name="Shape 3"/>
          <p:cNvSpPr/>
          <p:nvPr/>
        </p:nvSpPr>
        <p:spPr>
          <a:xfrm>
            <a:off x="822325" y="2216646"/>
            <a:ext cx="1809750" cy="953691"/>
          </a:xfrm>
          <a:prstGeom prst="roundRect">
            <a:avLst>
              <a:gd name="adj" fmla="val 14981"/>
            </a:avLst>
          </a:prstGeom>
          <a:solidFill>
            <a:srgbClr val="2F62E6"/>
          </a:solidFill>
          <a:ln w="19050">
            <a:solidFill>
              <a:srgbClr val="2F62E6"/>
            </a:solidFill>
            <a:prstDash val="solid"/>
          </a:ln>
        </p:spPr>
      </p:sp>
      <p:sp>
        <p:nvSpPr>
          <p:cNvPr id="6" name="Text 4"/>
          <p:cNvSpPr/>
          <p:nvPr/>
        </p:nvSpPr>
        <p:spPr>
          <a:xfrm>
            <a:off x="933450" y="2340471"/>
            <a:ext cx="1638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Source Code Pro" pitchFamily="34" charset="0"/>
                <a:ea typeface="Source Code Pro" pitchFamily="34" charset="-122"/>
                <a:cs typeface="Source Code Pro" pitchFamily="34" charset="-120"/>
              </a:rPr>
              <a:t>/add-idea</a:t>
            </a:r>
            <a:endParaRPr lang="en-US" sz="1200" dirty="0"/>
          </a:p>
        </p:txBody>
      </p:sp>
      <p:sp>
        <p:nvSpPr>
          <p:cNvPr id="7" name="Text 5"/>
          <p:cNvSpPr/>
          <p:nvPr/>
        </p:nvSpPr>
        <p:spPr>
          <a:xfrm>
            <a:off x="933450" y="2591891"/>
            <a:ext cx="1638300"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E8EEFF"/>
                </a:solidFill>
                <a:latin typeface="BIZ UDPGothic" pitchFamily="34" charset="0"/>
                <a:ea typeface="BIZ UDPGothic" pitchFamily="34" charset="-122"/>
                <a:cs typeface="BIZ UDPGothic" pitchFamily="34" charset="-120"/>
              </a:rPr>
              <a:t>起点を見分けて、素材を掘る</a:t>
            </a:r>
            <a:endParaRPr lang="en-US" sz="1200" dirty="0"/>
          </a:p>
        </p:txBody>
      </p:sp>
      <p:pic>
        <p:nvPicPr>
          <p:cNvPr id="8" name="Image 0" descr="arrow-right">    </p:cNvPr>
          <p:cNvPicPr>
            <a:picLocks noChangeAspect="1"/>
          </p:cNvPicPr>
          <p:nvPr/>
        </p:nvPicPr>
        <p:blipFill>
          <a:blip r:embed="rId1"/>
          <a:srcRect l="0" r="0" t="0" b="0"/>
          <a:stretch/>
        </p:blipFill>
        <p:spPr>
          <a:xfrm>
            <a:off x="2692400" y="2591891"/>
            <a:ext cx="254000" cy="203200"/>
          </a:xfrm>
          <a:prstGeom prst="rect">
            <a:avLst/>
          </a:prstGeom>
        </p:spPr>
      </p:pic>
      <p:sp>
        <p:nvSpPr>
          <p:cNvPr id="9" name="Shape 6"/>
          <p:cNvSpPr/>
          <p:nvPr/>
        </p:nvSpPr>
        <p:spPr>
          <a:xfrm>
            <a:off x="3006725" y="2216646"/>
            <a:ext cx="1809750" cy="953691"/>
          </a:xfrm>
          <a:prstGeom prst="roundRect">
            <a:avLst>
              <a:gd name="adj" fmla="val 14981"/>
            </a:avLst>
          </a:prstGeom>
          <a:solidFill>
            <a:srgbClr val="FBFCFE"/>
          </a:solidFill>
          <a:ln w="19050">
            <a:solidFill>
              <a:srgbClr val="2F62E6"/>
            </a:solidFill>
            <a:prstDash val="solid"/>
          </a:ln>
        </p:spPr>
      </p:sp>
      <p:sp>
        <p:nvSpPr>
          <p:cNvPr id="10" name="Text 7"/>
          <p:cNvSpPr/>
          <p:nvPr/>
        </p:nvSpPr>
        <p:spPr>
          <a:xfrm>
            <a:off x="3117850" y="2340471"/>
            <a:ext cx="16383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350C9"/>
                </a:solidFill>
                <a:latin typeface="Zen Maru Gothic" pitchFamily="34" charset="0"/>
                <a:ea typeface="Zen Maru Gothic" pitchFamily="34" charset="-122"/>
                <a:cs typeface="Zen Maru Gothic" pitchFamily="34" charset="-120"/>
              </a:rPr>
              <a:t>💡 ヒラク</a:t>
            </a:r>
            <a:endParaRPr lang="en-US" sz="1400" dirty="0"/>
          </a:p>
        </p:txBody>
      </p:sp>
      <p:sp>
        <p:nvSpPr>
          <p:cNvPr id="11" name="Text 8"/>
          <p:cNvSpPr/>
          <p:nvPr/>
        </p:nvSpPr>
        <p:spPr>
          <a:xfrm>
            <a:off x="3117850" y="2627412"/>
            <a:ext cx="1638300"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6647E"/>
                </a:solidFill>
                <a:latin typeface="BIZ UDPGothic" pitchFamily="34" charset="0"/>
                <a:ea typeface="BIZ UDPGothic" pitchFamily="34" charset="-122"/>
                <a:cs typeface="BIZ UDPGothic" pitchFamily="34" charset="-120"/>
              </a:rPr>
              <a:t>切り口を3〜5案返す</a:t>
            </a:r>
            <a:endParaRPr lang="en-US" sz="1200" dirty="0"/>
          </a:p>
        </p:txBody>
      </p:sp>
      <p:pic>
        <p:nvPicPr>
          <p:cNvPr id="12" name="Image 1" descr="arrow-right">    </p:cNvPr>
          <p:cNvPicPr>
            <a:picLocks noChangeAspect="1"/>
          </p:cNvPicPr>
          <p:nvPr/>
        </p:nvPicPr>
        <p:blipFill>
          <a:blip r:embed="rId2"/>
          <a:srcRect l="0" r="0" t="0" b="0"/>
          <a:stretch/>
        </p:blipFill>
        <p:spPr>
          <a:xfrm>
            <a:off x="4876800" y="2591891"/>
            <a:ext cx="254000" cy="203200"/>
          </a:xfrm>
          <a:prstGeom prst="rect">
            <a:avLst/>
          </a:prstGeom>
        </p:spPr>
      </p:pic>
      <p:sp>
        <p:nvSpPr>
          <p:cNvPr id="13" name="Shape 9"/>
          <p:cNvSpPr/>
          <p:nvPr/>
        </p:nvSpPr>
        <p:spPr>
          <a:xfrm>
            <a:off x="5191125" y="2216646"/>
            <a:ext cx="1809750" cy="953691"/>
          </a:xfrm>
          <a:prstGeom prst="roundRect">
            <a:avLst>
              <a:gd name="adj" fmla="val 14981"/>
            </a:avLst>
          </a:prstGeom>
          <a:solidFill>
            <a:srgbClr val="FFC83D"/>
          </a:solidFill>
          <a:ln w="19050">
            <a:solidFill>
              <a:srgbClr val="FFC83D"/>
            </a:solidFill>
            <a:prstDash val="solid"/>
          </a:ln>
        </p:spPr>
      </p:sp>
      <p:sp>
        <p:nvSpPr>
          <p:cNvPr id="14" name="Text 10"/>
          <p:cNvSpPr/>
          <p:nvPr/>
        </p:nvSpPr>
        <p:spPr>
          <a:xfrm>
            <a:off x="5302250" y="2340471"/>
            <a:ext cx="16383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33B"/>
                </a:solidFill>
                <a:latin typeface="Zen Maru Gothic" pitchFamily="34" charset="0"/>
                <a:ea typeface="Zen Maru Gothic" pitchFamily="34" charset="-122"/>
                <a:cs typeface="Zen Maru Gothic" pitchFamily="34" charset="-120"/>
              </a:rPr>
              <a:t>人が選ぶ</a:t>
            </a:r>
            <a:endParaRPr lang="en-US" sz="1400" dirty="0"/>
          </a:p>
        </p:txBody>
      </p:sp>
      <p:sp>
        <p:nvSpPr>
          <p:cNvPr id="15" name="Text 11"/>
          <p:cNvSpPr/>
          <p:nvPr/>
        </p:nvSpPr>
        <p:spPr>
          <a:xfrm>
            <a:off x="5302250" y="2627412"/>
            <a:ext cx="1638300"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6233B"/>
                </a:solidFill>
                <a:latin typeface="BIZ UDPGothic" pitchFamily="34" charset="0"/>
                <a:ea typeface="BIZ UDPGothic" pitchFamily="34" charset="-122"/>
                <a:cs typeface="BIZ UDPGothic" pitchFamily="34" charset="-120"/>
              </a:rPr>
              <a:t>1本に絞る</a:t>
            </a:r>
            <a:endParaRPr lang="en-US" sz="1200" dirty="0"/>
          </a:p>
        </p:txBody>
      </p:sp>
      <p:pic>
        <p:nvPicPr>
          <p:cNvPr id="16" name="Image 2" descr="arrow-right">    </p:cNvPr>
          <p:cNvPicPr>
            <a:picLocks noChangeAspect="1"/>
          </p:cNvPicPr>
          <p:nvPr/>
        </p:nvPicPr>
        <p:blipFill>
          <a:blip r:embed="rId3"/>
          <a:srcRect l="0" r="0" t="0" b="0"/>
          <a:stretch/>
        </p:blipFill>
        <p:spPr>
          <a:xfrm>
            <a:off x="7061200" y="2591891"/>
            <a:ext cx="254000" cy="203200"/>
          </a:xfrm>
          <a:prstGeom prst="rect">
            <a:avLst/>
          </a:prstGeom>
        </p:spPr>
      </p:pic>
      <p:sp>
        <p:nvSpPr>
          <p:cNvPr id="17" name="Shape 12"/>
          <p:cNvSpPr/>
          <p:nvPr/>
        </p:nvSpPr>
        <p:spPr>
          <a:xfrm>
            <a:off x="7375525" y="2216646"/>
            <a:ext cx="1809750" cy="953691"/>
          </a:xfrm>
          <a:prstGeom prst="roundRect">
            <a:avLst>
              <a:gd name="adj" fmla="val 14981"/>
            </a:avLst>
          </a:prstGeom>
          <a:solidFill>
            <a:srgbClr val="FBFCFE"/>
          </a:solidFill>
          <a:ln w="19050">
            <a:solidFill>
              <a:srgbClr val="2F62E6"/>
            </a:solidFill>
            <a:prstDash val="solid"/>
          </a:ln>
        </p:spPr>
      </p:sp>
      <p:sp>
        <p:nvSpPr>
          <p:cNvPr id="18" name="Text 13"/>
          <p:cNvSpPr/>
          <p:nvPr/>
        </p:nvSpPr>
        <p:spPr>
          <a:xfrm>
            <a:off x="7486650" y="2340471"/>
            <a:ext cx="16383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350C9"/>
                </a:solidFill>
                <a:latin typeface="Zen Maru Gothic" pitchFamily="34" charset="0"/>
                <a:ea typeface="Zen Maru Gothic" pitchFamily="34" charset="-122"/>
                <a:cs typeface="Zen Maru Gothic" pitchFamily="34" charset="-120"/>
              </a:rPr>
              <a:t>🗃️ クラ</a:t>
            </a:r>
            <a:endParaRPr lang="en-US" sz="1400" dirty="0"/>
          </a:p>
        </p:txBody>
      </p:sp>
      <p:sp>
        <p:nvSpPr>
          <p:cNvPr id="19" name="Text 14"/>
          <p:cNvSpPr/>
          <p:nvPr/>
        </p:nvSpPr>
        <p:spPr>
          <a:xfrm>
            <a:off x="7486650" y="2627412"/>
            <a:ext cx="1638300"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6647E"/>
                </a:solidFill>
                <a:latin typeface="BIZ UDPGothic" pitchFamily="34" charset="0"/>
                <a:ea typeface="BIZ UDPGothic" pitchFamily="34" charset="-122"/>
                <a:cs typeface="BIZ UDPGothic" pitchFamily="34" charset="-120"/>
              </a:rPr>
              <a:t>重複と価値を審査する</a:t>
            </a:r>
            <a:endParaRPr lang="en-US" sz="1200" dirty="0"/>
          </a:p>
        </p:txBody>
      </p:sp>
      <p:pic>
        <p:nvPicPr>
          <p:cNvPr id="20" name="Image 3" descr="arrow-right">    </p:cNvPr>
          <p:cNvPicPr>
            <a:picLocks noChangeAspect="1"/>
          </p:cNvPicPr>
          <p:nvPr/>
        </p:nvPicPr>
        <p:blipFill>
          <a:blip r:embed="rId4"/>
          <a:srcRect l="0" r="0" t="0" b="0"/>
          <a:stretch/>
        </p:blipFill>
        <p:spPr>
          <a:xfrm>
            <a:off x="9245600" y="2591891"/>
            <a:ext cx="254000" cy="203200"/>
          </a:xfrm>
          <a:prstGeom prst="rect">
            <a:avLst/>
          </a:prstGeom>
        </p:spPr>
      </p:pic>
      <p:sp>
        <p:nvSpPr>
          <p:cNvPr id="21" name="Shape 15"/>
          <p:cNvSpPr/>
          <p:nvPr/>
        </p:nvSpPr>
        <p:spPr>
          <a:xfrm>
            <a:off x="9559925" y="2216646"/>
            <a:ext cx="1809750" cy="953691"/>
          </a:xfrm>
          <a:prstGeom prst="roundRect">
            <a:avLst>
              <a:gd name="adj" fmla="val 14981"/>
            </a:avLst>
          </a:prstGeom>
          <a:solidFill>
            <a:srgbClr val="FBFCFE"/>
          </a:solidFill>
          <a:ln w="19050">
            <a:solidFill>
              <a:srgbClr val="D3DBEA"/>
            </a:solidFill>
            <a:prstDash val="solid"/>
          </a:ln>
        </p:spPr>
      </p:sp>
      <p:sp>
        <p:nvSpPr>
          <p:cNvPr id="22" name="Text 16"/>
          <p:cNvSpPr/>
          <p:nvPr/>
        </p:nvSpPr>
        <p:spPr>
          <a:xfrm>
            <a:off x="9671050" y="2340471"/>
            <a:ext cx="16383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33B"/>
                </a:solidFill>
                <a:latin typeface="Zen Maru Gothic" pitchFamily="34" charset="0"/>
                <a:ea typeface="Zen Maru Gothic" pitchFamily="34" charset="-122"/>
                <a:cs typeface="Zen Maru Gothic" pitchFamily="34" charset="-120"/>
              </a:rPr>
              <a:t>ネタ帳に追加</a:t>
            </a:r>
            <a:endParaRPr lang="en-US" sz="1400" dirty="0"/>
          </a:p>
        </p:txBody>
      </p:sp>
      <p:sp>
        <p:nvSpPr>
          <p:cNvPr id="23" name="Text 17"/>
          <p:cNvSpPr/>
          <p:nvPr/>
        </p:nvSpPr>
        <p:spPr>
          <a:xfrm>
            <a:off x="9671050" y="2627412"/>
            <a:ext cx="1638300"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6647E"/>
                </a:solidFill>
                <a:latin typeface="BIZ UDPGothic" pitchFamily="34" charset="0"/>
                <a:ea typeface="BIZ UDPGothic" pitchFamily="34" charset="-122"/>
                <a:cs typeface="BIZ UDPGothic" pitchFamily="34" charset="-120"/>
              </a:rPr>
              <a:t>公開順への影響も確認</a:t>
            </a:r>
            <a:endParaRPr lang="en-US" sz="1200" dirty="0"/>
          </a:p>
        </p:txBody>
      </p:sp>
      <p:sp>
        <p:nvSpPr>
          <p:cNvPr id="24" name="Text 18"/>
          <p:cNvSpPr/>
          <p:nvPr/>
        </p:nvSpPr>
        <p:spPr>
          <a:xfrm>
            <a:off x="812800" y="3332262"/>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350C9"/>
                </a:solidFill>
                <a:latin typeface="BIZ UDPGothic" pitchFamily="34" charset="0"/>
                <a:ea typeface="BIZ UDPGothic" pitchFamily="34" charset="-122"/>
                <a:cs typeface="BIZ UDPGothic" pitchFamily="34" charset="-120"/>
              </a:rPr>
              <a:t>記事を書く</a:t>
            </a:r>
            <a:endParaRPr lang="en-US" sz="1400" dirty="0"/>
          </a:p>
        </p:txBody>
      </p:sp>
      <p:sp>
        <p:nvSpPr>
          <p:cNvPr id="25" name="Shape 19"/>
          <p:cNvSpPr/>
          <p:nvPr/>
        </p:nvSpPr>
        <p:spPr>
          <a:xfrm>
            <a:off x="822325" y="3654127"/>
            <a:ext cx="1809750" cy="953691"/>
          </a:xfrm>
          <a:prstGeom prst="roundRect">
            <a:avLst>
              <a:gd name="adj" fmla="val 14981"/>
            </a:avLst>
          </a:prstGeom>
          <a:solidFill>
            <a:srgbClr val="2F62E6"/>
          </a:solidFill>
          <a:ln w="19050">
            <a:solidFill>
              <a:srgbClr val="2F62E6"/>
            </a:solidFill>
            <a:prstDash val="solid"/>
          </a:ln>
        </p:spPr>
      </p:sp>
      <p:sp>
        <p:nvSpPr>
          <p:cNvPr id="26" name="Text 20"/>
          <p:cNvSpPr/>
          <p:nvPr/>
        </p:nvSpPr>
        <p:spPr>
          <a:xfrm>
            <a:off x="933450" y="3777952"/>
            <a:ext cx="1638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Source Code Pro" pitchFamily="34" charset="0"/>
                <a:ea typeface="Source Code Pro" pitchFamily="34" charset="-122"/>
                <a:cs typeface="Source Code Pro" pitchFamily="34" charset="-120"/>
              </a:rPr>
              <a:t>/write-post</a:t>
            </a:r>
            <a:endParaRPr lang="en-US" sz="1200" dirty="0"/>
          </a:p>
        </p:txBody>
      </p:sp>
      <p:sp>
        <p:nvSpPr>
          <p:cNvPr id="27" name="Text 21"/>
          <p:cNvSpPr/>
          <p:nvPr/>
        </p:nvSpPr>
        <p:spPr>
          <a:xfrm>
            <a:off x="933450" y="4029373"/>
            <a:ext cx="1638300"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E8EEFF"/>
                </a:solidFill>
                <a:latin typeface="BIZ UDPGothic" pitchFamily="34" charset="0"/>
                <a:ea typeface="BIZ UDPGothic" pitchFamily="34" charset="-122"/>
                <a:cs typeface="BIZ UDPGothic" pitchFamily="34" charset="-120"/>
              </a:rPr>
              <a:t>テーマを決めて、質問する</a:t>
            </a:r>
            <a:endParaRPr lang="en-US" sz="1200" dirty="0"/>
          </a:p>
        </p:txBody>
      </p:sp>
      <p:pic>
        <p:nvPicPr>
          <p:cNvPr id="28" name="Image 4" descr="arrow-right">    </p:cNvPr>
          <p:cNvPicPr>
            <a:picLocks noChangeAspect="1"/>
          </p:cNvPicPr>
          <p:nvPr/>
        </p:nvPicPr>
        <p:blipFill>
          <a:blip r:embed="rId5"/>
          <a:srcRect l="0" r="0" t="0" b="0"/>
          <a:stretch/>
        </p:blipFill>
        <p:spPr>
          <a:xfrm>
            <a:off x="2692400" y="4029373"/>
            <a:ext cx="254000" cy="203200"/>
          </a:xfrm>
          <a:prstGeom prst="rect">
            <a:avLst/>
          </a:prstGeom>
        </p:spPr>
      </p:pic>
      <p:sp>
        <p:nvSpPr>
          <p:cNvPr id="29" name="Shape 22"/>
          <p:cNvSpPr/>
          <p:nvPr/>
        </p:nvSpPr>
        <p:spPr>
          <a:xfrm>
            <a:off x="3006725" y="3654127"/>
            <a:ext cx="1809750" cy="953691"/>
          </a:xfrm>
          <a:prstGeom prst="roundRect">
            <a:avLst>
              <a:gd name="adj" fmla="val 14981"/>
            </a:avLst>
          </a:prstGeom>
          <a:solidFill>
            <a:srgbClr val="FFC83D"/>
          </a:solidFill>
          <a:ln w="19050">
            <a:solidFill>
              <a:srgbClr val="FFC83D"/>
            </a:solidFill>
            <a:prstDash val="solid"/>
          </a:ln>
        </p:spPr>
      </p:sp>
      <p:sp>
        <p:nvSpPr>
          <p:cNvPr id="30" name="Text 23"/>
          <p:cNvSpPr/>
          <p:nvPr/>
        </p:nvSpPr>
        <p:spPr>
          <a:xfrm>
            <a:off x="3117850" y="3777952"/>
            <a:ext cx="16383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33B"/>
                </a:solidFill>
                <a:latin typeface="Zen Maru Gothic" pitchFamily="34" charset="0"/>
                <a:ea typeface="Zen Maru Gothic" pitchFamily="34" charset="-122"/>
                <a:cs typeface="Zen Maru Gothic" pitchFamily="34" charset="-120"/>
              </a:rPr>
              <a:t>人が話す</a:t>
            </a:r>
            <a:endParaRPr lang="en-US" sz="1400" dirty="0"/>
          </a:p>
        </p:txBody>
      </p:sp>
      <p:sp>
        <p:nvSpPr>
          <p:cNvPr id="31" name="Text 24"/>
          <p:cNvSpPr/>
          <p:nvPr/>
        </p:nvSpPr>
        <p:spPr>
          <a:xfrm>
            <a:off x="3117850" y="4064893"/>
            <a:ext cx="1638300"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6233B"/>
                </a:solidFill>
                <a:latin typeface="BIZ UDPGothic" pitchFamily="34" charset="0"/>
                <a:ea typeface="BIZ UDPGothic" pitchFamily="34" charset="-122"/>
                <a:cs typeface="BIZ UDPGothic" pitchFamily="34" charset="-120"/>
              </a:rPr>
              <a:t>失敗談も含めて</a:t>
            </a:r>
            <a:endParaRPr lang="en-US" sz="1200" dirty="0"/>
          </a:p>
        </p:txBody>
      </p:sp>
      <p:pic>
        <p:nvPicPr>
          <p:cNvPr id="32" name="Image 5" descr="arrow-right">    </p:cNvPr>
          <p:cNvPicPr>
            <a:picLocks noChangeAspect="1"/>
          </p:cNvPicPr>
          <p:nvPr/>
        </p:nvPicPr>
        <p:blipFill>
          <a:blip r:embed="rId6"/>
          <a:srcRect l="0" r="0" t="0" b="0"/>
          <a:stretch/>
        </p:blipFill>
        <p:spPr>
          <a:xfrm>
            <a:off x="4876800" y="4029373"/>
            <a:ext cx="254000" cy="203200"/>
          </a:xfrm>
          <a:prstGeom prst="rect">
            <a:avLst/>
          </a:prstGeom>
        </p:spPr>
      </p:pic>
      <p:sp>
        <p:nvSpPr>
          <p:cNvPr id="33" name="Shape 25"/>
          <p:cNvSpPr/>
          <p:nvPr/>
        </p:nvSpPr>
        <p:spPr>
          <a:xfrm>
            <a:off x="5191125" y="3654127"/>
            <a:ext cx="1809750" cy="953691"/>
          </a:xfrm>
          <a:prstGeom prst="roundRect">
            <a:avLst>
              <a:gd name="adj" fmla="val 14981"/>
            </a:avLst>
          </a:prstGeom>
          <a:solidFill>
            <a:srgbClr val="2F62E6"/>
          </a:solidFill>
          <a:ln w="19050">
            <a:solidFill>
              <a:srgbClr val="2F62E6"/>
            </a:solidFill>
            <a:prstDash val="solid"/>
          </a:ln>
        </p:spPr>
      </p:sp>
      <p:sp>
        <p:nvSpPr>
          <p:cNvPr id="34" name="Text 26"/>
          <p:cNvSpPr/>
          <p:nvPr/>
        </p:nvSpPr>
        <p:spPr>
          <a:xfrm>
            <a:off x="5302250" y="3777952"/>
            <a:ext cx="1638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Source Code Pro" pitchFamily="34" charset="0"/>
                <a:ea typeface="Source Code Pro" pitchFamily="34" charset="-122"/>
                <a:cs typeface="Source Code Pro" pitchFamily="34" charset="-120"/>
              </a:rPr>
              <a:t>/write-post</a:t>
            </a:r>
            <a:endParaRPr lang="en-US" sz="1200" dirty="0"/>
          </a:p>
        </p:txBody>
      </p:sp>
      <p:sp>
        <p:nvSpPr>
          <p:cNvPr id="35" name="Text 27"/>
          <p:cNvSpPr/>
          <p:nvPr/>
        </p:nvSpPr>
        <p:spPr>
          <a:xfrm>
            <a:off x="5302250" y="4029373"/>
            <a:ext cx="1638300"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E8EEFF"/>
                </a:solidFill>
                <a:latin typeface="BIZ UDPGothic" pitchFamily="34" charset="0"/>
                <a:ea typeface="BIZ UDPGothic" pitchFamily="34" charset="-122"/>
                <a:cs typeface="BIZ UDPGothic" pitchFamily="34" charset="-120"/>
              </a:rPr>
              <a:t>話した言葉を活かして下書き</a:t>
            </a:r>
            <a:endParaRPr lang="en-US" sz="1200" dirty="0"/>
          </a:p>
        </p:txBody>
      </p:sp>
      <p:pic>
        <p:nvPicPr>
          <p:cNvPr id="36" name="Image 6" descr="arrow-right">    </p:cNvPr>
          <p:cNvPicPr>
            <a:picLocks noChangeAspect="1"/>
          </p:cNvPicPr>
          <p:nvPr/>
        </p:nvPicPr>
        <p:blipFill>
          <a:blip r:embed="rId7"/>
          <a:srcRect l="0" r="0" t="0" b="0"/>
          <a:stretch/>
        </p:blipFill>
        <p:spPr>
          <a:xfrm>
            <a:off x="7061200" y="4029373"/>
            <a:ext cx="254000" cy="203200"/>
          </a:xfrm>
          <a:prstGeom prst="rect">
            <a:avLst/>
          </a:prstGeom>
        </p:spPr>
      </p:pic>
      <p:sp>
        <p:nvSpPr>
          <p:cNvPr id="37" name="Shape 28"/>
          <p:cNvSpPr/>
          <p:nvPr/>
        </p:nvSpPr>
        <p:spPr>
          <a:xfrm>
            <a:off x="7375525" y="3654127"/>
            <a:ext cx="1809750" cy="953691"/>
          </a:xfrm>
          <a:prstGeom prst="roundRect">
            <a:avLst>
              <a:gd name="adj" fmla="val 14981"/>
            </a:avLst>
          </a:prstGeom>
          <a:solidFill>
            <a:srgbClr val="FBFCFE"/>
          </a:solidFill>
          <a:ln w="19050">
            <a:solidFill>
              <a:srgbClr val="2F62E6"/>
            </a:solidFill>
            <a:prstDash val="solid"/>
          </a:ln>
        </p:spPr>
      </p:sp>
      <p:sp>
        <p:nvSpPr>
          <p:cNvPr id="38" name="Text 29"/>
          <p:cNvSpPr/>
          <p:nvPr/>
        </p:nvSpPr>
        <p:spPr>
          <a:xfrm>
            <a:off x="7486650" y="3777952"/>
            <a:ext cx="16383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350C9"/>
                </a:solidFill>
                <a:latin typeface="Zen Maru Gothic" pitchFamily="34" charset="0"/>
                <a:ea typeface="Zen Maru Gothic" pitchFamily="34" charset="-122"/>
                <a:cs typeface="Zen Maru Gothic" pitchFamily="34" charset="-120"/>
              </a:rPr>
              <a:t>🖍️ アカネ</a:t>
            </a:r>
            <a:endParaRPr lang="en-US" sz="1400" dirty="0"/>
          </a:p>
        </p:txBody>
      </p:sp>
      <p:sp>
        <p:nvSpPr>
          <p:cNvPr id="39" name="Text 30"/>
          <p:cNvSpPr/>
          <p:nvPr/>
        </p:nvSpPr>
        <p:spPr>
          <a:xfrm>
            <a:off x="7486650" y="4064893"/>
            <a:ext cx="1638300"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6647E"/>
                </a:solidFill>
                <a:latin typeface="BIZ UDPGothic" pitchFamily="34" charset="0"/>
                <a:ea typeface="BIZ UDPGothic" pitchFamily="34" charset="-122"/>
                <a:cs typeface="BIZ UDPGothic" pitchFamily="34" charset="-120"/>
              </a:rPr>
              <a:t>6つの観点で点検する</a:t>
            </a:r>
            <a:endParaRPr lang="en-US" sz="1200" dirty="0"/>
          </a:p>
        </p:txBody>
      </p:sp>
      <p:pic>
        <p:nvPicPr>
          <p:cNvPr id="40" name="Image 7" descr="arrow-right">    </p:cNvPr>
          <p:cNvPicPr>
            <a:picLocks noChangeAspect="1"/>
          </p:cNvPicPr>
          <p:nvPr/>
        </p:nvPicPr>
        <p:blipFill>
          <a:blip r:embed="rId8"/>
          <a:srcRect l="0" r="0" t="0" b="0"/>
          <a:stretch/>
        </p:blipFill>
        <p:spPr>
          <a:xfrm>
            <a:off x="9245600" y="4029373"/>
            <a:ext cx="254000" cy="203200"/>
          </a:xfrm>
          <a:prstGeom prst="rect">
            <a:avLst/>
          </a:prstGeom>
        </p:spPr>
      </p:pic>
      <p:sp>
        <p:nvSpPr>
          <p:cNvPr id="41" name="Shape 31"/>
          <p:cNvSpPr/>
          <p:nvPr/>
        </p:nvSpPr>
        <p:spPr>
          <a:xfrm>
            <a:off x="9559925" y="3654127"/>
            <a:ext cx="1809750" cy="953691"/>
          </a:xfrm>
          <a:prstGeom prst="roundRect">
            <a:avLst>
              <a:gd name="adj" fmla="val 14981"/>
            </a:avLst>
          </a:prstGeom>
          <a:solidFill>
            <a:srgbClr val="FFC83D"/>
          </a:solidFill>
          <a:ln w="19050">
            <a:solidFill>
              <a:srgbClr val="FFC83D"/>
            </a:solidFill>
            <a:prstDash val="solid"/>
          </a:ln>
        </p:spPr>
      </p:sp>
      <p:sp>
        <p:nvSpPr>
          <p:cNvPr id="42" name="Text 32"/>
          <p:cNvSpPr/>
          <p:nvPr/>
        </p:nvSpPr>
        <p:spPr>
          <a:xfrm>
            <a:off x="9671050" y="3777952"/>
            <a:ext cx="16383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6233B"/>
                </a:solidFill>
                <a:latin typeface="Zen Maru Gothic" pitchFamily="34" charset="0"/>
                <a:ea typeface="Zen Maru Gothic" pitchFamily="34" charset="-122"/>
                <a:cs typeface="Zen Maru Gothic" pitchFamily="34" charset="-120"/>
              </a:rPr>
              <a:t>人が直す</a:t>
            </a:r>
            <a:endParaRPr lang="en-US" sz="1400" dirty="0"/>
          </a:p>
        </p:txBody>
      </p:sp>
      <p:sp>
        <p:nvSpPr>
          <p:cNvPr id="43" name="Text 33"/>
          <p:cNvSpPr/>
          <p:nvPr/>
        </p:nvSpPr>
        <p:spPr>
          <a:xfrm>
            <a:off x="9671050" y="4064893"/>
            <a:ext cx="1638300"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6233B"/>
                </a:solidFill>
                <a:latin typeface="BIZ UDPGothic" pitchFamily="34" charset="0"/>
                <a:ea typeface="BIZ UDPGothic" pitchFamily="34" charset="-122"/>
                <a:cs typeface="BIZ UDPGothic" pitchFamily="34" charset="-120"/>
              </a:rPr>
              <a:t>最終判断は書き手</a:t>
            </a:r>
            <a:endParaRPr lang="en-US" sz="1200" dirty="0"/>
          </a:p>
        </p:txBody>
      </p:sp>
      <p:sp>
        <p:nvSpPr>
          <p:cNvPr id="44" name="Shape 34"/>
          <p:cNvSpPr/>
          <p:nvPr/>
        </p:nvSpPr>
        <p:spPr>
          <a:xfrm>
            <a:off x="812800" y="4896743"/>
            <a:ext cx="1448991" cy="345380"/>
          </a:xfrm>
          <a:prstGeom prst="roundRect">
            <a:avLst>
              <a:gd name="adj" fmla="val 50000"/>
            </a:avLst>
          </a:prstGeom>
          <a:solidFill>
            <a:srgbClr val="2F62E6"/>
          </a:solidFill>
          <a:ln/>
        </p:spPr>
      </p:sp>
      <p:sp>
        <p:nvSpPr>
          <p:cNvPr id="45" name="Text 35"/>
          <p:cNvSpPr/>
          <p:nvPr/>
        </p:nvSpPr>
        <p:spPr>
          <a:xfrm>
            <a:off x="965200" y="4934843"/>
            <a:ext cx="1194991" cy="2945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BIZ UDPGothic" pitchFamily="34" charset="0"/>
                <a:ea typeface="BIZ UDPGothic" pitchFamily="34" charset="-122"/>
                <a:cs typeface="BIZ UDPGothic" pitchFamily="34" charset="-120"/>
              </a:rPr>
              <a:t>スキル（手順書）</a:t>
            </a:r>
            <a:endParaRPr lang="en-US" sz="1300" dirty="0"/>
          </a:p>
        </p:txBody>
      </p:sp>
      <p:sp>
        <p:nvSpPr>
          <p:cNvPr id="46" name="Shape 36"/>
          <p:cNvSpPr/>
          <p:nvPr/>
        </p:nvSpPr>
        <p:spPr>
          <a:xfrm>
            <a:off x="2372916" y="4906268"/>
            <a:ext cx="2359620" cy="326330"/>
          </a:xfrm>
          <a:prstGeom prst="roundRect">
            <a:avLst>
              <a:gd name="adj" fmla="val 50000"/>
            </a:avLst>
          </a:prstGeom>
          <a:solidFill>
            <a:srgbClr val="FFFFFF"/>
          </a:solidFill>
          <a:ln w="19050">
            <a:solidFill>
              <a:srgbClr val="2F62E6"/>
            </a:solidFill>
            <a:prstDash val="solid"/>
          </a:ln>
        </p:spPr>
      </p:sp>
      <p:sp>
        <p:nvSpPr>
          <p:cNvPr id="47" name="Text 37"/>
          <p:cNvSpPr/>
          <p:nvPr/>
        </p:nvSpPr>
        <p:spPr>
          <a:xfrm>
            <a:off x="2534841" y="4953893"/>
            <a:ext cx="2096843"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350C9"/>
                </a:solidFill>
                <a:latin typeface="BIZ UDPGothic" pitchFamily="34" charset="0"/>
                <a:ea typeface="BIZ UDPGothic" pitchFamily="34" charset="-122"/>
                <a:cs typeface="BIZ UDPGothic" pitchFamily="34" charset="-120"/>
              </a:rPr>
              <a:t>サブエージェント（専門担当）</a:t>
            </a:r>
            <a:endParaRPr lang="en-US" sz="1300" dirty="0"/>
          </a:p>
        </p:txBody>
      </p:sp>
      <p:sp>
        <p:nvSpPr>
          <p:cNvPr id="48" name="Shape 38"/>
          <p:cNvSpPr/>
          <p:nvPr/>
        </p:nvSpPr>
        <p:spPr>
          <a:xfrm>
            <a:off x="4843661" y="4896743"/>
            <a:ext cx="469900" cy="345380"/>
          </a:xfrm>
          <a:prstGeom prst="roundRect">
            <a:avLst>
              <a:gd name="adj" fmla="val 50000"/>
            </a:avLst>
          </a:prstGeom>
          <a:solidFill>
            <a:srgbClr val="FFC83D"/>
          </a:solidFill>
          <a:ln/>
        </p:spPr>
      </p:sp>
      <p:sp>
        <p:nvSpPr>
          <p:cNvPr id="49" name="Text 39"/>
          <p:cNvSpPr/>
          <p:nvPr/>
        </p:nvSpPr>
        <p:spPr>
          <a:xfrm>
            <a:off x="4996061" y="4934843"/>
            <a:ext cx="215900" cy="2945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6233B"/>
                </a:solidFill>
                <a:latin typeface="BIZ UDPGothic" pitchFamily="34" charset="0"/>
                <a:ea typeface="BIZ UDPGothic" pitchFamily="34" charset="-122"/>
                <a:cs typeface="BIZ UDPGothic" pitchFamily="34" charset="-120"/>
              </a:rPr>
              <a:t>人</a:t>
            </a:r>
            <a:endParaRPr lang="en-US" sz="1300" dirty="0"/>
          </a:p>
        </p:txBody>
      </p:sp>
      <p:sp>
        <p:nvSpPr>
          <p:cNvPr id="50" name="Text 40"/>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51" name="Text 41"/>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36 / 40</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PART 5 ／ 人とAIの分担</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AIに任せるときに決めている、4つのルール</a:t>
            </a:r>
            <a:endParaRPr lang="en-US" sz="3200" dirty="0"/>
          </a:p>
        </p:txBody>
      </p:sp>
      <p:sp>
        <p:nvSpPr>
          <p:cNvPr id="4" name="Shape 2"/>
          <p:cNvSpPr/>
          <p:nvPr/>
        </p:nvSpPr>
        <p:spPr>
          <a:xfrm>
            <a:off x="819150" y="1901130"/>
            <a:ext cx="5194300" cy="1884660"/>
          </a:xfrm>
          <a:prstGeom prst="roundRect">
            <a:avLst>
              <a:gd name="adj" fmla="val 9097"/>
            </a:avLst>
          </a:prstGeom>
          <a:solidFill>
            <a:srgbClr val="FBFCFE"/>
          </a:solidFill>
          <a:ln w="12700">
            <a:solidFill>
              <a:srgbClr val="D3DBEA"/>
            </a:solidFill>
            <a:prstDash val="solid"/>
          </a:ln>
        </p:spPr>
      </p:sp>
      <p:sp>
        <p:nvSpPr>
          <p:cNvPr id="5" name="Shape 3"/>
          <p:cNvSpPr/>
          <p:nvPr/>
        </p:nvSpPr>
        <p:spPr>
          <a:xfrm>
            <a:off x="1054100" y="2307530"/>
            <a:ext cx="406400" cy="406400"/>
          </a:xfrm>
          <a:prstGeom prst="roundRect">
            <a:avLst>
              <a:gd name="adj" fmla="val 50000"/>
            </a:avLst>
          </a:prstGeom>
          <a:solidFill>
            <a:srgbClr val="2F62E6"/>
          </a:solidFill>
          <a:ln/>
        </p:spPr>
      </p:sp>
      <p:sp>
        <p:nvSpPr>
          <p:cNvPr id="6" name="Text 4"/>
          <p:cNvSpPr/>
          <p:nvPr/>
        </p:nvSpPr>
        <p:spPr>
          <a:xfrm>
            <a:off x="1028700" y="2307530"/>
            <a:ext cx="457200" cy="431800"/>
          </a:xfrm>
          <a:prstGeom prst="rect">
            <a:avLst/>
          </a:prstGeom>
          <a:noFill/>
          <a:ln/>
        </p:spPr>
        <p:txBody>
          <a:bodyPr wrap="square" lIns="0" tIns="0" rIns="0" bIns="0" rtlCol="0" anchor="t">
            <a:normAutofit/>
          </a:bodyPr>
          <a:lstStyle/>
          <a:p>
            <a:pPr algn="ctr" indent="0" marL="0">
              <a:lnSpc>
                <a:spcPts val="3204"/>
              </a:lnSpc>
              <a:buNone/>
            </a:pPr>
            <a:r>
              <a:rPr lang="en-US" sz="1800" b="1" dirty="0">
                <a:solidFill>
                  <a:srgbClr val="FFFFFF"/>
                </a:solidFill>
                <a:latin typeface="Zen Maru Gothic" pitchFamily="34" charset="0"/>
                <a:ea typeface="Zen Maru Gothic" pitchFamily="34" charset="-122"/>
                <a:cs typeface="Zen Maru Gothic" pitchFamily="34" charset="-120"/>
              </a:rPr>
              <a:t>1</a:t>
            </a:r>
            <a:endParaRPr lang="en-US" sz="1800" dirty="0"/>
          </a:p>
        </p:txBody>
      </p:sp>
      <p:sp>
        <p:nvSpPr>
          <p:cNvPr id="7" name="Text 5"/>
          <p:cNvSpPr/>
          <p:nvPr/>
        </p:nvSpPr>
        <p:spPr>
          <a:xfrm>
            <a:off x="1587500" y="2362101"/>
            <a:ext cx="4316730"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233B"/>
                </a:solidFill>
                <a:latin typeface="Zen Maru Gothic" pitchFamily="34" charset="0"/>
                <a:ea typeface="Zen Maru Gothic" pitchFamily="34" charset="-122"/>
                <a:cs typeface="Zen Maru Gothic" pitchFamily="34" charset="-120"/>
              </a:rPr>
              <a:t>「点検する」と「直す」を分ける</a:t>
            </a:r>
            <a:endParaRPr lang="en-US" sz="1800" dirty="0"/>
          </a:p>
        </p:txBody>
      </p:sp>
      <p:sp>
        <p:nvSpPr>
          <p:cNvPr id="8" name="Text 6"/>
          <p:cNvSpPr/>
          <p:nvPr/>
        </p:nvSpPr>
        <p:spPr>
          <a:xfrm>
            <a:off x="1054100" y="2802830"/>
            <a:ext cx="4866132" cy="576461"/>
          </a:xfrm>
          <a:prstGeom prst="rect">
            <a:avLst/>
          </a:prstGeom>
          <a:noFill/>
          <a:ln/>
        </p:spPr>
        <p:txBody>
          <a:bodyPr wrap="square" lIns="0" tIns="0" rIns="0" bIns="0" rtlCol="0" anchor="t">
            <a:normAutofit/>
          </a:bodyPr>
          <a:lstStyle/>
          <a:p>
            <a:pPr algn="l" indent="0" marL="0">
              <a:lnSpc>
                <a:spcPts val="2170"/>
              </a:lnSpc>
              <a:buNone/>
            </a:pPr>
            <a:r>
              <a:rPr lang="en-US" sz="1400" dirty="0">
                <a:solidFill>
                  <a:srgbClr val="56647E"/>
                </a:solidFill>
                <a:latin typeface="BIZ UDPGothic" pitchFamily="34" charset="0"/>
                <a:ea typeface="BIZ UDPGothic" pitchFamily="34" charset="-122"/>
                <a:cs typeface="BIZ UDPGothic" pitchFamily="34" charset="-120"/>
              </a:rPr>
              <a:t>点検・審査のAIは、指摘だけを返す。直すかどうかは、人が決める。</a:t>
            </a:r>
            <a:endParaRPr lang="en-US" sz="1400" dirty="0"/>
          </a:p>
        </p:txBody>
      </p:sp>
      <p:sp>
        <p:nvSpPr>
          <p:cNvPr id="9" name="Shape 7"/>
          <p:cNvSpPr/>
          <p:nvPr/>
        </p:nvSpPr>
        <p:spPr>
          <a:xfrm>
            <a:off x="6178550" y="1901130"/>
            <a:ext cx="5194300" cy="1884660"/>
          </a:xfrm>
          <a:prstGeom prst="roundRect">
            <a:avLst>
              <a:gd name="adj" fmla="val 9097"/>
            </a:avLst>
          </a:prstGeom>
          <a:solidFill>
            <a:srgbClr val="FBFCFE"/>
          </a:solidFill>
          <a:ln w="12700">
            <a:solidFill>
              <a:srgbClr val="D3DBEA"/>
            </a:solidFill>
            <a:prstDash val="solid"/>
          </a:ln>
        </p:spPr>
      </p:sp>
      <p:sp>
        <p:nvSpPr>
          <p:cNvPr id="10" name="Shape 8"/>
          <p:cNvSpPr/>
          <p:nvPr/>
        </p:nvSpPr>
        <p:spPr>
          <a:xfrm>
            <a:off x="6413500" y="2307530"/>
            <a:ext cx="406400" cy="406400"/>
          </a:xfrm>
          <a:prstGeom prst="roundRect">
            <a:avLst>
              <a:gd name="adj" fmla="val 50000"/>
            </a:avLst>
          </a:prstGeom>
          <a:solidFill>
            <a:srgbClr val="2F62E6"/>
          </a:solidFill>
          <a:ln/>
        </p:spPr>
      </p:sp>
      <p:sp>
        <p:nvSpPr>
          <p:cNvPr id="11" name="Text 9"/>
          <p:cNvSpPr/>
          <p:nvPr/>
        </p:nvSpPr>
        <p:spPr>
          <a:xfrm>
            <a:off x="6388100" y="2307530"/>
            <a:ext cx="457200" cy="431800"/>
          </a:xfrm>
          <a:prstGeom prst="rect">
            <a:avLst/>
          </a:prstGeom>
          <a:noFill/>
          <a:ln/>
        </p:spPr>
        <p:txBody>
          <a:bodyPr wrap="square" lIns="0" tIns="0" rIns="0" bIns="0" rtlCol="0" anchor="t">
            <a:normAutofit/>
          </a:bodyPr>
          <a:lstStyle/>
          <a:p>
            <a:pPr algn="ctr" indent="0" marL="0">
              <a:lnSpc>
                <a:spcPts val="3204"/>
              </a:lnSpc>
              <a:buNone/>
            </a:pPr>
            <a:r>
              <a:rPr lang="en-US" sz="1800" b="1" dirty="0">
                <a:solidFill>
                  <a:srgbClr val="FFFFFF"/>
                </a:solidFill>
                <a:latin typeface="Zen Maru Gothic" pitchFamily="34" charset="0"/>
                <a:ea typeface="Zen Maru Gothic" pitchFamily="34" charset="-122"/>
                <a:cs typeface="Zen Maru Gothic" pitchFamily="34" charset="-120"/>
              </a:rPr>
              <a:t>2</a:t>
            </a:r>
            <a:endParaRPr lang="en-US" sz="1800" dirty="0"/>
          </a:p>
        </p:txBody>
      </p:sp>
      <p:sp>
        <p:nvSpPr>
          <p:cNvPr id="12" name="Text 10"/>
          <p:cNvSpPr/>
          <p:nvPr/>
        </p:nvSpPr>
        <p:spPr>
          <a:xfrm>
            <a:off x="6946900" y="2362101"/>
            <a:ext cx="4316730"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233B"/>
                </a:solidFill>
                <a:latin typeface="Zen Maru Gothic" pitchFamily="34" charset="0"/>
                <a:ea typeface="Zen Maru Gothic" pitchFamily="34" charset="-122"/>
                <a:cs typeface="Zen Maru Gothic" pitchFamily="34" charset="-120"/>
              </a:rPr>
              <a:t>持ち物を絞る</a:t>
            </a:r>
            <a:endParaRPr lang="en-US" sz="1800" dirty="0"/>
          </a:p>
        </p:txBody>
      </p:sp>
      <p:sp>
        <p:nvSpPr>
          <p:cNvPr id="13" name="Text 11"/>
          <p:cNvSpPr/>
          <p:nvPr/>
        </p:nvSpPr>
        <p:spPr>
          <a:xfrm>
            <a:off x="6413500" y="2802830"/>
            <a:ext cx="4866132" cy="576461"/>
          </a:xfrm>
          <a:prstGeom prst="rect">
            <a:avLst/>
          </a:prstGeom>
          <a:noFill/>
          <a:ln/>
        </p:spPr>
        <p:txBody>
          <a:bodyPr wrap="square" lIns="0" tIns="0" rIns="0" bIns="0" rtlCol="0" anchor="t">
            <a:normAutofit/>
          </a:bodyPr>
          <a:lstStyle/>
          <a:p>
            <a:pPr algn="l" indent="0" marL="0">
              <a:lnSpc>
                <a:spcPts val="2170"/>
              </a:lnSpc>
              <a:buNone/>
            </a:pPr>
            <a:r>
              <a:rPr lang="en-US" sz="1400" dirty="0">
                <a:solidFill>
                  <a:srgbClr val="56647E"/>
                </a:solidFill>
                <a:latin typeface="BIZ UDPGothic" pitchFamily="34" charset="0"/>
                <a:ea typeface="BIZ UDPGothic" pitchFamily="34" charset="-122"/>
                <a:cs typeface="BIZ UDPGothic" pitchFamily="34" charset="-120"/>
              </a:rPr>
              <a:t>役割に要らない道具は渡さない。校閲担当には、文章を書き換える道具を持たせない。</a:t>
            </a:r>
            <a:endParaRPr lang="en-US" sz="1400" dirty="0"/>
          </a:p>
        </p:txBody>
      </p:sp>
      <p:sp>
        <p:nvSpPr>
          <p:cNvPr id="14" name="Shape 12"/>
          <p:cNvSpPr/>
          <p:nvPr/>
        </p:nvSpPr>
        <p:spPr>
          <a:xfrm>
            <a:off x="819150" y="3950891"/>
            <a:ext cx="5194300" cy="1884759"/>
          </a:xfrm>
          <a:prstGeom prst="roundRect">
            <a:avLst>
              <a:gd name="adj" fmla="val 9097"/>
            </a:avLst>
          </a:prstGeom>
          <a:solidFill>
            <a:srgbClr val="FBFCFE"/>
          </a:solidFill>
          <a:ln w="12700">
            <a:solidFill>
              <a:srgbClr val="D3DBEA"/>
            </a:solidFill>
            <a:prstDash val="solid"/>
          </a:ln>
        </p:spPr>
      </p:sp>
      <p:sp>
        <p:nvSpPr>
          <p:cNvPr id="15" name="Shape 13"/>
          <p:cNvSpPr/>
          <p:nvPr/>
        </p:nvSpPr>
        <p:spPr>
          <a:xfrm>
            <a:off x="1054100" y="4495105"/>
            <a:ext cx="406400" cy="406400"/>
          </a:xfrm>
          <a:prstGeom prst="roundRect">
            <a:avLst>
              <a:gd name="adj" fmla="val 50000"/>
            </a:avLst>
          </a:prstGeom>
          <a:solidFill>
            <a:srgbClr val="2F62E6"/>
          </a:solidFill>
          <a:ln/>
        </p:spPr>
      </p:sp>
      <p:sp>
        <p:nvSpPr>
          <p:cNvPr id="16" name="Text 14"/>
          <p:cNvSpPr/>
          <p:nvPr/>
        </p:nvSpPr>
        <p:spPr>
          <a:xfrm>
            <a:off x="1028700" y="4495105"/>
            <a:ext cx="457200" cy="431800"/>
          </a:xfrm>
          <a:prstGeom prst="rect">
            <a:avLst/>
          </a:prstGeom>
          <a:noFill/>
          <a:ln/>
        </p:spPr>
        <p:txBody>
          <a:bodyPr wrap="square" lIns="0" tIns="0" rIns="0" bIns="0" rtlCol="0" anchor="t">
            <a:normAutofit/>
          </a:bodyPr>
          <a:lstStyle/>
          <a:p>
            <a:pPr algn="ctr" indent="0" marL="0">
              <a:lnSpc>
                <a:spcPts val="3204"/>
              </a:lnSpc>
              <a:buNone/>
            </a:pPr>
            <a:r>
              <a:rPr lang="en-US" sz="1800" b="1" dirty="0">
                <a:solidFill>
                  <a:srgbClr val="FFFFFF"/>
                </a:solidFill>
                <a:latin typeface="Zen Maru Gothic" pitchFamily="34" charset="0"/>
                <a:ea typeface="Zen Maru Gothic" pitchFamily="34" charset="-122"/>
                <a:cs typeface="Zen Maru Gothic" pitchFamily="34" charset="-120"/>
              </a:rPr>
              <a:t>3</a:t>
            </a:r>
            <a:endParaRPr lang="en-US" sz="1800" dirty="0"/>
          </a:p>
        </p:txBody>
      </p:sp>
      <p:sp>
        <p:nvSpPr>
          <p:cNvPr id="17" name="Text 15"/>
          <p:cNvSpPr/>
          <p:nvPr/>
        </p:nvSpPr>
        <p:spPr>
          <a:xfrm>
            <a:off x="1587500" y="4549676"/>
            <a:ext cx="4316730"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233B"/>
                </a:solidFill>
                <a:latin typeface="Zen Maru Gothic" pitchFamily="34" charset="0"/>
                <a:ea typeface="Zen Maru Gothic" pitchFamily="34" charset="-122"/>
                <a:cs typeface="Zen Maru Gothic" pitchFamily="34" charset="-120"/>
              </a:rPr>
              <a:t>毎回、最新のルールを読ませる</a:t>
            </a:r>
            <a:endParaRPr lang="en-US" sz="1800" dirty="0"/>
          </a:p>
        </p:txBody>
      </p:sp>
      <p:sp>
        <p:nvSpPr>
          <p:cNvPr id="18" name="Text 16"/>
          <p:cNvSpPr/>
          <p:nvPr/>
        </p:nvSpPr>
        <p:spPr>
          <a:xfrm>
            <a:off x="1054100" y="4990405"/>
            <a:ext cx="4866132" cy="300930"/>
          </a:xfrm>
          <a:prstGeom prst="rect">
            <a:avLst/>
          </a:prstGeom>
          <a:noFill/>
          <a:ln/>
        </p:spPr>
        <p:txBody>
          <a:bodyPr wrap="square" lIns="0" tIns="0" rIns="0" bIns="0" rtlCol="0" anchor="t">
            <a:normAutofit/>
          </a:bodyPr>
          <a:lstStyle/>
          <a:p>
            <a:pPr algn="l" indent="0" marL="0">
              <a:lnSpc>
                <a:spcPts val="2170"/>
              </a:lnSpc>
              <a:buNone/>
            </a:pPr>
            <a:r>
              <a:rPr lang="en-US" sz="1400" dirty="0">
                <a:solidFill>
                  <a:srgbClr val="56647E"/>
                </a:solidFill>
                <a:latin typeface="BIZ UDPGothic" pitchFamily="34" charset="0"/>
                <a:ea typeface="BIZ UDPGothic" pitchFamily="34" charset="-122"/>
                <a:cs typeface="BIZ UDPGothic" pitchFamily="34" charset="-120"/>
              </a:rPr>
              <a:t>記憶で判断させず、その場でルールブックを開かせる。</a:t>
            </a:r>
            <a:endParaRPr lang="en-US" sz="1400" dirty="0"/>
          </a:p>
        </p:txBody>
      </p:sp>
      <p:sp>
        <p:nvSpPr>
          <p:cNvPr id="19" name="Shape 17"/>
          <p:cNvSpPr/>
          <p:nvPr/>
        </p:nvSpPr>
        <p:spPr>
          <a:xfrm>
            <a:off x="6178550" y="3950891"/>
            <a:ext cx="5194300" cy="1884759"/>
          </a:xfrm>
          <a:prstGeom prst="roundRect">
            <a:avLst>
              <a:gd name="adj" fmla="val 9097"/>
            </a:avLst>
          </a:prstGeom>
          <a:solidFill>
            <a:srgbClr val="FBFCFE"/>
          </a:solidFill>
          <a:ln w="12700">
            <a:solidFill>
              <a:srgbClr val="D3DBEA"/>
            </a:solidFill>
            <a:prstDash val="solid"/>
          </a:ln>
        </p:spPr>
      </p:sp>
      <p:sp>
        <p:nvSpPr>
          <p:cNvPr id="20" name="Shape 18"/>
          <p:cNvSpPr/>
          <p:nvPr/>
        </p:nvSpPr>
        <p:spPr>
          <a:xfrm>
            <a:off x="6413500" y="4357390"/>
            <a:ext cx="406400" cy="406400"/>
          </a:xfrm>
          <a:prstGeom prst="roundRect">
            <a:avLst>
              <a:gd name="adj" fmla="val 50000"/>
            </a:avLst>
          </a:prstGeom>
          <a:solidFill>
            <a:srgbClr val="2F62E6"/>
          </a:solidFill>
          <a:ln/>
        </p:spPr>
      </p:sp>
      <p:sp>
        <p:nvSpPr>
          <p:cNvPr id="21" name="Text 19"/>
          <p:cNvSpPr/>
          <p:nvPr/>
        </p:nvSpPr>
        <p:spPr>
          <a:xfrm>
            <a:off x="6388100" y="4357390"/>
            <a:ext cx="457200" cy="431800"/>
          </a:xfrm>
          <a:prstGeom prst="rect">
            <a:avLst/>
          </a:prstGeom>
          <a:noFill/>
          <a:ln/>
        </p:spPr>
        <p:txBody>
          <a:bodyPr wrap="square" lIns="0" tIns="0" rIns="0" bIns="0" rtlCol="0" anchor="t">
            <a:normAutofit/>
          </a:bodyPr>
          <a:lstStyle/>
          <a:p>
            <a:pPr algn="ctr" indent="0" marL="0">
              <a:lnSpc>
                <a:spcPts val="3204"/>
              </a:lnSpc>
              <a:buNone/>
            </a:pPr>
            <a:r>
              <a:rPr lang="en-US" sz="1800" b="1" dirty="0">
                <a:solidFill>
                  <a:srgbClr val="FFFFFF"/>
                </a:solidFill>
                <a:latin typeface="Zen Maru Gothic" pitchFamily="34" charset="0"/>
                <a:ea typeface="Zen Maru Gothic" pitchFamily="34" charset="-122"/>
                <a:cs typeface="Zen Maru Gothic" pitchFamily="34" charset="-120"/>
              </a:rPr>
              <a:t>4</a:t>
            </a:r>
            <a:endParaRPr lang="en-US" sz="1800" dirty="0"/>
          </a:p>
        </p:txBody>
      </p:sp>
      <p:sp>
        <p:nvSpPr>
          <p:cNvPr id="22" name="Text 20"/>
          <p:cNvSpPr/>
          <p:nvPr/>
        </p:nvSpPr>
        <p:spPr>
          <a:xfrm>
            <a:off x="6946900" y="4411960"/>
            <a:ext cx="4316730"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233B"/>
                </a:solidFill>
                <a:latin typeface="Zen Maru Gothic" pitchFamily="34" charset="0"/>
                <a:ea typeface="Zen Maru Gothic" pitchFamily="34" charset="-122"/>
                <a:cs typeface="Zen Maru Gothic" pitchFamily="34" charset="-120"/>
              </a:rPr>
              <a:t>最後の決定は、人</a:t>
            </a:r>
            <a:endParaRPr lang="en-US" sz="1800" dirty="0"/>
          </a:p>
        </p:txBody>
      </p:sp>
      <p:sp>
        <p:nvSpPr>
          <p:cNvPr id="23" name="Text 21"/>
          <p:cNvSpPr/>
          <p:nvPr/>
        </p:nvSpPr>
        <p:spPr>
          <a:xfrm>
            <a:off x="6413500" y="4852690"/>
            <a:ext cx="4866132" cy="576461"/>
          </a:xfrm>
          <a:prstGeom prst="rect">
            <a:avLst/>
          </a:prstGeom>
          <a:noFill/>
          <a:ln/>
        </p:spPr>
        <p:txBody>
          <a:bodyPr wrap="square" lIns="0" tIns="0" rIns="0" bIns="0" rtlCol="0" anchor="t">
            <a:normAutofit/>
          </a:bodyPr>
          <a:lstStyle/>
          <a:p>
            <a:pPr algn="l" indent="0" marL="0">
              <a:lnSpc>
                <a:spcPts val="2170"/>
              </a:lnSpc>
              <a:buNone/>
            </a:pPr>
            <a:r>
              <a:rPr lang="en-US" sz="1400" dirty="0">
                <a:solidFill>
                  <a:srgbClr val="56647E"/>
                </a:solidFill>
                <a:latin typeface="BIZ UDPGothic" pitchFamily="34" charset="0"/>
                <a:ea typeface="BIZ UDPGothic" pitchFamily="34" charset="-122"/>
                <a:cs typeface="BIZ UDPGothic" pitchFamily="34" charset="-120"/>
              </a:rPr>
              <a:t>何を書くか、どう言うか、いつ公開するかは、書き手が決める。</a:t>
            </a:r>
            <a:endParaRPr lang="en-US" sz="1400" dirty="0"/>
          </a:p>
        </p:txBody>
      </p:sp>
      <p:sp>
        <p:nvSpPr>
          <p:cNvPr id="24" name="Text 2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25" name="Text 23"/>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37 / 40</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2F62E6"/>
        </a:solidFill>
      </p:bgPr>
    </p:bg>
    <p:spTree>
      <p:nvGrpSpPr>
        <p:cNvPr id="1" name=""/>
        <p:cNvGrpSpPr/>
        <p:nvPr/>
      </p:nvGrpSpPr>
      <p:grpSpPr>
        <a:xfrm>
          <a:off x="0" y="0"/>
          <a:ext cx="0" cy="0"/>
          <a:chOff x="0" y="0"/>
          <a:chExt cx="0" cy="0"/>
        </a:xfrm>
      </p:grpSpPr>
      <p:sp>
        <p:nvSpPr>
          <p:cNvPr id="2" name="Text 0"/>
          <p:cNvSpPr/>
          <p:nvPr/>
        </p:nvSpPr>
        <p:spPr>
          <a:xfrm>
            <a:off x="812800" y="1958479"/>
            <a:ext cx="10883392" cy="289520"/>
          </a:xfrm>
          <a:prstGeom prst="rect">
            <a:avLst/>
          </a:prstGeom>
          <a:noFill/>
          <a:ln/>
        </p:spPr>
        <p:txBody>
          <a:bodyPr wrap="square" lIns="0" tIns="0" rIns="0" bIns="0" rtlCol="0" anchor="t">
            <a:normAutofit/>
          </a:bodyPr>
          <a:lstStyle/>
          <a:p>
            <a:pPr algn="l" indent="0" marL="0">
              <a:lnSpc>
                <a:spcPts val="2080"/>
              </a:lnSpc>
              <a:buNone/>
            </a:pPr>
            <a:r>
              <a:rPr lang="en-US" sz="1300" b="1" spc="150" kern="0" dirty="0">
                <a:solidFill>
                  <a:srgbClr val="DCE6FF"/>
                </a:solidFill>
                <a:latin typeface="BIZ UDPGothic" pitchFamily="34" charset="0"/>
                <a:ea typeface="BIZ UDPGothic" pitchFamily="34" charset="-122"/>
                <a:cs typeface="BIZ UDPGothic" pitchFamily="34" charset="-120"/>
              </a:rPr>
              <a:t>PART 5 ／ 人とAIの分担</a:t>
            </a:r>
            <a:endParaRPr lang="en-US" sz="1300" dirty="0"/>
          </a:p>
        </p:txBody>
      </p:sp>
      <p:sp>
        <p:nvSpPr>
          <p:cNvPr id="3" name="Text 1"/>
          <p:cNvSpPr/>
          <p:nvPr/>
        </p:nvSpPr>
        <p:spPr>
          <a:xfrm>
            <a:off x="812800" y="2400399"/>
            <a:ext cx="10883392" cy="1214041"/>
          </a:xfrm>
          <a:prstGeom prst="rect">
            <a:avLst/>
          </a:prstGeom>
          <a:noFill/>
          <a:ln/>
        </p:spPr>
        <p:txBody>
          <a:bodyPr wrap="square" lIns="0" tIns="0" rIns="0" bIns="0" rtlCol="0" anchor="t">
            <a:normAutofit/>
          </a:bodyPr>
          <a:lstStyle/>
          <a:p>
            <a:pPr algn="l" indent="0" marL="0">
              <a:lnSpc>
                <a:spcPts val="4680"/>
              </a:lnSpc>
              <a:buNone/>
            </a:pPr>
            <a:r>
              <a:rPr lang="en-US" sz="3600" b="1" dirty="0">
                <a:solidFill>
                  <a:srgbClr val="FFFFFF"/>
                </a:solidFill>
                <a:latin typeface="Zen Maru Gothic" pitchFamily="34" charset="0"/>
                <a:ea typeface="Zen Maru Gothic" pitchFamily="34" charset="-122"/>
                <a:cs typeface="Zen Maru Gothic" pitchFamily="34" charset="-120"/>
              </a:rPr>
              <a:t>「AIに聞けば出てくる答え」ではなく、</a:t>
            </a:r>
            <a:endParaRPr lang="en-US" sz="3600" dirty="0"/>
          </a:p>
          <a:p>
            <a:pPr algn="l" indent="0" marL="0">
              <a:lnSpc>
                <a:spcPts val="4680"/>
              </a:lnSpc>
              <a:buNone/>
            </a:pPr>
            <a:r>
              <a:rPr lang="en-US" sz="3600" b="1" dirty="0">
                <a:solidFill>
                  <a:srgbClr val="FFC83D"/>
                </a:solidFill>
                <a:latin typeface="Zen Maru Gothic" pitchFamily="34" charset="0"/>
                <a:ea typeface="Zen Maru Gothic" pitchFamily="34" charset="-122"/>
                <a:cs typeface="Zen Maru Gothic" pitchFamily="34" charset="-120"/>
              </a:rPr>
              <a:t>実際にやってみた体験</a:t>
            </a:r>
            <a:r>
              <a:rPr lang="en-US" sz="3600" b="1" dirty="0">
                <a:solidFill>
                  <a:srgbClr val="FFFFFF"/>
                </a:solidFill>
                <a:latin typeface="Zen Maru Gothic" pitchFamily="34" charset="0"/>
                <a:ea typeface="Zen Maru Gothic" pitchFamily="34" charset="-122"/>
                <a:cs typeface="Zen Maru Gothic" pitchFamily="34" charset="-120"/>
              </a:rPr>
              <a:t>を載せる</a:t>
            </a:r>
            <a:endParaRPr lang="en-US" sz="3600" dirty="0"/>
          </a:p>
        </p:txBody>
      </p:sp>
      <p:sp>
        <p:nvSpPr>
          <p:cNvPr id="4" name="Shape 2"/>
          <p:cNvSpPr/>
          <p:nvPr/>
        </p:nvSpPr>
        <p:spPr>
          <a:xfrm>
            <a:off x="812800" y="3766840"/>
            <a:ext cx="3060799" cy="325041"/>
          </a:xfrm>
          <a:prstGeom prst="roundRect">
            <a:avLst>
              <a:gd name="adj" fmla="val 50000"/>
            </a:avLst>
          </a:prstGeom>
          <a:solidFill>
            <a:srgbClr val="FFFFFF"/>
          </a:solidFill>
          <a:ln/>
        </p:spPr>
      </p:sp>
      <p:sp>
        <p:nvSpPr>
          <p:cNvPr id="5" name="Text 3"/>
          <p:cNvSpPr/>
          <p:nvPr/>
        </p:nvSpPr>
        <p:spPr>
          <a:xfrm>
            <a:off x="965200" y="3804940"/>
            <a:ext cx="283867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350C9"/>
                </a:solidFill>
                <a:latin typeface="BIZ UDPGothic" pitchFamily="34" charset="0"/>
                <a:ea typeface="BIZ UDPGothic" pitchFamily="34" charset="-122"/>
                <a:cs typeface="BIZ UDPGothic" pitchFamily="34" charset="-120"/>
              </a:rPr>
              <a:t>うまくいかなかったことも含む体験</a:t>
            </a:r>
            <a:endParaRPr lang="en-US" sz="1400" dirty="0"/>
          </a:p>
        </p:txBody>
      </p:sp>
      <p:sp>
        <p:nvSpPr>
          <p:cNvPr id="6" name="Shape 4"/>
          <p:cNvSpPr/>
          <p:nvPr/>
        </p:nvSpPr>
        <p:spPr>
          <a:xfrm>
            <a:off x="3975199" y="3766840"/>
            <a:ext cx="2221607" cy="325041"/>
          </a:xfrm>
          <a:prstGeom prst="roundRect">
            <a:avLst>
              <a:gd name="adj" fmla="val 50000"/>
            </a:avLst>
          </a:prstGeom>
          <a:solidFill>
            <a:srgbClr val="FFFFFF"/>
          </a:solidFill>
          <a:ln/>
        </p:spPr>
      </p:sp>
      <p:sp>
        <p:nvSpPr>
          <p:cNvPr id="7" name="Text 5"/>
          <p:cNvSpPr/>
          <p:nvPr/>
        </p:nvSpPr>
        <p:spPr>
          <a:xfrm>
            <a:off x="4127599" y="3804940"/>
            <a:ext cx="1974311"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350C9"/>
                </a:solidFill>
                <a:latin typeface="BIZ UDPGothic" pitchFamily="34" charset="0"/>
                <a:ea typeface="BIZ UDPGothic" pitchFamily="34" charset="-122"/>
                <a:cs typeface="BIZ UDPGothic" pitchFamily="34" charset="-120"/>
              </a:rPr>
              <a:t>同じ現場で働く人の視点</a:t>
            </a:r>
            <a:endParaRPr lang="en-US" sz="1400" dirty="0"/>
          </a:p>
        </p:txBody>
      </p:sp>
      <p:sp>
        <p:nvSpPr>
          <p:cNvPr id="8" name="Shape 6"/>
          <p:cNvSpPr/>
          <p:nvPr/>
        </p:nvSpPr>
        <p:spPr>
          <a:xfrm>
            <a:off x="6298406" y="3766840"/>
            <a:ext cx="2436713" cy="325041"/>
          </a:xfrm>
          <a:prstGeom prst="roundRect">
            <a:avLst>
              <a:gd name="adj" fmla="val 50000"/>
            </a:avLst>
          </a:prstGeom>
          <a:solidFill>
            <a:srgbClr val="FFFFFF"/>
          </a:solidFill>
          <a:ln/>
        </p:spPr>
      </p:sp>
      <p:sp>
        <p:nvSpPr>
          <p:cNvPr id="9" name="Text 7"/>
          <p:cNvSpPr/>
          <p:nvPr/>
        </p:nvSpPr>
        <p:spPr>
          <a:xfrm>
            <a:off x="6450806" y="3804940"/>
            <a:ext cx="2195871"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350C9"/>
                </a:solidFill>
                <a:latin typeface="BIZ UDPGothic" pitchFamily="34" charset="0"/>
                <a:ea typeface="BIZ UDPGothic" pitchFamily="34" charset="-122"/>
                <a:cs typeface="BIZ UDPGothic" pitchFamily="34" charset="-120"/>
              </a:rPr>
              <a:t>最初に何を学ぶかの選び方</a:t>
            </a:r>
            <a:endParaRPr lang="en-US" sz="1400" dirty="0"/>
          </a:p>
        </p:txBody>
      </p:sp>
      <p:sp>
        <p:nvSpPr>
          <p:cNvPr id="10" name="Text 8"/>
          <p:cNvSpPr/>
          <p:nvPr/>
        </p:nvSpPr>
        <p:spPr>
          <a:xfrm>
            <a:off x="812800" y="4371280"/>
            <a:ext cx="10883392" cy="350441"/>
          </a:xfrm>
          <a:prstGeom prst="rect">
            <a:avLst/>
          </a:prstGeom>
          <a:noFill/>
          <a:ln/>
        </p:spPr>
        <p:txBody>
          <a:bodyPr wrap="square" lIns="0" tIns="0" rIns="0" bIns="0" rtlCol="0" anchor="t">
            <a:normAutofit/>
          </a:bodyPr>
          <a:lstStyle/>
          <a:p>
            <a:pPr algn="l" indent="0" marL="0">
              <a:lnSpc>
                <a:spcPts val="2560"/>
              </a:lnSpc>
              <a:buNone/>
            </a:pPr>
            <a:r>
              <a:rPr lang="en-US" sz="1600" dirty="0">
                <a:solidFill>
                  <a:srgbClr val="E8EEFF"/>
                </a:solidFill>
                <a:latin typeface="BIZ UDPGothic" pitchFamily="34" charset="0"/>
                <a:ea typeface="BIZ UDPGothic" pitchFamily="34" charset="-122"/>
                <a:cs typeface="BIZ UDPGothic" pitchFamily="34" charset="-120"/>
              </a:rPr>
              <a:t>ChatGPTに聞いても同じ答えが出るなら、書く意味がない。だから、AIには書けない部分を人が担当する。</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350C9"/>
                </a:solidFill>
                <a:latin typeface="BIZ UDPGothic" pitchFamily="34" charset="0"/>
                <a:ea typeface="BIZ UDPGothic" pitchFamily="34" charset="-122"/>
                <a:cs typeface="BIZ UDPGothic" pitchFamily="34" charset="-120"/>
              </a:rPr>
              <a:t>まとめ</a:t>
            </a:r>
            <a:endParaRPr lang="en-US" sz="1300" dirty="0"/>
          </a:p>
        </p:txBody>
      </p:sp>
      <p:sp>
        <p:nvSpPr>
          <p:cNvPr id="3" name="Text 1"/>
          <p:cNvSpPr/>
          <p:nvPr/>
        </p:nvSpPr>
        <p:spPr>
          <a:xfrm>
            <a:off x="812800" y="1107380"/>
            <a:ext cx="10883392" cy="533400"/>
          </a:xfrm>
          <a:prstGeom prst="rect">
            <a:avLst/>
          </a:prstGeom>
          <a:noFill/>
          <a:ln/>
        </p:spPr>
        <p:txBody>
          <a:bodyPr wrap="square" lIns="0" tIns="0" rIns="0" bIns="0" rtlCol="0" anchor="t">
            <a:normAutofit/>
          </a:bodyPr>
          <a:lstStyle/>
          <a:p>
            <a:pPr algn="l" indent="0" marL="0">
              <a:lnSpc>
                <a:spcPts val="4000"/>
              </a:lnSpc>
              <a:buNone/>
            </a:pPr>
            <a:r>
              <a:rPr lang="en-US" sz="3200" b="1" dirty="0">
                <a:solidFill>
                  <a:srgbClr val="16233B"/>
                </a:solidFill>
                <a:latin typeface="Zen Maru Gothic" pitchFamily="34" charset="0"/>
                <a:ea typeface="Zen Maru Gothic" pitchFamily="34" charset="-122"/>
                <a:cs typeface="Zen Maru Gothic" pitchFamily="34" charset="-120"/>
              </a:rPr>
              <a:t>今日の4つのポイント</a:t>
            </a:r>
            <a:endParaRPr lang="en-US" sz="3200" dirty="0"/>
          </a:p>
        </p:txBody>
      </p:sp>
      <p:sp>
        <p:nvSpPr>
          <p:cNvPr id="4" name="Shape 2"/>
          <p:cNvSpPr/>
          <p:nvPr/>
        </p:nvSpPr>
        <p:spPr>
          <a:xfrm>
            <a:off x="819150" y="1901130"/>
            <a:ext cx="10553700" cy="817860"/>
          </a:xfrm>
          <a:prstGeom prst="roundRect">
            <a:avLst>
              <a:gd name="adj" fmla="val 20963"/>
            </a:avLst>
          </a:prstGeom>
          <a:solidFill>
            <a:srgbClr val="FBFCFE"/>
          </a:solidFill>
          <a:ln w="12700">
            <a:solidFill>
              <a:srgbClr val="D3DBEA"/>
            </a:solidFill>
            <a:prstDash val="solid"/>
          </a:ln>
        </p:spPr>
      </p:sp>
      <p:sp>
        <p:nvSpPr>
          <p:cNvPr id="5" name="Shape 3"/>
          <p:cNvSpPr/>
          <p:nvPr/>
        </p:nvSpPr>
        <p:spPr>
          <a:xfrm>
            <a:off x="1028700" y="2056011"/>
            <a:ext cx="508000" cy="508000"/>
          </a:xfrm>
          <a:prstGeom prst="roundRect">
            <a:avLst>
              <a:gd name="adj" fmla="val 50000"/>
            </a:avLst>
          </a:prstGeom>
          <a:solidFill>
            <a:srgbClr val="2F62E6"/>
          </a:solidFill>
          <a:ln/>
        </p:spPr>
      </p:sp>
      <p:sp>
        <p:nvSpPr>
          <p:cNvPr id="6" name="Text 4"/>
          <p:cNvSpPr/>
          <p:nvPr/>
        </p:nvSpPr>
        <p:spPr>
          <a:xfrm>
            <a:off x="1003300" y="2056011"/>
            <a:ext cx="558800" cy="533400"/>
          </a:xfrm>
          <a:prstGeom prst="rect">
            <a:avLst/>
          </a:prstGeom>
          <a:noFill/>
          <a:ln/>
        </p:spPr>
        <p:txBody>
          <a:bodyPr wrap="square" lIns="0" tIns="0" rIns="0" bIns="0" rtlCol="0" anchor="t">
            <a:normAutofit/>
          </a:bodyPr>
          <a:lstStyle/>
          <a:p>
            <a:pPr algn="ctr" indent="0" marL="0">
              <a:lnSpc>
                <a:spcPts val="4008"/>
              </a:lnSpc>
              <a:buNone/>
            </a:pPr>
            <a:r>
              <a:rPr lang="en-US" sz="2400" b="1" dirty="0">
                <a:solidFill>
                  <a:srgbClr val="FFFFFF"/>
                </a:solidFill>
                <a:latin typeface="Zen Maru Gothic" pitchFamily="34" charset="0"/>
                <a:ea typeface="Zen Maru Gothic" pitchFamily="34" charset="-122"/>
                <a:cs typeface="Zen Maru Gothic" pitchFamily="34" charset="-120"/>
              </a:rPr>
              <a:t>1</a:t>
            </a:r>
            <a:endParaRPr lang="en-US" sz="2400" dirty="0"/>
          </a:p>
        </p:txBody>
      </p:sp>
      <p:sp>
        <p:nvSpPr>
          <p:cNvPr id="7" name="Text 5"/>
          <p:cNvSpPr/>
          <p:nvPr/>
        </p:nvSpPr>
        <p:spPr>
          <a:xfrm>
            <a:off x="1714500" y="2021780"/>
            <a:ext cx="9732264"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233B"/>
                </a:solidFill>
                <a:latin typeface="Zen Maru Gothic" pitchFamily="34" charset="0"/>
                <a:ea typeface="Zen Maru Gothic" pitchFamily="34" charset="-122"/>
                <a:cs typeface="Zen Maru Gothic" pitchFamily="34" charset="-120"/>
              </a:rPr>
              <a:t>人は「書く」と「送る」だけ</a:t>
            </a:r>
            <a:endParaRPr lang="en-US" sz="1800" dirty="0"/>
          </a:p>
        </p:txBody>
      </p:sp>
      <p:sp>
        <p:nvSpPr>
          <p:cNvPr id="8" name="Text 6"/>
          <p:cNvSpPr/>
          <p:nvPr/>
        </p:nvSpPr>
        <p:spPr>
          <a:xfrm>
            <a:off x="1714500" y="2331641"/>
            <a:ext cx="9732264"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56647E"/>
                </a:solidFill>
                <a:latin typeface="BIZ UDPGothic" pitchFamily="34" charset="0"/>
                <a:ea typeface="BIZ UDPGothic" pitchFamily="34" charset="-122"/>
                <a:cs typeface="BIZ UDPGothic" pitchFamily="34" charset="-120"/>
              </a:rPr>
              <a:t>組み立ても公開も、GitHub のロボットが自動でやる。</a:t>
            </a:r>
            <a:endParaRPr lang="en-US" sz="1400" dirty="0"/>
          </a:p>
        </p:txBody>
      </p:sp>
      <p:sp>
        <p:nvSpPr>
          <p:cNvPr id="9" name="Shape 7"/>
          <p:cNvSpPr/>
          <p:nvPr/>
        </p:nvSpPr>
        <p:spPr>
          <a:xfrm>
            <a:off x="819150" y="2833291"/>
            <a:ext cx="10553700" cy="817860"/>
          </a:xfrm>
          <a:prstGeom prst="roundRect">
            <a:avLst>
              <a:gd name="adj" fmla="val 20963"/>
            </a:avLst>
          </a:prstGeom>
          <a:solidFill>
            <a:srgbClr val="FBFCFE"/>
          </a:solidFill>
          <a:ln w="12700">
            <a:solidFill>
              <a:srgbClr val="D3DBEA"/>
            </a:solidFill>
            <a:prstDash val="solid"/>
          </a:ln>
        </p:spPr>
      </p:sp>
      <p:sp>
        <p:nvSpPr>
          <p:cNvPr id="10" name="Shape 8"/>
          <p:cNvSpPr/>
          <p:nvPr/>
        </p:nvSpPr>
        <p:spPr>
          <a:xfrm>
            <a:off x="1028700" y="2988171"/>
            <a:ext cx="508000" cy="508000"/>
          </a:xfrm>
          <a:prstGeom prst="roundRect">
            <a:avLst>
              <a:gd name="adj" fmla="val 50000"/>
            </a:avLst>
          </a:prstGeom>
          <a:solidFill>
            <a:srgbClr val="2F62E6"/>
          </a:solidFill>
          <a:ln/>
        </p:spPr>
      </p:sp>
      <p:sp>
        <p:nvSpPr>
          <p:cNvPr id="11" name="Text 9"/>
          <p:cNvSpPr/>
          <p:nvPr/>
        </p:nvSpPr>
        <p:spPr>
          <a:xfrm>
            <a:off x="1003300" y="2988171"/>
            <a:ext cx="558800" cy="533400"/>
          </a:xfrm>
          <a:prstGeom prst="rect">
            <a:avLst/>
          </a:prstGeom>
          <a:noFill/>
          <a:ln/>
        </p:spPr>
        <p:txBody>
          <a:bodyPr wrap="square" lIns="0" tIns="0" rIns="0" bIns="0" rtlCol="0" anchor="t">
            <a:normAutofit/>
          </a:bodyPr>
          <a:lstStyle/>
          <a:p>
            <a:pPr algn="ctr" indent="0" marL="0">
              <a:lnSpc>
                <a:spcPts val="4008"/>
              </a:lnSpc>
              <a:buNone/>
            </a:pPr>
            <a:r>
              <a:rPr lang="en-US" sz="2400" b="1" dirty="0">
                <a:solidFill>
                  <a:srgbClr val="FFFFFF"/>
                </a:solidFill>
                <a:latin typeface="Zen Maru Gothic" pitchFamily="34" charset="0"/>
                <a:ea typeface="Zen Maru Gothic" pitchFamily="34" charset="-122"/>
                <a:cs typeface="Zen Maru Gothic" pitchFamily="34" charset="-120"/>
              </a:rPr>
              <a:t>2</a:t>
            </a:r>
            <a:endParaRPr lang="en-US" sz="2400" dirty="0"/>
          </a:p>
        </p:txBody>
      </p:sp>
      <p:sp>
        <p:nvSpPr>
          <p:cNvPr id="12" name="Text 10"/>
          <p:cNvSpPr/>
          <p:nvPr/>
        </p:nvSpPr>
        <p:spPr>
          <a:xfrm>
            <a:off x="1714500" y="2953941"/>
            <a:ext cx="9732264"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233B"/>
                </a:solidFill>
                <a:latin typeface="Zen Maru Gothic" pitchFamily="34" charset="0"/>
                <a:ea typeface="Zen Maru Gothic" pitchFamily="34" charset="-122"/>
                <a:cs typeface="Zen Maru Gothic" pitchFamily="34" charset="-120"/>
              </a:rPr>
              <a:t>AIは「次のことば」を予想する機械</a:t>
            </a:r>
            <a:endParaRPr lang="en-US" sz="1800" dirty="0"/>
          </a:p>
        </p:txBody>
      </p:sp>
      <p:sp>
        <p:nvSpPr>
          <p:cNvPr id="13" name="Text 11"/>
          <p:cNvSpPr/>
          <p:nvPr/>
        </p:nvSpPr>
        <p:spPr>
          <a:xfrm>
            <a:off x="1714500" y="3263801"/>
            <a:ext cx="9732264"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56647E"/>
                </a:solidFill>
                <a:latin typeface="BIZ UDPGothic" pitchFamily="34" charset="0"/>
                <a:ea typeface="BIZ UDPGothic" pitchFamily="34" charset="-122"/>
                <a:cs typeface="BIZ UDPGothic" pitchFamily="34" charset="-120"/>
              </a:rPr>
              <a:t>もっともらしい嘘も書くので、人が確かめる。</a:t>
            </a:r>
            <a:endParaRPr lang="en-US" sz="1400" dirty="0"/>
          </a:p>
        </p:txBody>
      </p:sp>
      <p:sp>
        <p:nvSpPr>
          <p:cNvPr id="14" name="Shape 12"/>
          <p:cNvSpPr/>
          <p:nvPr/>
        </p:nvSpPr>
        <p:spPr>
          <a:xfrm>
            <a:off x="819150" y="3765451"/>
            <a:ext cx="10553700" cy="817860"/>
          </a:xfrm>
          <a:prstGeom prst="roundRect">
            <a:avLst>
              <a:gd name="adj" fmla="val 20963"/>
            </a:avLst>
          </a:prstGeom>
          <a:solidFill>
            <a:srgbClr val="FBFCFE"/>
          </a:solidFill>
          <a:ln w="12700">
            <a:solidFill>
              <a:srgbClr val="D3DBEA"/>
            </a:solidFill>
            <a:prstDash val="solid"/>
          </a:ln>
        </p:spPr>
      </p:sp>
      <p:sp>
        <p:nvSpPr>
          <p:cNvPr id="15" name="Shape 13"/>
          <p:cNvSpPr/>
          <p:nvPr/>
        </p:nvSpPr>
        <p:spPr>
          <a:xfrm>
            <a:off x="1028700" y="3920331"/>
            <a:ext cx="508000" cy="508000"/>
          </a:xfrm>
          <a:prstGeom prst="roundRect">
            <a:avLst>
              <a:gd name="adj" fmla="val 50000"/>
            </a:avLst>
          </a:prstGeom>
          <a:solidFill>
            <a:srgbClr val="2F62E6"/>
          </a:solidFill>
          <a:ln/>
        </p:spPr>
      </p:sp>
      <p:sp>
        <p:nvSpPr>
          <p:cNvPr id="16" name="Text 14"/>
          <p:cNvSpPr/>
          <p:nvPr/>
        </p:nvSpPr>
        <p:spPr>
          <a:xfrm>
            <a:off x="1003300" y="3920331"/>
            <a:ext cx="558800" cy="533400"/>
          </a:xfrm>
          <a:prstGeom prst="rect">
            <a:avLst/>
          </a:prstGeom>
          <a:noFill/>
          <a:ln/>
        </p:spPr>
        <p:txBody>
          <a:bodyPr wrap="square" lIns="0" tIns="0" rIns="0" bIns="0" rtlCol="0" anchor="t">
            <a:normAutofit/>
          </a:bodyPr>
          <a:lstStyle/>
          <a:p>
            <a:pPr algn="ctr" indent="0" marL="0">
              <a:lnSpc>
                <a:spcPts val="4008"/>
              </a:lnSpc>
              <a:buNone/>
            </a:pPr>
            <a:r>
              <a:rPr lang="en-US" sz="2400" b="1" dirty="0">
                <a:solidFill>
                  <a:srgbClr val="FFFFFF"/>
                </a:solidFill>
                <a:latin typeface="Zen Maru Gothic" pitchFamily="34" charset="0"/>
                <a:ea typeface="Zen Maru Gothic" pitchFamily="34" charset="-122"/>
                <a:cs typeface="Zen Maru Gothic" pitchFamily="34" charset="-120"/>
              </a:rPr>
              <a:t>3</a:t>
            </a:r>
            <a:endParaRPr lang="en-US" sz="2400" dirty="0"/>
          </a:p>
        </p:txBody>
      </p:sp>
      <p:sp>
        <p:nvSpPr>
          <p:cNvPr id="17" name="Text 15"/>
          <p:cNvSpPr/>
          <p:nvPr/>
        </p:nvSpPr>
        <p:spPr>
          <a:xfrm>
            <a:off x="1714500" y="3886101"/>
            <a:ext cx="9732264"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233B"/>
                </a:solidFill>
                <a:latin typeface="Zen Maru Gothic" pitchFamily="34" charset="0"/>
                <a:ea typeface="Zen Maru Gothic" pitchFamily="34" charset="-122"/>
                <a:cs typeface="Zen Maru Gothic" pitchFamily="34" charset="-120"/>
              </a:rPr>
              <a:t>スキルは手順書、サブエージェントは専門担当</a:t>
            </a:r>
            <a:endParaRPr lang="en-US" sz="1800" dirty="0"/>
          </a:p>
        </p:txBody>
      </p:sp>
      <p:sp>
        <p:nvSpPr>
          <p:cNvPr id="18" name="Text 16"/>
          <p:cNvSpPr/>
          <p:nvPr/>
        </p:nvSpPr>
        <p:spPr>
          <a:xfrm>
            <a:off x="1714500" y="4195961"/>
            <a:ext cx="9732264"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56647E"/>
                </a:solidFill>
                <a:latin typeface="BIZ UDPGothic" pitchFamily="34" charset="0"/>
                <a:ea typeface="BIZ UDPGothic" pitchFamily="34" charset="-122"/>
                <a:cs typeface="BIZ UDPGothic" pitchFamily="34" charset="-120"/>
              </a:rPr>
              <a:t>手順書で進め方を決め、専門担当に点検を任せる。</a:t>
            </a:r>
            <a:endParaRPr lang="en-US" sz="1400" dirty="0"/>
          </a:p>
        </p:txBody>
      </p:sp>
      <p:sp>
        <p:nvSpPr>
          <p:cNvPr id="19" name="Shape 17"/>
          <p:cNvSpPr/>
          <p:nvPr/>
        </p:nvSpPr>
        <p:spPr>
          <a:xfrm>
            <a:off x="819150" y="4697611"/>
            <a:ext cx="10553700" cy="817860"/>
          </a:xfrm>
          <a:prstGeom prst="roundRect">
            <a:avLst>
              <a:gd name="adj" fmla="val 20963"/>
            </a:avLst>
          </a:prstGeom>
          <a:solidFill>
            <a:srgbClr val="FBFCFE"/>
          </a:solidFill>
          <a:ln w="12700">
            <a:solidFill>
              <a:srgbClr val="D3DBEA"/>
            </a:solidFill>
            <a:prstDash val="solid"/>
          </a:ln>
        </p:spPr>
      </p:sp>
      <p:sp>
        <p:nvSpPr>
          <p:cNvPr id="20" name="Shape 18"/>
          <p:cNvSpPr/>
          <p:nvPr/>
        </p:nvSpPr>
        <p:spPr>
          <a:xfrm>
            <a:off x="1028700" y="4852491"/>
            <a:ext cx="508000" cy="508000"/>
          </a:xfrm>
          <a:prstGeom prst="roundRect">
            <a:avLst>
              <a:gd name="adj" fmla="val 50000"/>
            </a:avLst>
          </a:prstGeom>
          <a:solidFill>
            <a:srgbClr val="2F62E6"/>
          </a:solidFill>
          <a:ln/>
        </p:spPr>
      </p:sp>
      <p:sp>
        <p:nvSpPr>
          <p:cNvPr id="21" name="Text 19"/>
          <p:cNvSpPr/>
          <p:nvPr/>
        </p:nvSpPr>
        <p:spPr>
          <a:xfrm>
            <a:off x="1003300" y="4852491"/>
            <a:ext cx="558800" cy="533400"/>
          </a:xfrm>
          <a:prstGeom prst="rect">
            <a:avLst/>
          </a:prstGeom>
          <a:noFill/>
          <a:ln/>
        </p:spPr>
        <p:txBody>
          <a:bodyPr wrap="square" lIns="0" tIns="0" rIns="0" bIns="0" rtlCol="0" anchor="t">
            <a:normAutofit/>
          </a:bodyPr>
          <a:lstStyle/>
          <a:p>
            <a:pPr algn="ctr" indent="0" marL="0">
              <a:lnSpc>
                <a:spcPts val="4008"/>
              </a:lnSpc>
              <a:buNone/>
            </a:pPr>
            <a:r>
              <a:rPr lang="en-US" sz="2400" b="1" dirty="0">
                <a:solidFill>
                  <a:srgbClr val="FFFFFF"/>
                </a:solidFill>
                <a:latin typeface="Zen Maru Gothic" pitchFamily="34" charset="0"/>
                <a:ea typeface="Zen Maru Gothic" pitchFamily="34" charset="-122"/>
                <a:cs typeface="Zen Maru Gothic" pitchFamily="34" charset="-120"/>
              </a:rPr>
              <a:t>4</a:t>
            </a:r>
            <a:endParaRPr lang="en-US" sz="2400" dirty="0"/>
          </a:p>
        </p:txBody>
      </p:sp>
      <p:sp>
        <p:nvSpPr>
          <p:cNvPr id="22" name="Text 20"/>
          <p:cNvSpPr/>
          <p:nvPr/>
        </p:nvSpPr>
        <p:spPr>
          <a:xfrm>
            <a:off x="1714500" y="4818261"/>
            <a:ext cx="9732264"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6233B"/>
                </a:solidFill>
                <a:latin typeface="Zen Maru Gothic" pitchFamily="34" charset="0"/>
                <a:ea typeface="Zen Maru Gothic" pitchFamily="34" charset="-122"/>
                <a:cs typeface="Zen Maru Gothic" pitchFamily="34" charset="-120"/>
              </a:rPr>
              <a:t>任せる範囲と、任せない範囲を先に決める</a:t>
            </a:r>
            <a:endParaRPr lang="en-US" sz="1800" dirty="0"/>
          </a:p>
        </p:txBody>
      </p:sp>
      <p:sp>
        <p:nvSpPr>
          <p:cNvPr id="23" name="Text 21"/>
          <p:cNvSpPr/>
          <p:nvPr/>
        </p:nvSpPr>
        <p:spPr>
          <a:xfrm>
            <a:off x="1714500" y="5128121"/>
            <a:ext cx="9732264"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56647E"/>
                </a:solidFill>
                <a:latin typeface="BIZ UDPGothic" pitchFamily="34" charset="0"/>
                <a:ea typeface="BIZ UDPGothic" pitchFamily="34" charset="-122"/>
                <a:cs typeface="BIZ UDPGothic" pitchFamily="34" charset="-120"/>
              </a:rPr>
              <a:t>体験と最終決定は、人がやる。</a:t>
            </a:r>
            <a:endParaRPr lang="en-US" sz="1400" dirty="0"/>
          </a:p>
        </p:txBody>
      </p:sp>
      <p:sp>
        <p:nvSpPr>
          <p:cNvPr id="24" name="Text 2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明日使える生成AI ／ ブログのしくみ</a:t>
            </a:r>
            <a:endParaRPr lang="en-US" sz="1200" dirty="0"/>
          </a:p>
        </p:txBody>
      </p:sp>
      <p:sp>
        <p:nvSpPr>
          <p:cNvPr id="25" name="Text 23"/>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6647E"/>
                </a:solidFill>
                <a:latin typeface="BIZ UDPGothic" pitchFamily="34" charset="0"/>
                <a:ea typeface="BIZ UDPGothic" pitchFamily="34" charset="-122"/>
                <a:cs typeface="BIZ UDPGothic" pitchFamily="34" charset="-120"/>
              </a:rPr>
              <a:t>39 / 40</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6233B"/>
        </a:solidFill>
      </p:bgPr>
    </p:bg>
    <p:spTree>
      <p:nvGrpSpPr>
        <p:cNvPr id="1" name=""/>
        <p:cNvGrpSpPr/>
        <p:nvPr/>
      </p:nvGrpSpPr>
      <p:grpSpPr>
        <a:xfrm>
          <a:off x="0" y="0"/>
          <a:ext cx="0" cy="0"/>
          <a:chOff x="0" y="0"/>
          <a:chExt cx="0" cy="0"/>
        </a:xfrm>
      </p:grpSpPr>
      <p:sp>
        <p:nvSpPr>
          <p:cNvPr id="2" name="Text 0"/>
          <p:cNvSpPr/>
          <p:nvPr/>
        </p:nvSpPr>
        <p:spPr>
          <a:xfrm>
            <a:off x="812800" y="2052439"/>
            <a:ext cx="7050659" cy="350441"/>
          </a:xfrm>
          <a:prstGeom prst="rect">
            <a:avLst/>
          </a:prstGeom>
          <a:noFill/>
          <a:ln/>
        </p:spPr>
        <p:txBody>
          <a:bodyPr wrap="square" lIns="0" tIns="0" rIns="0" bIns="0" rtlCol="0" anchor="t">
            <a:normAutofit/>
          </a:bodyPr>
          <a:lstStyle/>
          <a:p>
            <a:pPr algn="l" indent="0" marL="0">
              <a:lnSpc>
                <a:spcPts val="2560"/>
              </a:lnSpc>
              <a:buNone/>
            </a:pPr>
            <a:r>
              <a:rPr lang="en-US" sz="1600" b="1" spc="100" kern="0" dirty="0">
                <a:solidFill>
                  <a:srgbClr val="86A8FF"/>
                </a:solidFill>
                <a:latin typeface="BIZ UDPGothic" pitchFamily="34" charset="0"/>
                <a:ea typeface="BIZ UDPGothic" pitchFamily="34" charset="-122"/>
                <a:cs typeface="BIZ UDPGothic" pitchFamily="34" charset="-120"/>
              </a:rPr>
              <a:t>ぜひ、読みにきてください</a:t>
            </a:r>
            <a:endParaRPr lang="en-US" sz="1600" dirty="0"/>
          </a:p>
        </p:txBody>
      </p:sp>
      <p:sp>
        <p:nvSpPr>
          <p:cNvPr id="3" name="Text 1"/>
          <p:cNvSpPr/>
          <p:nvPr/>
        </p:nvSpPr>
        <p:spPr>
          <a:xfrm>
            <a:off x="812800" y="2453680"/>
            <a:ext cx="7050659" cy="1422400"/>
          </a:xfrm>
          <a:prstGeom prst="rect">
            <a:avLst/>
          </a:prstGeom>
          <a:noFill/>
          <a:ln/>
        </p:spPr>
        <p:txBody>
          <a:bodyPr wrap="square" lIns="0" tIns="0" rIns="0" bIns="0" rtlCol="0" anchor="t">
            <a:normAutofit/>
          </a:bodyPr>
          <a:lstStyle/>
          <a:p>
            <a:pPr algn="l" indent="0" marL="0">
              <a:lnSpc>
                <a:spcPts val="5500"/>
              </a:lnSpc>
              <a:buNone/>
            </a:pPr>
            <a:r>
              <a:rPr lang="en-US" sz="4400" b="1" dirty="0">
                <a:solidFill>
                  <a:srgbClr val="F4F7FC"/>
                </a:solidFill>
                <a:latin typeface="Zen Maru Gothic" pitchFamily="34" charset="0"/>
                <a:ea typeface="Zen Maru Gothic" pitchFamily="34" charset="-122"/>
                <a:cs typeface="Zen Maru Gothic" pitchFamily="34" charset="-120"/>
              </a:rPr>
              <a:t>明日使える</a:t>
            </a:r>
            <a:endParaRPr lang="en-US" sz="4400" dirty="0"/>
          </a:p>
          <a:p>
            <a:pPr algn="l" indent="0" marL="0">
              <a:lnSpc>
                <a:spcPts val="5500"/>
              </a:lnSpc>
              <a:buNone/>
            </a:pPr>
            <a:r>
              <a:rPr lang="en-US" sz="4400" b="1" dirty="0">
                <a:solidFill>
                  <a:srgbClr val="FFC83D"/>
                </a:solidFill>
                <a:latin typeface="Zen Maru Gothic" pitchFamily="34" charset="0"/>
                <a:ea typeface="Zen Maru Gothic" pitchFamily="34" charset="-122"/>
                <a:cs typeface="Zen Maru Gothic" pitchFamily="34" charset="-120"/>
              </a:rPr>
              <a:t>生成AI</a:t>
            </a:r>
            <a:endParaRPr lang="en-US" sz="4400" dirty="0"/>
          </a:p>
        </p:txBody>
      </p:sp>
      <p:sp>
        <p:nvSpPr>
          <p:cNvPr id="4" name="Text 2"/>
          <p:cNvSpPr/>
          <p:nvPr/>
        </p:nvSpPr>
        <p:spPr>
          <a:xfrm>
            <a:off x="812800" y="4028480"/>
            <a:ext cx="7050659" cy="350441"/>
          </a:xfrm>
          <a:prstGeom prst="rect">
            <a:avLst/>
          </a:prstGeom>
          <a:noFill/>
          <a:ln/>
        </p:spPr>
        <p:txBody>
          <a:bodyPr wrap="square" lIns="0" tIns="0" rIns="0" bIns="0" rtlCol="0" anchor="t">
            <a:normAutofit/>
          </a:bodyPr>
          <a:lstStyle/>
          <a:p>
            <a:pPr algn="l" indent="0" marL="0">
              <a:lnSpc>
                <a:spcPts val="2560"/>
              </a:lnSpc>
              <a:buNone/>
            </a:pPr>
            <a:r>
              <a:rPr lang="en-US" sz="1600" dirty="0">
                <a:solidFill>
                  <a:srgbClr val="F4F7FC"/>
                </a:solidFill>
                <a:latin typeface="BIZ UDPGothic" pitchFamily="34" charset="0"/>
                <a:ea typeface="BIZ UDPGothic" pitchFamily="34" charset="-122"/>
                <a:cs typeface="BIZ UDPGothic" pitchFamily="34" charset="-120"/>
              </a:rPr>
              <a:t>スマホでQRコードを読みとると、ブログが開きます。</a:t>
            </a:r>
            <a:endParaRPr lang="en-US" sz="1600" dirty="0"/>
          </a:p>
        </p:txBody>
      </p:sp>
      <p:sp>
        <p:nvSpPr>
          <p:cNvPr id="5" name="Text 3"/>
          <p:cNvSpPr/>
          <p:nvPr/>
        </p:nvSpPr>
        <p:spPr>
          <a:xfrm>
            <a:off x="812800" y="4480520"/>
            <a:ext cx="7050659" cy="350441"/>
          </a:xfrm>
          <a:prstGeom prst="rect">
            <a:avLst/>
          </a:prstGeom>
          <a:noFill/>
          <a:ln/>
        </p:spPr>
        <p:txBody>
          <a:bodyPr wrap="square" lIns="0" tIns="0" rIns="0" bIns="0" rtlCol="0" anchor="t">
            <a:normAutofit/>
          </a:bodyPr>
          <a:lstStyle/>
          <a:p>
            <a:pPr algn="l" indent="0" marL="0">
              <a:lnSpc>
                <a:spcPts val="2560"/>
              </a:lnSpc>
              <a:buNone/>
            </a:pPr>
            <a:r>
              <a:rPr lang="en-US" sz="1600" dirty="0">
                <a:solidFill>
                  <a:srgbClr val="86A8FF"/>
                </a:solidFill>
                <a:latin typeface="Source Code Pro" pitchFamily="34" charset="0"/>
                <a:ea typeface="Source Code Pro" pitchFamily="34" charset="-122"/>
                <a:cs typeface="Source Code Pro" pitchFamily="34" charset="-120"/>
              </a:rPr>
              <a:t>raindrop-aqua.github.io/blog-ap-sys</a:t>
            </a:r>
            <a:endParaRPr lang="en-US" sz="1600" dirty="0"/>
          </a:p>
        </p:txBody>
      </p:sp>
      <p:sp>
        <p:nvSpPr>
          <p:cNvPr id="6" name="Shape 4"/>
          <p:cNvSpPr/>
          <p:nvPr/>
        </p:nvSpPr>
        <p:spPr>
          <a:xfrm>
            <a:off x="8267700" y="1873250"/>
            <a:ext cx="3111500" cy="3111500"/>
          </a:xfrm>
          <a:prstGeom prst="roundRect">
            <a:avLst>
              <a:gd name="adj" fmla="val 8163"/>
            </a:avLst>
          </a:prstGeom>
          <a:solidFill>
            <a:srgbClr val="FFFFFF"/>
          </a:solidFill>
          <a:ln/>
        </p:spPr>
      </p:sp>
      <p:pic>
        <p:nvPicPr>
          <p:cNvPr id="7" name="Image 0" descr="ブログ https://raindrop-aqua.github.io/blog-ap-sys/ を開くQRコード">    </p:cNvPr>
          <p:cNvPicPr>
            <a:picLocks noChangeAspect="1"/>
          </p:cNvPicPr>
          <p:nvPr/>
        </p:nvPicPr>
        <p:blipFill>
          <a:blip r:embed="rId1"/>
          <a:srcRect l="0" r="0" t="0" b="0"/>
          <a:stretch/>
        </p:blipFill>
        <p:spPr>
          <a:xfrm>
            <a:off x="8521700" y="2127250"/>
            <a:ext cx="2603500" cy="260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ブログのしくみ解説スライド</dc:title>
  <dc:subject>PptxGenJS Presentation</dc:subject>
  <dc:creator>PptxGenJS</dc:creator>
  <cp:lastModifiedBy>PptxGenJS</cp:lastModifiedBy>
  <cp:revision>1</cp:revision>
  <dcterms:created xsi:type="dcterms:W3CDTF">2026-09-25T05:58:17Z</dcterms:created>
  <dcterms:modified xsi:type="dcterms:W3CDTF">2026-09-25T05:58:17Z</dcterms:modified>
</cp:coreProperties>
</file>